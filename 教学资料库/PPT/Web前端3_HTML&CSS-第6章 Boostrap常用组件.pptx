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7.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13.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notesSlides/notesSlide14.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38.xml" ContentType="application/vnd.openxmlformats-officedocument.presentationml.tags+xml"/>
  <Override PartName="/ppt/notesSlides/notesSlide25.xml" ContentType="application/vnd.openxmlformats-officedocument.presentationml.notesSlide+xml"/>
  <Override PartName="/ppt/tags/tag39.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2"/>
  </p:sldMasterIdLst>
  <p:notesMasterIdLst>
    <p:notesMasterId r:id="rId144"/>
  </p:notesMasterIdLst>
  <p:handoutMasterIdLst>
    <p:handoutMasterId r:id="rId145"/>
  </p:handoutMasterIdLst>
  <p:sldIdLst>
    <p:sldId id="325" r:id="rId3"/>
    <p:sldId id="511" r:id="rId4"/>
    <p:sldId id="328" r:id="rId5"/>
    <p:sldId id="327" r:id="rId6"/>
    <p:sldId id="309" r:id="rId7"/>
    <p:sldId id="1029" r:id="rId8"/>
    <p:sldId id="937" r:id="rId9"/>
    <p:sldId id="630" r:id="rId10"/>
    <p:sldId id="938" r:id="rId11"/>
    <p:sldId id="372" r:id="rId12"/>
    <p:sldId id="886" r:id="rId13"/>
    <p:sldId id="887" r:id="rId14"/>
    <p:sldId id="888" r:id="rId15"/>
    <p:sldId id="889" r:id="rId16"/>
    <p:sldId id="890" r:id="rId17"/>
    <p:sldId id="891" r:id="rId18"/>
    <p:sldId id="939" r:id="rId19"/>
    <p:sldId id="893" r:id="rId20"/>
    <p:sldId id="894" r:id="rId21"/>
    <p:sldId id="895" r:id="rId22"/>
    <p:sldId id="896" r:id="rId23"/>
    <p:sldId id="897" r:id="rId24"/>
    <p:sldId id="898" r:id="rId25"/>
    <p:sldId id="899" r:id="rId26"/>
    <p:sldId id="900" r:id="rId27"/>
    <p:sldId id="901" r:id="rId28"/>
    <p:sldId id="902" r:id="rId29"/>
    <p:sldId id="940" r:id="rId30"/>
    <p:sldId id="903" r:id="rId31"/>
    <p:sldId id="904" r:id="rId32"/>
    <p:sldId id="905" r:id="rId33"/>
    <p:sldId id="906" r:id="rId34"/>
    <p:sldId id="854" r:id="rId35"/>
    <p:sldId id="941" r:id="rId36"/>
    <p:sldId id="907" r:id="rId37"/>
    <p:sldId id="942" r:id="rId38"/>
    <p:sldId id="908" r:id="rId39"/>
    <p:sldId id="909" r:id="rId40"/>
    <p:sldId id="910" r:id="rId41"/>
    <p:sldId id="911" r:id="rId42"/>
    <p:sldId id="912" r:id="rId43"/>
    <p:sldId id="943" r:id="rId44"/>
    <p:sldId id="914" r:id="rId45"/>
    <p:sldId id="915" r:id="rId46"/>
    <p:sldId id="916" r:id="rId47"/>
    <p:sldId id="917" r:id="rId48"/>
    <p:sldId id="944" r:id="rId49"/>
    <p:sldId id="918" r:id="rId50"/>
    <p:sldId id="919" r:id="rId51"/>
    <p:sldId id="920" r:id="rId52"/>
    <p:sldId id="921" r:id="rId53"/>
    <p:sldId id="513" r:id="rId54"/>
    <p:sldId id="946" r:id="rId55"/>
    <p:sldId id="947" r:id="rId56"/>
    <p:sldId id="922" r:id="rId57"/>
    <p:sldId id="948" r:id="rId58"/>
    <p:sldId id="923" r:id="rId59"/>
    <p:sldId id="924" r:id="rId60"/>
    <p:sldId id="925" r:id="rId61"/>
    <p:sldId id="926" r:id="rId62"/>
    <p:sldId id="949" r:id="rId63"/>
    <p:sldId id="927" r:id="rId64"/>
    <p:sldId id="928" r:id="rId65"/>
    <p:sldId id="929" r:id="rId66"/>
    <p:sldId id="930" r:id="rId67"/>
    <p:sldId id="931" r:id="rId68"/>
    <p:sldId id="932" r:id="rId69"/>
    <p:sldId id="933" r:id="rId70"/>
    <p:sldId id="934" r:id="rId71"/>
    <p:sldId id="935" r:id="rId72"/>
    <p:sldId id="936" r:id="rId73"/>
    <p:sldId id="951" r:id="rId74"/>
    <p:sldId id="952" r:id="rId75"/>
    <p:sldId id="953" r:id="rId76"/>
    <p:sldId id="954" r:id="rId77"/>
    <p:sldId id="956" r:id="rId78"/>
    <p:sldId id="957" r:id="rId79"/>
    <p:sldId id="958" r:id="rId80"/>
    <p:sldId id="959" r:id="rId81"/>
    <p:sldId id="961" r:id="rId82"/>
    <p:sldId id="962" r:id="rId83"/>
    <p:sldId id="964" r:id="rId84"/>
    <p:sldId id="965" r:id="rId85"/>
    <p:sldId id="966" r:id="rId86"/>
    <p:sldId id="967" r:id="rId87"/>
    <p:sldId id="968" r:id="rId88"/>
    <p:sldId id="969" r:id="rId89"/>
    <p:sldId id="970" r:id="rId90"/>
    <p:sldId id="971" r:id="rId91"/>
    <p:sldId id="972" r:id="rId92"/>
    <p:sldId id="973" r:id="rId93"/>
    <p:sldId id="974" r:id="rId94"/>
    <p:sldId id="975" r:id="rId95"/>
    <p:sldId id="976" r:id="rId96"/>
    <p:sldId id="977" r:id="rId97"/>
    <p:sldId id="978" r:id="rId98"/>
    <p:sldId id="979" r:id="rId99"/>
    <p:sldId id="981" r:id="rId100"/>
    <p:sldId id="982" r:id="rId101"/>
    <p:sldId id="983" r:id="rId102"/>
    <p:sldId id="1028" r:id="rId103"/>
    <p:sldId id="984" r:id="rId104"/>
    <p:sldId id="985" r:id="rId105"/>
    <p:sldId id="986" r:id="rId106"/>
    <p:sldId id="987" r:id="rId107"/>
    <p:sldId id="988" r:id="rId108"/>
    <p:sldId id="989" r:id="rId109"/>
    <p:sldId id="990" r:id="rId110"/>
    <p:sldId id="991" r:id="rId111"/>
    <p:sldId id="993" r:id="rId112"/>
    <p:sldId id="994" r:id="rId113"/>
    <p:sldId id="995" r:id="rId114"/>
    <p:sldId id="996" r:id="rId115"/>
    <p:sldId id="997" r:id="rId116"/>
    <p:sldId id="998" r:id="rId117"/>
    <p:sldId id="1000" r:id="rId118"/>
    <p:sldId id="1001" r:id="rId119"/>
    <p:sldId id="1002" r:id="rId120"/>
    <p:sldId id="1003" r:id="rId121"/>
    <p:sldId id="1004" r:id="rId122"/>
    <p:sldId id="1005" r:id="rId123"/>
    <p:sldId id="1006" r:id="rId124"/>
    <p:sldId id="1007" r:id="rId125"/>
    <p:sldId id="1009" r:id="rId126"/>
    <p:sldId id="1010" r:id="rId127"/>
    <p:sldId id="1011" r:id="rId128"/>
    <p:sldId id="1017" r:id="rId129"/>
    <p:sldId id="1013" r:id="rId130"/>
    <p:sldId id="1014" r:id="rId131"/>
    <p:sldId id="1016" r:id="rId132"/>
    <p:sldId id="1018" r:id="rId133"/>
    <p:sldId id="1019" r:id="rId134"/>
    <p:sldId id="1020" r:id="rId135"/>
    <p:sldId id="1021" r:id="rId136"/>
    <p:sldId id="1022" r:id="rId137"/>
    <p:sldId id="1025" r:id="rId138"/>
    <p:sldId id="1023" r:id="rId139"/>
    <p:sldId id="1024" r:id="rId140"/>
    <p:sldId id="1026" r:id="rId141"/>
    <p:sldId id="1027" r:id="rId142"/>
    <p:sldId id="326" r:id="rId143"/>
  </p:sldIdLst>
  <p:sldSz cx="12190413" cy="6859588"/>
  <p:notesSz cx="6858000" cy="9144000"/>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56">
          <p15:clr>
            <a:srgbClr val="A4A3A4"/>
          </p15:clr>
        </p15:guide>
        <p15:guide id="3" pos="656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69B2"/>
    <a:srgbClr val="595959"/>
    <a:srgbClr val="F2F2F2"/>
    <a:srgbClr val="EBAD13"/>
    <a:srgbClr val="FFFFFF"/>
    <a:srgbClr val="BBBBBB"/>
    <a:srgbClr val="1369B3"/>
    <a:srgbClr val="FAFAFA"/>
    <a:srgbClr val="006BBC"/>
    <a:srgbClr val="0075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078" autoAdjust="0"/>
    <p:restoredTop sz="89369" autoAdjust="0"/>
  </p:normalViewPr>
  <p:slideViewPr>
    <p:cSldViewPr>
      <p:cViewPr varScale="1">
        <p:scale>
          <a:sx n="71" d="100"/>
          <a:sy n="71" d="100"/>
        </p:scale>
        <p:origin x="408" y="60"/>
      </p:cViewPr>
      <p:guideLst>
        <p:guide orient="horz" pos="2160"/>
        <p:guide pos="256"/>
        <p:guide pos="6561"/>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6" d="100"/>
          <a:sy n="86" d="100"/>
        </p:scale>
        <p:origin x="-3810"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tableStyles" Target="tableStyles.xml"/><Relationship Id="rId5" Type="http://schemas.openxmlformats.org/officeDocument/2006/relationships/slide" Target="slides/slide3.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notesMaster" Target="notesMasters/notesMaster1.xml"/><Relationship Id="rId90" Type="http://schemas.openxmlformats.org/officeDocument/2006/relationships/slide" Target="slides/slide8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t>2026/7/22</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t>‹#›</a:t>
            </a:fld>
            <a:endParaRPr lang="zh-CN" altLang="en-US"/>
          </a:p>
        </p:txBody>
      </p:sp>
    </p:spTree>
    <p:extLst>
      <p:ext uri="{BB962C8B-B14F-4D97-AF65-F5344CB8AC3E}">
        <p14:creationId xmlns:p14="http://schemas.microsoft.com/office/powerpoint/2010/main" val="32043633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t>2026/7/22</a:t>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t>‹#›</a:t>
            </a:fld>
            <a:endParaRPr lang="zh-CN" altLang="en-US"/>
          </a:p>
        </p:txBody>
      </p:sp>
    </p:spTree>
    <p:extLst>
      <p:ext uri="{BB962C8B-B14F-4D97-AF65-F5344CB8AC3E}">
        <p14:creationId xmlns:p14="http://schemas.microsoft.com/office/powerpoint/2010/main" val="3934185211"/>
      </p:ext>
    </p:extLst>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a:t>
            </a:fld>
            <a:endParaRPr lang="zh-CN" altLang="en-US"/>
          </a:p>
        </p:txBody>
      </p:sp>
    </p:spTree>
    <p:extLst>
      <p:ext uri="{BB962C8B-B14F-4D97-AF65-F5344CB8AC3E}">
        <p14:creationId xmlns:p14="http://schemas.microsoft.com/office/powerpoint/2010/main" val="1307428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a:t>
            </a:fld>
            <a:endParaRPr lang="zh-CN" altLang="en-US"/>
          </a:p>
        </p:txBody>
      </p:sp>
    </p:spTree>
    <p:extLst>
      <p:ext uri="{BB962C8B-B14F-4D97-AF65-F5344CB8AC3E}">
        <p14:creationId xmlns:p14="http://schemas.microsoft.com/office/powerpoint/2010/main" val="31806659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a:t>
            </a:fld>
            <a:endParaRPr lang="zh-CN" altLang="en-US"/>
          </a:p>
        </p:txBody>
      </p:sp>
    </p:spTree>
    <p:extLst>
      <p:ext uri="{BB962C8B-B14F-4D97-AF65-F5344CB8AC3E}">
        <p14:creationId xmlns:p14="http://schemas.microsoft.com/office/powerpoint/2010/main" val="12511220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a:t>
            </a:fld>
            <a:endParaRPr lang="zh-CN" altLang="en-US"/>
          </a:p>
        </p:txBody>
      </p:sp>
    </p:spTree>
    <p:extLst>
      <p:ext uri="{BB962C8B-B14F-4D97-AF65-F5344CB8AC3E}">
        <p14:creationId xmlns:p14="http://schemas.microsoft.com/office/powerpoint/2010/main" val="25589054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a:t>
            </a:fld>
            <a:endParaRPr lang="zh-CN" altLang="en-US"/>
          </a:p>
        </p:txBody>
      </p:sp>
    </p:spTree>
    <p:extLst>
      <p:ext uri="{BB962C8B-B14F-4D97-AF65-F5344CB8AC3E}">
        <p14:creationId xmlns:p14="http://schemas.microsoft.com/office/powerpoint/2010/main" val="19976879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a:t>
            </a:fld>
            <a:endParaRPr lang="zh-CN" altLang="en-US"/>
          </a:p>
        </p:txBody>
      </p:sp>
    </p:spTree>
    <p:extLst>
      <p:ext uri="{BB962C8B-B14F-4D97-AF65-F5344CB8AC3E}">
        <p14:creationId xmlns:p14="http://schemas.microsoft.com/office/powerpoint/2010/main" val="8016510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15</a:t>
            </a:fld>
            <a:endParaRPr lang="zh-CN" altLang="en-US"/>
          </a:p>
        </p:txBody>
      </p:sp>
    </p:spTree>
    <p:extLst>
      <p:ext uri="{BB962C8B-B14F-4D97-AF65-F5344CB8AC3E}">
        <p14:creationId xmlns:p14="http://schemas.microsoft.com/office/powerpoint/2010/main" val="32463800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23</a:t>
            </a:fld>
            <a:endParaRPr lang="zh-CN" altLang="en-US"/>
          </a:p>
        </p:txBody>
      </p:sp>
    </p:spTree>
    <p:extLst>
      <p:ext uri="{BB962C8B-B14F-4D97-AF65-F5344CB8AC3E}">
        <p14:creationId xmlns:p14="http://schemas.microsoft.com/office/powerpoint/2010/main" val="8552438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26</a:t>
            </a:fld>
            <a:endParaRPr lang="zh-CN" altLang="en-US"/>
          </a:p>
        </p:txBody>
      </p:sp>
    </p:spTree>
    <p:extLst>
      <p:ext uri="{BB962C8B-B14F-4D97-AF65-F5344CB8AC3E}">
        <p14:creationId xmlns:p14="http://schemas.microsoft.com/office/powerpoint/2010/main" val="18539920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32</a:t>
            </a:fld>
            <a:endParaRPr lang="zh-CN" altLang="en-US"/>
          </a:p>
        </p:txBody>
      </p:sp>
    </p:spTree>
    <p:extLst>
      <p:ext uri="{BB962C8B-B14F-4D97-AF65-F5344CB8AC3E}">
        <p14:creationId xmlns:p14="http://schemas.microsoft.com/office/powerpoint/2010/main" val="37298872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33</a:t>
            </a:fld>
            <a:endParaRPr lang="zh-CN" altLang="en-US"/>
          </a:p>
        </p:txBody>
      </p:sp>
    </p:spTree>
    <p:extLst>
      <p:ext uri="{BB962C8B-B14F-4D97-AF65-F5344CB8AC3E}">
        <p14:creationId xmlns:p14="http://schemas.microsoft.com/office/powerpoint/2010/main" val="31248215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34</a:t>
            </a:fld>
            <a:endParaRPr lang="zh-CN" altLang="en-US"/>
          </a:p>
        </p:txBody>
      </p:sp>
    </p:spTree>
    <p:extLst>
      <p:ext uri="{BB962C8B-B14F-4D97-AF65-F5344CB8AC3E}">
        <p14:creationId xmlns:p14="http://schemas.microsoft.com/office/powerpoint/2010/main" val="40862514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41</a:t>
            </a:fld>
            <a:endParaRPr lang="zh-CN" altLang="en-US"/>
          </a:p>
        </p:txBody>
      </p:sp>
    </p:spTree>
    <p:extLst>
      <p:ext uri="{BB962C8B-B14F-4D97-AF65-F5344CB8AC3E}">
        <p14:creationId xmlns:p14="http://schemas.microsoft.com/office/powerpoint/2010/main" val="28207513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45</a:t>
            </a:fld>
            <a:endParaRPr lang="zh-CN" altLang="en-US"/>
          </a:p>
        </p:txBody>
      </p:sp>
    </p:spTree>
    <p:extLst>
      <p:ext uri="{BB962C8B-B14F-4D97-AF65-F5344CB8AC3E}">
        <p14:creationId xmlns:p14="http://schemas.microsoft.com/office/powerpoint/2010/main" val="32075424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52</a:t>
            </a:fld>
            <a:endParaRPr lang="zh-CN" altLang="en-US"/>
          </a:p>
        </p:txBody>
      </p:sp>
    </p:spTree>
    <p:extLst>
      <p:ext uri="{BB962C8B-B14F-4D97-AF65-F5344CB8AC3E}">
        <p14:creationId xmlns:p14="http://schemas.microsoft.com/office/powerpoint/2010/main" val="3098855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53</a:t>
            </a:fld>
            <a:endParaRPr lang="zh-CN" altLang="en-US"/>
          </a:p>
        </p:txBody>
      </p:sp>
    </p:spTree>
    <p:extLst>
      <p:ext uri="{BB962C8B-B14F-4D97-AF65-F5344CB8AC3E}">
        <p14:creationId xmlns:p14="http://schemas.microsoft.com/office/powerpoint/2010/main" val="41783033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54</a:t>
            </a:fld>
            <a:endParaRPr lang="zh-CN" altLang="en-US"/>
          </a:p>
        </p:txBody>
      </p:sp>
    </p:spTree>
    <p:extLst>
      <p:ext uri="{BB962C8B-B14F-4D97-AF65-F5344CB8AC3E}">
        <p14:creationId xmlns:p14="http://schemas.microsoft.com/office/powerpoint/2010/main" val="20102512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73</a:t>
            </a:fld>
            <a:endParaRPr lang="zh-CN" altLang="en-US"/>
          </a:p>
        </p:txBody>
      </p:sp>
    </p:spTree>
    <p:extLst>
      <p:ext uri="{BB962C8B-B14F-4D97-AF65-F5344CB8AC3E}">
        <p14:creationId xmlns:p14="http://schemas.microsoft.com/office/powerpoint/2010/main" val="7129681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74</a:t>
            </a:fld>
            <a:endParaRPr lang="zh-CN" altLang="en-US"/>
          </a:p>
        </p:txBody>
      </p:sp>
    </p:spTree>
    <p:extLst>
      <p:ext uri="{BB962C8B-B14F-4D97-AF65-F5344CB8AC3E}">
        <p14:creationId xmlns:p14="http://schemas.microsoft.com/office/powerpoint/2010/main" val="29463490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75</a:t>
            </a:fld>
            <a:endParaRPr lang="zh-CN" altLang="en-US"/>
          </a:p>
        </p:txBody>
      </p:sp>
    </p:spTree>
    <p:extLst>
      <p:ext uri="{BB962C8B-B14F-4D97-AF65-F5344CB8AC3E}">
        <p14:creationId xmlns:p14="http://schemas.microsoft.com/office/powerpoint/2010/main" val="17891127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79</a:t>
            </a:fld>
            <a:endParaRPr lang="zh-CN" altLang="en-US"/>
          </a:p>
        </p:txBody>
      </p:sp>
    </p:spTree>
    <p:extLst>
      <p:ext uri="{BB962C8B-B14F-4D97-AF65-F5344CB8AC3E}">
        <p14:creationId xmlns:p14="http://schemas.microsoft.com/office/powerpoint/2010/main" val="15158881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80</a:t>
            </a:fld>
            <a:endParaRPr lang="zh-CN" altLang="en-US"/>
          </a:p>
        </p:txBody>
      </p:sp>
    </p:spTree>
    <p:extLst>
      <p:ext uri="{BB962C8B-B14F-4D97-AF65-F5344CB8AC3E}">
        <p14:creationId xmlns:p14="http://schemas.microsoft.com/office/powerpoint/2010/main" val="4211908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81</a:t>
            </a:fld>
            <a:endParaRPr lang="zh-CN" altLang="en-US"/>
          </a:p>
        </p:txBody>
      </p:sp>
    </p:spTree>
    <p:extLst>
      <p:ext uri="{BB962C8B-B14F-4D97-AF65-F5344CB8AC3E}">
        <p14:creationId xmlns:p14="http://schemas.microsoft.com/office/powerpoint/2010/main" val="22664337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82</a:t>
            </a:fld>
            <a:endParaRPr lang="zh-CN" altLang="en-US"/>
          </a:p>
        </p:txBody>
      </p:sp>
    </p:spTree>
    <p:extLst>
      <p:ext uri="{BB962C8B-B14F-4D97-AF65-F5344CB8AC3E}">
        <p14:creationId xmlns:p14="http://schemas.microsoft.com/office/powerpoint/2010/main" val="8097588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83</a:t>
            </a:fld>
            <a:endParaRPr lang="zh-CN" altLang="en-US"/>
          </a:p>
        </p:txBody>
      </p:sp>
    </p:spTree>
    <p:extLst>
      <p:ext uri="{BB962C8B-B14F-4D97-AF65-F5344CB8AC3E}">
        <p14:creationId xmlns:p14="http://schemas.microsoft.com/office/powerpoint/2010/main" val="36992633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84</a:t>
            </a:fld>
            <a:endParaRPr lang="zh-CN" altLang="en-US"/>
          </a:p>
        </p:txBody>
      </p:sp>
    </p:spTree>
    <p:extLst>
      <p:ext uri="{BB962C8B-B14F-4D97-AF65-F5344CB8AC3E}">
        <p14:creationId xmlns:p14="http://schemas.microsoft.com/office/powerpoint/2010/main" val="4418970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85</a:t>
            </a:fld>
            <a:endParaRPr lang="zh-CN" altLang="en-US"/>
          </a:p>
        </p:txBody>
      </p:sp>
    </p:spTree>
    <p:extLst>
      <p:ext uri="{BB962C8B-B14F-4D97-AF65-F5344CB8AC3E}">
        <p14:creationId xmlns:p14="http://schemas.microsoft.com/office/powerpoint/2010/main" val="29511384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86</a:t>
            </a:fld>
            <a:endParaRPr lang="zh-CN" altLang="en-US"/>
          </a:p>
        </p:txBody>
      </p:sp>
    </p:spTree>
    <p:extLst>
      <p:ext uri="{BB962C8B-B14F-4D97-AF65-F5344CB8AC3E}">
        <p14:creationId xmlns:p14="http://schemas.microsoft.com/office/powerpoint/2010/main" val="13004875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87</a:t>
            </a:fld>
            <a:endParaRPr lang="zh-CN" altLang="en-US"/>
          </a:p>
        </p:txBody>
      </p:sp>
    </p:spTree>
    <p:extLst>
      <p:ext uri="{BB962C8B-B14F-4D97-AF65-F5344CB8AC3E}">
        <p14:creationId xmlns:p14="http://schemas.microsoft.com/office/powerpoint/2010/main" val="14504988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88</a:t>
            </a:fld>
            <a:endParaRPr lang="zh-CN" altLang="en-US"/>
          </a:p>
        </p:txBody>
      </p:sp>
    </p:spTree>
    <p:extLst>
      <p:ext uri="{BB962C8B-B14F-4D97-AF65-F5344CB8AC3E}">
        <p14:creationId xmlns:p14="http://schemas.microsoft.com/office/powerpoint/2010/main" val="16592182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94</a:t>
            </a:fld>
            <a:endParaRPr lang="zh-CN" altLang="en-US"/>
          </a:p>
        </p:txBody>
      </p:sp>
    </p:spTree>
    <p:extLst>
      <p:ext uri="{BB962C8B-B14F-4D97-AF65-F5344CB8AC3E}">
        <p14:creationId xmlns:p14="http://schemas.microsoft.com/office/powerpoint/2010/main" val="27308027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95</a:t>
            </a:fld>
            <a:endParaRPr lang="zh-CN" altLang="en-US"/>
          </a:p>
        </p:txBody>
      </p:sp>
    </p:spTree>
    <p:extLst>
      <p:ext uri="{BB962C8B-B14F-4D97-AF65-F5344CB8AC3E}">
        <p14:creationId xmlns:p14="http://schemas.microsoft.com/office/powerpoint/2010/main" val="6118483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96</a:t>
            </a:fld>
            <a:endParaRPr lang="zh-CN" altLang="en-US"/>
          </a:p>
        </p:txBody>
      </p:sp>
    </p:spTree>
    <p:extLst>
      <p:ext uri="{BB962C8B-B14F-4D97-AF65-F5344CB8AC3E}">
        <p14:creationId xmlns:p14="http://schemas.microsoft.com/office/powerpoint/2010/main" val="30731164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97</a:t>
            </a:fld>
            <a:endParaRPr lang="zh-CN" altLang="en-US"/>
          </a:p>
        </p:txBody>
      </p:sp>
    </p:spTree>
    <p:extLst>
      <p:ext uri="{BB962C8B-B14F-4D97-AF65-F5344CB8AC3E}">
        <p14:creationId xmlns:p14="http://schemas.microsoft.com/office/powerpoint/2010/main" val="5856978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98</a:t>
            </a:fld>
            <a:endParaRPr lang="zh-CN" altLang="en-US"/>
          </a:p>
        </p:txBody>
      </p:sp>
    </p:spTree>
    <p:extLst>
      <p:ext uri="{BB962C8B-B14F-4D97-AF65-F5344CB8AC3E}">
        <p14:creationId xmlns:p14="http://schemas.microsoft.com/office/powerpoint/2010/main" val="31926787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103</a:t>
            </a:fld>
            <a:endParaRPr lang="zh-CN" altLang="en-US"/>
          </a:p>
        </p:txBody>
      </p:sp>
    </p:spTree>
    <p:extLst>
      <p:ext uri="{BB962C8B-B14F-4D97-AF65-F5344CB8AC3E}">
        <p14:creationId xmlns:p14="http://schemas.microsoft.com/office/powerpoint/2010/main" val="249027292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104</a:t>
            </a:fld>
            <a:endParaRPr lang="zh-CN" altLang="en-US"/>
          </a:p>
        </p:txBody>
      </p:sp>
    </p:spTree>
    <p:extLst>
      <p:ext uri="{BB962C8B-B14F-4D97-AF65-F5344CB8AC3E}">
        <p14:creationId xmlns:p14="http://schemas.microsoft.com/office/powerpoint/2010/main" val="37220224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105</a:t>
            </a:fld>
            <a:endParaRPr lang="zh-CN" altLang="en-US"/>
          </a:p>
        </p:txBody>
      </p:sp>
    </p:spTree>
    <p:extLst>
      <p:ext uri="{BB962C8B-B14F-4D97-AF65-F5344CB8AC3E}">
        <p14:creationId xmlns:p14="http://schemas.microsoft.com/office/powerpoint/2010/main" val="226080908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108</a:t>
            </a:fld>
            <a:endParaRPr lang="zh-CN" altLang="en-US"/>
          </a:p>
        </p:txBody>
      </p:sp>
    </p:spTree>
    <p:extLst>
      <p:ext uri="{BB962C8B-B14F-4D97-AF65-F5344CB8AC3E}">
        <p14:creationId xmlns:p14="http://schemas.microsoft.com/office/powerpoint/2010/main" val="114120651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109</a:t>
            </a:fld>
            <a:endParaRPr lang="zh-CN" altLang="en-US"/>
          </a:p>
        </p:txBody>
      </p:sp>
    </p:spTree>
    <p:extLst>
      <p:ext uri="{BB962C8B-B14F-4D97-AF65-F5344CB8AC3E}">
        <p14:creationId xmlns:p14="http://schemas.microsoft.com/office/powerpoint/2010/main" val="402754963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113</a:t>
            </a:fld>
            <a:endParaRPr lang="zh-CN" altLang="en-US"/>
          </a:p>
        </p:txBody>
      </p:sp>
    </p:spTree>
    <p:extLst>
      <p:ext uri="{BB962C8B-B14F-4D97-AF65-F5344CB8AC3E}">
        <p14:creationId xmlns:p14="http://schemas.microsoft.com/office/powerpoint/2010/main" val="115775604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114</a:t>
            </a:fld>
            <a:endParaRPr lang="zh-CN" altLang="en-US"/>
          </a:p>
        </p:txBody>
      </p:sp>
    </p:spTree>
    <p:extLst>
      <p:ext uri="{BB962C8B-B14F-4D97-AF65-F5344CB8AC3E}">
        <p14:creationId xmlns:p14="http://schemas.microsoft.com/office/powerpoint/2010/main" val="59929867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115</a:t>
            </a:fld>
            <a:endParaRPr lang="zh-CN" altLang="en-US"/>
          </a:p>
        </p:txBody>
      </p:sp>
    </p:spTree>
    <p:extLst>
      <p:ext uri="{BB962C8B-B14F-4D97-AF65-F5344CB8AC3E}">
        <p14:creationId xmlns:p14="http://schemas.microsoft.com/office/powerpoint/2010/main" val="266984393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116</a:t>
            </a:fld>
            <a:endParaRPr lang="zh-CN" altLang="en-US"/>
          </a:p>
        </p:txBody>
      </p:sp>
    </p:spTree>
    <p:extLst>
      <p:ext uri="{BB962C8B-B14F-4D97-AF65-F5344CB8AC3E}">
        <p14:creationId xmlns:p14="http://schemas.microsoft.com/office/powerpoint/2010/main" val="402151918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117</a:t>
            </a:fld>
            <a:endParaRPr lang="zh-CN" altLang="en-US"/>
          </a:p>
        </p:txBody>
      </p:sp>
    </p:spTree>
    <p:extLst>
      <p:ext uri="{BB962C8B-B14F-4D97-AF65-F5344CB8AC3E}">
        <p14:creationId xmlns:p14="http://schemas.microsoft.com/office/powerpoint/2010/main" val="346662862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122</a:t>
            </a:fld>
            <a:endParaRPr lang="zh-CN" altLang="en-US"/>
          </a:p>
        </p:txBody>
      </p:sp>
    </p:spTree>
    <p:extLst>
      <p:ext uri="{BB962C8B-B14F-4D97-AF65-F5344CB8AC3E}">
        <p14:creationId xmlns:p14="http://schemas.microsoft.com/office/powerpoint/2010/main" val="134955405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123</a:t>
            </a:fld>
            <a:endParaRPr lang="zh-CN" altLang="en-US"/>
          </a:p>
        </p:txBody>
      </p:sp>
    </p:spTree>
    <p:extLst>
      <p:ext uri="{BB962C8B-B14F-4D97-AF65-F5344CB8AC3E}">
        <p14:creationId xmlns:p14="http://schemas.microsoft.com/office/powerpoint/2010/main" val="268630125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128</a:t>
            </a:fld>
            <a:endParaRPr lang="zh-CN" altLang="en-US"/>
          </a:p>
        </p:txBody>
      </p:sp>
    </p:spTree>
    <p:extLst>
      <p:ext uri="{BB962C8B-B14F-4D97-AF65-F5344CB8AC3E}">
        <p14:creationId xmlns:p14="http://schemas.microsoft.com/office/powerpoint/2010/main" val="141767405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129</a:t>
            </a:fld>
            <a:endParaRPr lang="zh-CN" altLang="en-US"/>
          </a:p>
        </p:txBody>
      </p:sp>
    </p:spTree>
    <p:extLst>
      <p:ext uri="{BB962C8B-B14F-4D97-AF65-F5344CB8AC3E}">
        <p14:creationId xmlns:p14="http://schemas.microsoft.com/office/powerpoint/2010/main" val="109990251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134</a:t>
            </a:fld>
            <a:endParaRPr lang="zh-CN" altLang="en-US"/>
          </a:p>
        </p:txBody>
      </p:sp>
    </p:spTree>
    <p:extLst>
      <p:ext uri="{BB962C8B-B14F-4D97-AF65-F5344CB8AC3E}">
        <p14:creationId xmlns:p14="http://schemas.microsoft.com/office/powerpoint/2010/main" val="329194868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135</a:t>
            </a:fld>
            <a:endParaRPr lang="zh-CN" altLang="en-US"/>
          </a:p>
        </p:txBody>
      </p:sp>
    </p:spTree>
    <p:extLst>
      <p:ext uri="{BB962C8B-B14F-4D97-AF65-F5344CB8AC3E}">
        <p14:creationId xmlns:p14="http://schemas.microsoft.com/office/powerpoint/2010/main" val="414441430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136</a:t>
            </a:fld>
            <a:endParaRPr lang="zh-CN" altLang="en-US"/>
          </a:p>
        </p:txBody>
      </p:sp>
    </p:spTree>
    <p:extLst>
      <p:ext uri="{BB962C8B-B14F-4D97-AF65-F5344CB8AC3E}">
        <p14:creationId xmlns:p14="http://schemas.microsoft.com/office/powerpoint/2010/main" val="223858610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141</a:t>
            </a:fld>
            <a:endParaRPr lang="zh-CN" altLang="en-US"/>
          </a:p>
        </p:txBody>
      </p:sp>
    </p:spTree>
    <p:extLst>
      <p:ext uri="{BB962C8B-B14F-4D97-AF65-F5344CB8AC3E}">
        <p14:creationId xmlns:p14="http://schemas.microsoft.com/office/powerpoint/2010/main" val="42929093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777" y="2309308"/>
            <a:ext cx="10850541" cy="899333"/>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669820" y="3566185"/>
            <a:ext cx="10850454" cy="801518"/>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 hasCustomPrompt="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5" name="标题 4"/>
          <p:cNvSpPr>
            <a:spLocks noGrp="1"/>
          </p:cNvSpPr>
          <p:nvPr>
            <p:ph type="title" hasCustomPrompt="1"/>
          </p:nvPr>
        </p:nvSpPr>
        <p:spPr>
          <a:xfrm>
            <a:off x="839974" y="727845"/>
            <a:ext cx="3931306" cy="1115266"/>
          </a:xfrm>
        </p:spPr>
        <p:txBody>
          <a:bodyPr anchor="ctr" anchorCtr="0"/>
          <a:lstStyle>
            <a:lvl1pPr>
              <a:defRPr sz="32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5137617" y="727845"/>
            <a:ext cx="6171235" cy="5404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a:t>单击此处编辑正文</a:t>
            </a:r>
          </a:p>
        </p:txBody>
      </p:sp>
      <p:sp>
        <p:nvSpPr>
          <p:cNvPr id="7" name="文本占位符 6"/>
          <p:cNvSpPr>
            <a:spLocks noGrp="1"/>
          </p:cNvSpPr>
          <p:nvPr>
            <p:ph type="body" sz="half" idx="2" hasCustomPrompt="1"/>
          </p:nvPr>
        </p:nvSpPr>
        <p:spPr>
          <a:xfrm>
            <a:off x="839974" y="2240060"/>
            <a:ext cx="3931306" cy="3892636"/>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5365" indent="0">
              <a:buNone/>
              <a:defRPr sz="1000"/>
            </a:lvl6pPr>
            <a:lvl7pPr marL="2742565" indent="0">
              <a:buNone/>
              <a:defRPr sz="1000"/>
            </a:lvl7pPr>
            <a:lvl8pPr marL="3199765" indent="0">
              <a:buNone/>
              <a:defRPr sz="1000"/>
            </a:lvl8pPr>
            <a:lvl9pPr marL="3656965" indent="0">
              <a:buNone/>
              <a:defRPr sz="1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t>‹#›</a:t>
            </a:fld>
            <a:endParaRPr lang="zh-CN" altLang="en-US"/>
          </a:p>
        </p:txBody>
      </p:sp>
      <p:sp>
        <p:nvSpPr>
          <p:cNvPr id="9" name="标题 8"/>
          <p:cNvSpPr>
            <a:spLocks noGrp="1"/>
          </p:cNvSpPr>
          <p:nvPr>
            <p:ph type="title" hasCustomPrompt="1"/>
          </p:nvPr>
        </p:nvSpPr>
        <p:spPr>
          <a:xfrm>
            <a:off x="669820" y="5606183"/>
            <a:ext cx="10850454" cy="558268"/>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669820" y="641469"/>
            <a:ext cx="10850454" cy="4556969"/>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内容占位符 6"/>
          <p:cNvSpPr>
            <a:spLocks noGrp="1"/>
          </p:cNvSpPr>
          <p:nvPr>
            <p:ph idx="1" hasCustomPrompt="1"/>
          </p:nvPr>
        </p:nvSpPr>
        <p:spPr>
          <a:xfrm>
            <a:off x="0" y="0"/>
            <a:ext cx="12194539" cy="686943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内容占位符 1"/>
          <p:cNvSpPr>
            <a:spLocks noGrp="1"/>
          </p:cNvSpPr>
          <p:nvPr>
            <p:ph sz="half" idx="2" hasCustomPrompt="1"/>
          </p:nvPr>
        </p:nvSpPr>
        <p:spPr>
          <a:xfrm>
            <a:off x="467922"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6286787"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669777" y="623706"/>
            <a:ext cx="10850541" cy="899333"/>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15" y="390618"/>
            <a:ext cx="520428" cy="274702"/>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5" name="TextBox 4"/>
          <p:cNvSpPr txBox="1"/>
          <p:nvPr userDrawn="1"/>
        </p:nvSpPr>
        <p:spPr>
          <a:xfrm>
            <a:off x="305731" y="6526138"/>
            <a:ext cx="2909155" cy="276999"/>
          </a:xfrm>
          <a:prstGeom prst="rect">
            <a:avLst/>
          </a:prstGeom>
          <a:noFill/>
        </p:spPr>
        <p:txBody>
          <a:bodyPr wrap="square" rtlCol="0">
            <a:spAutoFit/>
          </a:bodyPr>
          <a:lstStyle/>
          <a:p>
            <a:r>
              <a:rPr lang="en-US" altLang="zh-CN" sz="1200" b="0" dirty="0" err="1">
                <a:solidFill>
                  <a:srgbClr val="595959"/>
                </a:solidFill>
                <a:latin typeface="微软雅黑" panose="020B0503020204020204" pitchFamily="34" charset="-122"/>
                <a:ea typeface="微软雅黑" panose="020B0503020204020204" pitchFamily="34" charset="-122"/>
              </a:rPr>
              <a:t>yx.ityxb.com</a:t>
            </a:r>
            <a:endParaRPr lang="zh-CN" altLang="en-US" sz="1200" b="0" dirty="0">
              <a:solidFill>
                <a:srgbClr val="595959"/>
              </a:solidFill>
              <a:latin typeface="微软雅黑" panose="020B0503020204020204" pitchFamily="34" charset="-122"/>
              <a:ea typeface="微软雅黑" panose="020B0503020204020204" pitchFamily="34" charset="-122"/>
            </a:endParaRPr>
          </a:p>
        </p:txBody>
      </p:sp>
      <p:sp>
        <p:nvSpPr>
          <p:cNvPr id="6" name="矩形 5"/>
          <p:cNvSpPr/>
          <p:nvPr userDrawn="1"/>
        </p:nvSpPr>
        <p:spPr>
          <a:xfrm>
            <a:off x="0" y="6794447"/>
            <a:ext cx="10631710" cy="84639"/>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a:extLst>
              <a:ext uri="{FF2B5EF4-FFF2-40B4-BE49-F238E27FC236}">
                <a16:creationId xmlns:a16="http://schemas.microsoft.com/office/drawing/2014/main" id="{42F652BD-78F8-4263-B0C9-1157D4F9FB1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03518" y="294845"/>
            <a:ext cx="2595061" cy="40505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2026/7/22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2026/7/22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2026/7/22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2026/7/22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2026/7/22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693670"/>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98623" y="3693670"/>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a:extLst>
              <a:ext uri="{FF2B5EF4-FFF2-40B4-BE49-F238E27FC236}">
                <a16:creationId xmlns:a16="http://schemas.microsoft.com/office/drawing/2014/main" id="{F1137BB1-9F5B-4D4F-9A56-B2F02308C48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118890" y="5045086"/>
            <a:ext cx="3952633" cy="616956"/>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30820CF-B880-4189-942D-D702A7CBA730}" type="datetimeFigureOut">
              <a:rPr lang="zh-CN" altLang="en-US" smtClean="0"/>
              <a:t>2026/7/22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2"/>
          <a:srcRect l="114" t="60287" r="-114" b="572"/>
          <a:stretch>
            <a:fillRect/>
          </a:stretch>
        </p:blipFill>
        <p:spPr>
          <a:xfrm>
            <a:off x="2480310" y="2508250"/>
            <a:ext cx="7532370" cy="1657985"/>
          </a:xfrm>
          <a:prstGeom prst="rect">
            <a:avLst/>
          </a:prstGeom>
        </p:spPr>
      </p:pic>
      <p:pic>
        <p:nvPicPr>
          <p:cNvPr id="16" name="图片 15">
            <a:extLst>
              <a:ext uri="{FF2B5EF4-FFF2-40B4-BE49-F238E27FC236}">
                <a16:creationId xmlns:a16="http://schemas.microsoft.com/office/drawing/2014/main" id="{DD30E425-C7EA-45F0-85AD-6C51CB843BA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2026/7/22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605" y="6351009"/>
            <a:ext cx="2699578" cy="316859"/>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t>2026/7/22</a:t>
            </a:fld>
            <a:endParaRPr lang="zh-CN" altLang="en-US"/>
          </a:p>
        </p:txBody>
      </p:sp>
      <p:sp>
        <p:nvSpPr>
          <p:cNvPr id="5" name="页脚占位符 4"/>
          <p:cNvSpPr>
            <a:spLocks noGrp="1"/>
          </p:cNvSpPr>
          <p:nvPr>
            <p:ph type="ftr" sz="quarter" idx="3"/>
          </p:nvPr>
        </p:nvSpPr>
        <p:spPr>
          <a:xfrm>
            <a:off x="4115357" y="6351009"/>
            <a:ext cx="3959381" cy="316859"/>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09254" y="6351009"/>
            <a:ext cx="2699578" cy="316859"/>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t>‹#›</a:t>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t>2026/7/22</a:t>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10.xml"/><Relationship Id="rId1" Type="http://schemas.openxmlformats.org/officeDocument/2006/relationships/tags" Target="../tags/tag3.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4.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10.xml"/><Relationship Id="rId1" Type="http://schemas.openxmlformats.org/officeDocument/2006/relationships/tags" Target="../tags/tag5.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6.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7.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8.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10.xml"/><Relationship Id="rId1" Type="http://schemas.openxmlformats.org/officeDocument/2006/relationships/tags" Target="../tags/tag9.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10.xml"/><Relationship Id="rId1" Type="http://schemas.openxmlformats.org/officeDocument/2006/relationships/tags" Target="../tags/tag10.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11.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12.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10.xml"/><Relationship Id="rId1" Type="http://schemas.openxmlformats.org/officeDocument/2006/relationships/tags" Target="../tags/tag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14.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15.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10.xml"/><Relationship Id="rId1" Type="http://schemas.openxmlformats.org/officeDocument/2006/relationships/tags" Target="../tags/tag16.xml"/></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10.xml"/><Relationship Id="rId1" Type="http://schemas.openxmlformats.org/officeDocument/2006/relationships/tags" Target="../tags/tag17.xml"/></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18.xml"/></Relationships>
</file>

<file path=ppt/slides/_rels/slide4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10.xml"/><Relationship Id="rId1" Type="http://schemas.openxmlformats.org/officeDocument/2006/relationships/tags" Target="../tags/tag19.xml"/></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20.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21.xml"/></Relationships>
</file>

<file path=ppt/slides/_rels/slide5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10.xml"/><Relationship Id="rId1" Type="http://schemas.openxmlformats.org/officeDocument/2006/relationships/tags" Target="../tags/tag22.xml"/></Relationships>
</file>

<file path=ppt/slides/_rels/slide5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10.xml"/><Relationship Id="rId1" Type="http://schemas.openxmlformats.org/officeDocument/2006/relationships/tags" Target="../tags/tag2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24.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25.xml"/></Relationships>
</file>

<file path=ppt/slides/_rels/slide5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10.xml"/><Relationship Id="rId1" Type="http://schemas.openxmlformats.org/officeDocument/2006/relationships/tags" Target="../tags/tag2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27.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28.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29.xml"/></Relationships>
</file>

<file path=ppt/slides/_rels/slide6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10.xml"/><Relationship Id="rId1" Type="http://schemas.openxmlformats.org/officeDocument/2006/relationships/tags" Target="../tags/tag30.xml"/></Relationships>
</file>

<file path=ppt/slides/_rels/slide6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0.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31.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32.xml"/></Relationships>
</file>

<file path=ppt/slides/_rels/slide6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10.xml"/><Relationship Id="rId1" Type="http://schemas.openxmlformats.org/officeDocument/2006/relationships/tags" Target="../tags/tag33.xml"/></Relationships>
</file>

<file path=ppt/slides/_rels/slide7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10.xml"/><Relationship Id="rId1" Type="http://schemas.openxmlformats.org/officeDocument/2006/relationships/tags" Target="../tags/tag34.xml"/></Relationships>
</file>

<file path=ppt/slides/_rels/slide7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0.xml"/><Relationship Id="rId4" Type="http://schemas.openxmlformats.org/officeDocument/2006/relationships/image" Target="../media/image22.svg"/></Relationships>
</file>

<file path=ppt/slides/_rels/slide7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3.png"/><Relationship Id="rId1" Type="http://schemas.openxmlformats.org/officeDocument/2006/relationships/slideLayout" Target="../slideLayouts/slideLayout10.xml"/><Relationship Id="rId4" Type="http://schemas.openxmlformats.org/officeDocument/2006/relationships/image" Target="../media/image22.svg"/></Relationships>
</file>

<file path=ppt/slides/_rels/slide7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7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10.xml"/><Relationship Id="rId4" Type="http://schemas.openxmlformats.org/officeDocument/2006/relationships/image" Target="../media/image25.png"/></Relationships>
</file>

<file path=ppt/slides/_rels/slide7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35.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36.xml"/></Relationships>
</file>

<file path=ppt/slides/_rels/slide7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10.xml"/><Relationship Id="rId1" Type="http://schemas.openxmlformats.org/officeDocument/2006/relationships/tags" Target="../tags/tag37.xml"/></Relationships>
</file>

<file path=ppt/slides/_rels/slide7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8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8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0.xml"/><Relationship Id="rId1" Type="http://schemas.openxmlformats.org/officeDocument/2006/relationships/tags" Target="../tags/tag38.xml"/></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0.xml"/><Relationship Id="rId1" Type="http://schemas.openxmlformats.org/officeDocument/2006/relationships/tags" Target="../tags/tag39.xml"/><Relationship Id="rId4" Type="http://schemas.openxmlformats.org/officeDocument/2006/relationships/image" Target="../media/image28.png"/></Relationships>
</file>

<file path=ppt/slides/_rels/slide8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8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40.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41.xml"/></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42.xml"/></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43.xml"/></Relationships>
</file>

<file path=ppt/slides/_rels/slide9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Layout" Target="../slideLayouts/slideLayout10.xml"/><Relationship Id="rId1" Type="http://schemas.openxmlformats.org/officeDocument/2006/relationships/tags" Target="../tags/tag44.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9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9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45.xml"/></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46.xml"/></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47.xml"/></Relationships>
</file>

<file path=ppt/slides/_rels/slide10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Layout" Target="../slideLayouts/slideLayout10.xml"/><Relationship Id="rId1" Type="http://schemas.openxmlformats.org/officeDocument/2006/relationships/tags" Target="../tags/tag48.xml"/></Relationships>
</file>

<file path=ppt/slides/_rels/slide10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10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49.xml"/></Relationships>
</file>

<file path=ppt/slides/_rels/slide10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Layout" Target="../slideLayouts/slideLayout10.xml"/><Relationship Id="rId1" Type="http://schemas.openxmlformats.org/officeDocument/2006/relationships/tags" Target="../tags/tag50.xml"/></Relationships>
</file>

<file path=ppt/slides/_rels/slide10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10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51.xml"/></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52.xml"/></Relationships>
</file>

<file path=ppt/slides/_rels/slide1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Layout" Target="../slideLayouts/slideLayout10.xml"/><Relationship Id="rId1" Type="http://schemas.openxmlformats.org/officeDocument/2006/relationships/tags" Target="../tags/tag53.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9.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0.xml"/></Relationships>
</file>

<file path=ppt/slides/_rels/slide1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0.xml"/></Relationships>
</file>

<file path=ppt/slides/_rels/slide1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5.xml"/><Relationship Id="rId1" Type="http://schemas.openxmlformats.org/officeDocument/2006/relationships/slideLayout" Target="../slideLayouts/slideLayout10.xml"/></Relationships>
</file>

<file path=ppt/slides/_rels/slide118.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54.xml"/></Relationships>
</file>

<file path=ppt/slides/_rels/slide11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55.xml"/></Relationships>
</file>

<file path=ppt/slides/_rels/slide120.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56.xml"/></Relationships>
</file>

<file path=ppt/slides/_rels/slide1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Layout" Target="../slideLayouts/slideLayout10.xml"/><Relationship Id="rId1" Type="http://schemas.openxmlformats.org/officeDocument/2006/relationships/tags" Target="../tags/tag57.xml"/></Relationships>
</file>

<file path=ppt/slides/_rels/slide1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6.xml"/><Relationship Id="rId1" Type="http://schemas.openxmlformats.org/officeDocument/2006/relationships/slideLayout" Target="../slideLayouts/slideLayout10.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0.xml"/></Relationships>
</file>

<file path=ppt/slides/_rels/slide124.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58.xml"/></Relationships>
</file>

<file path=ppt/slides/_rels/slide125.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59.xml"/></Relationships>
</file>

<file path=ppt/slides/_rels/slide1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slideLayout" Target="../slideLayouts/slideLayout10.xml"/><Relationship Id="rId1" Type="http://schemas.openxmlformats.org/officeDocument/2006/relationships/tags" Target="../tags/tag60.xml"/></Relationships>
</file>

<file path=ppt/slides/_rels/slide127.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61.xml"/></Relationships>
</file>

<file path=ppt/slides/_rels/slide1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8.xml"/><Relationship Id="rId1" Type="http://schemas.openxmlformats.org/officeDocument/2006/relationships/slideLayout" Target="../slideLayouts/slideLayout10.xml"/></Relationships>
</file>

<file path=ppt/slides/_rels/slide1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9.xml"/><Relationship Id="rId1" Type="http://schemas.openxmlformats.org/officeDocument/2006/relationships/slideLayout" Target="../slideLayouts/slideLayout10.xml"/></Relationships>
</file>

<file path=ppt/slides/_rels/slide130.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62.xml"/></Relationships>
</file>

<file path=ppt/slides/_rels/slide131.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63.xml"/></Relationships>
</file>

<file path=ppt/slides/_rels/slide1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Layout" Target="../slideLayouts/slideLayout10.xml"/><Relationship Id="rId1" Type="http://schemas.openxmlformats.org/officeDocument/2006/relationships/tags" Target="../tags/tag64.xml"/></Relationships>
</file>

<file path=ppt/slides/_rels/slide133.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65.xml"/></Relationships>
</file>

<file path=ppt/slides/_rels/slide1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0.xml"/><Relationship Id="rId1" Type="http://schemas.openxmlformats.org/officeDocument/2006/relationships/slideLayout" Target="../slideLayouts/slideLayout10.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0.xml"/></Relationships>
</file>

<file path=ppt/slides/_rels/slide1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2.xml"/><Relationship Id="rId1" Type="http://schemas.openxmlformats.org/officeDocument/2006/relationships/slideLayout" Target="../slideLayouts/slideLayout10.xml"/></Relationships>
</file>

<file path=ppt/slides/_rels/slide137.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66.xml"/></Relationships>
</file>

<file path=ppt/slides/_rels/slide1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Layout" Target="../slideLayouts/slideLayout10.xml"/><Relationship Id="rId1" Type="http://schemas.openxmlformats.org/officeDocument/2006/relationships/tags" Target="../tags/tag67.xml"/></Relationships>
</file>

<file path=ppt/slides/_rels/slide13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68.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18"/>
          <p:cNvSpPr txBox="1"/>
          <p:nvPr/>
        </p:nvSpPr>
        <p:spPr>
          <a:xfrm>
            <a:off x="2037285" y="2637706"/>
            <a:ext cx="10826673" cy="923330"/>
          </a:xfrm>
          <a:prstGeom prst="rect">
            <a:avLst/>
          </a:prstGeom>
          <a:noFill/>
        </p:spPr>
        <p:txBody>
          <a:bodyPr wrap="square" rtlCol="0">
            <a:spAutoFit/>
          </a:bodyPr>
          <a:lstStyle/>
          <a:p>
            <a:r>
              <a:rPr lang="zh-CN" altLang="en-US" sz="54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思源黑体 CN Medium" panose="020B0600000000000000" pitchFamily="34" charset="-122"/>
              </a:rPr>
              <a:t>第</a:t>
            </a:r>
            <a:r>
              <a:rPr lang="en-US" altLang="zh-CN" sz="54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思源黑体 CN Medium" panose="020B0600000000000000" pitchFamily="34" charset="-122"/>
              </a:rPr>
              <a:t>6</a:t>
            </a:r>
            <a:r>
              <a:rPr lang="zh-CN" altLang="en-US" sz="54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思源黑体 CN Medium" panose="020B0600000000000000" pitchFamily="34" charset="-122"/>
              </a:rPr>
              <a:t>章 </a:t>
            </a:r>
            <a:r>
              <a:rPr lang="en-US" altLang="zh-CN" sz="54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思源黑体 CN Medium" panose="020B0600000000000000" pitchFamily="34" charset="-122"/>
              </a:rPr>
              <a:t>Bootstrap</a:t>
            </a:r>
            <a:r>
              <a:rPr lang="zh-CN" altLang="en-US" sz="54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思源黑体 CN Medium" panose="020B0600000000000000" pitchFamily="34" charset="-122"/>
              </a:rPr>
              <a:t>常用组件</a:t>
            </a:r>
            <a:endParaRPr lang="en-US" altLang="zh-CN" sz="54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思源黑体 CN Medium" panose="020B0600000000000000"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308" y="572758"/>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80" name="组合 79"/>
          <p:cNvGrpSpPr/>
          <p:nvPr/>
        </p:nvGrpSpPr>
        <p:grpSpPr>
          <a:xfrm>
            <a:off x="1054646" y="2061642"/>
            <a:ext cx="10213797" cy="688075"/>
            <a:chOff x="978872" y="1800500"/>
            <a:chExt cx="5471124" cy="515937"/>
          </a:xfrm>
        </p:grpSpPr>
        <p:sp>
          <p:nvSpPr>
            <p:cNvPr id="81" name="Pentagon 3"/>
            <p:cNvSpPr/>
            <p:nvPr/>
          </p:nvSpPr>
          <p:spPr bwMode="auto">
            <a:xfrm>
              <a:off x="978872" y="1800500"/>
              <a:ext cx="5471124" cy="515937"/>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    </a:t>
              </a:r>
              <a:r>
                <a:rPr lang="zh-CN" altLang="en-US" sz="20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导航组件</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的使用，能够创建多种</a:t>
              </a:r>
              <a:r>
                <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导航页面</a:t>
              </a:r>
            </a:p>
          </p:txBody>
        </p:sp>
        <p:sp>
          <p:nvSpPr>
            <p:cNvPr id="82"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83" name="组合 82"/>
          <p:cNvGrpSpPr/>
          <p:nvPr/>
        </p:nvGrpSpPr>
        <p:grpSpPr>
          <a:xfrm>
            <a:off x="1054646" y="2925738"/>
            <a:ext cx="10202514" cy="685959"/>
            <a:chOff x="978872" y="2570437"/>
            <a:chExt cx="5437064" cy="514350"/>
          </a:xfrm>
        </p:grpSpPr>
        <p:sp>
          <p:nvSpPr>
            <p:cNvPr id="84"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    掌握</a:t>
              </a:r>
              <a:r>
                <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导航栏组件</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的使用，能够设置</a:t>
              </a:r>
              <a:r>
                <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导航栏的品牌标志</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，能够实现</a:t>
              </a:r>
              <a:r>
                <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可折叠的导航栏</a:t>
              </a:r>
            </a:p>
          </p:txBody>
        </p:sp>
        <p:sp>
          <p:nvSpPr>
            <p:cNvPr id="85"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86" name="组合 85"/>
          <p:cNvGrpSpPr/>
          <p:nvPr/>
        </p:nvGrpSpPr>
        <p:grpSpPr>
          <a:xfrm>
            <a:off x="1054646" y="3789834"/>
            <a:ext cx="10202514" cy="688077"/>
            <a:chOff x="978872" y="3338787"/>
            <a:chExt cx="5437064" cy="515938"/>
          </a:xfrm>
        </p:grpSpPr>
        <p:sp>
          <p:nvSpPr>
            <p:cNvPr id="87" name="Pentagon 6"/>
            <p:cNvSpPr/>
            <p:nvPr/>
          </p:nvSpPr>
          <p:spPr bwMode="auto">
            <a:xfrm>
              <a:off x="978872" y="3338787"/>
              <a:ext cx="5437064" cy="515938"/>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    掌握</a:t>
              </a:r>
              <a:r>
                <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表单组件</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的使用，能够在页面中创建</a:t>
              </a:r>
              <a:r>
                <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表单控件</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，并且能够对表单进行</a:t>
              </a:r>
              <a:r>
                <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布局</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和</a:t>
              </a:r>
              <a:r>
                <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验证</a:t>
              </a:r>
            </a:p>
          </p:txBody>
        </p:sp>
        <p:sp>
          <p:nvSpPr>
            <p:cNvPr id="88" name="MH_Others_1"/>
            <p:cNvSpPr/>
            <p:nvPr/>
          </p:nvSpPr>
          <p:spPr bwMode="auto">
            <a:xfrm>
              <a:off x="985222" y="3338787"/>
              <a:ext cx="82550" cy="515938"/>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28" name="组合 27"/>
          <p:cNvGrpSpPr/>
          <p:nvPr/>
        </p:nvGrpSpPr>
        <p:grpSpPr>
          <a:xfrm>
            <a:off x="1054646" y="4653930"/>
            <a:ext cx="10191175" cy="685960"/>
            <a:chOff x="978872" y="2570437"/>
            <a:chExt cx="5437064" cy="514351"/>
          </a:xfrm>
        </p:grpSpPr>
        <p:sp>
          <p:nvSpPr>
            <p:cNvPr id="29" name="Pentagon 5"/>
            <p:cNvSpPr/>
            <p:nvPr/>
          </p:nvSpPr>
          <p:spPr bwMode="auto">
            <a:xfrm>
              <a:off x="978872" y="2570438"/>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    掌握</a:t>
              </a:r>
              <a:r>
                <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按钮组件</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的使用，能够创建</a:t>
              </a:r>
              <a:r>
                <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基础按钮</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a:t>
              </a:r>
              <a:r>
                <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按钮组</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和</a:t>
              </a:r>
              <a:r>
                <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按钮工具条</a:t>
              </a:r>
            </a:p>
          </p:txBody>
        </p:sp>
        <p:sp>
          <p:nvSpPr>
            <p:cNvPr id="30"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31" name="组合 30"/>
          <p:cNvGrpSpPr/>
          <p:nvPr/>
        </p:nvGrpSpPr>
        <p:grpSpPr>
          <a:xfrm>
            <a:off x="1054646" y="5518026"/>
            <a:ext cx="10191174" cy="688077"/>
            <a:chOff x="978872" y="3338787"/>
            <a:chExt cx="5437064" cy="515938"/>
          </a:xfrm>
        </p:grpSpPr>
        <p:sp>
          <p:nvSpPr>
            <p:cNvPr id="32" name="Pentagon 6"/>
            <p:cNvSpPr/>
            <p:nvPr/>
          </p:nvSpPr>
          <p:spPr bwMode="auto">
            <a:xfrm>
              <a:off x="978872" y="3338787"/>
              <a:ext cx="5437064" cy="515938"/>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    掌握</a:t>
              </a:r>
              <a:r>
                <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轮播图组件</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的使用，能够实现</a:t>
              </a:r>
              <a:r>
                <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轮播图页面</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以及</a:t>
              </a:r>
              <a:r>
                <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轮播图切换</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效果</a:t>
              </a:r>
              <a:endPar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33" name="MH_Others_1"/>
            <p:cNvSpPr/>
            <p:nvPr/>
          </p:nvSpPr>
          <p:spPr bwMode="auto">
            <a:xfrm>
              <a:off x="985222" y="3338787"/>
              <a:ext cx="82550" cy="515938"/>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spTree>
    <p:extLst>
      <p:ext uri="{BB962C8B-B14F-4D97-AF65-F5344CB8AC3E}">
        <p14:creationId xmlns:p14="http://schemas.microsoft.com/office/powerpoint/2010/main" val="13372166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671292" y="572758"/>
            <a:ext cx="3911746"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章节概述</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 Summary</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1009935" y="1714674"/>
            <a:ext cx="10151132" cy="3335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en-US" altLang="zh-CN" sz="2000" dirty="0">
                <a:solidFill>
                  <a:srgbClr val="1369B2"/>
                </a:solidFill>
                <a:latin typeface="微软雅黑" panose="020B0503020204020204" pitchFamily="34" charset="-122"/>
                <a:ea typeface="微软雅黑" panose="020B0503020204020204" pitchFamily="34" charset="-122"/>
              </a:rPr>
              <a:t>Bootstrap</a:t>
            </a:r>
            <a:r>
              <a:rPr lang="zh-CN" altLang="en-US" sz="2000" dirty="0">
                <a:solidFill>
                  <a:srgbClr val="1369B2"/>
                </a:solidFill>
                <a:latin typeface="微软雅黑" panose="020B0503020204020204" pitchFamily="34" charset="-122"/>
                <a:ea typeface="微软雅黑" panose="020B0503020204020204" pitchFamily="34" charset="-122"/>
              </a:rPr>
              <a:t>组件：</a:t>
            </a:r>
            <a:r>
              <a:rPr lang="en-US" altLang="zh-CN" sz="2000" dirty="0">
                <a:solidFill>
                  <a:srgbClr val="595959"/>
                </a:solidFill>
                <a:latin typeface="微软雅黑" panose="020B0503020204020204" pitchFamily="34" charset="-122"/>
                <a:ea typeface="微软雅黑" panose="020B0503020204020204" pitchFamily="34" charset="-122"/>
                <a:cs typeface="+mn-ea"/>
              </a:rPr>
              <a:t>Bootstrap</a:t>
            </a:r>
            <a:r>
              <a:rPr lang="zh-CN" altLang="en-US" sz="2000" dirty="0">
                <a:solidFill>
                  <a:srgbClr val="595959"/>
                </a:solidFill>
                <a:latin typeface="微软雅黑" panose="020B0503020204020204" pitchFamily="34" charset="-122"/>
                <a:ea typeface="微软雅黑" panose="020B0503020204020204" pitchFamily="34" charset="-122"/>
                <a:cs typeface="+mn-ea"/>
              </a:rPr>
              <a:t>对网页中常用的公共代码进行封装，形成了各种各样的组件，如导航组件、导航栏组件、表单组件、按钮组件、轮播图组件等。</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algn="just">
              <a:lnSpc>
                <a:spcPct val="150000"/>
              </a:lnSpc>
            </a:pPr>
            <a:endParaRPr lang="en-US" altLang="zh-CN" sz="1100" dirty="0">
              <a:solidFill>
                <a:srgbClr val="595959"/>
              </a:solidFill>
              <a:latin typeface="微软雅黑" panose="020B0503020204020204" pitchFamily="34" charset="-122"/>
              <a:ea typeface="微软雅黑" panose="020B0503020204020204" pitchFamily="34" charset="-122"/>
            </a:endParaRPr>
          </a:p>
          <a:p>
            <a:pPr algn="just">
              <a:lnSpc>
                <a:spcPct val="150000"/>
              </a:lnSpc>
            </a:pPr>
            <a:r>
              <a:rPr lang="en-US" altLang="zh-CN" sz="2000" dirty="0">
                <a:solidFill>
                  <a:srgbClr val="1369B2"/>
                </a:solidFill>
                <a:latin typeface="微软雅黑" panose="020B0503020204020204" pitchFamily="34" charset="-122"/>
                <a:ea typeface="微软雅黑" panose="020B0503020204020204" pitchFamily="34" charset="-122"/>
              </a:rPr>
              <a:t>Bootstrap</a:t>
            </a:r>
            <a:r>
              <a:rPr lang="zh-CN" altLang="en-US" sz="2000" dirty="0">
                <a:solidFill>
                  <a:srgbClr val="1369B2"/>
                </a:solidFill>
                <a:latin typeface="微软雅黑" panose="020B0503020204020204" pitchFamily="34" charset="-122"/>
                <a:ea typeface="微软雅黑" panose="020B0503020204020204" pitchFamily="34" charset="-122"/>
              </a:rPr>
              <a:t>组件的作用：</a:t>
            </a:r>
            <a:r>
              <a:rPr lang="zh-CN" altLang="en-US" sz="2000" dirty="0">
                <a:solidFill>
                  <a:srgbClr val="595959"/>
                </a:solidFill>
                <a:latin typeface="微软雅黑" panose="020B0503020204020204" pitchFamily="34" charset="-122"/>
                <a:ea typeface="微软雅黑" panose="020B0503020204020204" pitchFamily="34" charset="-122"/>
                <a:cs typeface="+mn-ea"/>
              </a:rPr>
              <a:t>前端开发人员使用</a:t>
            </a:r>
            <a:r>
              <a:rPr lang="en-US" altLang="zh-CN" sz="2000" dirty="0">
                <a:solidFill>
                  <a:srgbClr val="595959"/>
                </a:solidFill>
                <a:latin typeface="微软雅黑" panose="020B0503020204020204" pitchFamily="34" charset="-122"/>
                <a:ea typeface="微软雅黑" panose="020B0503020204020204" pitchFamily="34" charset="-122"/>
                <a:cs typeface="+mn-ea"/>
              </a:rPr>
              <a:t>Bootstrap</a:t>
            </a:r>
            <a:r>
              <a:rPr lang="zh-CN" altLang="en-US" sz="2000" dirty="0">
                <a:solidFill>
                  <a:srgbClr val="595959"/>
                </a:solidFill>
                <a:latin typeface="微软雅黑" panose="020B0503020204020204" pitchFamily="34" charset="-122"/>
                <a:ea typeface="微软雅黑" panose="020B0503020204020204" pitchFamily="34" charset="-122"/>
                <a:cs typeface="+mn-ea"/>
              </a:rPr>
              <a:t>编写页面时，不需要写</a:t>
            </a:r>
            <a:r>
              <a:rPr lang="zh-CN" altLang="en-US" sz="2000" dirty="0">
                <a:solidFill>
                  <a:srgbClr val="1369B2"/>
                </a:solidFill>
                <a:latin typeface="微软雅黑" panose="020B0503020204020204" pitchFamily="34" charset="-122"/>
                <a:ea typeface="微软雅黑" panose="020B0503020204020204" pitchFamily="34" charset="-122"/>
              </a:rPr>
              <a:t>复杂</a:t>
            </a:r>
            <a:r>
              <a:rPr lang="zh-CN" altLang="en-US" sz="2000" dirty="0">
                <a:solidFill>
                  <a:srgbClr val="595959"/>
                </a:solidFill>
                <a:latin typeface="微软雅黑" panose="020B0503020204020204" pitchFamily="34" charset="-122"/>
                <a:ea typeface="微软雅黑" panose="020B0503020204020204" pitchFamily="34" charset="-122"/>
                <a:cs typeface="+mn-ea"/>
              </a:rPr>
              <a:t>的样式和逻辑代码，直接使用</a:t>
            </a:r>
            <a:r>
              <a:rPr lang="zh-CN" altLang="en-US" sz="2000" dirty="0">
                <a:solidFill>
                  <a:srgbClr val="1369B2"/>
                </a:solidFill>
                <a:latin typeface="微软雅黑" panose="020B0503020204020204" pitchFamily="34" charset="-122"/>
                <a:ea typeface="微软雅黑" panose="020B0503020204020204" pitchFamily="34" charset="-122"/>
              </a:rPr>
              <a:t>组件</a:t>
            </a:r>
            <a:r>
              <a:rPr lang="zh-CN" altLang="en-US" sz="2000" dirty="0">
                <a:solidFill>
                  <a:srgbClr val="595959"/>
                </a:solidFill>
                <a:latin typeface="微软雅黑" panose="020B0503020204020204" pitchFamily="34" charset="-122"/>
                <a:ea typeface="微软雅黑" panose="020B0503020204020204" pitchFamily="34" charset="-122"/>
                <a:cs typeface="+mn-ea"/>
              </a:rPr>
              <a:t>即可完成各种页面效果。这些组件也能够很好地支持</a:t>
            </a:r>
            <a:r>
              <a:rPr lang="zh-CN" altLang="en-US" sz="2000" dirty="0">
                <a:solidFill>
                  <a:srgbClr val="1369B2"/>
                </a:solidFill>
                <a:latin typeface="微软雅黑" panose="020B0503020204020204" pitchFamily="34" charset="-122"/>
                <a:ea typeface="微软雅黑" panose="020B0503020204020204" pitchFamily="34" charset="-122"/>
              </a:rPr>
              <a:t>响应式</a:t>
            </a:r>
            <a:r>
              <a:rPr lang="zh-CN" altLang="en-US" sz="2000" dirty="0">
                <a:solidFill>
                  <a:srgbClr val="595959"/>
                </a:solidFill>
                <a:latin typeface="微软雅黑" panose="020B0503020204020204" pitchFamily="34" charset="-122"/>
                <a:ea typeface="微软雅黑" panose="020B0503020204020204" pitchFamily="34" charset="-122"/>
                <a:cs typeface="+mn-ea"/>
              </a:rPr>
              <a:t>开发</a:t>
            </a:r>
            <a:r>
              <a:rPr lang="zh-CN" altLang="en-US" sz="2000" dirty="0">
                <a:solidFill>
                  <a:srgbClr val="595959"/>
                </a:solidFill>
                <a:latin typeface="微软雅黑" panose="020B0503020204020204" pitchFamily="34" charset="-122"/>
                <a:ea typeface="微软雅黑" panose="020B0503020204020204" pitchFamily="34" charset="-122"/>
              </a:rPr>
              <a:t>。</a:t>
            </a:r>
            <a:endParaRPr lang="en-US" altLang="zh-CN" sz="2000" dirty="0">
              <a:solidFill>
                <a:srgbClr val="595959"/>
              </a:solidFill>
              <a:latin typeface="微软雅黑" panose="020B0503020204020204" pitchFamily="34" charset="-122"/>
              <a:ea typeface="微软雅黑" panose="020B0503020204020204" pitchFamily="34" charset="-122"/>
            </a:endParaRPr>
          </a:p>
          <a:p>
            <a:pPr algn="just">
              <a:lnSpc>
                <a:spcPct val="150000"/>
              </a:lnSpc>
            </a:pPr>
            <a:endParaRPr lang="en-US" altLang="zh-CN" sz="1050" dirty="0">
              <a:solidFill>
                <a:srgbClr val="595959"/>
              </a:solidFill>
              <a:latin typeface="微软雅黑" panose="020B0503020204020204" pitchFamily="34" charset="-122"/>
              <a:ea typeface="微软雅黑" panose="020B0503020204020204" pitchFamily="34" charset="-122"/>
            </a:endParaRPr>
          </a:p>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cs typeface="+mn-ea"/>
              </a:rPr>
              <a:t>本章将针对</a:t>
            </a:r>
            <a:r>
              <a:rPr lang="en-US" altLang="zh-CN" sz="2000" dirty="0">
                <a:solidFill>
                  <a:srgbClr val="595959"/>
                </a:solidFill>
                <a:latin typeface="微软雅黑" panose="020B0503020204020204" pitchFamily="34" charset="-122"/>
                <a:ea typeface="微软雅黑" panose="020B0503020204020204" pitchFamily="34" charset="-122"/>
                <a:cs typeface="+mn-ea"/>
              </a:rPr>
              <a:t>Bootstrap</a:t>
            </a:r>
            <a:r>
              <a:rPr lang="zh-CN" altLang="en-US" sz="2000" dirty="0">
                <a:solidFill>
                  <a:srgbClr val="595959"/>
                </a:solidFill>
                <a:latin typeface="微软雅黑" panose="020B0503020204020204" pitchFamily="34" charset="-122"/>
                <a:ea typeface="微软雅黑" panose="020B0503020204020204" pitchFamily="34" charset="-122"/>
                <a:cs typeface="+mn-ea"/>
              </a:rPr>
              <a:t>中常用的</a:t>
            </a:r>
            <a:r>
              <a:rPr lang="zh-CN" altLang="en-US" sz="2000" dirty="0">
                <a:solidFill>
                  <a:srgbClr val="1369B2"/>
                </a:solidFill>
                <a:latin typeface="微软雅黑" panose="020B0503020204020204" pitchFamily="34" charset="-122"/>
                <a:ea typeface="微软雅黑" panose="020B0503020204020204" pitchFamily="34" charset="-122"/>
              </a:rPr>
              <a:t>组件</a:t>
            </a:r>
            <a:r>
              <a:rPr lang="zh-CN" altLang="en-US" sz="2000" dirty="0">
                <a:solidFill>
                  <a:srgbClr val="595959"/>
                </a:solidFill>
                <a:latin typeface="微软雅黑" panose="020B0503020204020204" pitchFamily="34" charset="-122"/>
                <a:ea typeface="微软雅黑" panose="020B0503020204020204" pitchFamily="34" charset="-122"/>
                <a:cs typeface="+mn-ea"/>
              </a:rPr>
              <a:t>进行详细讲解。</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目录</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45" name="组合 44"/>
          <p:cNvGrpSpPr/>
          <p:nvPr/>
        </p:nvGrpSpPr>
        <p:grpSpPr>
          <a:xfrm>
            <a:off x="3119265" y="1933199"/>
            <a:ext cx="1192190" cy="613062"/>
            <a:chOff x="2215144" y="982844"/>
            <a:chExt cx="1244730" cy="842780"/>
          </a:xfrm>
        </p:grpSpPr>
        <p:sp>
          <p:nvSpPr>
            <p:cNvPr id="46" name="平行四边形 45"/>
            <p:cNvSpPr/>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7" name="文本框 9"/>
            <p:cNvSpPr txBox="1"/>
            <p:nvPr/>
          </p:nvSpPr>
          <p:spPr>
            <a:xfrm>
              <a:off x="2393075" y="1005670"/>
              <a:ext cx="1066799" cy="803893"/>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01</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48" name="组合 47"/>
          <p:cNvGrpSpPr/>
          <p:nvPr/>
        </p:nvGrpSpPr>
        <p:grpSpPr>
          <a:xfrm>
            <a:off x="3119265" y="2853597"/>
            <a:ext cx="1192190" cy="618406"/>
            <a:chOff x="2215144" y="2026500"/>
            <a:chExt cx="1244730" cy="850129"/>
          </a:xfrm>
        </p:grpSpPr>
        <p:sp>
          <p:nvSpPr>
            <p:cNvPr id="49" name="平行四边形 48"/>
            <p:cNvSpPr/>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0" name="文本框 10"/>
            <p:cNvSpPr txBox="1"/>
            <p:nvPr/>
          </p:nvSpPr>
          <p:spPr>
            <a:xfrm>
              <a:off x="2393075" y="2026500"/>
              <a:ext cx="1066799" cy="803896"/>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02</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1" name="组合 50"/>
          <p:cNvGrpSpPr/>
          <p:nvPr/>
        </p:nvGrpSpPr>
        <p:grpSpPr>
          <a:xfrm>
            <a:off x="3119265" y="3784175"/>
            <a:ext cx="1192190" cy="614525"/>
            <a:chOff x="2215144" y="3084852"/>
            <a:chExt cx="1244730" cy="844793"/>
          </a:xfrm>
        </p:grpSpPr>
        <p:sp>
          <p:nvSpPr>
            <p:cNvPr id="52" name="平行四边形 51"/>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3" name="文本框 11"/>
            <p:cNvSpPr txBox="1"/>
            <p:nvPr/>
          </p:nvSpPr>
          <p:spPr>
            <a:xfrm>
              <a:off x="2393075" y="3125750"/>
              <a:ext cx="1066799" cy="803895"/>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03</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60" name="组合 59"/>
          <p:cNvGrpSpPr/>
          <p:nvPr/>
        </p:nvGrpSpPr>
        <p:grpSpPr>
          <a:xfrm>
            <a:off x="4024817" y="1911020"/>
            <a:ext cx="5142331" cy="613062"/>
            <a:chOff x="4315150" y="953426"/>
            <a:chExt cx="3857250" cy="540057"/>
          </a:xfrm>
        </p:grpSpPr>
        <p:sp>
          <p:nvSpPr>
            <p:cNvPr id="61" name="矩形 60"/>
            <p:cNvSpPr/>
            <p:nvPr/>
          </p:nvSpPr>
          <p:spPr>
            <a:xfrm>
              <a:off x="4841196" y="1036090"/>
              <a:ext cx="2827147" cy="344580"/>
            </a:xfrm>
            <a:prstGeom prst="rect">
              <a:avLst/>
            </a:prstGeom>
            <a:ln w="15875">
              <a:noFill/>
            </a:ln>
          </p:spPr>
          <p:txBody>
            <a:bodyPr wrap="square" lIns="68580" tIns="34290" rIns="68580" bIns="34290">
              <a:spAutoFit/>
            </a:bodyPr>
            <a:lstStyle/>
            <a:p>
              <a:pPr algn="l">
                <a:buClrTx/>
                <a:buSzTx/>
                <a:buFontTx/>
              </a:pP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导航组件</a:t>
              </a:r>
            </a:p>
          </p:txBody>
        </p:sp>
        <p:sp>
          <p:nvSpPr>
            <p:cNvPr id="62" name="平行四边形 61"/>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3" name="组合 62"/>
          <p:cNvGrpSpPr/>
          <p:nvPr/>
        </p:nvGrpSpPr>
        <p:grpSpPr>
          <a:xfrm>
            <a:off x="4024817" y="2836771"/>
            <a:ext cx="5142331" cy="613062"/>
            <a:chOff x="4315150" y="1647579"/>
            <a:chExt cx="3857250" cy="540057"/>
          </a:xfrm>
        </p:grpSpPr>
        <p:sp>
          <p:nvSpPr>
            <p:cNvPr id="64" name="矩形 63"/>
            <p:cNvSpPr/>
            <p:nvPr/>
          </p:nvSpPr>
          <p:spPr>
            <a:xfrm>
              <a:off x="4841196" y="1730243"/>
              <a:ext cx="2827147" cy="332129"/>
            </a:xfrm>
            <a:prstGeom prst="rect">
              <a:avLst/>
            </a:prstGeom>
            <a:ln w="15875">
              <a:noFill/>
            </a:ln>
          </p:spPr>
          <p:txBody>
            <a:bodyPr wrap="square" lIns="68580" tIns="34290" rIns="68580" bIns="34290">
              <a:spAutoFit/>
            </a:bodyPr>
            <a:lstStyle/>
            <a:p>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导航栏组件</a:t>
              </a:r>
            </a:p>
          </p:txBody>
        </p:sp>
        <p:sp>
          <p:nvSpPr>
            <p:cNvPr id="65" name="平行四边形 64"/>
            <p:cNvSpPr/>
            <p:nvPr/>
          </p:nvSpPr>
          <p:spPr>
            <a:xfrm>
              <a:off x="4315150" y="1647579"/>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6" name="组合 65"/>
          <p:cNvGrpSpPr/>
          <p:nvPr/>
        </p:nvGrpSpPr>
        <p:grpSpPr>
          <a:xfrm>
            <a:off x="4024817" y="3762522"/>
            <a:ext cx="5142331" cy="613062"/>
            <a:chOff x="4315150" y="2341731"/>
            <a:chExt cx="3857250" cy="540057"/>
          </a:xfrm>
        </p:grpSpPr>
        <p:sp>
          <p:nvSpPr>
            <p:cNvPr id="67" name="矩形 66"/>
            <p:cNvSpPr/>
            <p:nvPr/>
          </p:nvSpPr>
          <p:spPr>
            <a:xfrm>
              <a:off x="4841197" y="2424395"/>
              <a:ext cx="2827146" cy="331154"/>
            </a:xfrm>
            <a:prstGeom prst="rect">
              <a:avLst/>
            </a:prstGeom>
            <a:ln w="15875">
              <a:noFill/>
            </a:ln>
          </p:spPr>
          <p:txBody>
            <a:bodyPr wrap="square" lIns="68580" tIns="34290" rIns="68580" bIns="34290">
              <a:spAutoFit/>
            </a:bodyPr>
            <a:lstStyle/>
            <a:p>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表单组件</a:t>
              </a:r>
              <a:endParaRPr lang="en-US" altLang="zh-CN" sz="20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8" name="平行四边形 67"/>
            <p:cNvSpPr/>
            <p:nvPr/>
          </p:nvSpPr>
          <p:spPr>
            <a:xfrm>
              <a:off x="4315150" y="2341731"/>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21" name="组合 20"/>
          <p:cNvGrpSpPr/>
          <p:nvPr/>
        </p:nvGrpSpPr>
        <p:grpSpPr>
          <a:xfrm>
            <a:off x="3070870" y="4699302"/>
            <a:ext cx="1192190" cy="613062"/>
            <a:chOff x="2215144" y="982844"/>
            <a:chExt cx="1244730" cy="842780"/>
          </a:xfrm>
        </p:grpSpPr>
        <p:sp>
          <p:nvSpPr>
            <p:cNvPr id="22" name="平行四边形 21"/>
            <p:cNvSpPr/>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23" name="文本框 9"/>
            <p:cNvSpPr txBox="1"/>
            <p:nvPr/>
          </p:nvSpPr>
          <p:spPr>
            <a:xfrm>
              <a:off x="2393075" y="1005670"/>
              <a:ext cx="1066799" cy="803893"/>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04</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27" name="组合 26"/>
          <p:cNvGrpSpPr/>
          <p:nvPr/>
        </p:nvGrpSpPr>
        <p:grpSpPr>
          <a:xfrm>
            <a:off x="3976422" y="4677123"/>
            <a:ext cx="5142331" cy="613062"/>
            <a:chOff x="4315150" y="953426"/>
            <a:chExt cx="3857250" cy="540057"/>
          </a:xfrm>
        </p:grpSpPr>
        <p:sp>
          <p:nvSpPr>
            <p:cNvPr id="28" name="矩形 27"/>
            <p:cNvSpPr/>
            <p:nvPr/>
          </p:nvSpPr>
          <p:spPr>
            <a:xfrm>
              <a:off x="4841196" y="1036090"/>
              <a:ext cx="2827147" cy="332129"/>
            </a:xfrm>
            <a:prstGeom prst="rect">
              <a:avLst/>
            </a:prstGeom>
            <a:ln w="15875">
              <a:noFill/>
            </a:ln>
          </p:spPr>
          <p:txBody>
            <a:bodyPr wrap="square" lIns="68580" tIns="34290" rIns="68580" bIns="34290">
              <a:spAutoFit/>
            </a:bodyPr>
            <a:lstStyle/>
            <a:p>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按钮组件</a:t>
              </a:r>
              <a:endParaRPr lang="zh-CN" altLang="en-GB" sz="20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9" name="平行四边形 28"/>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30" name="组合 29">
            <a:extLst>
              <a:ext uri="{FF2B5EF4-FFF2-40B4-BE49-F238E27FC236}">
                <a16:creationId xmlns:a16="http://schemas.microsoft.com/office/drawing/2014/main" id="{785DE4B4-7771-4CB8-8AA5-459B742D0EDA}"/>
              </a:ext>
            </a:extLst>
          </p:cNvPr>
          <p:cNvGrpSpPr/>
          <p:nvPr/>
        </p:nvGrpSpPr>
        <p:grpSpPr>
          <a:xfrm>
            <a:off x="3070870" y="5612966"/>
            <a:ext cx="1192190" cy="613062"/>
            <a:chOff x="2215144" y="982844"/>
            <a:chExt cx="1244730" cy="842780"/>
          </a:xfrm>
        </p:grpSpPr>
        <p:sp>
          <p:nvSpPr>
            <p:cNvPr id="31" name="平行四边形 30">
              <a:extLst>
                <a:ext uri="{FF2B5EF4-FFF2-40B4-BE49-F238E27FC236}">
                  <a16:creationId xmlns:a16="http://schemas.microsoft.com/office/drawing/2014/main" id="{10B15FE3-DD50-450B-9EB1-AC9674056338}"/>
                </a:ext>
              </a:extLst>
            </p:cNvPr>
            <p:cNvSpPr/>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32" name="文本框 9">
              <a:extLst>
                <a:ext uri="{FF2B5EF4-FFF2-40B4-BE49-F238E27FC236}">
                  <a16:creationId xmlns:a16="http://schemas.microsoft.com/office/drawing/2014/main" id="{0DD6246F-038C-4DC2-99ED-D2368B1A4A53}"/>
                </a:ext>
              </a:extLst>
            </p:cNvPr>
            <p:cNvSpPr txBox="1"/>
            <p:nvPr/>
          </p:nvSpPr>
          <p:spPr>
            <a:xfrm>
              <a:off x="2393075" y="1005670"/>
              <a:ext cx="1066799" cy="803893"/>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05</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33" name="组合 32">
            <a:extLst>
              <a:ext uri="{FF2B5EF4-FFF2-40B4-BE49-F238E27FC236}">
                <a16:creationId xmlns:a16="http://schemas.microsoft.com/office/drawing/2014/main" id="{245EAE48-3EF0-4876-BBF2-E89CFEFA3790}"/>
              </a:ext>
            </a:extLst>
          </p:cNvPr>
          <p:cNvGrpSpPr/>
          <p:nvPr/>
        </p:nvGrpSpPr>
        <p:grpSpPr>
          <a:xfrm>
            <a:off x="3976422" y="5590787"/>
            <a:ext cx="5142331" cy="613062"/>
            <a:chOff x="4315150" y="953426"/>
            <a:chExt cx="3857250" cy="540057"/>
          </a:xfrm>
        </p:grpSpPr>
        <p:sp>
          <p:nvSpPr>
            <p:cNvPr id="34" name="矩形 33">
              <a:extLst>
                <a:ext uri="{FF2B5EF4-FFF2-40B4-BE49-F238E27FC236}">
                  <a16:creationId xmlns:a16="http://schemas.microsoft.com/office/drawing/2014/main" id="{78EF1597-F52F-4672-8282-8214E99D4685}"/>
                </a:ext>
              </a:extLst>
            </p:cNvPr>
            <p:cNvSpPr/>
            <p:nvPr/>
          </p:nvSpPr>
          <p:spPr>
            <a:xfrm>
              <a:off x="4841196" y="1036090"/>
              <a:ext cx="2827147" cy="332129"/>
            </a:xfrm>
            <a:prstGeom prst="rect">
              <a:avLst/>
            </a:prstGeom>
            <a:ln w="15875">
              <a:noFill/>
            </a:ln>
          </p:spPr>
          <p:txBody>
            <a:bodyPr wrap="square" lIns="68580" tIns="34290" rIns="68580" bIns="34290">
              <a:spAutoFit/>
            </a:bodyPr>
            <a:lstStyle/>
            <a:p>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轮播图组件</a:t>
              </a:r>
              <a:endParaRPr lang="zh-CN" altLang="en-GB" sz="20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5" name="平行四边形 34">
              <a:extLst>
                <a:ext uri="{FF2B5EF4-FFF2-40B4-BE49-F238E27FC236}">
                  <a16:creationId xmlns:a16="http://schemas.microsoft.com/office/drawing/2014/main" id="{0167CA5A-6496-41DF-8191-9486F79E7114}"/>
                </a:ext>
              </a:extLst>
            </p:cNvPr>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30997"/>
          </a:xfrm>
          <a:prstGeom prst="rect">
            <a:avLst/>
          </a:prstGeom>
          <a:noFill/>
        </p:spPr>
        <p:txBody>
          <a:bodyPr wrap="square" lIns="91443" tIns="45720" rIns="91443" bIns="45720" rtlCol="0">
            <a:spAutoFit/>
          </a:bodyPr>
          <a:lstStyle/>
          <a:p>
            <a:pPr algn="l">
              <a:buClrTx/>
              <a:buSzTx/>
              <a:buFontTx/>
            </a:pPr>
            <a:r>
              <a:rPr lang="zh-CN" altLang="en-US" sz="4800" b="1" dirty="0">
                <a:solidFill>
                  <a:srgbClr val="595959"/>
                </a:solidFill>
                <a:latin typeface="微软雅黑" panose="020B0503020204020204" pitchFamily="34" charset="-122"/>
                <a:ea typeface="微软雅黑" panose="020B0503020204020204" pitchFamily="34" charset="-122"/>
                <a:cs typeface="+mn-ea"/>
                <a:sym typeface="+mn-lt"/>
              </a:rPr>
              <a:t>导航组件</a:t>
            </a: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6.1</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7" descr="总结小人">
            <a:extLst>
              <a:ext uri="{FF2B5EF4-FFF2-40B4-BE49-F238E27FC236}">
                <a16:creationId xmlns:a16="http://schemas.microsoft.com/office/drawing/2014/main" id="{FF4AC2FB-B1F3-4D55-8A1D-FEE3E5A1E5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0380" y="773081"/>
            <a:ext cx="3649663" cy="5924550"/>
          </a:xfrm>
          <a:prstGeom prst="rect">
            <a:avLst/>
          </a:prstGeom>
          <a:noFill/>
          <a:ln>
            <a:noFill/>
          </a:ln>
          <a:effectLst>
            <a:softEdge rad="317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组合 2">
            <a:extLst>
              <a:ext uri="{FF2B5EF4-FFF2-40B4-BE49-F238E27FC236}">
                <a16:creationId xmlns:a16="http://schemas.microsoft.com/office/drawing/2014/main" id="{1705C999-35B9-4DD9-B118-DC6DA66D6D17}"/>
              </a:ext>
            </a:extLst>
          </p:cNvPr>
          <p:cNvGrpSpPr/>
          <p:nvPr/>
        </p:nvGrpSpPr>
        <p:grpSpPr bwMode="auto">
          <a:xfrm>
            <a:off x="5013514" y="2349674"/>
            <a:ext cx="5258156" cy="3493010"/>
            <a:chOff x="3403599" y="2421469"/>
            <a:chExt cx="5040490" cy="2726268"/>
          </a:xfrm>
        </p:grpSpPr>
        <p:sp>
          <p:nvSpPr>
            <p:cNvPr id="4" name="圆角矩形标注 11">
              <a:extLst>
                <a:ext uri="{FF2B5EF4-FFF2-40B4-BE49-F238E27FC236}">
                  <a16:creationId xmlns:a16="http://schemas.microsoft.com/office/drawing/2014/main" id="{BB606471-C07E-4BB9-87C6-5896C5940963}"/>
                </a:ext>
              </a:extLst>
            </p:cNvPr>
            <p:cNvSpPr/>
            <p:nvPr/>
          </p:nvSpPr>
          <p:spPr bwMode="auto">
            <a:xfrm rot="5400000">
              <a:off x="4560710" y="1264358"/>
              <a:ext cx="2726268" cy="5040490"/>
            </a:xfrm>
            <a:prstGeom prst="wedgeRoundRectCallout">
              <a:avLst/>
            </a:prstGeom>
            <a:noFill/>
            <a:ln w="28575" cap="flat" cmpd="sng" algn="ctr">
              <a:solidFill>
                <a:schemeClr val="bg1">
                  <a:lumMod val="8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anose="020B0604020202020204" pitchFamily="34" charset="0"/>
                <a:buNone/>
                <a:defRPr/>
              </a:pPr>
              <a:endParaRPr lang="zh-CN" altLang="en-US"/>
            </a:p>
          </p:txBody>
        </p:sp>
        <p:sp>
          <p:nvSpPr>
            <p:cNvPr id="5" name="矩形 5">
              <a:extLst>
                <a:ext uri="{FF2B5EF4-FFF2-40B4-BE49-F238E27FC236}">
                  <a16:creationId xmlns:a16="http://schemas.microsoft.com/office/drawing/2014/main" id="{E0AE0A7E-DDFD-4A47-94B5-E0F77F67743B}"/>
                </a:ext>
              </a:extLst>
            </p:cNvPr>
            <p:cNvSpPr>
              <a:spLocks noChangeArrowheads="1"/>
            </p:cNvSpPr>
            <p:nvPr/>
          </p:nvSpPr>
          <p:spPr bwMode="auto">
            <a:xfrm>
              <a:off x="3704295" y="2749508"/>
              <a:ext cx="4439098" cy="428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50000"/>
                </a:lnSpc>
              </a:pPr>
              <a:endParaRPr lang="zh-CN" altLang="en-US" sz="2000" dirty="0">
                <a:solidFill>
                  <a:srgbClr val="595959"/>
                </a:solidFill>
                <a:latin typeface="微软雅黑" panose="020B0503020204020204" pitchFamily="34" charset="-122"/>
                <a:ea typeface="微软雅黑" panose="020B0503020204020204" pitchFamily="34" charset="-122"/>
              </a:endParaRPr>
            </a:p>
          </p:txBody>
        </p:sp>
      </p:grpSp>
      <p:sp>
        <p:nvSpPr>
          <p:cNvPr id="6" name="文本框 5">
            <a:extLst>
              <a:ext uri="{FF2B5EF4-FFF2-40B4-BE49-F238E27FC236}">
                <a16:creationId xmlns:a16="http://schemas.microsoft.com/office/drawing/2014/main" id="{017165D8-265A-4BEA-95DA-73DBCD31FA9D}"/>
              </a:ext>
            </a:extLst>
          </p:cNvPr>
          <p:cNvSpPr txBox="1"/>
          <p:nvPr/>
        </p:nvSpPr>
        <p:spPr>
          <a:xfrm>
            <a:off x="5403378" y="2449383"/>
            <a:ext cx="4580260" cy="3093154"/>
          </a:xfrm>
          <a:prstGeom prst="rect">
            <a:avLst/>
          </a:prstGeom>
          <a:noFill/>
        </p:spPr>
        <p:txBody>
          <a:bodyPr wrap="square" rtlCol="0">
            <a:spAutoFit/>
          </a:bodyPr>
          <a:lstStyle/>
          <a:p>
            <a:pPr>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cs typeface="+mn-ea"/>
              </a:rPr>
              <a:t>导航组件的作用</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在网页中使用导航组件可以让用户清晰明了地找到所需要查看的页面。</a:t>
            </a:r>
            <a:endPar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1000" dirty="0" smtClean="0">
              <a:solidFill>
                <a:schemeClr val="tx1">
                  <a:lumMod val="65000"/>
                  <a:lumOff val="35000"/>
                </a:schemeClr>
              </a:solidFill>
              <a:latin typeface="微软雅黑" panose="020B0503020204020204" pitchFamily="34" charset="-122"/>
              <a:ea typeface="微软雅黑" panose="020B0503020204020204" pitchFamily="34" charset="-122"/>
              <a:cs typeface="+mn-ea"/>
            </a:endParaRPr>
          </a:p>
          <a:p>
            <a:pPr>
              <a:lnSpc>
                <a:spcPct val="150000"/>
              </a:lnSpc>
            </a:pPr>
            <a:r>
              <a:rPr lang="en-US" altLang="zh-CN" sz="2000" dirty="0" smtClean="0">
                <a:solidFill>
                  <a:schemeClr val="tx1">
                    <a:lumMod val="65000"/>
                    <a:lumOff val="35000"/>
                  </a:schemeClr>
                </a:solidFill>
                <a:latin typeface="微软雅黑" panose="020B0503020204020204" pitchFamily="34" charset="-122"/>
                <a:ea typeface="微软雅黑" panose="020B0503020204020204" pitchFamily="34" charset="-122"/>
                <a:cs typeface="+mn-ea"/>
              </a:rPr>
              <a:t>Bootstrap</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提供了</a:t>
            </a:r>
            <a:r>
              <a:rPr lang="zh-CN" altLang="zh-CN" sz="2000" dirty="0">
                <a:solidFill>
                  <a:srgbClr val="1369B2"/>
                </a:solidFill>
                <a:latin typeface="微软雅黑" panose="020B0503020204020204" pitchFamily="34" charset="-122"/>
                <a:ea typeface="微软雅黑" panose="020B0503020204020204" pitchFamily="34" charset="-122"/>
                <a:cs typeface="+mn-ea"/>
              </a:rPr>
              <a:t>普通导航组件</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标签式导航组件</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胶囊式导航组件</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和</a:t>
            </a:r>
            <a:r>
              <a:rPr lang="zh-CN" altLang="zh-CN" sz="2000" dirty="0">
                <a:solidFill>
                  <a:srgbClr val="1369B2"/>
                </a:solidFill>
                <a:latin typeface="微软雅黑" panose="020B0503020204020204" pitchFamily="34" charset="-122"/>
                <a:ea typeface="微软雅黑" panose="020B0503020204020204" pitchFamily="34" charset="-122"/>
                <a:cs typeface="+mn-ea"/>
              </a:rPr>
              <a:t>面包屑导航组件</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p>
        </p:txBody>
      </p:sp>
      <p:sp>
        <p:nvSpPr>
          <p:cNvPr id="9"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6.1 </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导航</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组件</a:t>
            </a:r>
          </a:p>
        </p:txBody>
      </p:sp>
    </p:spTree>
    <p:extLst>
      <p:ext uri="{BB962C8B-B14F-4D97-AF65-F5344CB8AC3E}">
        <p14:creationId xmlns:p14="http://schemas.microsoft.com/office/powerpoint/2010/main" val="18318923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7"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667354" y="4077866"/>
            <a:ext cx="6111889" cy="677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sz="24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普通</a:t>
            </a:r>
            <a:r>
              <a:rPr lang="zh-CN" altLang="en-US" sz="2400" dirty="0" smtClean="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导航组件</a:t>
            </a:r>
            <a:r>
              <a:rPr lang="zh-CN" altLang="en-US"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能够创建普通导航</a:t>
            </a:r>
            <a:r>
              <a:rPr lang="zh-CN" altLang="en-US"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页面</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231110" y="4216856"/>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6.1.1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普通</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导航</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组件</a:t>
            </a:r>
          </a:p>
        </p:txBody>
      </p:sp>
    </p:spTree>
    <p:extLst>
      <p:ext uri="{BB962C8B-B14F-4D97-AF65-F5344CB8AC3E}">
        <p14:creationId xmlns:p14="http://schemas.microsoft.com/office/powerpoint/2010/main" val="1236227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5"/>
          <p:cNvSpPr txBox="1">
            <a:spLocks noChangeArrowheads="1"/>
          </p:cNvSpPr>
          <p:nvPr/>
        </p:nvSpPr>
        <p:spPr bwMode="auto">
          <a:xfrm>
            <a:off x="994466" y="2114273"/>
            <a:ext cx="10441160" cy="2777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342900" indent="-342900">
              <a:lnSpc>
                <a:spcPct val="150000"/>
              </a:lnSpc>
              <a:buFont typeface="Wingdings" panose="05000000000000000000" pitchFamily="2" charset="2"/>
              <a:buChar char="l"/>
            </a:pPr>
            <a:r>
              <a:rPr lang="zh-CN" altLang="en-US" sz="2000" dirty="0">
                <a:solidFill>
                  <a:srgbClr val="595959"/>
                </a:solidFill>
                <a:latin typeface="微软雅黑" panose="020B0503020204020204" pitchFamily="34" charset="-122"/>
                <a:ea typeface="微软雅黑" panose="020B0503020204020204" pitchFamily="34" charset="-122"/>
                <a:cs typeface="+mn-ea"/>
              </a:rPr>
              <a:t>普通导航组件使用列表标签和</a:t>
            </a:r>
            <a:r>
              <a:rPr lang="en-US" altLang="zh-CN" sz="2000" dirty="0">
                <a:solidFill>
                  <a:srgbClr val="1369B2"/>
                </a:solidFill>
                <a:latin typeface="微软雅黑" panose="020B0503020204020204" pitchFamily="34" charset="-122"/>
                <a:ea typeface="微软雅黑" panose="020B0503020204020204" pitchFamily="34" charset="-122"/>
                <a:cs typeface="+mn-ea"/>
              </a:rPr>
              <a:t>.nav</a:t>
            </a:r>
            <a:r>
              <a:rPr lang="zh-CN" altLang="en-US" sz="2000" dirty="0">
                <a:solidFill>
                  <a:srgbClr val="1369B2"/>
                </a:solidFill>
                <a:latin typeface="微软雅黑" panose="020B0503020204020204" pitchFamily="34" charset="-122"/>
                <a:ea typeface="微软雅黑" panose="020B0503020204020204" pitchFamily="34" charset="-122"/>
                <a:cs typeface="+mn-ea"/>
              </a:rPr>
              <a:t>类</a:t>
            </a:r>
            <a:r>
              <a:rPr lang="zh-CN" altLang="en-US" sz="2000" dirty="0">
                <a:solidFill>
                  <a:srgbClr val="595959"/>
                </a:solidFill>
                <a:latin typeface="微软雅黑" panose="020B0503020204020204" pitchFamily="34" charset="-122"/>
                <a:ea typeface="微软雅黑" panose="020B0503020204020204" pitchFamily="34" charset="-122"/>
                <a:cs typeface="+mn-ea"/>
              </a:rPr>
              <a:t>实现导航的</a:t>
            </a:r>
            <a:r>
              <a:rPr lang="zh-CN" altLang="en-US" sz="2000" dirty="0">
                <a:solidFill>
                  <a:srgbClr val="1369B2"/>
                </a:solidFill>
                <a:latin typeface="微软雅黑" panose="020B0503020204020204" pitchFamily="34" charset="-122"/>
                <a:ea typeface="微软雅黑" panose="020B0503020204020204" pitchFamily="34" charset="-122"/>
                <a:cs typeface="+mn-ea"/>
              </a:rPr>
              <a:t>基础效果</a:t>
            </a:r>
            <a:endParaRPr lang="en-US" altLang="zh-CN" sz="2000" dirty="0">
              <a:solidFill>
                <a:srgbClr val="1369B2"/>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500" dirty="0">
              <a:solidFill>
                <a:srgbClr val="595959"/>
              </a:solidFill>
              <a:latin typeface="微软雅黑" panose="020B0503020204020204" pitchFamily="34" charset="-122"/>
              <a:ea typeface="微软雅黑" panose="020B0503020204020204" pitchFamily="34" charset="-122"/>
              <a:cs typeface="+mn-ea"/>
            </a:endParaRPr>
          </a:p>
          <a:p>
            <a:pPr marL="342900" indent="-342900">
              <a:lnSpc>
                <a:spcPct val="150000"/>
              </a:lnSpc>
              <a:buFont typeface="Wingdings" panose="05000000000000000000" pitchFamily="2" charset="2"/>
              <a:buChar char="l"/>
            </a:pPr>
            <a:r>
              <a:rPr lang="zh-CN" altLang="en-US" sz="2000" dirty="0">
                <a:solidFill>
                  <a:srgbClr val="595959"/>
                </a:solidFill>
                <a:latin typeface="微软雅黑" panose="020B0503020204020204" pitchFamily="34" charset="-122"/>
                <a:ea typeface="微软雅黑" panose="020B0503020204020204" pitchFamily="34" charset="-122"/>
                <a:cs typeface="+mn-ea"/>
              </a:rPr>
              <a:t>导航中的</a:t>
            </a:r>
            <a:r>
              <a:rPr lang="zh-CN" altLang="en-US" sz="2000" dirty="0">
                <a:solidFill>
                  <a:srgbClr val="1369B2"/>
                </a:solidFill>
                <a:latin typeface="微软雅黑" panose="020B0503020204020204" pitchFamily="34" charset="-122"/>
                <a:ea typeface="微软雅黑" panose="020B0503020204020204" pitchFamily="34" charset="-122"/>
                <a:cs typeface="+mn-ea"/>
              </a:rPr>
              <a:t>每一项</a:t>
            </a:r>
            <a:r>
              <a:rPr lang="zh-CN" altLang="en-US" sz="2000" dirty="0">
                <a:solidFill>
                  <a:srgbClr val="595959"/>
                </a:solidFill>
                <a:latin typeface="微软雅黑" panose="020B0503020204020204" pitchFamily="34" charset="-122"/>
                <a:ea typeface="微软雅黑" panose="020B0503020204020204" pitchFamily="34" charset="-122"/>
                <a:cs typeface="+mn-ea"/>
              </a:rPr>
              <a:t>使用</a:t>
            </a:r>
            <a:r>
              <a:rPr lang="en-US" altLang="zh-CN" sz="2000" dirty="0">
                <a:solidFill>
                  <a:srgbClr val="1369B2"/>
                </a:solidFill>
                <a:latin typeface="微软雅黑" panose="020B0503020204020204" pitchFamily="34" charset="-122"/>
                <a:ea typeface="微软雅黑" panose="020B0503020204020204" pitchFamily="34" charset="-122"/>
                <a:cs typeface="+mn-ea"/>
              </a:rPr>
              <a:t>.nav-item</a:t>
            </a:r>
            <a:r>
              <a:rPr lang="zh-CN" altLang="en-US" sz="2000" dirty="0">
                <a:solidFill>
                  <a:srgbClr val="1369B2"/>
                </a:solidFill>
                <a:latin typeface="微软雅黑" panose="020B0503020204020204" pitchFamily="34" charset="-122"/>
                <a:ea typeface="微软雅黑" panose="020B0503020204020204" pitchFamily="34" charset="-122"/>
                <a:cs typeface="+mn-ea"/>
              </a:rPr>
              <a:t>类</a:t>
            </a:r>
            <a:r>
              <a:rPr lang="zh-CN" altLang="en-US" sz="2000" dirty="0">
                <a:solidFill>
                  <a:srgbClr val="595959"/>
                </a:solidFill>
                <a:latin typeface="微软雅黑" panose="020B0503020204020204" pitchFamily="34" charset="-122"/>
                <a:ea typeface="微软雅黑" panose="020B0503020204020204" pitchFamily="34" charset="-122"/>
                <a:cs typeface="+mn-ea"/>
              </a:rPr>
              <a:t>设置样式</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500" dirty="0">
              <a:solidFill>
                <a:srgbClr val="595959"/>
              </a:solidFill>
              <a:latin typeface="微软雅黑" panose="020B0503020204020204" pitchFamily="34" charset="-122"/>
              <a:ea typeface="微软雅黑" panose="020B0503020204020204" pitchFamily="34" charset="-122"/>
              <a:cs typeface="+mn-ea"/>
            </a:endParaRPr>
          </a:p>
          <a:p>
            <a:pPr marL="342900" indent="-342900">
              <a:lnSpc>
                <a:spcPct val="150000"/>
              </a:lnSpc>
              <a:buFont typeface="Wingdings" panose="05000000000000000000" pitchFamily="2" charset="2"/>
              <a:buChar char="l"/>
            </a:pPr>
            <a:r>
              <a:rPr lang="zh-CN" altLang="en-US" sz="2000" dirty="0">
                <a:solidFill>
                  <a:srgbClr val="595959"/>
                </a:solidFill>
                <a:latin typeface="微软雅黑" panose="020B0503020204020204" pitchFamily="34" charset="-122"/>
                <a:ea typeface="微软雅黑" panose="020B0503020204020204" pitchFamily="34" charset="-122"/>
                <a:cs typeface="+mn-ea"/>
              </a:rPr>
              <a:t>每一项的</a:t>
            </a:r>
            <a:r>
              <a:rPr lang="zh-CN" altLang="en-US" sz="2000" dirty="0">
                <a:solidFill>
                  <a:srgbClr val="1369B2"/>
                </a:solidFill>
                <a:latin typeface="微软雅黑" panose="020B0503020204020204" pitchFamily="34" charset="-122"/>
                <a:ea typeface="微软雅黑" panose="020B0503020204020204" pitchFamily="34" charset="-122"/>
                <a:cs typeface="+mn-ea"/>
              </a:rPr>
              <a:t>链接</a:t>
            </a:r>
            <a:r>
              <a:rPr lang="zh-CN" altLang="en-US" sz="2000" dirty="0">
                <a:solidFill>
                  <a:srgbClr val="595959"/>
                </a:solidFill>
                <a:latin typeface="微软雅黑" panose="020B0503020204020204" pitchFamily="34" charset="-122"/>
                <a:ea typeface="微软雅黑" panose="020B0503020204020204" pitchFamily="34" charset="-122"/>
                <a:cs typeface="+mn-ea"/>
              </a:rPr>
              <a:t>使用</a:t>
            </a:r>
            <a:r>
              <a:rPr lang="en-US" altLang="zh-CN" sz="2000" dirty="0">
                <a:solidFill>
                  <a:srgbClr val="1369B2"/>
                </a:solidFill>
                <a:latin typeface="微软雅黑" panose="020B0503020204020204" pitchFamily="34" charset="-122"/>
                <a:ea typeface="微软雅黑" panose="020B0503020204020204" pitchFamily="34" charset="-122"/>
                <a:cs typeface="+mn-ea"/>
              </a:rPr>
              <a:t>.nav-link</a:t>
            </a:r>
            <a:r>
              <a:rPr lang="zh-CN" altLang="en-US" sz="2000" dirty="0">
                <a:solidFill>
                  <a:srgbClr val="1369B2"/>
                </a:solidFill>
                <a:latin typeface="微软雅黑" panose="020B0503020204020204" pitchFamily="34" charset="-122"/>
                <a:ea typeface="微软雅黑" panose="020B0503020204020204" pitchFamily="34" charset="-122"/>
                <a:cs typeface="+mn-ea"/>
              </a:rPr>
              <a:t>类</a:t>
            </a:r>
            <a:r>
              <a:rPr lang="zh-CN" altLang="en-US" sz="2000" dirty="0">
                <a:solidFill>
                  <a:srgbClr val="595959"/>
                </a:solidFill>
                <a:latin typeface="微软雅黑" panose="020B0503020204020204" pitchFamily="34" charset="-122"/>
                <a:ea typeface="微软雅黑" panose="020B0503020204020204" pitchFamily="34" charset="-122"/>
                <a:cs typeface="+mn-ea"/>
              </a:rPr>
              <a:t>设置样式</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500" dirty="0">
              <a:solidFill>
                <a:srgbClr val="595959"/>
              </a:solidFill>
              <a:latin typeface="微软雅黑" panose="020B0503020204020204" pitchFamily="34" charset="-122"/>
              <a:ea typeface="微软雅黑" panose="020B0503020204020204" pitchFamily="34" charset="-122"/>
              <a:cs typeface="+mn-ea"/>
            </a:endParaRPr>
          </a:p>
          <a:p>
            <a:pPr marL="342900" indent="-342900">
              <a:lnSpc>
                <a:spcPct val="150000"/>
              </a:lnSpc>
              <a:buFont typeface="Wingdings" panose="05000000000000000000" pitchFamily="2" charset="2"/>
              <a:buChar char="l"/>
            </a:pPr>
            <a:r>
              <a:rPr lang="zh-CN" altLang="en-US" sz="2000" dirty="0">
                <a:solidFill>
                  <a:srgbClr val="595959"/>
                </a:solidFill>
                <a:latin typeface="微软雅黑" panose="020B0503020204020204" pitchFamily="34" charset="-122"/>
                <a:ea typeface="微软雅黑" panose="020B0503020204020204" pitchFamily="34" charset="-122"/>
                <a:cs typeface="+mn-ea"/>
              </a:rPr>
              <a:t>普通导航</a:t>
            </a:r>
            <a:r>
              <a:rPr lang="zh-CN" altLang="en-US" sz="2000" dirty="0">
                <a:solidFill>
                  <a:srgbClr val="1369B2"/>
                </a:solidFill>
                <a:latin typeface="微软雅黑" panose="020B0503020204020204" pitchFamily="34" charset="-122"/>
                <a:ea typeface="微软雅黑" panose="020B0503020204020204" pitchFamily="34" charset="-122"/>
                <a:cs typeface="+mn-ea"/>
              </a:rPr>
              <a:t>默认</a:t>
            </a:r>
            <a:r>
              <a:rPr lang="zh-CN" altLang="en-US" sz="2000" dirty="0">
                <a:solidFill>
                  <a:srgbClr val="595959"/>
                </a:solidFill>
                <a:latin typeface="微软雅黑" panose="020B0503020204020204" pitchFamily="34" charset="-122"/>
                <a:ea typeface="微软雅黑" panose="020B0503020204020204" pitchFamily="34" charset="-122"/>
                <a:cs typeface="+mn-ea"/>
              </a:rPr>
              <a:t>是</a:t>
            </a:r>
            <a:r>
              <a:rPr lang="zh-CN" altLang="en-US" sz="2000" dirty="0">
                <a:solidFill>
                  <a:srgbClr val="1369B2"/>
                </a:solidFill>
                <a:latin typeface="微软雅黑" panose="020B0503020204020204" pitchFamily="34" charset="-122"/>
                <a:ea typeface="微软雅黑" panose="020B0503020204020204" pitchFamily="34" charset="-122"/>
                <a:cs typeface="+mn-ea"/>
              </a:rPr>
              <a:t>水平方向</a:t>
            </a:r>
            <a:r>
              <a:rPr lang="zh-CN" altLang="en-US" sz="2000" dirty="0">
                <a:solidFill>
                  <a:srgbClr val="595959"/>
                </a:solidFill>
                <a:latin typeface="微软雅黑" panose="020B0503020204020204" pitchFamily="34" charset="-122"/>
                <a:ea typeface="微软雅黑" panose="020B0503020204020204" pitchFamily="34" charset="-122"/>
                <a:cs typeface="+mn-ea"/>
              </a:rPr>
              <a:t>排列的，如果想要</a:t>
            </a:r>
            <a:r>
              <a:rPr lang="zh-CN" altLang="en-US" sz="2000" dirty="0">
                <a:solidFill>
                  <a:srgbClr val="1369B2"/>
                </a:solidFill>
                <a:latin typeface="微软雅黑" panose="020B0503020204020204" pitchFamily="34" charset="-122"/>
                <a:ea typeface="微软雅黑" panose="020B0503020204020204" pitchFamily="34" charset="-122"/>
                <a:cs typeface="+mn-ea"/>
              </a:rPr>
              <a:t>垂直排列</a:t>
            </a:r>
            <a:r>
              <a:rPr lang="zh-CN" altLang="en-US" sz="2000" dirty="0">
                <a:solidFill>
                  <a:srgbClr val="595959"/>
                </a:solidFill>
                <a:latin typeface="微软雅黑" panose="020B0503020204020204" pitchFamily="34" charset="-122"/>
                <a:ea typeface="微软雅黑" panose="020B0503020204020204" pitchFamily="34" charset="-122"/>
                <a:cs typeface="+mn-ea"/>
              </a:rPr>
              <a:t>，可以给列表标签添加</a:t>
            </a:r>
            <a:r>
              <a:rPr lang="en-US" altLang="zh-CN" sz="2000" dirty="0">
                <a:solidFill>
                  <a:srgbClr val="1369B2"/>
                </a:solidFill>
                <a:latin typeface="微软雅黑" panose="020B0503020204020204" pitchFamily="34" charset="-122"/>
                <a:ea typeface="微软雅黑" panose="020B0503020204020204" pitchFamily="34" charset="-122"/>
                <a:cs typeface="+mn-ea"/>
              </a:rPr>
              <a:t>.flex-column</a:t>
            </a:r>
            <a:r>
              <a:rPr lang="zh-CN" altLang="en-US" sz="2000" dirty="0">
                <a:solidFill>
                  <a:srgbClr val="1369B2"/>
                </a:solidFill>
                <a:latin typeface="微软雅黑" panose="020B0503020204020204" pitchFamily="34" charset="-122"/>
                <a:ea typeface="微软雅黑" panose="020B0503020204020204" pitchFamily="34" charset="-122"/>
                <a:cs typeface="+mn-ea"/>
              </a:rPr>
              <a:t>类</a:t>
            </a:r>
            <a:r>
              <a:rPr lang="zh-CN" altLang="en-US" sz="2000" dirty="0">
                <a:solidFill>
                  <a:srgbClr val="595959"/>
                </a:solidFill>
                <a:latin typeface="微软雅黑" panose="020B0503020204020204" pitchFamily="34" charset="-122"/>
                <a:ea typeface="微软雅黑" panose="020B0503020204020204" pitchFamily="34" charset="-122"/>
                <a:cs typeface="+mn-ea"/>
              </a:rPr>
              <a:t>来实现</a:t>
            </a: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 name="TextBox 76"/>
          <p:cNvSpPr txBox="1"/>
          <p:nvPr/>
        </p:nvSpPr>
        <p:spPr>
          <a:xfrm>
            <a:off x="1024656" y="1322185"/>
            <a:ext cx="2190230"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普通导航</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6.1.1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普通</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导航</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组件</a:t>
            </a:r>
          </a:p>
        </p:txBody>
      </p:sp>
    </p:spTree>
    <p:extLst>
      <p:ext uri="{BB962C8B-B14F-4D97-AF65-F5344CB8AC3E}">
        <p14:creationId xmlns:p14="http://schemas.microsoft.com/office/powerpoint/2010/main" val="16439899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5"/>
          <p:cNvSpPr txBox="1">
            <a:spLocks noChangeArrowheads="1"/>
          </p:cNvSpPr>
          <p:nvPr/>
        </p:nvSpPr>
        <p:spPr bwMode="auto">
          <a:xfrm>
            <a:off x="994466" y="1269554"/>
            <a:ext cx="10441160" cy="584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实现</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普通导航</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页面，效果如图：</a:t>
            </a:r>
          </a:p>
        </p:txBody>
      </p:sp>
      <p:pic>
        <p:nvPicPr>
          <p:cNvPr id="6" name="图片 1">
            <a:extLst>
              <a:ext uri="{FF2B5EF4-FFF2-40B4-BE49-F238E27FC236}">
                <a16:creationId xmlns:a16="http://schemas.microsoft.com/office/drawing/2014/main" id="{AB503225-71C3-4E05-8109-0A477C3BD9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8313" y="2925738"/>
            <a:ext cx="4515915" cy="1163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a:extLst>
              <a:ext uri="{FF2B5EF4-FFF2-40B4-BE49-F238E27FC236}">
                <a16:creationId xmlns:a16="http://schemas.microsoft.com/office/drawing/2014/main" id="{E58B1DAC-FE64-43E5-BD70-BD51F0E3B28D}"/>
              </a:ext>
            </a:extLst>
          </p:cNvPr>
          <p:cNvSpPr txBox="1"/>
          <p:nvPr/>
        </p:nvSpPr>
        <p:spPr>
          <a:xfrm>
            <a:off x="2422798" y="4304279"/>
            <a:ext cx="3024336" cy="400110"/>
          </a:xfrm>
          <a:prstGeom prst="rect">
            <a:avLst/>
          </a:prstGeom>
          <a:noFill/>
        </p:spPr>
        <p:txBody>
          <a:bodyPr wrap="square" rtlCol="0">
            <a:spAutoFit/>
          </a:bodyPr>
          <a:lstStyle/>
          <a:p>
            <a:r>
              <a:rPr lang="zh-CN" altLang="en-US" sz="2000" kern="0" dirty="0">
                <a:solidFill>
                  <a:srgbClr val="595959"/>
                </a:solidFill>
                <a:latin typeface="微软雅黑" panose="020B0503020204020204" pitchFamily="34" charset="-122"/>
                <a:ea typeface="微软雅黑" panose="020B0503020204020204" pitchFamily="34" charset="-122"/>
                <a:cs typeface="+mn-ea"/>
              </a:rPr>
              <a:t>水平方向排列的普通导航</a:t>
            </a:r>
          </a:p>
        </p:txBody>
      </p:sp>
      <p:pic>
        <p:nvPicPr>
          <p:cNvPr id="9" name="图片 1">
            <a:extLst>
              <a:ext uri="{FF2B5EF4-FFF2-40B4-BE49-F238E27FC236}">
                <a16:creationId xmlns:a16="http://schemas.microsoft.com/office/drawing/2014/main" id="{B6C83C4A-8049-4183-B178-8AC5540601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0365" y="2461827"/>
            <a:ext cx="3589337" cy="182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a:extLst>
              <a:ext uri="{FF2B5EF4-FFF2-40B4-BE49-F238E27FC236}">
                <a16:creationId xmlns:a16="http://schemas.microsoft.com/office/drawing/2014/main" id="{2A8C9922-47E2-4817-AA6B-78885DE71D00}"/>
              </a:ext>
            </a:extLst>
          </p:cNvPr>
          <p:cNvSpPr txBox="1"/>
          <p:nvPr/>
        </p:nvSpPr>
        <p:spPr>
          <a:xfrm>
            <a:off x="7607374" y="4325828"/>
            <a:ext cx="2592288" cy="400110"/>
          </a:xfrm>
          <a:prstGeom prst="rect">
            <a:avLst/>
          </a:prstGeom>
          <a:noFill/>
        </p:spPr>
        <p:txBody>
          <a:bodyPr wrap="square" rtlCol="0">
            <a:spAutoFit/>
          </a:bodyPr>
          <a:lstStyle/>
          <a:p>
            <a:r>
              <a:rPr lang="zh-CN" altLang="en-US" sz="2000" kern="0" dirty="0">
                <a:solidFill>
                  <a:srgbClr val="595959"/>
                </a:solidFill>
                <a:latin typeface="微软雅黑" panose="020B0503020204020204" pitchFamily="34" charset="-122"/>
                <a:ea typeface="微软雅黑" panose="020B0503020204020204" pitchFamily="34" charset="-122"/>
                <a:cs typeface="+mn-ea"/>
                <a:sym typeface="+mn-lt"/>
              </a:rPr>
              <a:t>垂直排列的普通导航</a:t>
            </a:r>
            <a:endParaRPr lang="zh-CN" altLang="en-US" sz="2000" kern="0" dirty="0">
              <a:solidFill>
                <a:srgbClr val="595959"/>
              </a:solidFill>
              <a:latin typeface="微软雅黑" panose="020B0503020204020204" pitchFamily="34" charset="-122"/>
              <a:ea typeface="微软雅黑" panose="020B0503020204020204" pitchFamily="34" charset="-122"/>
              <a:cs typeface="+mn-ea"/>
            </a:endParaRPr>
          </a:p>
        </p:txBody>
      </p:sp>
      <p:sp>
        <p:nvSpPr>
          <p:cNvPr id="1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6.1.1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普通</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导航</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组件</a:t>
            </a:r>
          </a:p>
        </p:txBody>
      </p:sp>
    </p:spTree>
    <p:extLst>
      <p:ext uri="{BB962C8B-B14F-4D97-AF65-F5344CB8AC3E}">
        <p14:creationId xmlns:p14="http://schemas.microsoft.com/office/powerpoint/2010/main" val="19443186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83AC20C6-8630-496F-8BEE-FE67057070D4}"/>
              </a:ext>
            </a:extLst>
          </p:cNvPr>
          <p:cNvSpPr txBox="1"/>
          <p:nvPr/>
        </p:nvSpPr>
        <p:spPr>
          <a:xfrm>
            <a:off x="3059949" y="2349674"/>
            <a:ext cx="7931801" cy="3846822"/>
          </a:xfrm>
          <a:prstGeom prst="rect">
            <a:avLst/>
          </a:prstGeom>
          <a:solidFill>
            <a:srgbClr val="F2F2F2"/>
          </a:solidFill>
        </p:spPr>
        <p:txBody>
          <a:bodyPr wrap="square">
            <a:spAutoFit/>
          </a:bodyPr>
          <a:lstStyle/>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&lt;!DOCTYPE html&gt;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&lt;html&gt;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&lt;head&gt;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&lt;meta charset="UTF-8"&gt;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&lt;meta name="viewport" content="width=device-width, initial-scale=1.0"&gt;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&lt;title&gt;Document&lt;/title&gt;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&lt;link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rel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="stylesheet"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="bootstrap-4.6.0-dist/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css</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/bootstrap.min.css"&gt;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&lt;/head&gt;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&lt;body&gt;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&lt;/body&gt;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&lt;/html&gt;</a:t>
            </a:r>
          </a:p>
        </p:txBody>
      </p:sp>
      <p:grpSp>
        <p:nvGrpSpPr>
          <p:cNvPr id="9" name="组合 8">
            <a:extLst>
              <a:ext uri="{FF2B5EF4-FFF2-40B4-BE49-F238E27FC236}">
                <a16:creationId xmlns:a16="http://schemas.microsoft.com/office/drawing/2014/main" id="{A572FBBE-CAFE-4ACA-A2BE-18AF7BB24AAF}"/>
              </a:ext>
            </a:extLst>
          </p:cNvPr>
          <p:cNvGrpSpPr/>
          <p:nvPr/>
        </p:nvGrpSpPr>
        <p:grpSpPr>
          <a:xfrm>
            <a:off x="1143690" y="1152646"/>
            <a:ext cx="1747943" cy="773218"/>
            <a:chOff x="961390" y="2294944"/>
            <a:chExt cx="1747943" cy="773218"/>
          </a:xfrm>
        </p:grpSpPr>
        <p:sp>
          <p:nvSpPr>
            <p:cNvPr id="10" name="圆角矩形 4">
              <a:extLst>
                <a:ext uri="{FF2B5EF4-FFF2-40B4-BE49-F238E27FC236}">
                  <a16:creationId xmlns:a16="http://schemas.microsoft.com/office/drawing/2014/main" id="{CDD18056-555A-4BE9-82BB-444DA5BD33BC}"/>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1" name="文本框 10">
              <a:extLst>
                <a:ext uri="{FF2B5EF4-FFF2-40B4-BE49-F238E27FC236}">
                  <a16:creationId xmlns:a16="http://schemas.microsoft.com/office/drawing/2014/main" id="{A2BBEFDF-A3BB-4734-B8AB-7313B33D760E}"/>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01</a:t>
              </a:r>
            </a:p>
          </p:txBody>
        </p:sp>
      </p:grpSp>
      <p:sp>
        <p:nvSpPr>
          <p:cNvPr id="13" name="1">
            <a:extLst>
              <a:ext uri="{FF2B5EF4-FFF2-40B4-BE49-F238E27FC236}">
                <a16:creationId xmlns:a16="http://schemas.microsoft.com/office/drawing/2014/main" id="{E731EE78-15F3-4ED1-8765-78C87D3226C1}"/>
              </a:ext>
            </a:extLst>
          </p:cNvPr>
          <p:cNvSpPr txBox="1"/>
          <p:nvPr>
            <p:custDataLst>
              <p:tags r:id="rId1"/>
            </p:custDataLst>
          </p:nvPr>
        </p:nvSpPr>
        <p:spPr>
          <a:xfrm>
            <a:off x="3017371" y="1053530"/>
            <a:ext cx="8722842" cy="1107996"/>
          </a:xfrm>
          <a:prstGeom prst="rect">
            <a:avLst/>
          </a:prstGeom>
          <a:noFill/>
          <a:ln>
            <a:noFill/>
          </a:ln>
        </p:spPr>
        <p:txBody>
          <a:bodyPr wrap="square" rtlCol="0">
            <a:spAutoFit/>
          </a:bodyPr>
          <a:lstStyle/>
          <a:p>
            <a:pPr lvl="0" defTabSz="457200">
              <a:lnSpc>
                <a:spcPct val="150000"/>
              </a:lnSpc>
              <a:defRPr/>
            </a:pPr>
            <a:r>
              <a:rPr lang="zh-CN" altLang="en-US" sz="2400" b="1" kern="0" dirty="0">
                <a:solidFill>
                  <a:srgbClr val="595959"/>
                </a:solidFill>
                <a:latin typeface="微软雅黑" panose="020B0503020204020204" pitchFamily="34" charset="-122"/>
                <a:ea typeface="微软雅黑" panose="020B0503020204020204" pitchFamily="34" charset="-122"/>
                <a:cs typeface="+mn-ea"/>
                <a:sym typeface="+mn-lt"/>
              </a:rPr>
              <a:t>实现普通导航页面</a:t>
            </a:r>
            <a:endParaRPr lang="en-US" altLang="zh-CN" sz="2400" b="1" kern="0" dirty="0">
              <a:solidFill>
                <a:srgbClr val="595959"/>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创建</a:t>
            </a:r>
            <a:r>
              <a:rPr lang="en-US" altLang="zh-CN" sz="2000" dirty="0">
                <a:solidFill>
                  <a:srgbClr val="595959"/>
                </a:solidFill>
                <a:latin typeface="微软雅黑" panose="020B0503020204020204" pitchFamily="34" charset="-122"/>
                <a:ea typeface="微软雅黑" panose="020B0503020204020204" pitchFamily="34" charset="-122"/>
              </a:rPr>
              <a:t>C:\code\chapter06\demo01.html</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1369B2"/>
                </a:solidFill>
                <a:latin typeface="微软雅黑" panose="020B0503020204020204" pitchFamily="34" charset="-122"/>
                <a:ea typeface="微软雅黑" panose="020B0503020204020204" pitchFamily="34" charset="-122"/>
              </a:rPr>
              <a:t>配置视口</a:t>
            </a:r>
            <a:r>
              <a:rPr lang="zh-CN" altLang="en-US" sz="2000" dirty="0">
                <a:solidFill>
                  <a:srgbClr val="595959"/>
                </a:solidFill>
                <a:latin typeface="微软雅黑" panose="020B0503020204020204" pitchFamily="34" charset="-122"/>
                <a:ea typeface="微软雅黑" panose="020B0503020204020204" pitchFamily="34" charset="-122"/>
              </a:rPr>
              <a:t>并引入依赖文件。</a:t>
            </a:r>
          </a:p>
        </p:txBody>
      </p:sp>
      <p:sp>
        <p:nvSpPr>
          <p:cNvPr id="1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6.1.1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普通</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导航</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组件</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83AC20C6-8630-496F-8BEE-FE67057070D4}"/>
              </a:ext>
            </a:extLst>
          </p:cNvPr>
          <p:cNvSpPr txBox="1"/>
          <p:nvPr/>
        </p:nvSpPr>
        <p:spPr>
          <a:xfrm>
            <a:off x="2710830" y="2133650"/>
            <a:ext cx="7499753" cy="4499309"/>
          </a:xfrm>
          <a:prstGeom prst="rect">
            <a:avLst/>
          </a:prstGeom>
          <a:solidFill>
            <a:srgbClr val="F2F2F2"/>
          </a:solidFill>
        </p:spPr>
        <p:txBody>
          <a:bodyPr wrap="square">
            <a:spAutoFit/>
          </a:bodyPr>
          <a:lstStyle/>
          <a:p>
            <a:pPr lvl="0">
              <a:lnSpc>
                <a:spcPct val="12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普通导航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&lt;ul class="nav"&gt;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 class="nav-item"&gt;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 class="nav-link"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首页</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&lt;/a&gt;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 class="nav-item"&gt;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 class="nav-link"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简介</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&lt;/a&gt;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 class="nav-item"&gt;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 class="nav-link"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详情</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&lt;/a&gt;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 class="nav-item"&gt;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 class="nav-link"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联系电话</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&lt;/a&gt;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&lt;/ul&gt;</a:t>
            </a:r>
          </a:p>
        </p:txBody>
      </p:sp>
      <p:grpSp>
        <p:nvGrpSpPr>
          <p:cNvPr id="9" name="组合 8">
            <a:extLst>
              <a:ext uri="{FF2B5EF4-FFF2-40B4-BE49-F238E27FC236}">
                <a16:creationId xmlns:a16="http://schemas.microsoft.com/office/drawing/2014/main" id="{A572FBBE-CAFE-4ACA-A2BE-18AF7BB24AAF}"/>
              </a:ext>
            </a:extLst>
          </p:cNvPr>
          <p:cNvGrpSpPr/>
          <p:nvPr/>
        </p:nvGrpSpPr>
        <p:grpSpPr>
          <a:xfrm>
            <a:off x="1143690" y="1152646"/>
            <a:ext cx="1747943" cy="773218"/>
            <a:chOff x="961390" y="2294944"/>
            <a:chExt cx="1747943" cy="773218"/>
          </a:xfrm>
        </p:grpSpPr>
        <p:sp>
          <p:nvSpPr>
            <p:cNvPr id="10" name="圆角矩形 4">
              <a:extLst>
                <a:ext uri="{FF2B5EF4-FFF2-40B4-BE49-F238E27FC236}">
                  <a16:creationId xmlns:a16="http://schemas.microsoft.com/office/drawing/2014/main" id="{CDD18056-555A-4BE9-82BB-444DA5BD33BC}"/>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1" name="文本框 10">
              <a:extLst>
                <a:ext uri="{FF2B5EF4-FFF2-40B4-BE49-F238E27FC236}">
                  <a16:creationId xmlns:a16="http://schemas.microsoft.com/office/drawing/2014/main" id="{A2BBEFDF-A3BB-4734-B8AB-7313B33D760E}"/>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02</a:t>
              </a:r>
            </a:p>
          </p:txBody>
        </p:sp>
      </p:grpSp>
      <p:sp>
        <p:nvSpPr>
          <p:cNvPr id="13" name="1">
            <a:extLst>
              <a:ext uri="{FF2B5EF4-FFF2-40B4-BE49-F238E27FC236}">
                <a16:creationId xmlns:a16="http://schemas.microsoft.com/office/drawing/2014/main" id="{E731EE78-15F3-4ED1-8765-78C87D3226C1}"/>
              </a:ext>
            </a:extLst>
          </p:cNvPr>
          <p:cNvSpPr txBox="1"/>
          <p:nvPr>
            <p:custDataLst>
              <p:tags r:id="rId1"/>
            </p:custDataLst>
          </p:nvPr>
        </p:nvSpPr>
        <p:spPr>
          <a:xfrm>
            <a:off x="3017371" y="1053530"/>
            <a:ext cx="8722842" cy="1107996"/>
          </a:xfrm>
          <a:prstGeom prst="rect">
            <a:avLst/>
          </a:prstGeom>
          <a:noFill/>
          <a:ln>
            <a:noFill/>
          </a:ln>
        </p:spPr>
        <p:txBody>
          <a:bodyPr wrap="square" rtlCol="0">
            <a:spAutoFit/>
          </a:bodyPr>
          <a:lstStyle/>
          <a:p>
            <a:pPr lvl="0" defTabSz="457200">
              <a:lnSpc>
                <a:spcPct val="150000"/>
              </a:lnSpc>
              <a:defRPr/>
            </a:pPr>
            <a:r>
              <a:rPr lang="zh-CN" altLang="en-US" sz="2400" b="1" kern="0" dirty="0">
                <a:solidFill>
                  <a:srgbClr val="595959"/>
                </a:solidFill>
                <a:latin typeface="微软雅黑" panose="020B0503020204020204" pitchFamily="34" charset="-122"/>
                <a:ea typeface="微软雅黑" panose="020B0503020204020204" pitchFamily="34" charset="-122"/>
                <a:cs typeface="+mn-ea"/>
                <a:sym typeface="+mn-lt"/>
              </a:rPr>
              <a:t>实现普通导航页面</a:t>
            </a:r>
            <a:endParaRPr lang="en-US" altLang="zh-CN" sz="2400" b="1" kern="0" dirty="0">
              <a:solidFill>
                <a:srgbClr val="595959"/>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修改</a:t>
            </a:r>
            <a:r>
              <a:rPr lang="en-US" altLang="zh-CN" sz="2000" dirty="0">
                <a:solidFill>
                  <a:srgbClr val="595959"/>
                </a:solidFill>
                <a:latin typeface="微软雅黑" panose="020B0503020204020204" pitchFamily="34" charset="-122"/>
                <a:ea typeface="微软雅黑" panose="020B0503020204020204" pitchFamily="34" charset="-122"/>
              </a:rPr>
              <a:t>demo01.html</a:t>
            </a:r>
            <a:r>
              <a:rPr lang="zh-CN" altLang="en-US" sz="2000" dirty="0">
                <a:solidFill>
                  <a:srgbClr val="595959"/>
                </a:solidFill>
                <a:latin typeface="微软雅黑" panose="020B0503020204020204" pitchFamily="34" charset="-122"/>
                <a:ea typeface="微软雅黑" panose="020B0503020204020204" pitchFamily="34" charset="-122"/>
              </a:rPr>
              <a:t>，实现</a:t>
            </a:r>
            <a:r>
              <a:rPr lang="zh-CN" altLang="en-US" sz="2000" dirty="0">
                <a:solidFill>
                  <a:srgbClr val="1369B2"/>
                </a:solidFill>
                <a:latin typeface="微软雅黑" panose="020B0503020204020204" pitchFamily="34" charset="-122"/>
                <a:ea typeface="微软雅黑" panose="020B0503020204020204" pitchFamily="34" charset="-122"/>
              </a:rPr>
              <a:t>普通导航</a:t>
            </a:r>
            <a:r>
              <a:rPr lang="zh-CN" altLang="en-US" sz="2000" dirty="0">
                <a:solidFill>
                  <a:srgbClr val="595959"/>
                </a:solidFill>
                <a:latin typeface="微软雅黑" panose="020B0503020204020204" pitchFamily="34" charset="-122"/>
                <a:ea typeface="微软雅黑" panose="020B0503020204020204" pitchFamily="34" charset="-122"/>
              </a:rPr>
              <a:t>页面效果。</a:t>
            </a:r>
          </a:p>
        </p:txBody>
      </p:sp>
      <p:sp>
        <p:nvSpPr>
          <p:cNvPr id="1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6.1.1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普通</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导航</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组件</a:t>
            </a:r>
          </a:p>
        </p:txBody>
      </p:sp>
    </p:spTree>
    <p:extLst>
      <p:ext uri="{BB962C8B-B14F-4D97-AF65-F5344CB8AC3E}">
        <p14:creationId xmlns:p14="http://schemas.microsoft.com/office/powerpoint/2010/main" val="16709184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A572FBBE-CAFE-4ACA-A2BE-18AF7BB24AAF}"/>
              </a:ext>
            </a:extLst>
          </p:cNvPr>
          <p:cNvGrpSpPr/>
          <p:nvPr/>
        </p:nvGrpSpPr>
        <p:grpSpPr>
          <a:xfrm>
            <a:off x="1143690" y="1152646"/>
            <a:ext cx="1747943" cy="773218"/>
            <a:chOff x="961390" y="2294944"/>
            <a:chExt cx="1747943" cy="773218"/>
          </a:xfrm>
        </p:grpSpPr>
        <p:sp>
          <p:nvSpPr>
            <p:cNvPr id="10" name="圆角矩形 4">
              <a:extLst>
                <a:ext uri="{FF2B5EF4-FFF2-40B4-BE49-F238E27FC236}">
                  <a16:creationId xmlns:a16="http://schemas.microsoft.com/office/drawing/2014/main" id="{CDD18056-555A-4BE9-82BB-444DA5BD33BC}"/>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1" name="文本框 10">
              <a:extLst>
                <a:ext uri="{FF2B5EF4-FFF2-40B4-BE49-F238E27FC236}">
                  <a16:creationId xmlns:a16="http://schemas.microsoft.com/office/drawing/2014/main" id="{A2BBEFDF-A3BB-4734-B8AB-7313B33D760E}"/>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03</a:t>
              </a:r>
            </a:p>
          </p:txBody>
        </p:sp>
      </p:grpSp>
      <p:sp>
        <p:nvSpPr>
          <p:cNvPr id="13" name="1">
            <a:extLst>
              <a:ext uri="{FF2B5EF4-FFF2-40B4-BE49-F238E27FC236}">
                <a16:creationId xmlns:a16="http://schemas.microsoft.com/office/drawing/2014/main" id="{E731EE78-15F3-4ED1-8765-78C87D3226C1}"/>
              </a:ext>
            </a:extLst>
          </p:cNvPr>
          <p:cNvSpPr txBox="1"/>
          <p:nvPr>
            <p:custDataLst>
              <p:tags r:id="rId1"/>
            </p:custDataLst>
          </p:nvPr>
        </p:nvSpPr>
        <p:spPr>
          <a:xfrm>
            <a:off x="3017371" y="1053530"/>
            <a:ext cx="8722842" cy="1107996"/>
          </a:xfrm>
          <a:prstGeom prst="rect">
            <a:avLst/>
          </a:prstGeom>
          <a:noFill/>
          <a:ln>
            <a:noFill/>
          </a:ln>
        </p:spPr>
        <p:txBody>
          <a:bodyPr wrap="square" rtlCol="0">
            <a:spAutoFit/>
          </a:bodyPr>
          <a:lstStyle/>
          <a:p>
            <a:pPr lvl="0" defTabSz="457200">
              <a:lnSpc>
                <a:spcPct val="150000"/>
              </a:lnSpc>
              <a:defRPr/>
            </a:pPr>
            <a:r>
              <a:rPr lang="zh-CN" altLang="en-US" sz="2400" b="1" kern="0" dirty="0">
                <a:solidFill>
                  <a:srgbClr val="595959"/>
                </a:solidFill>
                <a:latin typeface="微软雅黑" panose="020B0503020204020204" pitchFamily="34" charset="-122"/>
                <a:ea typeface="微软雅黑" panose="020B0503020204020204" pitchFamily="34" charset="-122"/>
                <a:cs typeface="+mn-ea"/>
                <a:sym typeface="+mn-lt"/>
              </a:rPr>
              <a:t>在浏览器中访问</a:t>
            </a:r>
            <a:r>
              <a:rPr lang="en-US" altLang="zh-CN" sz="2400" b="1" kern="0" dirty="0">
                <a:solidFill>
                  <a:srgbClr val="595959"/>
                </a:solidFill>
                <a:latin typeface="微软雅黑" panose="020B0503020204020204" pitchFamily="34" charset="-122"/>
                <a:ea typeface="微软雅黑" panose="020B0503020204020204" pitchFamily="34" charset="-122"/>
                <a:cs typeface="+mn-ea"/>
                <a:sym typeface="+mn-lt"/>
              </a:rPr>
              <a:t>demo01.html</a:t>
            </a:r>
          </a:p>
          <a:p>
            <a:pPr lvl="0" defTabSz="457200">
              <a:lnSpc>
                <a:spcPct val="150000"/>
              </a:lnSpc>
              <a:defRPr/>
            </a:pPr>
            <a:r>
              <a:rPr lang="zh-CN" altLang="en-US" sz="2000" kern="0" dirty="0">
                <a:solidFill>
                  <a:srgbClr val="595959"/>
                </a:solidFill>
                <a:latin typeface="微软雅黑" panose="020B0503020204020204" pitchFamily="34" charset="-122"/>
                <a:ea typeface="微软雅黑" panose="020B0503020204020204" pitchFamily="34" charset="-122"/>
                <a:cs typeface="+mn-ea"/>
                <a:sym typeface="+mn-lt"/>
              </a:rPr>
              <a:t>页面中显示水平方向排列的</a:t>
            </a:r>
            <a:r>
              <a:rPr lang="zh-CN" altLang="en-US" sz="2000" kern="0" dirty="0">
                <a:solidFill>
                  <a:srgbClr val="1369B2"/>
                </a:solidFill>
                <a:latin typeface="微软雅黑" panose="020B0503020204020204" pitchFamily="34" charset="-122"/>
                <a:ea typeface="微软雅黑" panose="020B0503020204020204" pitchFamily="34" charset="-122"/>
                <a:cs typeface="+mn-ea"/>
                <a:sym typeface="+mn-lt"/>
              </a:rPr>
              <a:t>普通导航</a:t>
            </a:r>
            <a:r>
              <a:rPr lang="zh-CN" altLang="en-US" sz="2000" kern="0" dirty="0">
                <a:solidFill>
                  <a:srgbClr val="595959"/>
                </a:solidFill>
                <a:latin typeface="微软雅黑" panose="020B0503020204020204" pitchFamily="34" charset="-122"/>
                <a:ea typeface="微软雅黑" panose="020B0503020204020204" pitchFamily="34" charset="-122"/>
                <a:cs typeface="+mn-ea"/>
                <a:sym typeface="+mn-lt"/>
              </a:rPr>
              <a:t>。</a:t>
            </a:r>
            <a:endParaRPr lang="en-US" altLang="zh-CN" sz="2000" kern="0"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026" name="图片 1">
            <a:extLst>
              <a:ext uri="{FF2B5EF4-FFF2-40B4-BE49-F238E27FC236}">
                <a16:creationId xmlns:a16="http://schemas.microsoft.com/office/drawing/2014/main" id="{45F2678F-121E-46F0-BCE8-E07B35CF81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1459" y="2567503"/>
            <a:ext cx="5529422" cy="1424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6.1.1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普通</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导航</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组件</a:t>
            </a:r>
          </a:p>
        </p:txBody>
      </p:sp>
    </p:spTree>
    <p:extLst>
      <p:ext uri="{BB962C8B-B14F-4D97-AF65-F5344CB8AC3E}">
        <p14:creationId xmlns:p14="http://schemas.microsoft.com/office/powerpoint/2010/main" val="1549288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A572FBBE-CAFE-4ACA-A2BE-18AF7BB24AAF}"/>
              </a:ext>
            </a:extLst>
          </p:cNvPr>
          <p:cNvGrpSpPr/>
          <p:nvPr/>
        </p:nvGrpSpPr>
        <p:grpSpPr>
          <a:xfrm>
            <a:off x="1143690" y="1152646"/>
            <a:ext cx="1747943" cy="773218"/>
            <a:chOff x="961390" y="2294944"/>
            <a:chExt cx="1747943" cy="773218"/>
          </a:xfrm>
        </p:grpSpPr>
        <p:sp>
          <p:nvSpPr>
            <p:cNvPr id="10" name="圆角矩形 4">
              <a:extLst>
                <a:ext uri="{FF2B5EF4-FFF2-40B4-BE49-F238E27FC236}">
                  <a16:creationId xmlns:a16="http://schemas.microsoft.com/office/drawing/2014/main" id="{CDD18056-555A-4BE9-82BB-444DA5BD33BC}"/>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1" name="文本框 10">
              <a:extLst>
                <a:ext uri="{FF2B5EF4-FFF2-40B4-BE49-F238E27FC236}">
                  <a16:creationId xmlns:a16="http://schemas.microsoft.com/office/drawing/2014/main" id="{A2BBEFDF-A3BB-4734-B8AB-7313B33D760E}"/>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04</a:t>
              </a:r>
            </a:p>
          </p:txBody>
        </p:sp>
      </p:grpSp>
      <p:sp>
        <p:nvSpPr>
          <p:cNvPr id="13" name="1">
            <a:extLst>
              <a:ext uri="{FF2B5EF4-FFF2-40B4-BE49-F238E27FC236}">
                <a16:creationId xmlns:a16="http://schemas.microsoft.com/office/drawing/2014/main" id="{E731EE78-15F3-4ED1-8765-78C87D3226C1}"/>
              </a:ext>
            </a:extLst>
          </p:cNvPr>
          <p:cNvSpPr txBox="1"/>
          <p:nvPr>
            <p:custDataLst>
              <p:tags r:id="rId1"/>
            </p:custDataLst>
          </p:nvPr>
        </p:nvSpPr>
        <p:spPr>
          <a:xfrm>
            <a:off x="3017371" y="1053530"/>
            <a:ext cx="8406427" cy="1569660"/>
          </a:xfrm>
          <a:prstGeom prst="rect">
            <a:avLst/>
          </a:prstGeom>
          <a:noFill/>
          <a:ln>
            <a:noFill/>
          </a:ln>
        </p:spPr>
        <p:txBody>
          <a:bodyPr wrap="square" rtlCol="0">
            <a:spAutoFit/>
          </a:bodyPr>
          <a:lstStyle/>
          <a:p>
            <a:pPr lvl="0" defTabSz="457200">
              <a:lnSpc>
                <a:spcPct val="150000"/>
              </a:lnSpc>
              <a:defRPr/>
            </a:pPr>
            <a:r>
              <a:rPr lang="zh-CN" altLang="en-US" sz="2400" b="1" kern="0" dirty="0">
                <a:solidFill>
                  <a:srgbClr val="595959"/>
                </a:solidFill>
                <a:latin typeface="微软雅黑" panose="020B0503020204020204" pitchFamily="34" charset="-122"/>
                <a:ea typeface="微软雅黑" panose="020B0503020204020204" pitchFamily="34" charset="-122"/>
                <a:cs typeface="+mn-ea"/>
                <a:sym typeface="+mn-lt"/>
              </a:rPr>
              <a:t>设置垂直排列的普通导航</a:t>
            </a:r>
            <a:endParaRPr lang="en-US" altLang="zh-CN" sz="2400" b="1" kern="0" dirty="0">
              <a:solidFill>
                <a:srgbClr val="595959"/>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kern="0" dirty="0">
                <a:solidFill>
                  <a:srgbClr val="595959"/>
                </a:solidFill>
                <a:latin typeface="微软雅黑" panose="020B0503020204020204" pitchFamily="34" charset="-122"/>
                <a:ea typeface="微软雅黑" panose="020B0503020204020204" pitchFamily="34" charset="-122"/>
                <a:cs typeface="+mn-ea"/>
                <a:sym typeface="+mn-lt"/>
              </a:rPr>
              <a:t>修改</a:t>
            </a:r>
            <a:r>
              <a:rPr lang="en-US" altLang="zh-CN" sz="2000" kern="0" dirty="0">
                <a:solidFill>
                  <a:srgbClr val="595959"/>
                </a:solidFill>
                <a:latin typeface="微软雅黑" panose="020B0503020204020204" pitchFamily="34" charset="-122"/>
                <a:ea typeface="微软雅黑" panose="020B0503020204020204" pitchFamily="34" charset="-122"/>
                <a:cs typeface="+mn-ea"/>
                <a:sym typeface="+mn-lt"/>
              </a:rPr>
              <a:t>demo01.html</a:t>
            </a:r>
            <a:r>
              <a:rPr lang="zh-CN" altLang="en-US" sz="2000" kern="0" dirty="0">
                <a:solidFill>
                  <a:srgbClr val="595959"/>
                </a:solidFill>
                <a:latin typeface="微软雅黑" panose="020B0503020204020204" pitchFamily="34" charset="-122"/>
                <a:ea typeface="微软雅黑" panose="020B0503020204020204" pitchFamily="34" charset="-122"/>
                <a:cs typeface="+mn-ea"/>
                <a:sym typeface="+mn-lt"/>
              </a:rPr>
              <a:t>，添加</a:t>
            </a:r>
            <a:r>
              <a:rPr lang="en-US" altLang="zh-CN" sz="2000" kern="0" dirty="0">
                <a:solidFill>
                  <a:srgbClr val="1369B2"/>
                </a:solidFill>
                <a:latin typeface="微软雅黑" panose="020B0503020204020204" pitchFamily="34" charset="-122"/>
                <a:ea typeface="微软雅黑" panose="020B0503020204020204" pitchFamily="34" charset="-122"/>
                <a:cs typeface="+mn-ea"/>
                <a:sym typeface="+mn-lt"/>
              </a:rPr>
              <a:t>flex-column</a:t>
            </a:r>
            <a:r>
              <a:rPr lang="zh-CN" altLang="en-US" sz="2000" kern="0" dirty="0">
                <a:solidFill>
                  <a:srgbClr val="595959"/>
                </a:solidFill>
                <a:latin typeface="微软雅黑" panose="020B0503020204020204" pitchFamily="34" charset="-122"/>
                <a:ea typeface="微软雅黑" panose="020B0503020204020204" pitchFamily="34" charset="-122"/>
                <a:cs typeface="+mn-ea"/>
                <a:sym typeface="+mn-lt"/>
              </a:rPr>
              <a:t>类名将导航的</a:t>
            </a:r>
            <a:r>
              <a:rPr lang="zh-CN" altLang="en-US" sz="2000" kern="0" dirty="0">
                <a:solidFill>
                  <a:srgbClr val="1369B2"/>
                </a:solidFill>
                <a:latin typeface="微软雅黑" panose="020B0503020204020204" pitchFamily="34" charset="-122"/>
                <a:ea typeface="微软雅黑" panose="020B0503020204020204" pitchFamily="34" charset="-122"/>
                <a:cs typeface="+mn-ea"/>
                <a:sym typeface="+mn-lt"/>
              </a:rPr>
              <a:t>排列方向</a:t>
            </a:r>
            <a:r>
              <a:rPr lang="zh-CN" altLang="en-US" sz="2000" kern="0" dirty="0" smtClean="0">
                <a:solidFill>
                  <a:srgbClr val="595959"/>
                </a:solidFill>
                <a:latin typeface="微软雅黑" panose="020B0503020204020204" pitchFamily="34" charset="-122"/>
                <a:ea typeface="微软雅黑" panose="020B0503020204020204" pitchFamily="34" charset="-122"/>
                <a:cs typeface="+mn-ea"/>
                <a:sym typeface="+mn-lt"/>
              </a:rPr>
              <a:t>改为</a:t>
            </a:r>
            <a:endParaRPr lang="en-US" altLang="zh-CN" sz="2000" kern="0" dirty="0" smtClean="0">
              <a:solidFill>
                <a:srgbClr val="595959"/>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kern="0" dirty="0" smtClean="0">
                <a:solidFill>
                  <a:srgbClr val="595959"/>
                </a:solidFill>
                <a:latin typeface="微软雅黑" panose="020B0503020204020204" pitchFamily="34" charset="-122"/>
                <a:ea typeface="微软雅黑" panose="020B0503020204020204" pitchFamily="34" charset="-122"/>
                <a:cs typeface="+mn-ea"/>
                <a:sym typeface="+mn-lt"/>
              </a:rPr>
              <a:t>垂直</a:t>
            </a:r>
            <a:r>
              <a:rPr lang="zh-CN" altLang="en-US" sz="2000" kern="0" dirty="0">
                <a:solidFill>
                  <a:srgbClr val="595959"/>
                </a:solidFill>
                <a:latin typeface="微软雅黑" panose="020B0503020204020204" pitchFamily="34" charset="-122"/>
                <a:ea typeface="微软雅黑" panose="020B0503020204020204" pitchFamily="34" charset="-122"/>
                <a:cs typeface="+mn-ea"/>
                <a:sym typeface="+mn-lt"/>
              </a:rPr>
              <a:t>方向。</a:t>
            </a:r>
            <a:endParaRPr lang="en-US" altLang="zh-CN" sz="2000" kern="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4" name="文本框 13">
            <a:extLst>
              <a:ext uri="{FF2B5EF4-FFF2-40B4-BE49-F238E27FC236}">
                <a16:creationId xmlns:a16="http://schemas.microsoft.com/office/drawing/2014/main" id="{2EA2C737-A79F-495D-911A-5065B09EC00A}"/>
              </a:ext>
            </a:extLst>
          </p:cNvPr>
          <p:cNvSpPr txBox="1"/>
          <p:nvPr/>
        </p:nvSpPr>
        <p:spPr>
          <a:xfrm>
            <a:off x="3214886" y="2997746"/>
            <a:ext cx="5915577" cy="570862"/>
          </a:xfrm>
          <a:prstGeom prst="rect">
            <a:avLst/>
          </a:prstGeom>
          <a:solidFill>
            <a:srgbClr val="F2F2F2"/>
          </a:solidFill>
        </p:spPr>
        <p:txBody>
          <a:bodyPr wrap="square">
            <a:spAutoFit/>
          </a:bodyPr>
          <a:lstStyle/>
          <a:p>
            <a:pPr lvl="0" algn="ctr">
              <a:lnSpc>
                <a:spcPct val="150000"/>
              </a:lnSpc>
              <a:defRPr/>
            </a:pPr>
            <a:r>
              <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&lt;ul class="nav flex-column"&gt;</a:t>
            </a:r>
          </a:p>
          <a:p>
            <a:pPr lvl="0">
              <a:lnSpc>
                <a:spcPct val="120000"/>
              </a:lnSpc>
              <a:defRPr/>
            </a:pPr>
            <a:endParaRPr lang="en-US" altLang="zh-CN" sz="1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p:txBody>
      </p:sp>
      <p:sp>
        <p:nvSpPr>
          <p:cNvPr id="8"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6.1.1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普通</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导航</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组件</a:t>
            </a:r>
          </a:p>
        </p:txBody>
      </p:sp>
    </p:spTree>
    <p:extLst>
      <p:ext uri="{BB962C8B-B14F-4D97-AF65-F5344CB8AC3E}">
        <p14:creationId xmlns:p14="http://schemas.microsoft.com/office/powerpoint/2010/main" val="17807646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A572FBBE-CAFE-4ACA-A2BE-18AF7BB24AAF}"/>
              </a:ext>
            </a:extLst>
          </p:cNvPr>
          <p:cNvGrpSpPr/>
          <p:nvPr/>
        </p:nvGrpSpPr>
        <p:grpSpPr>
          <a:xfrm>
            <a:off x="1143690" y="1152646"/>
            <a:ext cx="1747943" cy="773218"/>
            <a:chOff x="961390" y="2294944"/>
            <a:chExt cx="1747943" cy="773218"/>
          </a:xfrm>
        </p:grpSpPr>
        <p:sp>
          <p:nvSpPr>
            <p:cNvPr id="10" name="圆角矩形 4">
              <a:extLst>
                <a:ext uri="{FF2B5EF4-FFF2-40B4-BE49-F238E27FC236}">
                  <a16:creationId xmlns:a16="http://schemas.microsoft.com/office/drawing/2014/main" id="{CDD18056-555A-4BE9-82BB-444DA5BD33BC}"/>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1" name="文本框 10">
              <a:extLst>
                <a:ext uri="{FF2B5EF4-FFF2-40B4-BE49-F238E27FC236}">
                  <a16:creationId xmlns:a16="http://schemas.microsoft.com/office/drawing/2014/main" id="{A2BBEFDF-A3BB-4734-B8AB-7313B33D760E}"/>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05</a:t>
              </a:r>
            </a:p>
          </p:txBody>
        </p:sp>
      </p:grpSp>
      <p:sp>
        <p:nvSpPr>
          <p:cNvPr id="13" name="1">
            <a:extLst>
              <a:ext uri="{FF2B5EF4-FFF2-40B4-BE49-F238E27FC236}">
                <a16:creationId xmlns:a16="http://schemas.microsoft.com/office/drawing/2014/main" id="{E731EE78-15F3-4ED1-8765-78C87D3226C1}"/>
              </a:ext>
            </a:extLst>
          </p:cNvPr>
          <p:cNvSpPr txBox="1"/>
          <p:nvPr>
            <p:custDataLst>
              <p:tags r:id="rId1"/>
            </p:custDataLst>
          </p:nvPr>
        </p:nvSpPr>
        <p:spPr>
          <a:xfrm>
            <a:off x="3017371" y="1053530"/>
            <a:ext cx="8722842" cy="1107996"/>
          </a:xfrm>
          <a:prstGeom prst="rect">
            <a:avLst/>
          </a:prstGeom>
          <a:noFill/>
          <a:ln>
            <a:noFill/>
          </a:ln>
        </p:spPr>
        <p:txBody>
          <a:bodyPr wrap="square" rtlCol="0">
            <a:spAutoFit/>
          </a:bodyPr>
          <a:lstStyle/>
          <a:p>
            <a:pPr lvl="0" defTabSz="457200">
              <a:lnSpc>
                <a:spcPct val="150000"/>
              </a:lnSpc>
              <a:defRPr/>
            </a:pPr>
            <a:r>
              <a:rPr lang="zh-CN" altLang="en-US" b="1" kern="0" dirty="0">
                <a:solidFill>
                  <a:srgbClr val="595959"/>
                </a:solidFill>
                <a:latin typeface="微软雅黑" panose="020B0503020204020204" pitchFamily="34" charset="-122"/>
                <a:ea typeface="微软雅黑" panose="020B0503020204020204" pitchFamily="34" charset="-122"/>
                <a:cs typeface="+mn-ea"/>
                <a:sym typeface="+mn-lt"/>
              </a:rPr>
              <a:t>刷新页面</a:t>
            </a:r>
            <a:endParaRPr lang="en-US" altLang="zh-CN" sz="2400" b="1" kern="0" dirty="0">
              <a:solidFill>
                <a:srgbClr val="595959"/>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kern="0" dirty="0">
                <a:solidFill>
                  <a:srgbClr val="595959"/>
                </a:solidFill>
                <a:latin typeface="微软雅黑" panose="020B0503020204020204" pitchFamily="34" charset="-122"/>
                <a:ea typeface="微软雅黑" panose="020B0503020204020204" pitchFamily="34" charset="-122"/>
                <a:cs typeface="+mn-ea"/>
                <a:sym typeface="+mn-lt"/>
              </a:rPr>
              <a:t>页面中显示垂直排列的</a:t>
            </a:r>
            <a:r>
              <a:rPr lang="zh-CN" altLang="en-US" sz="2000" kern="0" dirty="0">
                <a:solidFill>
                  <a:srgbClr val="1369B2"/>
                </a:solidFill>
                <a:latin typeface="微软雅黑" panose="020B0503020204020204" pitchFamily="34" charset="-122"/>
                <a:ea typeface="微软雅黑" panose="020B0503020204020204" pitchFamily="34" charset="-122"/>
                <a:cs typeface="+mn-ea"/>
                <a:sym typeface="+mn-lt"/>
              </a:rPr>
              <a:t>普通导航</a:t>
            </a:r>
            <a:r>
              <a:rPr lang="zh-CN" altLang="en-US" sz="2000" kern="0" dirty="0">
                <a:solidFill>
                  <a:srgbClr val="595959"/>
                </a:solidFill>
                <a:latin typeface="微软雅黑" panose="020B0503020204020204" pitchFamily="34" charset="-122"/>
                <a:ea typeface="微软雅黑" panose="020B0503020204020204" pitchFamily="34" charset="-122"/>
                <a:cs typeface="+mn-ea"/>
                <a:sym typeface="+mn-lt"/>
              </a:rPr>
              <a:t>。</a:t>
            </a:r>
            <a:endParaRPr lang="en-US" altLang="zh-CN" sz="2000" kern="0"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050" name="图片 1">
            <a:extLst>
              <a:ext uri="{FF2B5EF4-FFF2-40B4-BE49-F238E27FC236}">
                <a16:creationId xmlns:a16="http://schemas.microsoft.com/office/drawing/2014/main" id="{CD2E53FB-18C8-4530-A264-851924387B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2918" y="2421682"/>
            <a:ext cx="4116382" cy="2088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6.1.1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普通</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导航</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组件</a:t>
            </a:r>
          </a:p>
        </p:txBody>
      </p:sp>
    </p:spTree>
    <p:extLst>
      <p:ext uri="{BB962C8B-B14F-4D97-AF65-F5344CB8AC3E}">
        <p14:creationId xmlns:p14="http://schemas.microsoft.com/office/powerpoint/2010/main" val="42830581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7"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815965" y="3576722"/>
            <a:ext cx="5429568" cy="1231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sz="24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标签式</a:t>
            </a:r>
            <a:r>
              <a:rPr lang="zh-CN" altLang="en-US" sz="2400" dirty="0" smtClean="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导航组件</a:t>
            </a:r>
            <a:r>
              <a:rPr lang="zh-CN" altLang="en-US" sz="2400"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a:t>
            </a:r>
            <a:r>
              <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能够创建标签式导航</a:t>
            </a:r>
            <a:r>
              <a:rPr lang="zh-CN" altLang="en-US" sz="2400"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页面</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6.1.2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标签式</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导航组件</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919052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5"/>
          <p:cNvSpPr txBox="1">
            <a:spLocks noChangeArrowheads="1"/>
          </p:cNvSpPr>
          <p:nvPr/>
        </p:nvSpPr>
        <p:spPr bwMode="auto">
          <a:xfrm>
            <a:off x="994466" y="2121824"/>
            <a:ext cx="10441160" cy="2238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cs typeface="+mn-ea"/>
              </a:rPr>
              <a:t>标签式导航组件</a:t>
            </a:r>
            <a:r>
              <a:rPr lang="zh-CN" altLang="en-US" sz="2000" dirty="0">
                <a:solidFill>
                  <a:srgbClr val="595959"/>
                </a:solidFill>
                <a:latin typeface="微软雅黑" panose="020B0503020204020204" pitchFamily="34" charset="-122"/>
                <a:ea typeface="微软雅黑" panose="020B0503020204020204" pitchFamily="34" charset="-122"/>
                <a:cs typeface="+mn-ea"/>
              </a:rPr>
              <a:t>的</a:t>
            </a:r>
            <a:r>
              <a:rPr lang="zh-CN" altLang="en-US" sz="2000" dirty="0">
                <a:solidFill>
                  <a:srgbClr val="1369B2"/>
                </a:solidFill>
                <a:latin typeface="微软雅黑" panose="020B0503020204020204" pitchFamily="34" charset="-122"/>
                <a:ea typeface="微软雅黑" panose="020B0503020204020204" pitchFamily="34" charset="-122"/>
                <a:cs typeface="+mn-ea"/>
              </a:rPr>
              <a:t>作用</a:t>
            </a:r>
            <a:r>
              <a:rPr lang="zh-CN" altLang="en-US" sz="2000" dirty="0">
                <a:solidFill>
                  <a:srgbClr val="595959"/>
                </a:solidFill>
                <a:latin typeface="微软雅黑" panose="020B0503020204020204" pitchFamily="34" charset="-122"/>
                <a:ea typeface="微软雅黑" panose="020B0503020204020204" pitchFamily="34" charset="-122"/>
                <a:cs typeface="+mn-ea"/>
              </a:rPr>
              <a:t>：可以实现在</a:t>
            </a:r>
            <a:r>
              <a:rPr lang="zh-CN" altLang="en-US" sz="2000" dirty="0">
                <a:solidFill>
                  <a:srgbClr val="1369B2"/>
                </a:solidFill>
                <a:latin typeface="微软雅黑" panose="020B0503020204020204" pitchFamily="34" charset="-122"/>
                <a:ea typeface="微软雅黑" panose="020B0503020204020204" pitchFamily="34" charset="-122"/>
                <a:cs typeface="+mn-ea"/>
              </a:rPr>
              <a:t>不跳转页面</a:t>
            </a:r>
            <a:r>
              <a:rPr lang="zh-CN" altLang="en-US" sz="2000" dirty="0">
                <a:solidFill>
                  <a:srgbClr val="595959"/>
                </a:solidFill>
                <a:latin typeface="微软雅黑" panose="020B0503020204020204" pitchFamily="34" charset="-122"/>
                <a:ea typeface="微软雅黑" panose="020B0503020204020204" pitchFamily="34" charset="-122"/>
                <a:cs typeface="+mn-ea"/>
              </a:rPr>
              <a:t>的情况下，</a:t>
            </a:r>
            <a:r>
              <a:rPr lang="zh-CN" altLang="en-US" sz="2000" dirty="0">
                <a:solidFill>
                  <a:srgbClr val="1369B2"/>
                </a:solidFill>
                <a:latin typeface="微软雅黑" panose="020B0503020204020204" pitchFamily="34" charset="-122"/>
                <a:ea typeface="微软雅黑" panose="020B0503020204020204" pitchFamily="34" charset="-122"/>
                <a:cs typeface="+mn-ea"/>
              </a:rPr>
              <a:t>切换</a:t>
            </a:r>
            <a:r>
              <a:rPr lang="zh-CN" altLang="en-US" sz="2000" dirty="0">
                <a:solidFill>
                  <a:srgbClr val="595959"/>
                </a:solidFill>
                <a:latin typeface="微软雅黑" panose="020B0503020204020204" pitchFamily="34" charset="-122"/>
                <a:ea typeface="微软雅黑" panose="020B0503020204020204" pitchFamily="34" charset="-122"/>
                <a:cs typeface="+mn-ea"/>
              </a:rPr>
              <a:t>标签页中显示的</a:t>
            </a:r>
            <a:r>
              <a:rPr lang="zh-CN" altLang="en-US" sz="2000" dirty="0">
                <a:solidFill>
                  <a:srgbClr val="1369B2"/>
                </a:solidFill>
                <a:latin typeface="微软雅黑" panose="020B0503020204020204" pitchFamily="34" charset="-122"/>
                <a:ea typeface="微软雅黑" panose="020B0503020204020204" pitchFamily="34" charset="-122"/>
                <a:cs typeface="+mn-ea"/>
              </a:rPr>
              <a:t>内容</a:t>
            </a:r>
            <a:r>
              <a:rPr lang="zh-CN" altLang="en-US" sz="2000" dirty="0">
                <a:solidFill>
                  <a:srgbClr val="595959"/>
                </a:solidFill>
                <a:latin typeface="微软雅黑" panose="020B0503020204020204" pitchFamily="34" charset="-122"/>
                <a:ea typeface="微软雅黑" panose="020B0503020204020204" pitchFamily="34" charset="-122"/>
                <a:cs typeface="+mn-ea"/>
              </a:rPr>
              <a:t>，这种实现效果类似于浏览器的标签页。</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14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cs typeface="+mn-ea"/>
              </a:rPr>
              <a:t>在</a:t>
            </a:r>
            <a:r>
              <a:rPr lang="zh-CN" altLang="en-US" sz="2000" dirty="0">
                <a:solidFill>
                  <a:srgbClr val="1369B2"/>
                </a:solidFill>
                <a:latin typeface="微软雅黑" panose="020B0503020204020204" pitchFamily="34" charset="-122"/>
                <a:ea typeface="微软雅黑" panose="020B0503020204020204" pitchFamily="34" charset="-122"/>
                <a:cs typeface="+mn-ea"/>
              </a:rPr>
              <a:t>实现标签页切换</a:t>
            </a:r>
            <a:r>
              <a:rPr lang="zh-CN" altLang="en-US" sz="2000" dirty="0">
                <a:solidFill>
                  <a:srgbClr val="595959"/>
                </a:solidFill>
                <a:latin typeface="微软雅黑" panose="020B0503020204020204" pitchFamily="34" charset="-122"/>
                <a:ea typeface="微软雅黑" panose="020B0503020204020204" pitchFamily="34" charset="-122"/>
                <a:cs typeface="+mn-ea"/>
              </a:rPr>
              <a:t>时，还需要在页面中引入</a:t>
            </a:r>
            <a:r>
              <a:rPr lang="en-US" altLang="zh-CN" sz="2000" dirty="0">
                <a:solidFill>
                  <a:srgbClr val="595959"/>
                </a:solidFill>
                <a:latin typeface="微软雅黑" panose="020B0503020204020204" pitchFamily="34" charset="-122"/>
                <a:ea typeface="微软雅黑" panose="020B0503020204020204" pitchFamily="34" charset="-122"/>
                <a:cs typeface="+mn-ea"/>
              </a:rPr>
              <a:t>Bootstrap</a:t>
            </a:r>
            <a:r>
              <a:rPr lang="zh-CN" altLang="en-US" sz="2000" dirty="0">
                <a:solidFill>
                  <a:srgbClr val="595959"/>
                </a:solidFill>
                <a:latin typeface="微软雅黑" panose="020B0503020204020204" pitchFamily="34" charset="-122"/>
                <a:ea typeface="微软雅黑" panose="020B0503020204020204" pitchFamily="34" charset="-122"/>
                <a:cs typeface="+mn-ea"/>
              </a:rPr>
              <a:t>提供的</a:t>
            </a:r>
            <a:r>
              <a:rPr lang="en-US" altLang="zh-CN" sz="2000" dirty="0">
                <a:solidFill>
                  <a:srgbClr val="1369B2"/>
                </a:solidFill>
                <a:latin typeface="微软雅黑" panose="020B0503020204020204" pitchFamily="34" charset="-122"/>
                <a:ea typeface="微软雅黑" panose="020B0503020204020204" pitchFamily="34" charset="-122"/>
                <a:cs typeface="+mn-ea"/>
              </a:rPr>
              <a:t>bootstrap.min.js</a:t>
            </a:r>
            <a:r>
              <a:rPr lang="zh-CN" altLang="en-US" sz="2000" dirty="0">
                <a:solidFill>
                  <a:srgbClr val="595959"/>
                </a:solidFill>
                <a:latin typeface="微软雅黑" panose="020B0503020204020204" pitchFamily="34" charset="-122"/>
                <a:ea typeface="微软雅黑" panose="020B0503020204020204" pitchFamily="34" charset="-122"/>
                <a:cs typeface="+mn-ea"/>
              </a:rPr>
              <a:t>文件，用来给页面添加</a:t>
            </a:r>
            <a:r>
              <a:rPr lang="en-US" altLang="zh-CN" sz="2000" dirty="0">
                <a:solidFill>
                  <a:srgbClr val="1369B2"/>
                </a:solidFill>
                <a:latin typeface="微软雅黑" panose="020B0503020204020204" pitchFamily="34" charset="-122"/>
                <a:ea typeface="微软雅黑" panose="020B0503020204020204" pitchFamily="34" charset="-122"/>
                <a:cs typeface="+mn-ea"/>
              </a:rPr>
              <a:t>JavaScript</a:t>
            </a:r>
            <a:r>
              <a:rPr lang="zh-CN" altLang="en-US" sz="2000" dirty="0">
                <a:solidFill>
                  <a:srgbClr val="1369B2"/>
                </a:solidFill>
                <a:latin typeface="微软雅黑" panose="020B0503020204020204" pitchFamily="34" charset="-122"/>
                <a:ea typeface="微软雅黑" panose="020B0503020204020204" pitchFamily="34" charset="-122"/>
                <a:cs typeface="+mn-ea"/>
              </a:rPr>
              <a:t>交互。</a:t>
            </a:r>
            <a:endPar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 name="TextBox 76"/>
          <p:cNvSpPr txBox="1"/>
          <p:nvPr/>
        </p:nvSpPr>
        <p:spPr>
          <a:xfrm>
            <a:off x="1024656" y="1341562"/>
            <a:ext cx="2190230"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标签式导航</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6.1.2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标签式</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导航组件</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3285686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5"/>
          <p:cNvSpPr txBox="1">
            <a:spLocks noChangeArrowheads="1"/>
          </p:cNvSpPr>
          <p:nvPr/>
        </p:nvSpPr>
        <p:spPr bwMode="auto">
          <a:xfrm>
            <a:off x="994466" y="1269554"/>
            <a:ext cx="10441160" cy="584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实现</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标签式导航</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页面，效果如图：</a:t>
            </a:r>
          </a:p>
        </p:txBody>
      </p:sp>
      <p:pic>
        <p:nvPicPr>
          <p:cNvPr id="12" name="图片 1">
            <a:extLst>
              <a:ext uri="{FF2B5EF4-FFF2-40B4-BE49-F238E27FC236}">
                <a16:creationId xmlns:a16="http://schemas.microsoft.com/office/drawing/2014/main" id="{908432F8-C6A8-4BCF-A5AF-9897E3BAD2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0710" y="2368606"/>
            <a:ext cx="4083867" cy="1741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文本框 12">
            <a:extLst>
              <a:ext uri="{FF2B5EF4-FFF2-40B4-BE49-F238E27FC236}">
                <a16:creationId xmlns:a16="http://schemas.microsoft.com/office/drawing/2014/main" id="{3875EBB3-2947-44D7-89F3-4F950DF657A8}"/>
              </a:ext>
            </a:extLst>
          </p:cNvPr>
          <p:cNvSpPr txBox="1"/>
          <p:nvPr/>
        </p:nvSpPr>
        <p:spPr>
          <a:xfrm>
            <a:off x="2736539" y="4405098"/>
            <a:ext cx="1872208" cy="400110"/>
          </a:xfrm>
          <a:prstGeom prst="rect">
            <a:avLst/>
          </a:prstGeom>
          <a:noFill/>
        </p:spPr>
        <p:txBody>
          <a:bodyPr wrap="square" rtlCol="0">
            <a:spAutoFit/>
          </a:bodyPr>
          <a:lstStyle/>
          <a:p>
            <a:pPr algn="ctr"/>
            <a:r>
              <a:rPr lang="zh-CN" altLang="en-US" sz="2000" dirty="0">
                <a:solidFill>
                  <a:srgbClr val="595959"/>
                </a:solidFill>
                <a:latin typeface="微软雅黑" panose="020B0503020204020204" pitchFamily="34" charset="-122"/>
                <a:ea typeface="微软雅黑" panose="020B0503020204020204" pitchFamily="34" charset="-122"/>
              </a:rPr>
              <a:t>标签式导航</a:t>
            </a:r>
          </a:p>
        </p:txBody>
      </p:sp>
      <p:sp>
        <p:nvSpPr>
          <p:cNvPr id="15" name="文本框 14">
            <a:extLst>
              <a:ext uri="{FF2B5EF4-FFF2-40B4-BE49-F238E27FC236}">
                <a16:creationId xmlns:a16="http://schemas.microsoft.com/office/drawing/2014/main" id="{AD520A5A-A116-4B1B-A4DD-BBE6B1B444EB}"/>
              </a:ext>
            </a:extLst>
          </p:cNvPr>
          <p:cNvSpPr txBox="1"/>
          <p:nvPr/>
        </p:nvSpPr>
        <p:spPr>
          <a:xfrm>
            <a:off x="7463360" y="4405098"/>
            <a:ext cx="3024336" cy="400110"/>
          </a:xfrm>
          <a:prstGeom prst="rect">
            <a:avLst/>
          </a:prstGeom>
          <a:noFill/>
        </p:spPr>
        <p:txBody>
          <a:bodyPr wrap="square" rtlCol="0">
            <a:spAutoFit/>
          </a:bodyPr>
          <a:lstStyle/>
          <a:p>
            <a:r>
              <a:rPr lang="zh-CN" altLang="en-US" sz="2000" dirty="0">
                <a:solidFill>
                  <a:srgbClr val="595959"/>
                </a:solidFill>
                <a:latin typeface="微软雅黑" panose="020B0503020204020204" pitchFamily="34" charset="-122"/>
                <a:ea typeface="微软雅黑" panose="020B0503020204020204" pitchFamily="34" charset="-122"/>
              </a:rPr>
              <a:t>标签</a:t>
            </a:r>
            <a:r>
              <a:rPr lang="en-US" altLang="zh-CN" sz="2000" dirty="0">
                <a:solidFill>
                  <a:srgbClr val="595959"/>
                </a:solidFill>
                <a:latin typeface="微软雅黑" panose="020B0503020204020204" pitchFamily="34" charset="-122"/>
                <a:ea typeface="微软雅黑" panose="020B0503020204020204" pitchFamily="34" charset="-122"/>
              </a:rPr>
              <a:t>2</a:t>
            </a:r>
            <a:r>
              <a:rPr lang="zh-CN" altLang="en-US" sz="2000" dirty="0">
                <a:solidFill>
                  <a:srgbClr val="595959"/>
                </a:solidFill>
                <a:latin typeface="微软雅黑" panose="020B0503020204020204" pitchFamily="34" charset="-122"/>
                <a:ea typeface="微软雅黑" panose="020B0503020204020204" pitchFamily="34" charset="-122"/>
              </a:rPr>
              <a:t>页面内容效果</a:t>
            </a:r>
          </a:p>
        </p:txBody>
      </p:sp>
      <p:pic>
        <p:nvPicPr>
          <p:cNvPr id="8" name="图片 1">
            <a:extLst>
              <a:ext uri="{FF2B5EF4-FFF2-40B4-BE49-F238E27FC236}">
                <a16:creationId xmlns:a16="http://schemas.microsoft.com/office/drawing/2014/main" id="{C6E58B03-A5A3-492D-9A52-28F46E8B53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8760" y="2349674"/>
            <a:ext cx="4078936" cy="1738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6.1.2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标签式</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导航组件</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1035602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83AC20C6-8630-496F-8BEE-FE67057070D4}"/>
              </a:ext>
            </a:extLst>
          </p:cNvPr>
          <p:cNvSpPr txBox="1"/>
          <p:nvPr/>
        </p:nvSpPr>
        <p:spPr>
          <a:xfrm>
            <a:off x="3059949" y="2485025"/>
            <a:ext cx="7859793" cy="3846822"/>
          </a:xfrm>
          <a:prstGeom prst="rect">
            <a:avLst/>
          </a:prstGeom>
          <a:solidFill>
            <a:srgbClr val="F2F2F2"/>
          </a:solidFill>
        </p:spPr>
        <p:txBody>
          <a:bodyPr wrap="square">
            <a:spAutoFit/>
          </a:bodyPr>
          <a:lstStyle/>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&lt;!DOCTYPE html&gt;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&lt;html&gt;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&lt;head&gt;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&lt;meta charset="UTF-8"&gt;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&lt;meta name="viewport" content="width=device-width, initial-scale=1.0"&gt;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&lt;title&gt;Document&lt;/title&gt;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&lt;link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="bootstrap-4.6.0-dist/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css</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/bootstrap.min.css"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rel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="stylesheet"&gt;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&lt;script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src</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js</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/jquery.min.js"&gt;&lt;/script&gt;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&lt;script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src</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="bootstrap-4.6.0-dist/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js</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/bootstrap.min.js"&gt;&lt;/script&gt;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&lt;/head&gt;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&lt;/html&gt;</a:t>
            </a:r>
          </a:p>
        </p:txBody>
      </p:sp>
      <p:grpSp>
        <p:nvGrpSpPr>
          <p:cNvPr id="9" name="组合 8">
            <a:extLst>
              <a:ext uri="{FF2B5EF4-FFF2-40B4-BE49-F238E27FC236}">
                <a16:creationId xmlns:a16="http://schemas.microsoft.com/office/drawing/2014/main" id="{A572FBBE-CAFE-4ACA-A2BE-18AF7BB24AAF}"/>
              </a:ext>
            </a:extLst>
          </p:cNvPr>
          <p:cNvGrpSpPr/>
          <p:nvPr/>
        </p:nvGrpSpPr>
        <p:grpSpPr>
          <a:xfrm>
            <a:off x="1143690" y="1152646"/>
            <a:ext cx="1747943" cy="773218"/>
            <a:chOff x="961390" y="2294944"/>
            <a:chExt cx="1747943" cy="773218"/>
          </a:xfrm>
        </p:grpSpPr>
        <p:sp>
          <p:nvSpPr>
            <p:cNvPr id="10" name="圆角矩形 4">
              <a:extLst>
                <a:ext uri="{FF2B5EF4-FFF2-40B4-BE49-F238E27FC236}">
                  <a16:creationId xmlns:a16="http://schemas.microsoft.com/office/drawing/2014/main" id="{CDD18056-555A-4BE9-82BB-444DA5BD33BC}"/>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1" name="文本框 10">
              <a:extLst>
                <a:ext uri="{FF2B5EF4-FFF2-40B4-BE49-F238E27FC236}">
                  <a16:creationId xmlns:a16="http://schemas.microsoft.com/office/drawing/2014/main" id="{A2BBEFDF-A3BB-4734-B8AB-7313B33D760E}"/>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01</a:t>
              </a:r>
            </a:p>
          </p:txBody>
        </p:sp>
      </p:grpSp>
      <p:sp>
        <p:nvSpPr>
          <p:cNvPr id="13" name="1">
            <a:extLst>
              <a:ext uri="{FF2B5EF4-FFF2-40B4-BE49-F238E27FC236}">
                <a16:creationId xmlns:a16="http://schemas.microsoft.com/office/drawing/2014/main" id="{E731EE78-15F3-4ED1-8765-78C87D3226C1}"/>
              </a:ext>
            </a:extLst>
          </p:cNvPr>
          <p:cNvSpPr txBox="1"/>
          <p:nvPr>
            <p:custDataLst>
              <p:tags r:id="rId1"/>
            </p:custDataLst>
          </p:nvPr>
        </p:nvSpPr>
        <p:spPr>
          <a:xfrm>
            <a:off x="3017371" y="1143481"/>
            <a:ext cx="8722842" cy="1107996"/>
          </a:xfrm>
          <a:prstGeom prst="rect">
            <a:avLst/>
          </a:prstGeom>
          <a:noFill/>
          <a:ln>
            <a:noFill/>
          </a:ln>
        </p:spPr>
        <p:txBody>
          <a:bodyPr wrap="square" rtlCol="0">
            <a:spAutoFit/>
          </a:bodyPr>
          <a:lstStyle/>
          <a:p>
            <a:pPr lvl="0" defTabSz="457200">
              <a:lnSpc>
                <a:spcPct val="150000"/>
              </a:lnSpc>
              <a:defRPr/>
            </a:pPr>
            <a:r>
              <a:rPr lang="zh-CN" altLang="en-US" sz="2400" b="1" kern="0" dirty="0">
                <a:solidFill>
                  <a:srgbClr val="595959"/>
                </a:solidFill>
                <a:latin typeface="微软雅黑" panose="020B0503020204020204" pitchFamily="34" charset="-122"/>
                <a:ea typeface="微软雅黑" panose="020B0503020204020204" pitchFamily="34" charset="-122"/>
                <a:cs typeface="+mn-ea"/>
                <a:sym typeface="+mn-lt"/>
              </a:rPr>
              <a:t>实现标签式导航页面</a:t>
            </a:r>
            <a:endParaRPr lang="en-US" altLang="zh-CN" sz="2400" b="1" kern="0" dirty="0">
              <a:solidFill>
                <a:srgbClr val="595959"/>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创建</a:t>
            </a:r>
            <a:r>
              <a:rPr lang="en-US" altLang="zh-CN" sz="2000" dirty="0">
                <a:solidFill>
                  <a:srgbClr val="595959"/>
                </a:solidFill>
                <a:latin typeface="微软雅黑" panose="020B0503020204020204" pitchFamily="34" charset="-122"/>
                <a:ea typeface="微软雅黑" panose="020B0503020204020204" pitchFamily="34" charset="-122"/>
              </a:rPr>
              <a:t>C:\code\chapter06\demo02.html</a:t>
            </a:r>
            <a:r>
              <a:rPr lang="zh-CN" altLang="en-US" sz="2000" dirty="0">
                <a:solidFill>
                  <a:srgbClr val="595959"/>
                </a:solidFill>
                <a:latin typeface="微软雅黑" panose="020B0503020204020204" pitchFamily="34" charset="-122"/>
                <a:ea typeface="微软雅黑" panose="020B0503020204020204" pitchFamily="34" charset="-122"/>
              </a:rPr>
              <a:t>，配置</a:t>
            </a:r>
            <a:r>
              <a:rPr lang="zh-CN" altLang="en-US" sz="2000" dirty="0">
                <a:solidFill>
                  <a:srgbClr val="1369B2"/>
                </a:solidFill>
                <a:latin typeface="微软雅黑" panose="020B0503020204020204" pitchFamily="34" charset="-122"/>
                <a:ea typeface="微软雅黑" panose="020B0503020204020204" pitchFamily="34" charset="-122"/>
              </a:rPr>
              <a:t>视口</a:t>
            </a:r>
            <a:r>
              <a:rPr lang="zh-CN" altLang="en-US" sz="2000" dirty="0">
                <a:solidFill>
                  <a:srgbClr val="595959"/>
                </a:solidFill>
                <a:latin typeface="微软雅黑" panose="020B0503020204020204" pitchFamily="34" charset="-122"/>
                <a:ea typeface="微软雅黑" panose="020B0503020204020204" pitchFamily="34" charset="-122"/>
              </a:rPr>
              <a:t>并引入</a:t>
            </a:r>
            <a:r>
              <a:rPr lang="zh-CN" altLang="en-US" sz="2000" dirty="0">
                <a:solidFill>
                  <a:srgbClr val="1369B2"/>
                </a:solidFill>
                <a:latin typeface="微软雅黑" panose="020B0503020204020204" pitchFamily="34" charset="-122"/>
                <a:ea typeface="微软雅黑" panose="020B0503020204020204" pitchFamily="34" charset="-122"/>
              </a:rPr>
              <a:t>依赖文件</a:t>
            </a:r>
            <a:r>
              <a:rPr lang="zh-CN" altLang="en-US" sz="2000" dirty="0">
                <a:solidFill>
                  <a:srgbClr val="595959"/>
                </a:solidFill>
                <a:latin typeface="微软雅黑" panose="020B0503020204020204" pitchFamily="34" charset="-122"/>
                <a:ea typeface="微软雅黑" panose="020B0503020204020204" pitchFamily="34" charset="-122"/>
              </a:rPr>
              <a:t>。</a:t>
            </a:r>
          </a:p>
        </p:txBody>
      </p:sp>
      <p:sp>
        <p:nvSpPr>
          <p:cNvPr id="14"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6.1.2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标签式</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导航组件</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6420803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83AC20C6-8630-496F-8BEE-FE67057070D4}"/>
              </a:ext>
            </a:extLst>
          </p:cNvPr>
          <p:cNvSpPr txBox="1"/>
          <p:nvPr/>
        </p:nvSpPr>
        <p:spPr>
          <a:xfrm>
            <a:off x="2710830" y="2277666"/>
            <a:ext cx="8075817" cy="4203843"/>
          </a:xfrm>
          <a:prstGeom prst="rect">
            <a:avLst/>
          </a:prstGeom>
          <a:solidFill>
            <a:srgbClr val="F2F2F2"/>
          </a:solidFill>
        </p:spPr>
        <p:txBody>
          <a:bodyPr wrap="square">
            <a:spAutoFit/>
          </a:bodyPr>
          <a:lstStyle/>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&lt;body class="m-3"&gt;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标签式导航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&lt;ul class="nav nav-tabs"&gt;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 class="nav-item"&gt;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 class="nav-link active" data-toggle="tab"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="#home"&gt;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标签</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1&lt;/a&gt;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 class="nav-item"&gt;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 class="nav-link" data-toggle="tab"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="#profile"&gt;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标签</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2&lt;/a&gt;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 class="nav-item"&gt;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 class="nav-link" data-toggle="tab"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="#contact"&gt;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标签</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3&lt;/a&gt;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&lt;/ul&gt;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&lt;/body&gt;</a:t>
            </a:r>
          </a:p>
        </p:txBody>
      </p:sp>
      <p:grpSp>
        <p:nvGrpSpPr>
          <p:cNvPr id="9" name="组合 8">
            <a:extLst>
              <a:ext uri="{FF2B5EF4-FFF2-40B4-BE49-F238E27FC236}">
                <a16:creationId xmlns:a16="http://schemas.microsoft.com/office/drawing/2014/main" id="{A572FBBE-CAFE-4ACA-A2BE-18AF7BB24AAF}"/>
              </a:ext>
            </a:extLst>
          </p:cNvPr>
          <p:cNvGrpSpPr/>
          <p:nvPr/>
        </p:nvGrpSpPr>
        <p:grpSpPr>
          <a:xfrm>
            <a:off x="1143690" y="1152646"/>
            <a:ext cx="1747943" cy="773218"/>
            <a:chOff x="961390" y="2294944"/>
            <a:chExt cx="1747943" cy="773218"/>
          </a:xfrm>
        </p:grpSpPr>
        <p:sp>
          <p:nvSpPr>
            <p:cNvPr id="10" name="圆角矩形 4">
              <a:extLst>
                <a:ext uri="{FF2B5EF4-FFF2-40B4-BE49-F238E27FC236}">
                  <a16:creationId xmlns:a16="http://schemas.microsoft.com/office/drawing/2014/main" id="{CDD18056-555A-4BE9-82BB-444DA5BD33BC}"/>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1" name="文本框 10">
              <a:extLst>
                <a:ext uri="{FF2B5EF4-FFF2-40B4-BE49-F238E27FC236}">
                  <a16:creationId xmlns:a16="http://schemas.microsoft.com/office/drawing/2014/main" id="{A2BBEFDF-A3BB-4734-B8AB-7313B33D760E}"/>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02</a:t>
              </a:r>
            </a:p>
          </p:txBody>
        </p:sp>
      </p:grpSp>
      <p:sp>
        <p:nvSpPr>
          <p:cNvPr id="13" name="1">
            <a:extLst>
              <a:ext uri="{FF2B5EF4-FFF2-40B4-BE49-F238E27FC236}">
                <a16:creationId xmlns:a16="http://schemas.microsoft.com/office/drawing/2014/main" id="{E731EE78-15F3-4ED1-8765-78C87D3226C1}"/>
              </a:ext>
            </a:extLst>
          </p:cNvPr>
          <p:cNvSpPr txBox="1"/>
          <p:nvPr>
            <p:custDataLst>
              <p:tags r:id="rId1"/>
            </p:custDataLst>
          </p:nvPr>
        </p:nvSpPr>
        <p:spPr>
          <a:xfrm>
            <a:off x="3017371" y="1143481"/>
            <a:ext cx="8722842" cy="1107996"/>
          </a:xfrm>
          <a:prstGeom prst="rect">
            <a:avLst/>
          </a:prstGeom>
          <a:noFill/>
          <a:ln>
            <a:noFill/>
          </a:ln>
        </p:spPr>
        <p:txBody>
          <a:bodyPr wrap="square" rtlCol="0">
            <a:spAutoFit/>
          </a:bodyPr>
          <a:lstStyle/>
          <a:p>
            <a:pPr lvl="0" defTabSz="457200">
              <a:lnSpc>
                <a:spcPct val="150000"/>
              </a:lnSpc>
              <a:defRPr/>
            </a:pPr>
            <a:r>
              <a:rPr lang="zh-CN" altLang="en-US" sz="2400" b="1" kern="0" dirty="0">
                <a:solidFill>
                  <a:srgbClr val="595959"/>
                </a:solidFill>
                <a:latin typeface="微软雅黑" panose="020B0503020204020204" pitchFamily="34" charset="-122"/>
                <a:ea typeface="微软雅黑" panose="020B0503020204020204" pitchFamily="34" charset="-122"/>
                <a:cs typeface="+mn-ea"/>
                <a:sym typeface="+mn-lt"/>
              </a:rPr>
              <a:t>实现标签式导航页面</a:t>
            </a:r>
            <a:endParaRPr lang="en-US" altLang="zh-CN" sz="2400" b="1" kern="0" dirty="0">
              <a:solidFill>
                <a:srgbClr val="595959"/>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修改</a:t>
            </a:r>
            <a:r>
              <a:rPr lang="en-US" altLang="zh-CN" sz="2000" dirty="0">
                <a:solidFill>
                  <a:srgbClr val="595959"/>
                </a:solidFill>
                <a:latin typeface="微软雅黑" panose="020B0503020204020204" pitchFamily="34" charset="-122"/>
                <a:ea typeface="微软雅黑" panose="020B0503020204020204" pitchFamily="34" charset="-122"/>
              </a:rPr>
              <a:t>demo02.html</a:t>
            </a:r>
            <a:r>
              <a:rPr lang="zh-CN" altLang="en-US" sz="2000" dirty="0">
                <a:solidFill>
                  <a:srgbClr val="595959"/>
                </a:solidFill>
                <a:latin typeface="微软雅黑" panose="020B0503020204020204" pitchFamily="34" charset="-122"/>
                <a:ea typeface="微软雅黑" panose="020B0503020204020204" pitchFamily="34" charset="-122"/>
              </a:rPr>
              <a:t>，实现</a:t>
            </a:r>
            <a:r>
              <a:rPr lang="zh-CN" altLang="en-US" sz="2000" dirty="0">
                <a:solidFill>
                  <a:srgbClr val="1369B2"/>
                </a:solidFill>
                <a:latin typeface="微软雅黑" panose="020B0503020204020204" pitchFamily="34" charset="-122"/>
                <a:ea typeface="微软雅黑" panose="020B0503020204020204" pitchFamily="34" charset="-122"/>
              </a:rPr>
              <a:t>标签式导航</a:t>
            </a:r>
            <a:r>
              <a:rPr lang="zh-CN" altLang="en-US" sz="2000" dirty="0">
                <a:solidFill>
                  <a:srgbClr val="595959"/>
                </a:solidFill>
                <a:latin typeface="微软雅黑" panose="020B0503020204020204" pitchFamily="34" charset="-122"/>
                <a:ea typeface="微软雅黑" panose="020B0503020204020204" pitchFamily="34" charset="-122"/>
              </a:rPr>
              <a:t>页面。</a:t>
            </a:r>
          </a:p>
        </p:txBody>
      </p:sp>
      <p:sp>
        <p:nvSpPr>
          <p:cNvPr id="14"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6.1.2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标签式</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导航组件</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3886524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83AC20C6-8630-496F-8BEE-FE67057070D4}"/>
              </a:ext>
            </a:extLst>
          </p:cNvPr>
          <p:cNvSpPr txBox="1"/>
          <p:nvPr/>
        </p:nvSpPr>
        <p:spPr>
          <a:xfrm>
            <a:off x="2206774" y="2493690"/>
            <a:ext cx="8363849" cy="2120902"/>
          </a:xfrm>
          <a:prstGeom prst="rect">
            <a:avLst/>
          </a:prstGeom>
          <a:solidFill>
            <a:srgbClr val="F2F2F2"/>
          </a:solidFill>
        </p:spPr>
        <p:txBody>
          <a:bodyPr wrap="square">
            <a:spAutoFit/>
          </a:bodyPr>
          <a:lstStyle/>
          <a:p>
            <a:pPr lvl="0">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&lt;div class="tab-content"&gt;</a:t>
            </a:r>
          </a:p>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class="tab-pane fade show active" id="home"&gt;</a:t>
            </a:r>
            <a:r>
              <a:rPr lang="zh-CN" altLang="en-US"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标签</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1</a:t>
            </a:r>
            <a:r>
              <a:rPr lang="zh-CN" altLang="en-US"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页面内容</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&lt;/div&gt;    </a:t>
            </a:r>
          </a:p>
          <a:p>
            <a:pPr lvl="0">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class="tab-pane fade" id="profile"&gt;</a:t>
            </a:r>
            <a:r>
              <a:rPr lang="zh-CN" altLang="en-US"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标签</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2</a:t>
            </a:r>
            <a:r>
              <a:rPr lang="zh-CN" altLang="en-US"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页面内容</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&lt;/div&gt;</a:t>
            </a:r>
          </a:p>
          <a:p>
            <a:pPr lvl="0">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class="tab-pane fade" id="contact"&gt;</a:t>
            </a:r>
            <a:r>
              <a:rPr lang="zh-CN" altLang="en-US"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标签</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3</a:t>
            </a:r>
            <a:r>
              <a:rPr lang="zh-CN" altLang="en-US"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页面内容</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&lt;/div&gt;</a:t>
            </a:r>
          </a:p>
          <a:p>
            <a:pPr lvl="0">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&lt;/div&gt;</a:t>
            </a:r>
          </a:p>
        </p:txBody>
      </p:sp>
      <p:grpSp>
        <p:nvGrpSpPr>
          <p:cNvPr id="9" name="组合 8">
            <a:extLst>
              <a:ext uri="{FF2B5EF4-FFF2-40B4-BE49-F238E27FC236}">
                <a16:creationId xmlns:a16="http://schemas.microsoft.com/office/drawing/2014/main" id="{A572FBBE-CAFE-4ACA-A2BE-18AF7BB24AAF}"/>
              </a:ext>
            </a:extLst>
          </p:cNvPr>
          <p:cNvGrpSpPr/>
          <p:nvPr/>
        </p:nvGrpSpPr>
        <p:grpSpPr>
          <a:xfrm>
            <a:off x="1143690" y="1152646"/>
            <a:ext cx="1747943" cy="773218"/>
            <a:chOff x="961390" y="2294944"/>
            <a:chExt cx="1747943" cy="773218"/>
          </a:xfrm>
        </p:grpSpPr>
        <p:sp>
          <p:nvSpPr>
            <p:cNvPr id="10" name="圆角矩形 4">
              <a:extLst>
                <a:ext uri="{FF2B5EF4-FFF2-40B4-BE49-F238E27FC236}">
                  <a16:creationId xmlns:a16="http://schemas.microsoft.com/office/drawing/2014/main" id="{CDD18056-555A-4BE9-82BB-444DA5BD33BC}"/>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1" name="文本框 10">
              <a:extLst>
                <a:ext uri="{FF2B5EF4-FFF2-40B4-BE49-F238E27FC236}">
                  <a16:creationId xmlns:a16="http://schemas.microsoft.com/office/drawing/2014/main" id="{A2BBEFDF-A3BB-4734-B8AB-7313B33D760E}"/>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03</a:t>
              </a:r>
            </a:p>
          </p:txBody>
        </p:sp>
      </p:grpSp>
      <p:sp>
        <p:nvSpPr>
          <p:cNvPr id="13" name="1">
            <a:extLst>
              <a:ext uri="{FF2B5EF4-FFF2-40B4-BE49-F238E27FC236}">
                <a16:creationId xmlns:a16="http://schemas.microsoft.com/office/drawing/2014/main" id="{E731EE78-15F3-4ED1-8765-78C87D3226C1}"/>
              </a:ext>
            </a:extLst>
          </p:cNvPr>
          <p:cNvSpPr txBox="1"/>
          <p:nvPr>
            <p:custDataLst>
              <p:tags r:id="rId1"/>
            </p:custDataLst>
          </p:nvPr>
        </p:nvSpPr>
        <p:spPr>
          <a:xfrm>
            <a:off x="3017371" y="1143481"/>
            <a:ext cx="8722842" cy="1107996"/>
          </a:xfrm>
          <a:prstGeom prst="rect">
            <a:avLst/>
          </a:prstGeom>
          <a:noFill/>
          <a:ln>
            <a:noFill/>
          </a:ln>
        </p:spPr>
        <p:txBody>
          <a:bodyPr wrap="square" rtlCol="0">
            <a:spAutoFit/>
          </a:bodyPr>
          <a:lstStyle/>
          <a:p>
            <a:pPr lvl="0" defTabSz="457200">
              <a:lnSpc>
                <a:spcPct val="150000"/>
              </a:lnSpc>
              <a:defRPr/>
            </a:pPr>
            <a:r>
              <a:rPr lang="zh-CN" altLang="en-US" sz="2400" b="1" kern="0" dirty="0">
                <a:solidFill>
                  <a:srgbClr val="595959"/>
                </a:solidFill>
                <a:latin typeface="微软雅黑" panose="020B0503020204020204" pitchFamily="34" charset="-122"/>
                <a:ea typeface="微软雅黑" panose="020B0503020204020204" pitchFamily="34" charset="-122"/>
                <a:cs typeface="+mn-ea"/>
                <a:sym typeface="+mn-lt"/>
              </a:rPr>
              <a:t>实现标签式导航页面</a:t>
            </a:r>
            <a:endParaRPr lang="en-US" altLang="zh-CN" sz="2400" b="1" kern="0" dirty="0">
              <a:solidFill>
                <a:srgbClr val="595959"/>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修改</a:t>
            </a:r>
            <a:r>
              <a:rPr lang="en-US" altLang="zh-CN" sz="2000" dirty="0">
                <a:solidFill>
                  <a:srgbClr val="595959"/>
                </a:solidFill>
                <a:latin typeface="微软雅黑" panose="020B0503020204020204" pitchFamily="34" charset="-122"/>
                <a:ea typeface="微软雅黑" panose="020B0503020204020204" pitchFamily="34" charset="-122"/>
              </a:rPr>
              <a:t>demo02.html</a:t>
            </a:r>
            <a:r>
              <a:rPr lang="zh-CN" altLang="en-US" sz="2000" dirty="0">
                <a:solidFill>
                  <a:srgbClr val="595959"/>
                </a:solidFill>
                <a:latin typeface="微软雅黑" panose="020B0503020204020204" pitchFamily="34" charset="-122"/>
                <a:ea typeface="微软雅黑" panose="020B0503020204020204" pitchFamily="34" charset="-122"/>
              </a:rPr>
              <a:t>，在</a:t>
            </a:r>
            <a:r>
              <a:rPr lang="en-US" altLang="zh-CN" sz="2000" dirty="0">
                <a:solidFill>
                  <a:srgbClr val="1369B2"/>
                </a:solidFill>
                <a:latin typeface="微软雅黑" panose="020B0503020204020204" pitchFamily="34" charset="-122"/>
                <a:ea typeface="微软雅黑" panose="020B0503020204020204" pitchFamily="34" charset="-122"/>
              </a:rPr>
              <a:t>&lt;/ul&gt;</a:t>
            </a:r>
            <a:r>
              <a:rPr lang="zh-CN" altLang="en-US" sz="2000" dirty="0">
                <a:solidFill>
                  <a:srgbClr val="595959"/>
                </a:solidFill>
                <a:latin typeface="微软雅黑" panose="020B0503020204020204" pitchFamily="34" charset="-122"/>
                <a:ea typeface="微软雅黑" panose="020B0503020204020204" pitchFamily="34" charset="-122"/>
              </a:rPr>
              <a:t>标签后添加以下代码。</a:t>
            </a:r>
          </a:p>
        </p:txBody>
      </p:sp>
      <p:sp>
        <p:nvSpPr>
          <p:cNvPr id="14"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6.1.2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标签式</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导航组件</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5067906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A572FBBE-CAFE-4ACA-A2BE-18AF7BB24AAF}"/>
              </a:ext>
            </a:extLst>
          </p:cNvPr>
          <p:cNvGrpSpPr/>
          <p:nvPr/>
        </p:nvGrpSpPr>
        <p:grpSpPr>
          <a:xfrm>
            <a:off x="1143690" y="1152646"/>
            <a:ext cx="1747943" cy="773218"/>
            <a:chOff x="961390" y="2294944"/>
            <a:chExt cx="1747943" cy="773218"/>
          </a:xfrm>
        </p:grpSpPr>
        <p:sp>
          <p:nvSpPr>
            <p:cNvPr id="10" name="圆角矩形 4">
              <a:extLst>
                <a:ext uri="{FF2B5EF4-FFF2-40B4-BE49-F238E27FC236}">
                  <a16:creationId xmlns:a16="http://schemas.microsoft.com/office/drawing/2014/main" id="{CDD18056-555A-4BE9-82BB-444DA5BD33BC}"/>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1" name="文本框 10">
              <a:extLst>
                <a:ext uri="{FF2B5EF4-FFF2-40B4-BE49-F238E27FC236}">
                  <a16:creationId xmlns:a16="http://schemas.microsoft.com/office/drawing/2014/main" id="{A2BBEFDF-A3BB-4734-B8AB-7313B33D760E}"/>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04</a:t>
              </a:r>
            </a:p>
          </p:txBody>
        </p:sp>
      </p:grpSp>
      <p:sp>
        <p:nvSpPr>
          <p:cNvPr id="13" name="1">
            <a:extLst>
              <a:ext uri="{FF2B5EF4-FFF2-40B4-BE49-F238E27FC236}">
                <a16:creationId xmlns:a16="http://schemas.microsoft.com/office/drawing/2014/main" id="{E731EE78-15F3-4ED1-8765-78C87D3226C1}"/>
              </a:ext>
            </a:extLst>
          </p:cNvPr>
          <p:cNvSpPr txBox="1"/>
          <p:nvPr>
            <p:custDataLst>
              <p:tags r:id="rId1"/>
            </p:custDataLst>
          </p:nvPr>
        </p:nvSpPr>
        <p:spPr>
          <a:xfrm>
            <a:off x="3017371" y="1143481"/>
            <a:ext cx="8722842" cy="1107996"/>
          </a:xfrm>
          <a:prstGeom prst="rect">
            <a:avLst/>
          </a:prstGeom>
          <a:noFill/>
          <a:ln>
            <a:noFill/>
          </a:ln>
        </p:spPr>
        <p:txBody>
          <a:bodyPr wrap="square" rtlCol="0">
            <a:spAutoFit/>
          </a:bodyPr>
          <a:lstStyle/>
          <a:p>
            <a:pPr lvl="0" defTabSz="457200">
              <a:lnSpc>
                <a:spcPct val="150000"/>
              </a:lnSpc>
              <a:defRPr/>
            </a:pPr>
            <a:r>
              <a:rPr lang="zh-CN" altLang="en-US" sz="2400" b="1" kern="0" dirty="0">
                <a:solidFill>
                  <a:srgbClr val="595959"/>
                </a:solidFill>
                <a:latin typeface="微软雅黑" panose="020B0503020204020204" pitchFamily="34" charset="-122"/>
                <a:ea typeface="微软雅黑" panose="020B0503020204020204" pitchFamily="34" charset="-122"/>
                <a:cs typeface="+mn-ea"/>
                <a:sym typeface="+mn-lt"/>
              </a:rPr>
              <a:t>在浏览器中访问</a:t>
            </a:r>
            <a:r>
              <a:rPr lang="en-US" altLang="zh-CN" sz="2400" b="1" kern="0" dirty="0">
                <a:solidFill>
                  <a:srgbClr val="595959"/>
                </a:solidFill>
                <a:latin typeface="微软雅黑" panose="020B0503020204020204" pitchFamily="34" charset="-122"/>
                <a:ea typeface="微软雅黑" panose="020B0503020204020204" pitchFamily="34" charset="-122"/>
                <a:cs typeface="+mn-ea"/>
                <a:sym typeface="+mn-lt"/>
              </a:rPr>
              <a:t>demo02.html</a:t>
            </a: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页面中显示</a:t>
            </a:r>
            <a:r>
              <a:rPr lang="zh-CN" altLang="en-US" sz="2000" dirty="0">
                <a:solidFill>
                  <a:srgbClr val="1369B2"/>
                </a:solidFill>
                <a:latin typeface="微软雅黑" panose="020B0503020204020204" pitchFamily="34" charset="-122"/>
                <a:ea typeface="微软雅黑" panose="020B0503020204020204" pitchFamily="34" charset="-122"/>
              </a:rPr>
              <a:t>标签式导航</a:t>
            </a:r>
            <a:r>
              <a:rPr lang="zh-CN" altLang="en-US" sz="2000" dirty="0">
                <a:solidFill>
                  <a:srgbClr val="595959"/>
                </a:solidFill>
                <a:latin typeface="微软雅黑" panose="020B0503020204020204" pitchFamily="34" charset="-122"/>
                <a:ea typeface="微软雅黑" panose="020B0503020204020204" pitchFamily="34" charset="-122"/>
              </a:rPr>
              <a:t>默认的页面效果。</a:t>
            </a:r>
          </a:p>
        </p:txBody>
      </p:sp>
      <p:pic>
        <p:nvPicPr>
          <p:cNvPr id="3074" name="图片 1">
            <a:extLst>
              <a:ext uri="{FF2B5EF4-FFF2-40B4-BE49-F238E27FC236}">
                <a16:creationId xmlns:a16="http://schemas.microsoft.com/office/drawing/2014/main" id="{B1754135-F1E2-4F9C-BFD4-79CC4223FE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6934" y="2567503"/>
            <a:ext cx="4303395" cy="1834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1EEDFC91-A773-4D49-8E4B-DCEB8FEE51D0}"/>
              </a:ext>
            </a:extLst>
          </p:cNvPr>
          <p:cNvSpPr txBox="1"/>
          <p:nvPr/>
        </p:nvSpPr>
        <p:spPr>
          <a:xfrm>
            <a:off x="4286463" y="4693519"/>
            <a:ext cx="3024336" cy="400110"/>
          </a:xfrm>
          <a:prstGeom prst="rect">
            <a:avLst/>
          </a:prstGeom>
          <a:noFill/>
        </p:spPr>
        <p:txBody>
          <a:bodyPr wrap="square" rtlCol="0">
            <a:spAutoFit/>
          </a:bodyPr>
          <a:lstStyle/>
          <a:p>
            <a:pPr algn="ctr"/>
            <a:r>
              <a:rPr lang="zh-CN" altLang="en-US" sz="2000" dirty="0">
                <a:solidFill>
                  <a:srgbClr val="595959"/>
                </a:solidFill>
                <a:latin typeface="微软雅黑" panose="020B0503020204020204" pitchFamily="34" charset="-122"/>
                <a:ea typeface="微软雅黑" panose="020B0503020204020204" pitchFamily="34" charset="-122"/>
              </a:rPr>
              <a:t>标签式导航</a:t>
            </a:r>
          </a:p>
        </p:txBody>
      </p:sp>
      <p:sp>
        <p:nvSpPr>
          <p:cNvPr id="14"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6.1.2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标签式</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导航组件</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40867450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A572FBBE-CAFE-4ACA-A2BE-18AF7BB24AAF}"/>
              </a:ext>
            </a:extLst>
          </p:cNvPr>
          <p:cNvGrpSpPr/>
          <p:nvPr/>
        </p:nvGrpSpPr>
        <p:grpSpPr>
          <a:xfrm>
            <a:off x="1143690" y="1152646"/>
            <a:ext cx="1747943" cy="773218"/>
            <a:chOff x="961390" y="2294944"/>
            <a:chExt cx="1747943" cy="773218"/>
          </a:xfrm>
        </p:grpSpPr>
        <p:sp>
          <p:nvSpPr>
            <p:cNvPr id="10" name="圆角矩形 4">
              <a:extLst>
                <a:ext uri="{FF2B5EF4-FFF2-40B4-BE49-F238E27FC236}">
                  <a16:creationId xmlns:a16="http://schemas.microsoft.com/office/drawing/2014/main" id="{CDD18056-555A-4BE9-82BB-444DA5BD33BC}"/>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1" name="文本框 10">
              <a:extLst>
                <a:ext uri="{FF2B5EF4-FFF2-40B4-BE49-F238E27FC236}">
                  <a16:creationId xmlns:a16="http://schemas.microsoft.com/office/drawing/2014/main" id="{A2BBEFDF-A3BB-4734-B8AB-7313B33D760E}"/>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05</a:t>
              </a:r>
            </a:p>
          </p:txBody>
        </p:sp>
      </p:grpSp>
      <p:sp>
        <p:nvSpPr>
          <p:cNvPr id="13" name="1">
            <a:extLst>
              <a:ext uri="{FF2B5EF4-FFF2-40B4-BE49-F238E27FC236}">
                <a16:creationId xmlns:a16="http://schemas.microsoft.com/office/drawing/2014/main" id="{E731EE78-15F3-4ED1-8765-78C87D3226C1}"/>
              </a:ext>
            </a:extLst>
          </p:cNvPr>
          <p:cNvSpPr txBox="1"/>
          <p:nvPr>
            <p:custDataLst>
              <p:tags r:id="rId1"/>
            </p:custDataLst>
          </p:nvPr>
        </p:nvSpPr>
        <p:spPr>
          <a:xfrm>
            <a:off x="3017371" y="1143481"/>
            <a:ext cx="8722842" cy="1107996"/>
          </a:xfrm>
          <a:prstGeom prst="rect">
            <a:avLst/>
          </a:prstGeom>
          <a:noFill/>
          <a:ln>
            <a:noFill/>
          </a:ln>
        </p:spPr>
        <p:txBody>
          <a:bodyPr wrap="square" rtlCol="0">
            <a:spAutoFit/>
          </a:bodyPr>
          <a:lstStyle/>
          <a:p>
            <a:pPr lvl="0" defTabSz="457200">
              <a:lnSpc>
                <a:spcPct val="150000"/>
              </a:lnSpc>
              <a:defRPr/>
            </a:pPr>
            <a:r>
              <a:rPr lang="zh-CN" altLang="en-US" sz="2400" b="1" kern="0" dirty="0">
                <a:solidFill>
                  <a:srgbClr val="595959"/>
                </a:solidFill>
                <a:latin typeface="微软雅黑" panose="020B0503020204020204" pitchFamily="34" charset="-122"/>
                <a:ea typeface="微软雅黑" panose="020B0503020204020204" pitchFamily="34" charset="-122"/>
                <a:cs typeface="+mn-ea"/>
                <a:sym typeface="+mn-lt"/>
              </a:rPr>
              <a:t>在浏览器中访问</a:t>
            </a:r>
            <a:r>
              <a:rPr lang="en-US" altLang="zh-CN" sz="2400" b="1" kern="0" dirty="0">
                <a:solidFill>
                  <a:srgbClr val="595959"/>
                </a:solidFill>
                <a:latin typeface="微软雅黑" panose="020B0503020204020204" pitchFamily="34" charset="-122"/>
                <a:ea typeface="微软雅黑" panose="020B0503020204020204" pitchFamily="34" charset="-122"/>
                <a:cs typeface="+mn-ea"/>
                <a:sym typeface="+mn-lt"/>
              </a:rPr>
              <a:t>demo02.html</a:t>
            </a: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单击“标签</a:t>
            </a:r>
            <a:r>
              <a:rPr lang="en-US" altLang="zh-CN" sz="2000" dirty="0">
                <a:solidFill>
                  <a:srgbClr val="595959"/>
                </a:solidFill>
                <a:latin typeface="微软雅黑" panose="020B0503020204020204" pitchFamily="34" charset="-122"/>
                <a:ea typeface="微软雅黑" panose="020B0503020204020204" pitchFamily="34" charset="-122"/>
              </a:rPr>
              <a:t>2</a:t>
            </a:r>
            <a:r>
              <a:rPr lang="zh-CN" altLang="en-US" sz="2000" dirty="0">
                <a:solidFill>
                  <a:srgbClr val="595959"/>
                </a:solidFill>
                <a:latin typeface="微软雅黑" panose="020B0503020204020204" pitchFamily="34" charset="-122"/>
                <a:ea typeface="微软雅黑" panose="020B0503020204020204" pitchFamily="34" charset="-122"/>
              </a:rPr>
              <a:t>”，显示</a:t>
            </a:r>
            <a:r>
              <a:rPr lang="zh-CN" altLang="en-US" sz="2000" dirty="0">
                <a:solidFill>
                  <a:srgbClr val="1369B2"/>
                </a:solidFill>
                <a:latin typeface="微软雅黑" panose="020B0503020204020204" pitchFamily="34" charset="-122"/>
                <a:ea typeface="微软雅黑" panose="020B0503020204020204" pitchFamily="34" charset="-122"/>
              </a:rPr>
              <a:t>标签</a:t>
            </a:r>
            <a:r>
              <a:rPr lang="en-US" altLang="zh-CN" sz="2000" dirty="0">
                <a:solidFill>
                  <a:srgbClr val="1369B2"/>
                </a:solidFill>
                <a:latin typeface="微软雅黑" panose="020B0503020204020204" pitchFamily="34" charset="-122"/>
                <a:ea typeface="微软雅黑" panose="020B0503020204020204" pitchFamily="34" charset="-122"/>
              </a:rPr>
              <a:t>2</a:t>
            </a:r>
            <a:r>
              <a:rPr lang="zh-CN" altLang="en-US" sz="2000" dirty="0">
                <a:solidFill>
                  <a:srgbClr val="595959"/>
                </a:solidFill>
                <a:latin typeface="微软雅黑" panose="020B0503020204020204" pitchFamily="34" charset="-122"/>
                <a:ea typeface="微软雅黑" panose="020B0503020204020204" pitchFamily="34" charset="-122"/>
              </a:rPr>
              <a:t>页面内容效果。</a:t>
            </a:r>
          </a:p>
        </p:txBody>
      </p:sp>
      <p:pic>
        <p:nvPicPr>
          <p:cNvPr id="1026" name="图片 1">
            <a:extLst>
              <a:ext uri="{FF2B5EF4-FFF2-40B4-BE49-F238E27FC236}">
                <a16:creationId xmlns:a16="http://schemas.microsoft.com/office/drawing/2014/main" id="{5135AB1E-7B36-4A2C-9869-319D4A8B83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3337" y="2567503"/>
            <a:ext cx="4802069" cy="2047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6.1.2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标签式</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导航组件</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4834218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7"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815965" y="3576722"/>
            <a:ext cx="5429568" cy="1231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熟悉</a:t>
            </a:r>
            <a:r>
              <a:rPr lang="zh-CN" altLang="en-US" sz="24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胶囊式</a:t>
            </a:r>
            <a:r>
              <a:rPr lang="zh-CN" altLang="en-US" sz="2400" dirty="0" smtClean="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导航组件</a:t>
            </a:r>
            <a:r>
              <a:rPr lang="zh-CN" altLang="en-US"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能够创建胶囊式导航</a:t>
            </a:r>
            <a:r>
              <a:rPr lang="zh-CN" altLang="en-US"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页面</a:t>
            </a:r>
            <a:endParaRPr lang="zh-CN" altLang="en-US" dirty="0">
              <a:solidFill>
                <a:srgbClr val="595959"/>
              </a:solidFill>
              <a:latin typeface="微软雅黑" panose="020B0503020204020204" pitchFamily="34" charset="-122"/>
              <a:ea typeface="微软雅黑" panose="020B0503020204020204" pitchFamily="34" charset="-122"/>
              <a:cs typeface="+mn-ea"/>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6.1.3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胶囊式</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导航</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组件</a:t>
            </a:r>
          </a:p>
        </p:txBody>
      </p:sp>
    </p:spTree>
    <p:extLst>
      <p:ext uri="{BB962C8B-B14F-4D97-AF65-F5344CB8AC3E}">
        <p14:creationId xmlns:p14="http://schemas.microsoft.com/office/powerpoint/2010/main" val="179335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5"/>
          <p:cNvSpPr txBox="1">
            <a:spLocks noChangeArrowheads="1"/>
          </p:cNvSpPr>
          <p:nvPr/>
        </p:nvSpPr>
        <p:spPr bwMode="auto">
          <a:xfrm>
            <a:off x="994466" y="2114273"/>
            <a:ext cx="10441160" cy="1730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cs typeface="+mn-ea"/>
              </a:rPr>
              <a:t>胶囊式导航组件</a:t>
            </a:r>
            <a:r>
              <a:rPr lang="zh-CN" altLang="en-US" sz="2000" dirty="0">
                <a:solidFill>
                  <a:srgbClr val="595959"/>
                </a:solidFill>
                <a:latin typeface="微软雅黑" panose="020B0503020204020204" pitchFamily="34" charset="-122"/>
                <a:ea typeface="微软雅黑" panose="020B0503020204020204" pitchFamily="34" charset="-122"/>
                <a:cs typeface="+mn-ea"/>
              </a:rPr>
              <a:t>与</a:t>
            </a:r>
            <a:r>
              <a:rPr lang="zh-CN" altLang="en-US" sz="2000" dirty="0">
                <a:solidFill>
                  <a:srgbClr val="1369B2"/>
                </a:solidFill>
                <a:latin typeface="微软雅黑" panose="020B0503020204020204" pitchFamily="34" charset="-122"/>
                <a:ea typeface="微软雅黑" panose="020B0503020204020204" pitchFamily="34" charset="-122"/>
                <a:cs typeface="+mn-ea"/>
              </a:rPr>
              <a:t>标签式导航组件</a:t>
            </a:r>
            <a:r>
              <a:rPr lang="zh-CN" altLang="en-US" sz="2000" dirty="0">
                <a:solidFill>
                  <a:srgbClr val="595959"/>
                </a:solidFill>
                <a:latin typeface="微软雅黑" panose="020B0503020204020204" pitchFamily="34" charset="-122"/>
                <a:ea typeface="微软雅黑" panose="020B0503020204020204" pitchFamily="34" charset="-122"/>
                <a:cs typeface="+mn-ea"/>
              </a:rPr>
              <a:t>的</a:t>
            </a:r>
            <a:r>
              <a:rPr lang="zh-CN" altLang="en-US" sz="2000" dirty="0">
                <a:solidFill>
                  <a:srgbClr val="1369B2"/>
                </a:solidFill>
                <a:latin typeface="微软雅黑" panose="020B0503020204020204" pitchFamily="34" charset="-122"/>
                <a:ea typeface="微软雅黑" panose="020B0503020204020204" pitchFamily="34" charset="-122"/>
                <a:cs typeface="+mn-ea"/>
              </a:rPr>
              <a:t>区别</a:t>
            </a:r>
            <a:r>
              <a:rPr lang="zh-CN" altLang="en-US" sz="2000" dirty="0">
                <a:solidFill>
                  <a:srgbClr val="595959"/>
                </a:solidFill>
                <a:latin typeface="微软雅黑" panose="020B0503020204020204" pitchFamily="34" charset="-122"/>
                <a:ea typeface="微软雅黑" panose="020B0503020204020204" pitchFamily="34" charset="-122"/>
                <a:cs typeface="+mn-ea"/>
              </a:rPr>
              <a:t>：都能实现</a:t>
            </a:r>
            <a:r>
              <a:rPr lang="zh-CN" altLang="en-US" sz="2000" dirty="0">
                <a:solidFill>
                  <a:srgbClr val="1369B2"/>
                </a:solidFill>
                <a:latin typeface="微软雅黑" panose="020B0503020204020204" pitchFamily="34" charset="-122"/>
                <a:ea typeface="微软雅黑" panose="020B0503020204020204" pitchFamily="34" charset="-122"/>
                <a:cs typeface="+mn-ea"/>
              </a:rPr>
              <a:t>标签页切换</a:t>
            </a:r>
            <a:r>
              <a:rPr lang="zh-CN" altLang="en-US" sz="2000" dirty="0">
                <a:solidFill>
                  <a:srgbClr val="595959"/>
                </a:solidFill>
                <a:latin typeface="微软雅黑" panose="020B0503020204020204" pitchFamily="34" charset="-122"/>
                <a:ea typeface="微软雅黑" panose="020B0503020204020204" pitchFamily="34" charset="-122"/>
                <a:cs typeface="+mn-ea"/>
              </a:rPr>
              <a:t>功能，区别在于两种导航的</a:t>
            </a:r>
            <a:r>
              <a:rPr lang="zh-CN" altLang="en-US" sz="2000" dirty="0">
                <a:solidFill>
                  <a:srgbClr val="1369B2"/>
                </a:solidFill>
                <a:latin typeface="微软雅黑" panose="020B0503020204020204" pitchFamily="34" charset="-122"/>
                <a:ea typeface="微软雅黑" panose="020B0503020204020204" pitchFamily="34" charset="-122"/>
                <a:cs typeface="+mn-ea"/>
              </a:rPr>
              <a:t>样式</a:t>
            </a:r>
            <a:r>
              <a:rPr lang="zh-CN" altLang="en-US" sz="2000" dirty="0">
                <a:solidFill>
                  <a:srgbClr val="595959"/>
                </a:solidFill>
                <a:latin typeface="微软雅黑" panose="020B0503020204020204" pitchFamily="34" charset="-122"/>
                <a:ea typeface="微软雅黑" panose="020B0503020204020204" pitchFamily="34" charset="-122"/>
                <a:cs typeface="+mn-ea"/>
              </a:rPr>
              <a:t>不同。胶囊式导航的形状类似胶囊，看起来更加美观。</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marL="342900" indent="-342900">
              <a:lnSpc>
                <a:spcPct val="150000"/>
              </a:lnSpc>
              <a:buFont typeface="Wingdings" panose="05000000000000000000" pitchFamily="2" charset="2"/>
              <a:buChar char="l"/>
            </a:pPr>
            <a:endParaRPr lang="en-US" altLang="zh-CN" sz="12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cs typeface="+mn-ea"/>
              </a:rPr>
              <a:t>胶囊式导航的使用：</a:t>
            </a:r>
            <a:r>
              <a:rPr lang="zh-CN" altLang="en-US" sz="2000" dirty="0">
                <a:solidFill>
                  <a:srgbClr val="595959"/>
                </a:solidFill>
                <a:latin typeface="微软雅黑" panose="020B0503020204020204" pitchFamily="34" charset="-122"/>
                <a:ea typeface="微软雅黑" panose="020B0503020204020204" pitchFamily="34" charset="-122"/>
                <a:cs typeface="+mn-ea"/>
              </a:rPr>
              <a:t>给外层的</a:t>
            </a:r>
            <a:r>
              <a:rPr lang="en-US" altLang="zh-CN" sz="2000" dirty="0">
                <a:solidFill>
                  <a:srgbClr val="1369B2"/>
                </a:solidFill>
                <a:latin typeface="微软雅黑" panose="020B0503020204020204" pitchFamily="34" charset="-122"/>
                <a:ea typeface="微软雅黑" panose="020B0503020204020204" pitchFamily="34" charset="-122"/>
                <a:cs typeface="+mn-ea"/>
              </a:rPr>
              <a:t>&lt;ul&gt;</a:t>
            </a:r>
            <a:r>
              <a:rPr lang="zh-CN" altLang="en-US" sz="2000" dirty="0">
                <a:solidFill>
                  <a:srgbClr val="1369B2"/>
                </a:solidFill>
                <a:latin typeface="微软雅黑" panose="020B0503020204020204" pitchFamily="34" charset="-122"/>
                <a:ea typeface="微软雅黑" panose="020B0503020204020204" pitchFamily="34" charset="-122"/>
                <a:cs typeface="+mn-ea"/>
              </a:rPr>
              <a:t>标签</a:t>
            </a:r>
            <a:r>
              <a:rPr lang="zh-CN" altLang="en-US" sz="2000" dirty="0">
                <a:solidFill>
                  <a:srgbClr val="595959"/>
                </a:solidFill>
                <a:latin typeface="微软雅黑" panose="020B0503020204020204" pitchFamily="34" charset="-122"/>
                <a:ea typeface="微软雅黑" panose="020B0503020204020204" pitchFamily="34" charset="-122"/>
                <a:cs typeface="+mn-ea"/>
              </a:rPr>
              <a:t>设置</a:t>
            </a:r>
            <a:r>
              <a:rPr lang="en-US" altLang="zh-CN" sz="2000" dirty="0">
                <a:solidFill>
                  <a:srgbClr val="1369B2"/>
                </a:solidFill>
                <a:latin typeface="微软雅黑" panose="020B0503020204020204" pitchFamily="34" charset="-122"/>
                <a:ea typeface="微软雅黑" panose="020B0503020204020204" pitchFamily="34" charset="-122"/>
                <a:cs typeface="+mn-ea"/>
              </a:rPr>
              <a:t>nav-pills</a:t>
            </a:r>
            <a:r>
              <a:rPr lang="zh-CN" altLang="en-US" sz="2000" dirty="0">
                <a:solidFill>
                  <a:srgbClr val="1369B2"/>
                </a:solidFill>
                <a:latin typeface="微软雅黑" panose="020B0503020204020204" pitchFamily="34" charset="-122"/>
                <a:ea typeface="微软雅黑" panose="020B0503020204020204" pitchFamily="34" charset="-122"/>
                <a:cs typeface="+mn-ea"/>
              </a:rPr>
              <a:t>类名</a:t>
            </a:r>
            <a:r>
              <a:rPr lang="zh-CN" altLang="en-US" sz="2000" dirty="0">
                <a:solidFill>
                  <a:srgbClr val="595959"/>
                </a:solidFill>
                <a:latin typeface="微软雅黑" panose="020B0503020204020204" pitchFamily="34" charset="-122"/>
                <a:ea typeface="微软雅黑" panose="020B0503020204020204" pitchFamily="34" charset="-122"/>
                <a:cs typeface="+mn-ea"/>
              </a:rPr>
              <a:t>即可。</a:t>
            </a: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 name="TextBox 76"/>
          <p:cNvSpPr txBox="1"/>
          <p:nvPr/>
        </p:nvSpPr>
        <p:spPr>
          <a:xfrm>
            <a:off x="1024656" y="1322185"/>
            <a:ext cx="2694286"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胶囊式</a:t>
            </a:r>
            <a:r>
              <a:rPr lang="zh-CN" altLang="en-US" b="1"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导航组件</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6.1.3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胶囊式</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导航</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组件</a:t>
            </a:r>
          </a:p>
        </p:txBody>
      </p:sp>
    </p:spTree>
    <p:extLst>
      <p:ext uri="{BB962C8B-B14F-4D97-AF65-F5344CB8AC3E}">
        <p14:creationId xmlns:p14="http://schemas.microsoft.com/office/powerpoint/2010/main" val="32891684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EF12CC22-E727-48E4-9118-C671B58B051B}"/>
              </a:ext>
            </a:extLst>
          </p:cNvPr>
          <p:cNvSpPr txBox="1"/>
          <p:nvPr/>
        </p:nvSpPr>
        <p:spPr>
          <a:xfrm>
            <a:off x="910630" y="1269554"/>
            <a:ext cx="9992075" cy="961289"/>
          </a:xfrm>
          <a:prstGeom prst="rect">
            <a:avLst/>
          </a:prstGeom>
          <a:noFill/>
        </p:spPr>
        <p:txBody>
          <a:bodyPr wrap="square" rtlCol="0">
            <a:spAutoFit/>
          </a:body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修改</a:t>
            </a:r>
            <a:r>
              <a:rPr lang="en-US" altLang="zh-CN" sz="2000" dirty="0">
                <a:solidFill>
                  <a:srgbClr val="595959"/>
                </a:solidFill>
                <a:latin typeface="微软雅黑" panose="020B0503020204020204" pitchFamily="34" charset="-122"/>
                <a:ea typeface="微软雅黑" panose="020B0503020204020204" pitchFamily="34" charset="-122"/>
              </a:rPr>
              <a:t>demo02.html</a:t>
            </a:r>
            <a:r>
              <a:rPr lang="zh-CN" altLang="en-US" sz="2000" dirty="0">
                <a:solidFill>
                  <a:srgbClr val="595959"/>
                </a:solidFill>
                <a:latin typeface="微软雅黑" panose="020B0503020204020204" pitchFamily="34" charset="-122"/>
                <a:ea typeface="微软雅黑" panose="020B0503020204020204" pitchFamily="34" charset="-122"/>
              </a:rPr>
              <a:t>文件，将</a:t>
            </a:r>
            <a:r>
              <a:rPr lang="en-US" altLang="zh-CN" sz="2000" dirty="0">
                <a:solidFill>
                  <a:srgbClr val="595959"/>
                </a:solidFill>
                <a:latin typeface="微软雅黑" panose="020B0503020204020204" pitchFamily="34" charset="-122"/>
                <a:ea typeface="微软雅黑" panose="020B0503020204020204" pitchFamily="34" charset="-122"/>
              </a:rPr>
              <a:t>&lt;ul&gt;</a:t>
            </a:r>
            <a:r>
              <a:rPr lang="zh-CN" altLang="en-US" sz="2000" dirty="0">
                <a:solidFill>
                  <a:srgbClr val="595959"/>
                </a:solidFill>
                <a:latin typeface="微软雅黑" panose="020B0503020204020204" pitchFamily="34" charset="-122"/>
                <a:ea typeface="微软雅黑" panose="020B0503020204020204" pitchFamily="34" charset="-122"/>
              </a:rPr>
              <a:t>标签的</a:t>
            </a:r>
            <a:r>
              <a:rPr lang="zh-CN" altLang="en-US" sz="2000" dirty="0">
                <a:solidFill>
                  <a:srgbClr val="1369B2"/>
                </a:solidFill>
                <a:latin typeface="微软雅黑" panose="020B0503020204020204" pitchFamily="34" charset="-122"/>
                <a:ea typeface="微软雅黑" panose="020B0503020204020204" pitchFamily="34" charset="-122"/>
              </a:rPr>
              <a:t>类名</a:t>
            </a:r>
            <a:r>
              <a:rPr lang="en-US" altLang="zh-CN" sz="2000" dirty="0">
                <a:solidFill>
                  <a:srgbClr val="595959"/>
                </a:solidFill>
                <a:latin typeface="微软雅黑" panose="020B0503020204020204" pitchFamily="34" charset="-122"/>
                <a:ea typeface="微软雅黑" panose="020B0503020204020204" pitchFamily="34" charset="-122"/>
              </a:rPr>
              <a:t>nav-tabs</a:t>
            </a:r>
            <a:r>
              <a:rPr lang="zh-CN" altLang="en-US" sz="2000" dirty="0">
                <a:solidFill>
                  <a:srgbClr val="595959"/>
                </a:solidFill>
                <a:latin typeface="微软雅黑" panose="020B0503020204020204" pitchFamily="34" charset="-122"/>
                <a:ea typeface="微软雅黑" panose="020B0503020204020204" pitchFamily="34" charset="-122"/>
              </a:rPr>
              <a:t>改为</a:t>
            </a:r>
            <a:r>
              <a:rPr lang="en-US" altLang="zh-CN" sz="2000" dirty="0" err="1">
                <a:solidFill>
                  <a:srgbClr val="1369B2"/>
                </a:solidFill>
                <a:latin typeface="微软雅黑" panose="020B0503020204020204" pitchFamily="34" charset="-122"/>
                <a:ea typeface="微软雅黑" panose="020B0503020204020204" pitchFamily="34" charset="-122"/>
              </a:rPr>
              <a:t>nav</a:t>
            </a:r>
            <a:r>
              <a:rPr lang="en-US" altLang="zh-CN" sz="2000" dirty="0">
                <a:solidFill>
                  <a:srgbClr val="1369B2"/>
                </a:solidFill>
                <a:latin typeface="微软雅黑" panose="020B0503020204020204" pitchFamily="34" charset="-122"/>
                <a:ea typeface="微软雅黑" panose="020B0503020204020204" pitchFamily="34" charset="-122"/>
              </a:rPr>
              <a:t>-pills</a:t>
            </a:r>
            <a:r>
              <a:rPr lang="zh-CN" altLang="en-US" sz="2000" dirty="0" smtClean="0">
                <a:solidFill>
                  <a:srgbClr val="595959"/>
                </a:solidFill>
                <a:latin typeface="微软雅黑" panose="020B0503020204020204" pitchFamily="34" charset="-122"/>
                <a:ea typeface="微软雅黑" panose="020B0503020204020204" pitchFamily="34" charset="-122"/>
              </a:rPr>
              <a:t>。</a:t>
            </a:r>
            <a:endParaRPr lang="en-US" altLang="zh-CN" sz="2000" dirty="0" smtClean="0">
              <a:solidFill>
                <a:srgbClr val="595959"/>
              </a:solidFill>
              <a:latin typeface="微软雅黑" panose="020B0503020204020204" pitchFamily="34" charset="-122"/>
              <a:ea typeface="微软雅黑" panose="020B0503020204020204" pitchFamily="34" charset="-122"/>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在</a:t>
            </a:r>
            <a:r>
              <a:rPr lang="zh-CN" altLang="en-US" sz="2000" dirty="0">
                <a:solidFill>
                  <a:srgbClr val="595959"/>
                </a:solidFill>
                <a:latin typeface="微软雅黑" panose="020B0503020204020204" pitchFamily="34" charset="-122"/>
                <a:ea typeface="微软雅黑" panose="020B0503020204020204" pitchFamily="34" charset="-122"/>
              </a:rPr>
              <a:t>浏览器中访问</a:t>
            </a:r>
            <a:r>
              <a:rPr lang="en-US" altLang="zh-CN" sz="2000" dirty="0">
                <a:solidFill>
                  <a:srgbClr val="595959"/>
                </a:solidFill>
                <a:latin typeface="微软雅黑" panose="020B0503020204020204" pitchFamily="34" charset="-122"/>
                <a:ea typeface="微软雅黑" panose="020B0503020204020204" pitchFamily="34" charset="-122"/>
              </a:rPr>
              <a:t>demo02.html</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1369B2"/>
                </a:solidFill>
                <a:latin typeface="微软雅黑" panose="020B0503020204020204" pitchFamily="34" charset="-122"/>
                <a:ea typeface="微软雅黑" panose="020B0503020204020204" pitchFamily="34" charset="-122"/>
              </a:rPr>
              <a:t>胶囊式导航</a:t>
            </a:r>
            <a:r>
              <a:rPr lang="zh-CN" altLang="en-US" sz="2000" dirty="0">
                <a:solidFill>
                  <a:srgbClr val="595959"/>
                </a:solidFill>
                <a:latin typeface="微软雅黑" panose="020B0503020204020204" pitchFamily="34" charset="-122"/>
                <a:ea typeface="微软雅黑" panose="020B0503020204020204" pitchFamily="34" charset="-122"/>
              </a:rPr>
              <a:t>的页面效果如图。</a:t>
            </a:r>
          </a:p>
        </p:txBody>
      </p:sp>
      <p:pic>
        <p:nvPicPr>
          <p:cNvPr id="1026" name="图片 1">
            <a:extLst>
              <a:ext uri="{FF2B5EF4-FFF2-40B4-BE49-F238E27FC236}">
                <a16:creationId xmlns:a16="http://schemas.microsoft.com/office/drawing/2014/main" id="{DDF6FFC4-6D76-4BB8-BE92-2BC43A0CE8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3483" y="2637706"/>
            <a:ext cx="4366368" cy="1610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6.1.3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胶囊式</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导航</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组件</a:t>
            </a:r>
          </a:p>
        </p:txBody>
      </p:sp>
    </p:spTree>
    <p:extLst>
      <p:ext uri="{BB962C8B-B14F-4D97-AF65-F5344CB8AC3E}">
        <p14:creationId xmlns:p14="http://schemas.microsoft.com/office/powerpoint/2010/main" val="39250626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7"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815965" y="3576722"/>
            <a:ext cx="5429568" cy="1231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sz="24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面包屑导航</a:t>
            </a:r>
            <a:r>
              <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，能够创建面包屑导航</a:t>
            </a:r>
            <a:r>
              <a:rPr lang="zh-CN" altLang="en-US" sz="2400"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页面</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6.1.4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面包屑</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导航组件</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0252146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5"/>
          <p:cNvSpPr txBox="1">
            <a:spLocks noChangeArrowheads="1"/>
          </p:cNvSpPr>
          <p:nvPr/>
        </p:nvSpPr>
        <p:spPr bwMode="auto">
          <a:xfrm>
            <a:off x="994466" y="2114273"/>
            <a:ext cx="10441160" cy="288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342900" indent="-342900">
              <a:lnSpc>
                <a:spcPct val="150000"/>
              </a:lnSpc>
              <a:buFont typeface="Wingdings" panose="05000000000000000000" pitchFamily="2" charset="2"/>
              <a:buChar char="l"/>
            </a:pPr>
            <a:r>
              <a:rPr lang="zh-CN" altLang="en-US" sz="2000" dirty="0">
                <a:solidFill>
                  <a:srgbClr val="1369B2"/>
                </a:solidFill>
                <a:latin typeface="微软雅黑" panose="020B0503020204020204" pitchFamily="34" charset="-122"/>
                <a:ea typeface="微软雅黑" panose="020B0503020204020204" pitchFamily="34" charset="-122"/>
                <a:cs typeface="+mn-ea"/>
              </a:rPr>
              <a:t>面包屑导航的由来：</a:t>
            </a:r>
            <a:r>
              <a:rPr lang="zh-CN" altLang="en-US" sz="2000" dirty="0">
                <a:solidFill>
                  <a:srgbClr val="595959"/>
                </a:solidFill>
                <a:latin typeface="微软雅黑" panose="020B0503020204020204" pitchFamily="34" charset="-122"/>
                <a:ea typeface="微软雅黑" panose="020B0503020204020204" pitchFamily="34" charset="-122"/>
                <a:cs typeface="+mn-ea"/>
              </a:rPr>
              <a:t>面包屑导航的概念来自童话故事</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en-US" sz="2000" dirty="0">
                <a:solidFill>
                  <a:srgbClr val="595959"/>
                </a:solidFill>
                <a:latin typeface="微软雅黑" panose="020B0503020204020204" pitchFamily="34" charset="-122"/>
                <a:ea typeface="微软雅黑" panose="020B0503020204020204" pitchFamily="34" charset="-122"/>
                <a:cs typeface="+mn-ea"/>
              </a:rPr>
              <a:t>汉赛尔与格莱特</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en-US" sz="2000" dirty="0">
                <a:solidFill>
                  <a:srgbClr val="595959"/>
                </a:solidFill>
                <a:latin typeface="微软雅黑" panose="020B0503020204020204" pitchFamily="34" charset="-122"/>
                <a:ea typeface="微软雅黑" panose="020B0503020204020204" pitchFamily="34" charset="-122"/>
                <a:cs typeface="+mn-ea"/>
              </a:rPr>
              <a:t>。在故事中，汉赛尔为了防止在森林里迷路，他在沿途走过的地方撒下了面包屑，沿着面包屑就可以找到回家的路。</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marL="342900" indent="-342900">
              <a:lnSpc>
                <a:spcPct val="150000"/>
              </a:lnSpc>
              <a:buFont typeface="Wingdings" panose="05000000000000000000" pitchFamily="2" charset="2"/>
              <a:buChar char="l"/>
            </a:pPr>
            <a:endParaRPr lang="en-US" altLang="zh-CN" sz="1100" dirty="0">
              <a:solidFill>
                <a:srgbClr val="595959"/>
              </a:solidFill>
              <a:latin typeface="微软雅黑" panose="020B0503020204020204" pitchFamily="34" charset="-122"/>
              <a:ea typeface="微软雅黑" panose="020B0503020204020204" pitchFamily="34" charset="-122"/>
              <a:cs typeface="+mn-ea"/>
            </a:endParaRPr>
          </a:p>
          <a:p>
            <a:pPr marL="342900" indent="-342900">
              <a:lnSpc>
                <a:spcPct val="150000"/>
              </a:lnSpc>
              <a:buFont typeface="Wingdings" panose="05000000000000000000" pitchFamily="2" charset="2"/>
              <a:buChar char="l"/>
            </a:pPr>
            <a:r>
              <a:rPr lang="zh-CN" altLang="en-US" sz="2000" dirty="0">
                <a:solidFill>
                  <a:srgbClr val="1369B2"/>
                </a:solidFill>
                <a:latin typeface="微软雅黑" panose="020B0503020204020204" pitchFamily="34" charset="-122"/>
                <a:ea typeface="微软雅黑" panose="020B0503020204020204" pitchFamily="34" charset="-122"/>
                <a:cs typeface="+mn-ea"/>
              </a:rPr>
              <a:t>网页中面包屑导航的作用：</a:t>
            </a:r>
            <a:r>
              <a:rPr lang="zh-CN" altLang="en-US" sz="2000" dirty="0">
                <a:solidFill>
                  <a:srgbClr val="595959"/>
                </a:solidFill>
                <a:latin typeface="微软雅黑" panose="020B0503020204020204" pitchFamily="34" charset="-122"/>
                <a:ea typeface="微软雅黑" panose="020B0503020204020204" pitchFamily="34" charset="-122"/>
                <a:cs typeface="+mn-ea"/>
              </a:rPr>
              <a:t>告诉访问者</a:t>
            </a:r>
            <a:r>
              <a:rPr lang="zh-CN" altLang="en-US" sz="2000" dirty="0">
                <a:solidFill>
                  <a:srgbClr val="1369B2"/>
                </a:solidFill>
                <a:latin typeface="微软雅黑" panose="020B0503020204020204" pitchFamily="34" charset="-122"/>
                <a:ea typeface="微软雅黑" panose="020B0503020204020204" pitchFamily="34" charset="-122"/>
                <a:cs typeface="+mn-ea"/>
              </a:rPr>
              <a:t>当前</a:t>
            </a:r>
            <a:r>
              <a:rPr lang="zh-CN" altLang="en-US" sz="2000" dirty="0">
                <a:solidFill>
                  <a:srgbClr val="595959"/>
                </a:solidFill>
                <a:latin typeface="微软雅黑" panose="020B0503020204020204" pitchFamily="34" charset="-122"/>
                <a:ea typeface="微软雅黑" panose="020B0503020204020204" pitchFamily="34" charset="-122"/>
                <a:cs typeface="+mn-ea"/>
              </a:rPr>
              <a:t>网页所处的</a:t>
            </a:r>
            <a:r>
              <a:rPr lang="zh-CN" altLang="en-US" sz="2000" dirty="0">
                <a:solidFill>
                  <a:srgbClr val="1369B2"/>
                </a:solidFill>
                <a:latin typeface="微软雅黑" panose="020B0503020204020204" pitchFamily="34" charset="-122"/>
                <a:ea typeface="微软雅黑" panose="020B0503020204020204" pitchFamily="34" charset="-122"/>
                <a:cs typeface="+mn-ea"/>
              </a:rPr>
              <a:t>位置</a:t>
            </a:r>
            <a:r>
              <a:rPr lang="zh-CN" altLang="en-US" sz="2000" dirty="0">
                <a:solidFill>
                  <a:srgbClr val="595959"/>
                </a:solidFill>
                <a:latin typeface="微软雅黑" panose="020B0503020204020204" pitchFamily="34" charset="-122"/>
                <a:ea typeface="微软雅黑" panose="020B0503020204020204" pitchFamily="34" charset="-122"/>
                <a:cs typeface="+mn-ea"/>
              </a:rPr>
              <a:t>以及</a:t>
            </a:r>
            <a:r>
              <a:rPr lang="zh-CN" altLang="en-US" sz="2000" dirty="0">
                <a:solidFill>
                  <a:srgbClr val="1369B2"/>
                </a:solidFill>
                <a:latin typeface="微软雅黑" panose="020B0503020204020204" pitchFamily="34" charset="-122"/>
                <a:ea typeface="微软雅黑" panose="020B0503020204020204" pitchFamily="34" charset="-122"/>
                <a:cs typeface="+mn-ea"/>
              </a:rPr>
              <a:t>如何返回</a:t>
            </a:r>
            <a:r>
              <a:rPr lang="zh-CN" altLang="en-US" sz="2000" dirty="0">
                <a:solidFill>
                  <a:srgbClr val="595959"/>
                </a:solidFill>
                <a:latin typeface="微软雅黑" panose="020B0503020204020204" pitchFamily="34" charset="-122"/>
                <a:ea typeface="微软雅黑" panose="020B0503020204020204" pitchFamily="34" charset="-122"/>
                <a:cs typeface="+mn-ea"/>
              </a:rPr>
              <a:t>。</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marL="342900" indent="-342900">
              <a:lnSpc>
                <a:spcPct val="150000"/>
              </a:lnSpc>
              <a:buFont typeface="Wingdings" panose="05000000000000000000" pitchFamily="2" charset="2"/>
              <a:buChar char="l"/>
            </a:pPr>
            <a:endParaRPr lang="zh-CN" altLang="en-US" sz="1050" dirty="0">
              <a:solidFill>
                <a:srgbClr val="1369B2"/>
              </a:solidFill>
              <a:latin typeface="微软雅黑" panose="020B0503020204020204" pitchFamily="34" charset="-122"/>
              <a:ea typeface="微软雅黑" panose="020B0503020204020204" pitchFamily="34" charset="-122"/>
              <a:cs typeface="+mn-ea"/>
            </a:endParaRPr>
          </a:p>
          <a:p>
            <a:pPr marL="342900" indent="-342900">
              <a:lnSpc>
                <a:spcPct val="150000"/>
              </a:lnSpc>
              <a:buFont typeface="Wingdings" panose="05000000000000000000" pitchFamily="2" charset="2"/>
              <a:buChar char="l"/>
            </a:pPr>
            <a:r>
              <a:rPr lang="en-US" altLang="zh-CN" sz="2000" dirty="0">
                <a:solidFill>
                  <a:srgbClr val="1369B2"/>
                </a:solidFill>
                <a:latin typeface="微软雅黑" panose="020B0503020204020204" pitchFamily="34" charset="-122"/>
                <a:ea typeface="微软雅黑" panose="020B0503020204020204" pitchFamily="34" charset="-122"/>
                <a:cs typeface="+mn-ea"/>
              </a:rPr>
              <a:t>Bootstrap</a:t>
            </a:r>
            <a:r>
              <a:rPr lang="zh-CN" altLang="en-US" sz="2000" dirty="0">
                <a:solidFill>
                  <a:srgbClr val="595959"/>
                </a:solidFill>
                <a:latin typeface="微软雅黑" panose="020B0503020204020204" pitchFamily="34" charset="-122"/>
                <a:ea typeface="微软雅黑" panose="020B0503020204020204" pitchFamily="34" charset="-122"/>
                <a:cs typeface="+mn-ea"/>
              </a:rPr>
              <a:t>中的</a:t>
            </a:r>
            <a:r>
              <a:rPr lang="zh-CN" altLang="en-US" sz="2000" dirty="0">
                <a:solidFill>
                  <a:srgbClr val="1369B2"/>
                </a:solidFill>
                <a:latin typeface="微软雅黑" panose="020B0503020204020204" pitchFamily="34" charset="-122"/>
                <a:ea typeface="微软雅黑" panose="020B0503020204020204" pitchFamily="34" charset="-122"/>
                <a:cs typeface="+mn-ea"/>
              </a:rPr>
              <a:t>面包屑导航</a:t>
            </a:r>
            <a:r>
              <a:rPr lang="zh-CN" altLang="en-US" sz="2000" dirty="0">
                <a:solidFill>
                  <a:srgbClr val="595959"/>
                </a:solidFill>
                <a:latin typeface="微软雅黑" panose="020B0503020204020204" pitchFamily="34" charset="-122"/>
                <a:ea typeface="微软雅黑" panose="020B0503020204020204" pitchFamily="34" charset="-122"/>
                <a:cs typeface="+mn-ea"/>
              </a:rPr>
              <a:t>通过</a:t>
            </a:r>
            <a:r>
              <a:rPr lang="en-US" altLang="zh-CN" sz="2000" dirty="0">
                <a:solidFill>
                  <a:srgbClr val="1369B2"/>
                </a:solidFill>
                <a:latin typeface="微软雅黑" panose="020B0503020204020204" pitchFamily="34" charset="-122"/>
                <a:ea typeface="微软雅黑" panose="020B0503020204020204" pitchFamily="34" charset="-122"/>
                <a:cs typeface="+mn-ea"/>
              </a:rPr>
              <a:t>.breadcrumb</a:t>
            </a:r>
            <a:r>
              <a:rPr lang="zh-CN" altLang="en-US"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.breadcrumb-item</a:t>
            </a:r>
            <a:r>
              <a:rPr lang="zh-CN" altLang="en-US" sz="2000" dirty="0">
                <a:solidFill>
                  <a:srgbClr val="1369B2"/>
                </a:solidFill>
                <a:latin typeface="微软雅黑" panose="020B0503020204020204" pitchFamily="34" charset="-122"/>
                <a:ea typeface="微软雅黑" panose="020B0503020204020204" pitchFamily="34" charset="-122"/>
                <a:cs typeface="+mn-ea"/>
              </a:rPr>
              <a:t>类</a:t>
            </a:r>
            <a:r>
              <a:rPr lang="zh-CN" altLang="en-US" sz="2000" dirty="0">
                <a:solidFill>
                  <a:srgbClr val="595959"/>
                </a:solidFill>
                <a:latin typeface="微软雅黑" panose="020B0503020204020204" pitchFamily="34" charset="-122"/>
                <a:ea typeface="微软雅黑" panose="020B0503020204020204" pitchFamily="34" charset="-122"/>
                <a:cs typeface="+mn-ea"/>
              </a:rPr>
              <a:t>实现。</a:t>
            </a: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 name="TextBox 76"/>
          <p:cNvSpPr txBox="1"/>
          <p:nvPr/>
        </p:nvSpPr>
        <p:spPr>
          <a:xfrm>
            <a:off x="1024656" y="1322185"/>
            <a:ext cx="2550270"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面包屑</a:t>
            </a:r>
            <a:r>
              <a:rPr lang="zh-CN" altLang="en-US" b="1"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导航组件</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6.1.4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面包屑</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导航组件</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40250222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5">
            <a:extLst>
              <a:ext uri="{FF2B5EF4-FFF2-40B4-BE49-F238E27FC236}">
                <a16:creationId xmlns:a16="http://schemas.microsoft.com/office/drawing/2014/main" id="{8AE76B2E-94FA-451B-99EF-A3C39D8A25D4}"/>
              </a:ext>
            </a:extLst>
          </p:cNvPr>
          <p:cNvSpPr txBox="1">
            <a:spLocks noChangeArrowheads="1"/>
          </p:cNvSpPr>
          <p:nvPr/>
        </p:nvSpPr>
        <p:spPr bwMode="auto">
          <a:xfrm>
            <a:off x="994466" y="1269554"/>
            <a:ext cx="10441160" cy="584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实现</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面包屑导航</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页面，效果如图：</a:t>
            </a:r>
          </a:p>
        </p:txBody>
      </p:sp>
      <p:pic>
        <p:nvPicPr>
          <p:cNvPr id="11" name="图片 1">
            <a:extLst>
              <a:ext uri="{FF2B5EF4-FFF2-40B4-BE49-F238E27FC236}">
                <a16:creationId xmlns:a16="http://schemas.microsoft.com/office/drawing/2014/main" id="{FF682923-F3CE-4DE7-992D-1EDDB1969E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5338" y="2061642"/>
            <a:ext cx="5564086" cy="1656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6.1.4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面包屑</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导航组件</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9667406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83AC20C6-8630-496F-8BEE-FE67057070D4}"/>
              </a:ext>
            </a:extLst>
          </p:cNvPr>
          <p:cNvSpPr txBox="1"/>
          <p:nvPr/>
        </p:nvSpPr>
        <p:spPr>
          <a:xfrm>
            <a:off x="3059949" y="2342620"/>
            <a:ext cx="7787785" cy="4111510"/>
          </a:xfrm>
          <a:prstGeom prst="rect">
            <a:avLst/>
          </a:prstGeom>
          <a:solidFill>
            <a:srgbClr val="F2F2F2"/>
          </a:solidFill>
        </p:spPr>
        <p:txBody>
          <a:bodyPr wrap="square">
            <a:spAutoFit/>
          </a:bodyPr>
          <a:lstStyle/>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&lt;!DOCTYPE html&gt;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&lt;html&gt;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&lt;head&gt;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&lt;meta charset="UTF-8"&gt;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&lt;meta name="viewport" content="width=device-width, initial-scale=1.0"&gt;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&lt;title&gt;Document&lt;/title&gt;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&lt;link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rel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="stylesheet"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="bootstrap-4.6.0-dist/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css</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/bootstrap.min.css"&gt;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&lt;/head&gt;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&lt;body&gt;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&lt;/body&gt;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&lt;/html&gt;</a:t>
            </a:r>
          </a:p>
        </p:txBody>
      </p:sp>
      <p:grpSp>
        <p:nvGrpSpPr>
          <p:cNvPr id="9" name="组合 8">
            <a:extLst>
              <a:ext uri="{FF2B5EF4-FFF2-40B4-BE49-F238E27FC236}">
                <a16:creationId xmlns:a16="http://schemas.microsoft.com/office/drawing/2014/main" id="{A572FBBE-CAFE-4ACA-A2BE-18AF7BB24AAF}"/>
              </a:ext>
            </a:extLst>
          </p:cNvPr>
          <p:cNvGrpSpPr/>
          <p:nvPr/>
        </p:nvGrpSpPr>
        <p:grpSpPr>
          <a:xfrm>
            <a:off x="1143690" y="1152646"/>
            <a:ext cx="1747943" cy="773218"/>
            <a:chOff x="961390" y="2294944"/>
            <a:chExt cx="1747943" cy="773218"/>
          </a:xfrm>
        </p:grpSpPr>
        <p:sp>
          <p:nvSpPr>
            <p:cNvPr id="10" name="圆角矩形 4">
              <a:extLst>
                <a:ext uri="{FF2B5EF4-FFF2-40B4-BE49-F238E27FC236}">
                  <a16:creationId xmlns:a16="http://schemas.microsoft.com/office/drawing/2014/main" id="{CDD18056-555A-4BE9-82BB-444DA5BD33BC}"/>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1" name="文本框 10">
              <a:extLst>
                <a:ext uri="{FF2B5EF4-FFF2-40B4-BE49-F238E27FC236}">
                  <a16:creationId xmlns:a16="http://schemas.microsoft.com/office/drawing/2014/main" id="{A2BBEFDF-A3BB-4734-B8AB-7313B33D760E}"/>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01</a:t>
              </a:r>
            </a:p>
          </p:txBody>
        </p:sp>
      </p:grpSp>
      <p:sp>
        <p:nvSpPr>
          <p:cNvPr id="13" name="1">
            <a:extLst>
              <a:ext uri="{FF2B5EF4-FFF2-40B4-BE49-F238E27FC236}">
                <a16:creationId xmlns:a16="http://schemas.microsoft.com/office/drawing/2014/main" id="{E731EE78-15F3-4ED1-8765-78C87D3226C1}"/>
              </a:ext>
            </a:extLst>
          </p:cNvPr>
          <p:cNvSpPr txBox="1"/>
          <p:nvPr>
            <p:custDataLst>
              <p:tags r:id="rId1"/>
            </p:custDataLst>
          </p:nvPr>
        </p:nvSpPr>
        <p:spPr>
          <a:xfrm>
            <a:off x="3017371" y="1053530"/>
            <a:ext cx="8722842" cy="1107996"/>
          </a:xfrm>
          <a:prstGeom prst="rect">
            <a:avLst/>
          </a:prstGeom>
          <a:noFill/>
          <a:ln>
            <a:noFill/>
          </a:ln>
        </p:spPr>
        <p:txBody>
          <a:bodyPr wrap="square" rtlCol="0">
            <a:spAutoFit/>
          </a:bodyPr>
          <a:lstStyle/>
          <a:p>
            <a:pPr lvl="0" defTabSz="457200">
              <a:lnSpc>
                <a:spcPct val="150000"/>
              </a:lnSpc>
              <a:defRPr/>
            </a:pPr>
            <a:r>
              <a:rPr lang="zh-CN" altLang="en-US" sz="2400" b="1" kern="0" dirty="0">
                <a:solidFill>
                  <a:srgbClr val="595959"/>
                </a:solidFill>
                <a:latin typeface="微软雅黑" panose="020B0503020204020204" pitchFamily="34" charset="-122"/>
                <a:ea typeface="微软雅黑" panose="020B0503020204020204" pitchFamily="34" charset="-122"/>
                <a:cs typeface="+mn-ea"/>
                <a:sym typeface="+mn-lt"/>
              </a:rPr>
              <a:t>实现面包屑导航页面</a:t>
            </a:r>
            <a:endParaRPr lang="en-US" altLang="zh-CN" sz="2400" b="1" kern="0" dirty="0">
              <a:solidFill>
                <a:srgbClr val="595959"/>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创建</a:t>
            </a:r>
            <a:r>
              <a:rPr lang="en-US" altLang="zh-CN" sz="2000" dirty="0">
                <a:solidFill>
                  <a:srgbClr val="595959"/>
                </a:solidFill>
                <a:latin typeface="微软雅黑" panose="020B0503020204020204" pitchFamily="34" charset="-122"/>
                <a:ea typeface="微软雅黑" panose="020B0503020204020204" pitchFamily="34" charset="-122"/>
              </a:rPr>
              <a:t>C:\code\chapter06\demo03.html</a:t>
            </a:r>
            <a:r>
              <a:rPr lang="zh-CN" altLang="en-US" sz="2000" dirty="0">
                <a:solidFill>
                  <a:srgbClr val="595959"/>
                </a:solidFill>
                <a:latin typeface="微软雅黑" panose="020B0503020204020204" pitchFamily="34" charset="-122"/>
                <a:ea typeface="微软雅黑" panose="020B0503020204020204" pitchFamily="34" charset="-122"/>
              </a:rPr>
              <a:t>，配置</a:t>
            </a:r>
            <a:r>
              <a:rPr lang="zh-CN" altLang="en-US" sz="2000" dirty="0">
                <a:solidFill>
                  <a:srgbClr val="1369B2"/>
                </a:solidFill>
                <a:latin typeface="微软雅黑" panose="020B0503020204020204" pitchFamily="34" charset="-122"/>
                <a:ea typeface="微软雅黑" panose="020B0503020204020204" pitchFamily="34" charset="-122"/>
              </a:rPr>
              <a:t>视口</a:t>
            </a:r>
            <a:r>
              <a:rPr lang="zh-CN" altLang="en-US" sz="2000" dirty="0">
                <a:solidFill>
                  <a:srgbClr val="595959"/>
                </a:solidFill>
                <a:latin typeface="微软雅黑" panose="020B0503020204020204" pitchFamily="34" charset="-122"/>
                <a:ea typeface="微软雅黑" panose="020B0503020204020204" pitchFamily="34" charset="-122"/>
              </a:rPr>
              <a:t>并</a:t>
            </a:r>
            <a:r>
              <a:rPr lang="zh-CN" altLang="en-US" sz="2000" dirty="0">
                <a:solidFill>
                  <a:srgbClr val="1369B2"/>
                </a:solidFill>
                <a:latin typeface="微软雅黑" panose="020B0503020204020204" pitchFamily="34" charset="-122"/>
                <a:ea typeface="微软雅黑" panose="020B0503020204020204" pitchFamily="34" charset="-122"/>
              </a:rPr>
              <a:t>引入</a:t>
            </a:r>
            <a:r>
              <a:rPr lang="zh-CN" altLang="en-US" sz="2000" dirty="0">
                <a:solidFill>
                  <a:srgbClr val="595959"/>
                </a:solidFill>
                <a:latin typeface="微软雅黑" panose="020B0503020204020204" pitchFamily="34" charset="-122"/>
                <a:ea typeface="微软雅黑" panose="020B0503020204020204" pitchFamily="34" charset="-122"/>
              </a:rPr>
              <a:t>依赖文件。</a:t>
            </a:r>
          </a:p>
        </p:txBody>
      </p:sp>
      <p:sp>
        <p:nvSpPr>
          <p:cNvPr id="1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6.1.4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面包屑</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导航组件</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2786324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83AC20C6-8630-496F-8BEE-FE67057070D4}"/>
              </a:ext>
            </a:extLst>
          </p:cNvPr>
          <p:cNvSpPr txBox="1"/>
          <p:nvPr/>
        </p:nvSpPr>
        <p:spPr>
          <a:xfrm>
            <a:off x="2926854" y="2133650"/>
            <a:ext cx="7787785" cy="4499309"/>
          </a:xfrm>
          <a:prstGeom prst="rect">
            <a:avLst/>
          </a:prstGeom>
          <a:solidFill>
            <a:srgbClr val="F2F2F2"/>
          </a:solidFill>
        </p:spPr>
        <p:txBody>
          <a:bodyPr wrap="square">
            <a:spAutoFit/>
          </a:bodyPr>
          <a:lstStyle/>
          <a:p>
            <a:pPr lvl="0">
              <a:lnSpc>
                <a:spcPct val="12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面包屑导航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ol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class="breadcrumb"&gt;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 class="breadcrumb-item"&gt;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首页</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&lt;/a&gt;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 class="breadcrumb-item"&gt;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简介</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&lt;/a&gt;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 class="breadcrumb-item"&gt;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详情</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&lt;/a&gt;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 class="breadcrumb-item"&gt;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联系电话</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&lt;/a&gt;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ol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p:txBody>
      </p:sp>
      <p:grpSp>
        <p:nvGrpSpPr>
          <p:cNvPr id="9" name="组合 8">
            <a:extLst>
              <a:ext uri="{FF2B5EF4-FFF2-40B4-BE49-F238E27FC236}">
                <a16:creationId xmlns:a16="http://schemas.microsoft.com/office/drawing/2014/main" id="{A572FBBE-CAFE-4ACA-A2BE-18AF7BB24AAF}"/>
              </a:ext>
            </a:extLst>
          </p:cNvPr>
          <p:cNvGrpSpPr/>
          <p:nvPr/>
        </p:nvGrpSpPr>
        <p:grpSpPr>
          <a:xfrm>
            <a:off x="1143690" y="1152646"/>
            <a:ext cx="1747943" cy="773218"/>
            <a:chOff x="961390" y="2294944"/>
            <a:chExt cx="1747943" cy="773218"/>
          </a:xfrm>
        </p:grpSpPr>
        <p:sp>
          <p:nvSpPr>
            <p:cNvPr id="10" name="圆角矩形 4">
              <a:extLst>
                <a:ext uri="{FF2B5EF4-FFF2-40B4-BE49-F238E27FC236}">
                  <a16:creationId xmlns:a16="http://schemas.microsoft.com/office/drawing/2014/main" id="{CDD18056-555A-4BE9-82BB-444DA5BD33BC}"/>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1" name="文本框 10">
              <a:extLst>
                <a:ext uri="{FF2B5EF4-FFF2-40B4-BE49-F238E27FC236}">
                  <a16:creationId xmlns:a16="http://schemas.microsoft.com/office/drawing/2014/main" id="{A2BBEFDF-A3BB-4734-B8AB-7313B33D760E}"/>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02</a:t>
              </a:r>
            </a:p>
          </p:txBody>
        </p:sp>
      </p:grpSp>
      <p:sp>
        <p:nvSpPr>
          <p:cNvPr id="13" name="1">
            <a:extLst>
              <a:ext uri="{FF2B5EF4-FFF2-40B4-BE49-F238E27FC236}">
                <a16:creationId xmlns:a16="http://schemas.microsoft.com/office/drawing/2014/main" id="{E731EE78-15F3-4ED1-8765-78C87D3226C1}"/>
              </a:ext>
            </a:extLst>
          </p:cNvPr>
          <p:cNvSpPr txBox="1"/>
          <p:nvPr>
            <p:custDataLst>
              <p:tags r:id="rId1"/>
            </p:custDataLst>
          </p:nvPr>
        </p:nvSpPr>
        <p:spPr>
          <a:xfrm>
            <a:off x="3017371" y="1053530"/>
            <a:ext cx="8722842" cy="1107996"/>
          </a:xfrm>
          <a:prstGeom prst="rect">
            <a:avLst/>
          </a:prstGeom>
          <a:noFill/>
          <a:ln>
            <a:noFill/>
          </a:ln>
        </p:spPr>
        <p:txBody>
          <a:bodyPr wrap="square" rtlCol="0">
            <a:spAutoFit/>
          </a:bodyPr>
          <a:lstStyle/>
          <a:p>
            <a:pPr lvl="0" defTabSz="457200">
              <a:lnSpc>
                <a:spcPct val="150000"/>
              </a:lnSpc>
              <a:defRPr/>
            </a:pPr>
            <a:r>
              <a:rPr lang="zh-CN" altLang="en-US" sz="2400" b="1" kern="0" dirty="0">
                <a:solidFill>
                  <a:srgbClr val="595959"/>
                </a:solidFill>
                <a:latin typeface="微软雅黑" panose="020B0503020204020204" pitchFamily="34" charset="-122"/>
                <a:ea typeface="微软雅黑" panose="020B0503020204020204" pitchFamily="34" charset="-122"/>
                <a:cs typeface="+mn-ea"/>
                <a:sym typeface="+mn-lt"/>
              </a:rPr>
              <a:t>实现面包屑导航页面</a:t>
            </a:r>
            <a:endParaRPr lang="en-US" altLang="zh-CN" sz="2400" b="1" kern="0" dirty="0">
              <a:solidFill>
                <a:srgbClr val="595959"/>
              </a:solidFill>
              <a:latin typeface="微软雅黑" panose="020B0503020204020204" pitchFamily="34" charset="-122"/>
              <a:ea typeface="微软雅黑" panose="020B0503020204020204" pitchFamily="34" charset="-122"/>
              <a:cs typeface="+mn-ea"/>
              <a:sym typeface="+mn-lt"/>
            </a:endParaRPr>
          </a:p>
          <a:p>
            <a:pPr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修改</a:t>
            </a:r>
            <a:r>
              <a:rPr lang="en-US" altLang="zh-CN" sz="2000" dirty="0">
                <a:solidFill>
                  <a:srgbClr val="595959"/>
                </a:solidFill>
                <a:latin typeface="微软雅黑" panose="020B0503020204020204" pitchFamily="34" charset="-122"/>
                <a:ea typeface="微软雅黑" panose="020B0503020204020204" pitchFamily="34" charset="-122"/>
              </a:rPr>
              <a:t>demo03.html</a:t>
            </a:r>
            <a:r>
              <a:rPr lang="zh-CN" altLang="en-US" sz="2000" dirty="0">
                <a:solidFill>
                  <a:srgbClr val="595959"/>
                </a:solidFill>
                <a:latin typeface="微软雅黑" panose="020B0503020204020204" pitchFamily="34" charset="-122"/>
                <a:ea typeface="微软雅黑" panose="020B0503020204020204" pitchFamily="34" charset="-122"/>
              </a:rPr>
              <a:t>，在</a:t>
            </a:r>
            <a:r>
              <a:rPr lang="en-US" altLang="zh-CN" sz="2000" dirty="0">
                <a:solidFill>
                  <a:srgbClr val="1369B2"/>
                </a:solidFill>
                <a:latin typeface="微软雅黑" panose="020B0503020204020204" pitchFamily="34" charset="-122"/>
                <a:ea typeface="微软雅黑" panose="020B0503020204020204" pitchFamily="34" charset="-122"/>
              </a:rPr>
              <a:t>&lt;/body&gt;</a:t>
            </a:r>
            <a:r>
              <a:rPr lang="zh-CN" altLang="en-US" sz="2000" dirty="0">
                <a:solidFill>
                  <a:srgbClr val="595959"/>
                </a:solidFill>
                <a:latin typeface="微软雅黑" panose="020B0503020204020204" pitchFamily="34" charset="-122"/>
                <a:ea typeface="微软雅黑" panose="020B0503020204020204" pitchFamily="34" charset="-122"/>
              </a:rPr>
              <a:t>标签结束前添加以下代码</a:t>
            </a:r>
            <a:r>
              <a:rPr lang="zh-CN" altLang="en-US"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p:txBody>
      </p:sp>
      <p:sp>
        <p:nvSpPr>
          <p:cNvPr id="1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6.1.4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面包屑</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导航组件</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4806056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A572FBBE-CAFE-4ACA-A2BE-18AF7BB24AAF}"/>
              </a:ext>
            </a:extLst>
          </p:cNvPr>
          <p:cNvGrpSpPr/>
          <p:nvPr/>
        </p:nvGrpSpPr>
        <p:grpSpPr>
          <a:xfrm>
            <a:off x="1143690" y="1152646"/>
            <a:ext cx="1747943" cy="773218"/>
            <a:chOff x="961390" y="2294944"/>
            <a:chExt cx="1747943" cy="773218"/>
          </a:xfrm>
        </p:grpSpPr>
        <p:sp>
          <p:nvSpPr>
            <p:cNvPr id="10" name="圆角矩形 4">
              <a:extLst>
                <a:ext uri="{FF2B5EF4-FFF2-40B4-BE49-F238E27FC236}">
                  <a16:creationId xmlns:a16="http://schemas.microsoft.com/office/drawing/2014/main" id="{CDD18056-555A-4BE9-82BB-444DA5BD33BC}"/>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1" name="文本框 10">
              <a:extLst>
                <a:ext uri="{FF2B5EF4-FFF2-40B4-BE49-F238E27FC236}">
                  <a16:creationId xmlns:a16="http://schemas.microsoft.com/office/drawing/2014/main" id="{A2BBEFDF-A3BB-4734-B8AB-7313B33D760E}"/>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03</a:t>
              </a:r>
            </a:p>
          </p:txBody>
        </p:sp>
      </p:grpSp>
      <p:sp>
        <p:nvSpPr>
          <p:cNvPr id="13" name="1">
            <a:extLst>
              <a:ext uri="{FF2B5EF4-FFF2-40B4-BE49-F238E27FC236}">
                <a16:creationId xmlns:a16="http://schemas.microsoft.com/office/drawing/2014/main" id="{E731EE78-15F3-4ED1-8765-78C87D3226C1}"/>
              </a:ext>
            </a:extLst>
          </p:cNvPr>
          <p:cNvSpPr txBox="1"/>
          <p:nvPr>
            <p:custDataLst>
              <p:tags r:id="rId1"/>
            </p:custDataLst>
          </p:nvPr>
        </p:nvSpPr>
        <p:spPr>
          <a:xfrm>
            <a:off x="3017371" y="1053530"/>
            <a:ext cx="8722842" cy="1107996"/>
          </a:xfrm>
          <a:prstGeom prst="rect">
            <a:avLst/>
          </a:prstGeom>
          <a:noFill/>
          <a:ln>
            <a:noFill/>
          </a:ln>
        </p:spPr>
        <p:txBody>
          <a:bodyPr wrap="square" rtlCol="0">
            <a:spAutoFit/>
          </a:bodyPr>
          <a:lstStyle/>
          <a:p>
            <a:pPr lvl="0" defTabSz="457200">
              <a:lnSpc>
                <a:spcPct val="150000"/>
              </a:lnSpc>
              <a:defRPr/>
            </a:pPr>
            <a:r>
              <a:rPr lang="zh-CN" altLang="en-US" sz="2400" b="1" kern="0" dirty="0">
                <a:solidFill>
                  <a:srgbClr val="595959"/>
                </a:solidFill>
                <a:latin typeface="微软雅黑" panose="020B0503020204020204" pitchFamily="34" charset="-122"/>
                <a:ea typeface="微软雅黑" panose="020B0503020204020204" pitchFamily="34" charset="-122"/>
                <a:cs typeface="+mn-ea"/>
                <a:sym typeface="+mn-lt"/>
              </a:rPr>
              <a:t>在浏览器中访问</a:t>
            </a:r>
            <a:r>
              <a:rPr lang="en-US" altLang="zh-CN" sz="2400" b="1" kern="0" dirty="0">
                <a:solidFill>
                  <a:srgbClr val="595959"/>
                </a:solidFill>
                <a:latin typeface="微软雅黑" panose="020B0503020204020204" pitchFamily="34" charset="-122"/>
                <a:ea typeface="微软雅黑" panose="020B0503020204020204" pitchFamily="34" charset="-122"/>
                <a:cs typeface="+mn-ea"/>
                <a:sym typeface="+mn-lt"/>
              </a:rPr>
              <a:t>demo03.html</a:t>
            </a:r>
          </a:p>
          <a:p>
            <a:pPr lvl="0">
              <a:lnSpc>
                <a:spcPct val="150000"/>
              </a:lnSpc>
              <a:defRPr/>
            </a:pPr>
            <a:r>
              <a:rPr lang="zh-CN" altLang="en-US" sz="2000" dirty="0">
                <a:solidFill>
                  <a:srgbClr val="1369B2"/>
                </a:solidFill>
                <a:latin typeface="微软雅黑" panose="020B0503020204020204" pitchFamily="34" charset="-122"/>
                <a:ea typeface="微软雅黑" panose="020B0503020204020204" pitchFamily="34" charset="-122"/>
              </a:rPr>
              <a:t>面包屑导航</a:t>
            </a:r>
            <a:r>
              <a:rPr lang="zh-CN" altLang="en-US" sz="2000" dirty="0">
                <a:solidFill>
                  <a:srgbClr val="595959"/>
                </a:solidFill>
                <a:latin typeface="微软雅黑" panose="020B0503020204020204" pitchFamily="34" charset="-122"/>
                <a:ea typeface="微软雅黑" panose="020B0503020204020204" pitchFamily="34" charset="-122"/>
              </a:rPr>
              <a:t>的页面效果如图。</a:t>
            </a:r>
            <a:endParaRPr lang="en-US" altLang="zh-CN" sz="2000" dirty="0">
              <a:solidFill>
                <a:srgbClr val="595959"/>
              </a:solidFill>
              <a:latin typeface="微软雅黑" panose="020B0503020204020204" pitchFamily="34" charset="-122"/>
              <a:ea typeface="微软雅黑" panose="020B0503020204020204" pitchFamily="34" charset="-122"/>
            </a:endParaRPr>
          </a:p>
        </p:txBody>
      </p:sp>
      <p:pic>
        <p:nvPicPr>
          <p:cNvPr id="2050" name="图片 1">
            <a:extLst>
              <a:ext uri="{FF2B5EF4-FFF2-40B4-BE49-F238E27FC236}">
                <a16:creationId xmlns:a16="http://schemas.microsoft.com/office/drawing/2014/main" id="{FA3E5CE1-10EE-4ECF-99D5-672973DC23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1513" y="2449950"/>
            <a:ext cx="6047920" cy="18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6.1.4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面包屑</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导航组件</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3478740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30997"/>
          </a:xfrm>
          <a:prstGeom prst="rect">
            <a:avLst/>
          </a:prstGeom>
          <a:noFill/>
        </p:spPr>
        <p:txBody>
          <a:bodyPr wrap="square" lIns="91443" tIns="45720" rIns="91443" bIns="45720" rtlCol="0">
            <a:spAutoFit/>
          </a:bodyPr>
          <a:lstStyle/>
          <a:p>
            <a:r>
              <a:rPr lang="zh-CN" altLang="en-US" sz="4800" b="1" dirty="0">
                <a:solidFill>
                  <a:srgbClr val="595959"/>
                </a:solidFill>
                <a:latin typeface="微软雅黑" panose="020B0503020204020204" pitchFamily="34" charset="-122"/>
                <a:ea typeface="微软雅黑" panose="020B0503020204020204" pitchFamily="34" charset="-122"/>
                <a:cs typeface="+mn-ea"/>
                <a:sym typeface="+mn-lt"/>
              </a:rPr>
              <a:t>导航栏组件</a:t>
            </a: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6.2</a:t>
            </a:r>
          </a:p>
        </p:txBody>
      </p:sp>
    </p:spTree>
    <p:extLst>
      <p:ext uri="{BB962C8B-B14F-4D97-AF65-F5344CB8AC3E}">
        <p14:creationId xmlns:p14="http://schemas.microsoft.com/office/powerpoint/2010/main" val="26195924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43DA623A-F92E-4B1A-8E24-D4DF8F48A24D}"/>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6.2 </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导航</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栏组件</a:t>
            </a:r>
          </a:p>
        </p:txBody>
      </p:sp>
      <p:sp>
        <p:nvSpPr>
          <p:cNvPr id="11" name="文本框 10">
            <a:extLst>
              <a:ext uri="{FF2B5EF4-FFF2-40B4-BE49-F238E27FC236}">
                <a16:creationId xmlns:a16="http://schemas.microsoft.com/office/drawing/2014/main" id="{391BB5FB-EC0A-4352-BD2F-5285DE16E28B}"/>
              </a:ext>
            </a:extLst>
          </p:cNvPr>
          <p:cNvSpPr txBox="1"/>
          <p:nvPr/>
        </p:nvSpPr>
        <p:spPr>
          <a:xfrm>
            <a:off x="1270670" y="1199285"/>
            <a:ext cx="9577064" cy="961289"/>
          </a:xfrm>
          <a:prstGeom prst="rect">
            <a:avLst/>
          </a:prstGeom>
          <a:noFill/>
        </p:spPr>
        <p:txBody>
          <a:bodyPr wrap="square" rtlCol="0">
            <a:spAutoFit/>
          </a:bodyPr>
          <a:lstStyle/>
          <a:p>
            <a:pPr>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cs typeface="+mn-ea"/>
              </a:rPr>
              <a:t>导航栏组件的作用：</a:t>
            </a:r>
            <a:r>
              <a:rPr lang="zh-CN" altLang="en-US" sz="2000" dirty="0">
                <a:solidFill>
                  <a:srgbClr val="595959"/>
                </a:solidFill>
                <a:latin typeface="微软雅黑" panose="020B0503020204020204" pitchFamily="34" charset="-122"/>
                <a:ea typeface="微软雅黑" panose="020B0503020204020204" pitchFamily="34" charset="-122"/>
                <a:cs typeface="+mn-ea"/>
              </a:rPr>
              <a:t>导航栏组件通常应用于</a:t>
            </a:r>
            <a:r>
              <a:rPr lang="zh-CN" altLang="en-US" sz="2000" dirty="0">
                <a:solidFill>
                  <a:srgbClr val="1369B2"/>
                </a:solidFill>
                <a:latin typeface="微软雅黑" panose="020B0503020204020204" pitchFamily="34" charset="-122"/>
                <a:ea typeface="微软雅黑" panose="020B0503020204020204" pitchFamily="34" charset="-122"/>
                <a:cs typeface="+mn-ea"/>
              </a:rPr>
              <a:t>网页的头部</a:t>
            </a:r>
            <a:r>
              <a:rPr lang="zh-CN" altLang="en-US" sz="2000" dirty="0">
                <a:solidFill>
                  <a:srgbClr val="595959"/>
                </a:solidFill>
                <a:latin typeface="微软雅黑" panose="020B0503020204020204" pitchFamily="34" charset="-122"/>
                <a:ea typeface="微软雅黑" panose="020B0503020204020204" pitchFamily="34" charset="-122"/>
                <a:cs typeface="+mn-ea"/>
              </a:rPr>
              <a:t>，可以帮助用户快速找到他们想要访问的内容，方便用户从一个页面</a:t>
            </a:r>
            <a:r>
              <a:rPr lang="zh-CN" altLang="en-US" sz="2000" dirty="0">
                <a:solidFill>
                  <a:srgbClr val="1369B2"/>
                </a:solidFill>
                <a:latin typeface="微软雅黑" panose="020B0503020204020204" pitchFamily="34" charset="-122"/>
                <a:ea typeface="微软雅黑" panose="020B0503020204020204" pitchFamily="34" charset="-122"/>
                <a:cs typeface="+mn-ea"/>
              </a:rPr>
              <a:t>跳转</a:t>
            </a:r>
            <a:r>
              <a:rPr lang="zh-CN" altLang="en-US" sz="2000" dirty="0">
                <a:solidFill>
                  <a:srgbClr val="595959"/>
                </a:solidFill>
                <a:latin typeface="微软雅黑" panose="020B0503020204020204" pitchFamily="34" charset="-122"/>
                <a:ea typeface="微软雅黑" panose="020B0503020204020204" pitchFamily="34" charset="-122"/>
                <a:cs typeface="+mn-ea"/>
              </a:rPr>
              <a:t>到另一个页面。</a:t>
            </a:r>
          </a:p>
        </p:txBody>
      </p:sp>
      <p:pic>
        <p:nvPicPr>
          <p:cNvPr id="5" name="图片 4">
            <a:extLst>
              <a:ext uri="{FF2B5EF4-FFF2-40B4-BE49-F238E27FC236}">
                <a16:creationId xmlns:a16="http://schemas.microsoft.com/office/drawing/2014/main" id="{634D7D06-4B6F-41BF-80EC-81A75CA86F4E}"/>
              </a:ext>
            </a:extLst>
          </p:cNvPr>
          <p:cNvPicPr>
            <a:picLocks noChangeAspect="1"/>
          </p:cNvPicPr>
          <p:nvPr/>
        </p:nvPicPr>
        <p:blipFill>
          <a:blip r:embed="rId3"/>
          <a:stretch>
            <a:fillRect/>
          </a:stretch>
        </p:blipFill>
        <p:spPr>
          <a:xfrm>
            <a:off x="2782838" y="2421682"/>
            <a:ext cx="6814022" cy="3698678"/>
          </a:xfrm>
          <a:prstGeom prst="rect">
            <a:avLst/>
          </a:prstGeom>
        </p:spPr>
      </p:pic>
      <p:sp>
        <p:nvSpPr>
          <p:cNvPr id="2" name="矩形 1"/>
          <p:cNvSpPr/>
          <p:nvPr/>
        </p:nvSpPr>
        <p:spPr>
          <a:xfrm>
            <a:off x="2638822" y="2853730"/>
            <a:ext cx="7128792" cy="43204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097810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7"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815965" y="3576722"/>
            <a:ext cx="5429568" cy="1231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sz="24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基础导航</a:t>
            </a:r>
            <a:r>
              <a:rPr lang="zh-CN" altLang="en-US" sz="2400" dirty="0" smtClean="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栏组件</a:t>
            </a:r>
            <a:r>
              <a:rPr lang="zh-CN" altLang="en-US"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能够实现基础导航栏</a:t>
            </a:r>
            <a:r>
              <a:rPr lang="zh-CN" altLang="en-US"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页面</a:t>
            </a:r>
            <a:endParaRPr lang="zh-CN" altLang="en-US" dirty="0">
              <a:solidFill>
                <a:srgbClr val="595959"/>
              </a:solidFill>
              <a:latin typeface="微软雅黑" panose="020B0503020204020204" pitchFamily="34" charset="-122"/>
              <a:ea typeface="微软雅黑" panose="020B0503020204020204" pitchFamily="34" charset="-122"/>
              <a:cs typeface="+mn-ea"/>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Title 1">
            <a:extLst>
              <a:ext uri="{FF2B5EF4-FFF2-40B4-BE49-F238E27FC236}">
                <a16:creationId xmlns:a16="http://schemas.microsoft.com/office/drawing/2014/main" id="{43DA623A-F92E-4B1A-8E24-D4DF8F48A24D}"/>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6.2.1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基础导航</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栏组件</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7319814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5"/>
          <p:cNvSpPr txBox="1">
            <a:spLocks noChangeArrowheads="1"/>
          </p:cNvSpPr>
          <p:nvPr/>
        </p:nvSpPr>
        <p:spPr bwMode="auto">
          <a:xfrm>
            <a:off x="994466" y="1989634"/>
            <a:ext cx="10441160" cy="3935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cs typeface="+mn-ea"/>
              </a:rPr>
              <a:t>基础导航栏组件：</a:t>
            </a:r>
            <a:r>
              <a:rPr lang="zh-CN" altLang="en-US" sz="2000" dirty="0">
                <a:solidFill>
                  <a:srgbClr val="595959"/>
                </a:solidFill>
                <a:latin typeface="微软雅黑" panose="020B0503020204020204" pitchFamily="34" charset="-122"/>
                <a:ea typeface="微软雅黑" panose="020B0503020204020204" pitchFamily="34" charset="-122"/>
                <a:cs typeface="+mn-ea"/>
              </a:rPr>
              <a:t>是</a:t>
            </a:r>
            <a:r>
              <a:rPr lang="en-US" altLang="zh-CN" sz="2000" dirty="0">
                <a:solidFill>
                  <a:srgbClr val="595959"/>
                </a:solidFill>
                <a:latin typeface="微软雅黑" panose="020B0503020204020204" pitchFamily="34" charset="-122"/>
                <a:ea typeface="微软雅黑" panose="020B0503020204020204" pitchFamily="34" charset="-122"/>
                <a:cs typeface="+mn-ea"/>
              </a:rPr>
              <a:t>Bootstrap</a:t>
            </a:r>
            <a:r>
              <a:rPr lang="zh-CN" altLang="en-US" sz="2000" dirty="0">
                <a:solidFill>
                  <a:srgbClr val="595959"/>
                </a:solidFill>
                <a:latin typeface="微软雅黑" panose="020B0503020204020204" pitchFamily="34" charset="-122"/>
                <a:ea typeface="微软雅黑" panose="020B0503020204020204" pitchFamily="34" charset="-122"/>
                <a:cs typeface="+mn-ea"/>
              </a:rPr>
              <a:t>中作为网站导航页头的</a:t>
            </a:r>
            <a:r>
              <a:rPr lang="zh-CN" altLang="en-US" sz="2000" dirty="0">
                <a:solidFill>
                  <a:srgbClr val="1369B2"/>
                </a:solidFill>
                <a:latin typeface="微软雅黑" panose="020B0503020204020204" pitchFamily="34" charset="-122"/>
                <a:ea typeface="微软雅黑" panose="020B0503020204020204" pitchFamily="34" charset="-122"/>
                <a:cs typeface="+mn-ea"/>
              </a:rPr>
              <a:t>响应式</a:t>
            </a:r>
            <a:r>
              <a:rPr lang="zh-CN" altLang="en-US" sz="2000" dirty="0">
                <a:solidFill>
                  <a:srgbClr val="595959"/>
                </a:solidFill>
                <a:latin typeface="微软雅黑" panose="020B0503020204020204" pitchFamily="34" charset="-122"/>
                <a:ea typeface="微软雅黑" panose="020B0503020204020204" pitchFamily="34" charset="-122"/>
                <a:cs typeface="+mn-ea"/>
              </a:rPr>
              <a:t>组件，该组件可以使导航栏在大屏幕上水平铺开，小屏幕上垂直堆叠显示。</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1000" dirty="0">
              <a:solidFill>
                <a:srgbClr val="595959"/>
              </a:solidFill>
              <a:latin typeface="微软雅黑" panose="020B0503020204020204" pitchFamily="34" charset="-122"/>
              <a:ea typeface="微软雅黑" panose="020B0503020204020204" pitchFamily="34" charset="-122"/>
              <a:cs typeface="+mn-ea"/>
            </a:endParaRPr>
          </a:p>
          <a:p>
            <a:pPr marL="342900" indent="-342900">
              <a:lnSpc>
                <a:spcPct val="150000"/>
              </a:lnSpc>
              <a:buFont typeface="Wingdings" panose="05000000000000000000" pitchFamily="2" charset="2"/>
              <a:buChar char="l"/>
            </a:pPr>
            <a:r>
              <a:rPr lang="en-US" altLang="zh-CN" sz="2000" dirty="0">
                <a:solidFill>
                  <a:srgbClr val="1369B2"/>
                </a:solidFill>
                <a:latin typeface="微软雅黑" panose="020B0503020204020204" pitchFamily="34" charset="-122"/>
                <a:ea typeface="微软雅黑" panose="020B0503020204020204" pitchFamily="34" charset="-122"/>
                <a:cs typeface="+mn-ea"/>
              </a:rPr>
              <a:t>navbar</a:t>
            </a:r>
            <a:r>
              <a:rPr lang="zh-CN" altLang="zh-CN" sz="2000" dirty="0">
                <a:solidFill>
                  <a:srgbClr val="1369B2"/>
                </a:solidFill>
                <a:latin typeface="微软雅黑" panose="020B0503020204020204" pitchFamily="34" charset="-122"/>
                <a:ea typeface="微软雅黑" panose="020B0503020204020204" pitchFamily="34" charset="-122"/>
                <a:cs typeface="+mn-ea"/>
              </a:rPr>
              <a:t>类名</a:t>
            </a:r>
            <a:r>
              <a:rPr lang="zh-CN" altLang="en-US"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用于创建一个基础导航栏</a:t>
            </a:r>
            <a:r>
              <a:rPr lang="zh-CN" altLang="en-US" sz="2000" dirty="0">
                <a:solidFill>
                  <a:srgbClr val="595959"/>
                </a:solidFill>
                <a:latin typeface="微软雅黑" panose="020B0503020204020204" pitchFamily="34" charset="-122"/>
                <a:ea typeface="微软雅黑" panose="020B0503020204020204" pitchFamily="34" charset="-122"/>
                <a:cs typeface="+mn-ea"/>
              </a:rPr>
              <a:t>。</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500" dirty="0">
              <a:solidFill>
                <a:srgbClr val="595959"/>
              </a:solidFill>
              <a:latin typeface="微软雅黑" panose="020B0503020204020204" pitchFamily="34" charset="-122"/>
              <a:ea typeface="微软雅黑" panose="020B0503020204020204" pitchFamily="34" charset="-122"/>
              <a:cs typeface="+mn-ea"/>
            </a:endParaRPr>
          </a:p>
          <a:p>
            <a:pPr marL="342900" indent="-342900">
              <a:lnSpc>
                <a:spcPct val="150000"/>
              </a:lnSpc>
              <a:buFont typeface="Wingdings" panose="05000000000000000000" pitchFamily="2" charset="2"/>
              <a:buChar char="l"/>
            </a:pPr>
            <a:r>
              <a:rPr lang="en-US" altLang="zh-CN" sz="2000" dirty="0">
                <a:solidFill>
                  <a:srgbClr val="1369B2"/>
                </a:solidFill>
                <a:latin typeface="微软雅黑" panose="020B0503020204020204" pitchFamily="34" charset="-122"/>
                <a:ea typeface="微软雅黑" panose="020B0503020204020204" pitchFamily="34" charset="-122"/>
                <a:cs typeface="+mn-ea"/>
              </a:rPr>
              <a:t>navbar-expand-</a:t>
            </a:r>
            <a:r>
              <a:rPr lang="en-US" altLang="zh-CN" sz="2000" dirty="0" err="1">
                <a:solidFill>
                  <a:srgbClr val="1369B2"/>
                </a:solidFill>
                <a:latin typeface="微软雅黑" panose="020B0503020204020204" pitchFamily="34" charset="-122"/>
                <a:ea typeface="微软雅黑" panose="020B0503020204020204" pitchFamily="34" charset="-122"/>
                <a:cs typeface="+mn-ea"/>
              </a:rPr>
              <a:t>sm</a:t>
            </a:r>
            <a:r>
              <a:rPr lang="zh-CN" altLang="zh-CN" sz="2000" dirty="0">
                <a:solidFill>
                  <a:srgbClr val="1369B2"/>
                </a:solidFill>
                <a:latin typeface="微软雅黑" panose="020B0503020204020204" pitchFamily="34" charset="-122"/>
                <a:ea typeface="微软雅黑" panose="020B0503020204020204" pitchFamily="34" charset="-122"/>
                <a:cs typeface="+mn-ea"/>
              </a:rPr>
              <a:t>类名</a:t>
            </a:r>
            <a:r>
              <a:rPr lang="zh-CN" altLang="en-US"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用于使导航栏在大屏幕上水平铺开，小屏幕上垂直堆叠，其中，</a:t>
            </a:r>
            <a:r>
              <a:rPr lang="en-US" altLang="zh-CN" sz="2000" dirty="0" err="1">
                <a:solidFill>
                  <a:srgbClr val="595959"/>
                </a:solidFill>
                <a:latin typeface="微软雅黑" panose="020B0503020204020204" pitchFamily="34" charset="-122"/>
                <a:ea typeface="微软雅黑" panose="020B0503020204020204" pitchFamily="34" charset="-122"/>
                <a:cs typeface="+mn-ea"/>
              </a:rPr>
              <a:t>sm</a:t>
            </a:r>
            <a:r>
              <a:rPr lang="zh-CN" altLang="zh-CN" sz="2000" dirty="0">
                <a:solidFill>
                  <a:srgbClr val="595959"/>
                </a:solidFill>
                <a:latin typeface="微软雅黑" panose="020B0503020204020204" pitchFamily="34" charset="-122"/>
                <a:ea typeface="微软雅黑" panose="020B0503020204020204" pitchFamily="34" charset="-122"/>
                <a:cs typeface="+mn-ea"/>
              </a:rPr>
              <a:t>表示小屏幕，还可以取值</a:t>
            </a:r>
            <a:r>
              <a:rPr lang="en-US" altLang="zh-CN" sz="2000" dirty="0">
                <a:solidFill>
                  <a:srgbClr val="595959"/>
                </a:solidFill>
                <a:latin typeface="微软雅黑" panose="020B0503020204020204" pitchFamily="34" charset="-122"/>
                <a:ea typeface="微软雅黑" panose="020B0503020204020204" pitchFamily="34" charset="-122"/>
                <a:cs typeface="+mn-ea"/>
              </a:rPr>
              <a:t>md</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595959"/>
                </a:solidFill>
                <a:latin typeface="微软雅黑" panose="020B0503020204020204" pitchFamily="34" charset="-122"/>
                <a:ea typeface="微软雅黑" panose="020B0503020204020204" pitchFamily="34" charset="-122"/>
                <a:cs typeface="+mn-ea"/>
              </a:rPr>
              <a:t>lg</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595959"/>
                </a:solidFill>
                <a:latin typeface="微软雅黑" panose="020B0503020204020204" pitchFamily="34" charset="-122"/>
                <a:ea typeface="微软雅黑" panose="020B0503020204020204" pitchFamily="34" charset="-122"/>
                <a:cs typeface="+mn-ea"/>
              </a:rPr>
              <a:t>xl</a:t>
            </a:r>
            <a:r>
              <a:rPr lang="zh-CN" altLang="zh-CN" sz="2000" dirty="0">
                <a:solidFill>
                  <a:srgbClr val="595959"/>
                </a:solidFill>
                <a:latin typeface="微软雅黑" panose="020B0503020204020204" pitchFamily="34" charset="-122"/>
                <a:ea typeface="微软雅黑" panose="020B0503020204020204" pitchFamily="34" charset="-122"/>
                <a:cs typeface="+mn-ea"/>
              </a:rPr>
              <a:t>表示不同的大小的屏幕</a:t>
            </a:r>
            <a:r>
              <a:rPr lang="zh-CN" altLang="en-US" sz="2000" dirty="0">
                <a:solidFill>
                  <a:srgbClr val="595959"/>
                </a:solidFill>
                <a:latin typeface="微软雅黑" panose="020B0503020204020204" pitchFamily="34" charset="-122"/>
                <a:ea typeface="微软雅黑" panose="020B0503020204020204" pitchFamily="34" charset="-122"/>
                <a:cs typeface="+mn-ea"/>
              </a:rPr>
              <a:t>。</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500" dirty="0">
              <a:solidFill>
                <a:srgbClr val="595959"/>
              </a:solidFill>
              <a:latin typeface="微软雅黑" panose="020B0503020204020204" pitchFamily="34" charset="-122"/>
              <a:ea typeface="微软雅黑" panose="020B0503020204020204" pitchFamily="34" charset="-122"/>
              <a:cs typeface="+mn-ea"/>
            </a:endParaRPr>
          </a:p>
          <a:p>
            <a:pPr marL="342900" indent="-342900">
              <a:lnSpc>
                <a:spcPct val="150000"/>
              </a:lnSpc>
              <a:buFont typeface="Wingdings" panose="05000000000000000000" pitchFamily="2" charset="2"/>
              <a:buChar char="l"/>
            </a:pPr>
            <a:r>
              <a:rPr lang="en-US" altLang="zh-CN" sz="2000" dirty="0" err="1">
                <a:solidFill>
                  <a:srgbClr val="1369B2"/>
                </a:solidFill>
                <a:latin typeface="微软雅黑" panose="020B0503020204020204" pitchFamily="34" charset="-122"/>
                <a:ea typeface="微软雅黑" panose="020B0503020204020204" pitchFamily="34" charset="-122"/>
                <a:cs typeface="+mn-ea"/>
              </a:rPr>
              <a:t>bg</a:t>
            </a:r>
            <a:r>
              <a:rPr lang="en-US" altLang="zh-CN" sz="2000" dirty="0">
                <a:solidFill>
                  <a:srgbClr val="1369B2"/>
                </a:solidFill>
                <a:latin typeface="微软雅黑" panose="020B0503020204020204" pitchFamily="34" charset="-122"/>
                <a:ea typeface="微软雅黑" panose="020B0503020204020204" pitchFamily="34" charset="-122"/>
                <a:cs typeface="+mn-ea"/>
              </a:rPr>
              <a:t>-dark</a:t>
            </a:r>
            <a:r>
              <a:rPr lang="zh-CN" altLang="en-US" sz="2000" dirty="0">
                <a:solidFill>
                  <a:srgbClr val="1369B2"/>
                </a:solidFill>
                <a:latin typeface="微软雅黑" panose="020B0503020204020204" pitchFamily="34" charset="-122"/>
                <a:ea typeface="微软雅黑" panose="020B0503020204020204" pitchFamily="34" charset="-122"/>
                <a:cs typeface="+mn-ea"/>
              </a:rPr>
              <a:t>类名</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en-US" altLang="zh-CN" sz="2000" dirty="0">
                <a:solidFill>
                  <a:srgbClr val="1369B2"/>
                </a:solidFill>
                <a:latin typeface="微软雅黑" panose="020B0503020204020204" pitchFamily="34" charset="-122"/>
                <a:ea typeface="微软雅黑" panose="020B0503020204020204" pitchFamily="34" charset="-122"/>
                <a:cs typeface="+mn-ea"/>
              </a:rPr>
              <a:t>navbar-dark</a:t>
            </a:r>
            <a:r>
              <a:rPr lang="zh-CN" altLang="en-US" sz="2000" dirty="0">
                <a:solidFill>
                  <a:srgbClr val="1369B2"/>
                </a:solidFill>
                <a:latin typeface="微软雅黑" panose="020B0503020204020204" pitchFamily="34" charset="-122"/>
                <a:ea typeface="微软雅黑" panose="020B0503020204020204" pitchFamily="34" charset="-122"/>
                <a:cs typeface="+mn-ea"/>
              </a:rPr>
              <a:t>类名</a:t>
            </a:r>
            <a:r>
              <a:rPr lang="zh-CN" altLang="en-US"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表示使用暗色的样式风格，如果省略</a:t>
            </a:r>
            <a:r>
              <a:rPr lang="en-US" altLang="zh-CN" sz="2000" dirty="0" err="1">
                <a:solidFill>
                  <a:srgbClr val="595959"/>
                </a:solidFill>
                <a:latin typeface="微软雅黑" panose="020B0503020204020204" pitchFamily="34" charset="-122"/>
                <a:ea typeface="微软雅黑" panose="020B0503020204020204" pitchFamily="34" charset="-122"/>
                <a:cs typeface="+mn-ea"/>
              </a:rPr>
              <a:t>bg</a:t>
            </a:r>
            <a:r>
              <a:rPr lang="en-US" altLang="zh-CN" sz="2000" dirty="0">
                <a:solidFill>
                  <a:srgbClr val="595959"/>
                </a:solidFill>
                <a:latin typeface="微软雅黑" panose="020B0503020204020204" pitchFamily="34" charset="-122"/>
                <a:ea typeface="微软雅黑" panose="020B0503020204020204" pitchFamily="34" charset="-122"/>
                <a:cs typeface="+mn-ea"/>
              </a:rPr>
              <a:t>-dark</a:t>
            </a:r>
            <a:r>
              <a:rPr lang="zh-CN" altLang="en-US" sz="2000" dirty="0">
                <a:solidFill>
                  <a:srgbClr val="595959"/>
                </a:solidFill>
                <a:latin typeface="微软雅黑" panose="020B0503020204020204" pitchFamily="34" charset="-122"/>
                <a:ea typeface="微软雅黑" panose="020B0503020204020204" pitchFamily="34" charset="-122"/>
                <a:cs typeface="+mn-ea"/>
              </a:rPr>
              <a:t>类名</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en-US" altLang="zh-CN" sz="2000" dirty="0">
                <a:solidFill>
                  <a:srgbClr val="595959"/>
                </a:solidFill>
                <a:latin typeface="微软雅黑" panose="020B0503020204020204" pitchFamily="34" charset="-122"/>
                <a:ea typeface="微软雅黑" panose="020B0503020204020204" pitchFamily="34" charset="-122"/>
                <a:cs typeface="+mn-ea"/>
              </a:rPr>
              <a:t>navbar-dark</a:t>
            </a:r>
            <a:r>
              <a:rPr lang="zh-CN" altLang="en-US" sz="2000" dirty="0">
                <a:solidFill>
                  <a:srgbClr val="595959"/>
                </a:solidFill>
                <a:latin typeface="微软雅黑" panose="020B0503020204020204" pitchFamily="34" charset="-122"/>
                <a:ea typeface="微软雅黑" panose="020B0503020204020204" pitchFamily="34" charset="-122"/>
                <a:cs typeface="+mn-ea"/>
              </a:rPr>
              <a:t>类名</a:t>
            </a:r>
            <a:r>
              <a:rPr lang="zh-CN" altLang="zh-CN" sz="2000" dirty="0">
                <a:solidFill>
                  <a:srgbClr val="595959"/>
                </a:solidFill>
                <a:latin typeface="微软雅黑" panose="020B0503020204020204" pitchFamily="34" charset="-122"/>
                <a:ea typeface="微软雅黑" panose="020B0503020204020204" pitchFamily="34" charset="-122"/>
                <a:cs typeface="+mn-ea"/>
              </a:rPr>
              <a:t>则默认使用浅色的样式风格。</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4" name="TextBox 76"/>
          <p:cNvSpPr txBox="1"/>
          <p:nvPr/>
        </p:nvSpPr>
        <p:spPr>
          <a:xfrm>
            <a:off x="1024656" y="1197546"/>
            <a:ext cx="2694286"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基础导航</a:t>
            </a:r>
            <a:r>
              <a:rPr lang="zh-CN" altLang="en-US" b="1"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栏组件</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 name="Title 1">
            <a:extLst>
              <a:ext uri="{FF2B5EF4-FFF2-40B4-BE49-F238E27FC236}">
                <a16:creationId xmlns:a16="http://schemas.microsoft.com/office/drawing/2014/main" id="{43DA623A-F92E-4B1A-8E24-D4DF8F48A24D}"/>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6.2.1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基础导航</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栏组件</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3321969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5">
            <a:extLst>
              <a:ext uri="{FF2B5EF4-FFF2-40B4-BE49-F238E27FC236}">
                <a16:creationId xmlns:a16="http://schemas.microsoft.com/office/drawing/2014/main" id="{2E8261EB-2EDE-45A9-9B86-277E45BFCA7A}"/>
              </a:ext>
            </a:extLst>
          </p:cNvPr>
          <p:cNvSpPr txBox="1">
            <a:spLocks noChangeArrowheads="1"/>
          </p:cNvSpPr>
          <p:nvPr/>
        </p:nvSpPr>
        <p:spPr bwMode="auto">
          <a:xfrm>
            <a:off x="994466" y="1269554"/>
            <a:ext cx="10441160" cy="584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实现</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基础导航栏</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页面，效果如图：</a:t>
            </a:r>
          </a:p>
        </p:txBody>
      </p:sp>
      <p:pic>
        <p:nvPicPr>
          <p:cNvPr id="11" name="图片 1">
            <a:extLst>
              <a:ext uri="{FF2B5EF4-FFF2-40B4-BE49-F238E27FC236}">
                <a16:creationId xmlns:a16="http://schemas.microsoft.com/office/drawing/2014/main" id="{FCC97775-FC94-4401-AD25-DF52C3B1DE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8662" y="2277666"/>
            <a:ext cx="5427346" cy="1440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文本框 11">
            <a:extLst>
              <a:ext uri="{FF2B5EF4-FFF2-40B4-BE49-F238E27FC236}">
                <a16:creationId xmlns:a16="http://schemas.microsoft.com/office/drawing/2014/main" id="{477E6694-3A2C-4D96-AE19-FE22BA29ADAF}"/>
              </a:ext>
            </a:extLst>
          </p:cNvPr>
          <p:cNvSpPr txBox="1"/>
          <p:nvPr/>
        </p:nvSpPr>
        <p:spPr>
          <a:xfrm>
            <a:off x="2041846" y="4362105"/>
            <a:ext cx="3740977" cy="400110"/>
          </a:xfrm>
          <a:prstGeom prst="rect">
            <a:avLst/>
          </a:prstGeom>
          <a:noFill/>
        </p:spPr>
        <p:txBody>
          <a:bodyPr wrap="square" rtlCol="0">
            <a:spAutoFit/>
          </a:bodyPr>
          <a:lstStyle/>
          <a:p>
            <a:r>
              <a:rPr lang="zh-CN" altLang="en-US" sz="2000" dirty="0">
                <a:solidFill>
                  <a:srgbClr val="595959"/>
                </a:solidFill>
                <a:latin typeface="微软雅黑" panose="020B0503020204020204" pitchFamily="34" charset="-122"/>
                <a:ea typeface="微软雅黑" panose="020B0503020204020204" pitchFamily="34" charset="-122"/>
              </a:rPr>
              <a:t>基础导航栏（水平）页面效果</a:t>
            </a:r>
          </a:p>
        </p:txBody>
      </p:sp>
      <p:sp>
        <p:nvSpPr>
          <p:cNvPr id="13" name="文本框 12">
            <a:extLst>
              <a:ext uri="{FF2B5EF4-FFF2-40B4-BE49-F238E27FC236}">
                <a16:creationId xmlns:a16="http://schemas.microsoft.com/office/drawing/2014/main" id="{A96E03CB-80B8-4445-9E63-045634FF7B8F}"/>
              </a:ext>
            </a:extLst>
          </p:cNvPr>
          <p:cNvSpPr txBox="1"/>
          <p:nvPr/>
        </p:nvSpPr>
        <p:spPr>
          <a:xfrm>
            <a:off x="7547194" y="4362105"/>
            <a:ext cx="3888432" cy="400110"/>
          </a:xfrm>
          <a:prstGeom prst="rect">
            <a:avLst/>
          </a:prstGeom>
          <a:noFill/>
        </p:spPr>
        <p:txBody>
          <a:bodyPr wrap="square" rtlCol="0">
            <a:spAutoFit/>
          </a:bodyPr>
          <a:lstStyle/>
          <a:p>
            <a:r>
              <a:rPr lang="zh-CN" altLang="en-US" sz="2000" dirty="0">
                <a:solidFill>
                  <a:srgbClr val="595959"/>
                </a:solidFill>
                <a:latin typeface="微软雅黑" panose="020B0503020204020204" pitchFamily="34" charset="-122"/>
                <a:ea typeface="微软雅黑" panose="020B0503020204020204" pitchFamily="34" charset="-122"/>
              </a:rPr>
              <a:t>小屏幕上导航栏垂直排列</a:t>
            </a:r>
          </a:p>
        </p:txBody>
      </p:sp>
      <p:pic>
        <p:nvPicPr>
          <p:cNvPr id="14" name="图片 1">
            <a:extLst>
              <a:ext uri="{FF2B5EF4-FFF2-40B4-BE49-F238E27FC236}">
                <a16:creationId xmlns:a16="http://schemas.microsoft.com/office/drawing/2014/main" id="{FD54DEDE-C67F-4732-8482-EEFD72E7E0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75326" y="2296425"/>
            <a:ext cx="4011859" cy="1852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1">
            <a:extLst>
              <a:ext uri="{FF2B5EF4-FFF2-40B4-BE49-F238E27FC236}">
                <a16:creationId xmlns:a16="http://schemas.microsoft.com/office/drawing/2014/main" id="{43DA623A-F92E-4B1A-8E24-D4DF8F48A24D}"/>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6.2.1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基础导航</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栏组件</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6081457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83AC20C6-8630-496F-8BEE-FE67057070D4}"/>
              </a:ext>
            </a:extLst>
          </p:cNvPr>
          <p:cNvSpPr txBox="1"/>
          <p:nvPr/>
        </p:nvSpPr>
        <p:spPr>
          <a:xfrm>
            <a:off x="3059949" y="2277666"/>
            <a:ext cx="7787785" cy="4111510"/>
          </a:xfrm>
          <a:prstGeom prst="rect">
            <a:avLst/>
          </a:prstGeom>
          <a:solidFill>
            <a:srgbClr val="F2F2F2"/>
          </a:solidFill>
        </p:spPr>
        <p:txBody>
          <a:bodyPr wrap="square">
            <a:spAutoFit/>
          </a:bodyPr>
          <a:lstStyle/>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&lt;!DOCTYPE html&gt;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&lt;html&gt;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&lt;head&gt;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&lt;meta charset="UTF-8"&gt;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&lt;meta name="viewport" content="width=device-width, initial-scale=1.0"&gt;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&lt;title&gt;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导航栏</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&lt;/title&gt;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&lt;link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rel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="stylesheet"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="bootstrap-4.6.0-dist/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css</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/bootstrap.min.css"&gt;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&lt;/head&gt;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&lt;body&gt;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&lt;/body&gt;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&lt;/html&gt;</a:t>
            </a:r>
          </a:p>
        </p:txBody>
      </p:sp>
      <p:grpSp>
        <p:nvGrpSpPr>
          <p:cNvPr id="9" name="组合 8">
            <a:extLst>
              <a:ext uri="{FF2B5EF4-FFF2-40B4-BE49-F238E27FC236}">
                <a16:creationId xmlns:a16="http://schemas.microsoft.com/office/drawing/2014/main" id="{A572FBBE-CAFE-4ACA-A2BE-18AF7BB24AAF}"/>
              </a:ext>
            </a:extLst>
          </p:cNvPr>
          <p:cNvGrpSpPr/>
          <p:nvPr/>
        </p:nvGrpSpPr>
        <p:grpSpPr>
          <a:xfrm>
            <a:off x="1143690" y="1152646"/>
            <a:ext cx="1747943" cy="773218"/>
            <a:chOff x="961390" y="2294944"/>
            <a:chExt cx="1747943" cy="773218"/>
          </a:xfrm>
        </p:grpSpPr>
        <p:sp>
          <p:nvSpPr>
            <p:cNvPr id="10" name="圆角矩形 4">
              <a:extLst>
                <a:ext uri="{FF2B5EF4-FFF2-40B4-BE49-F238E27FC236}">
                  <a16:creationId xmlns:a16="http://schemas.microsoft.com/office/drawing/2014/main" id="{CDD18056-555A-4BE9-82BB-444DA5BD33BC}"/>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1" name="文本框 10">
              <a:extLst>
                <a:ext uri="{FF2B5EF4-FFF2-40B4-BE49-F238E27FC236}">
                  <a16:creationId xmlns:a16="http://schemas.microsoft.com/office/drawing/2014/main" id="{A2BBEFDF-A3BB-4734-B8AB-7313B33D760E}"/>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01</a:t>
              </a:r>
            </a:p>
          </p:txBody>
        </p:sp>
      </p:grpSp>
      <p:sp>
        <p:nvSpPr>
          <p:cNvPr id="13" name="1">
            <a:extLst>
              <a:ext uri="{FF2B5EF4-FFF2-40B4-BE49-F238E27FC236}">
                <a16:creationId xmlns:a16="http://schemas.microsoft.com/office/drawing/2014/main" id="{E731EE78-15F3-4ED1-8765-78C87D3226C1}"/>
              </a:ext>
            </a:extLst>
          </p:cNvPr>
          <p:cNvSpPr txBox="1"/>
          <p:nvPr>
            <p:custDataLst>
              <p:tags r:id="rId1"/>
            </p:custDataLst>
          </p:nvPr>
        </p:nvSpPr>
        <p:spPr>
          <a:xfrm>
            <a:off x="3017371" y="1053530"/>
            <a:ext cx="8722842" cy="1107996"/>
          </a:xfrm>
          <a:prstGeom prst="rect">
            <a:avLst/>
          </a:prstGeom>
          <a:noFill/>
          <a:ln>
            <a:noFill/>
          </a:ln>
        </p:spPr>
        <p:txBody>
          <a:bodyPr wrap="square" rtlCol="0">
            <a:spAutoFit/>
          </a:bodyPr>
          <a:lstStyle/>
          <a:p>
            <a:pPr lvl="0" defTabSz="457200">
              <a:lnSpc>
                <a:spcPct val="150000"/>
              </a:lnSpc>
              <a:defRPr/>
            </a:pPr>
            <a:r>
              <a:rPr lang="zh-CN" altLang="en-US" sz="2400" b="1" kern="0" dirty="0">
                <a:solidFill>
                  <a:srgbClr val="595959"/>
                </a:solidFill>
                <a:latin typeface="微软雅黑" panose="020B0503020204020204" pitchFamily="34" charset="-122"/>
                <a:ea typeface="微软雅黑" panose="020B0503020204020204" pitchFamily="34" charset="-122"/>
                <a:cs typeface="+mn-ea"/>
                <a:sym typeface="+mn-lt"/>
              </a:rPr>
              <a:t>实现基础导航栏页面</a:t>
            </a:r>
            <a:endParaRPr lang="en-US" altLang="zh-CN" sz="2400" b="1" kern="0" dirty="0">
              <a:solidFill>
                <a:srgbClr val="595959"/>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创建</a:t>
            </a:r>
            <a:r>
              <a:rPr lang="en-US" altLang="zh-CN" sz="2000" dirty="0">
                <a:solidFill>
                  <a:srgbClr val="595959"/>
                </a:solidFill>
                <a:latin typeface="微软雅黑" panose="020B0503020204020204" pitchFamily="34" charset="-122"/>
                <a:ea typeface="微软雅黑" panose="020B0503020204020204" pitchFamily="34" charset="-122"/>
              </a:rPr>
              <a:t>C:\code\chapter06\demo04.html</a:t>
            </a:r>
            <a:r>
              <a:rPr lang="zh-CN" altLang="en-US" sz="2000" dirty="0">
                <a:solidFill>
                  <a:srgbClr val="595959"/>
                </a:solidFill>
                <a:latin typeface="微软雅黑" panose="020B0503020204020204" pitchFamily="34" charset="-122"/>
                <a:ea typeface="微软雅黑" panose="020B0503020204020204" pitchFamily="34" charset="-122"/>
              </a:rPr>
              <a:t>，配置</a:t>
            </a:r>
            <a:r>
              <a:rPr lang="zh-CN" altLang="en-US" sz="2000" dirty="0">
                <a:solidFill>
                  <a:srgbClr val="1369B2"/>
                </a:solidFill>
                <a:latin typeface="微软雅黑" panose="020B0503020204020204" pitchFamily="34" charset="-122"/>
                <a:ea typeface="微软雅黑" panose="020B0503020204020204" pitchFamily="34" charset="-122"/>
              </a:rPr>
              <a:t>视口</a:t>
            </a:r>
            <a:r>
              <a:rPr lang="zh-CN" altLang="en-US" sz="2000" dirty="0">
                <a:solidFill>
                  <a:srgbClr val="595959"/>
                </a:solidFill>
                <a:latin typeface="微软雅黑" panose="020B0503020204020204" pitchFamily="34" charset="-122"/>
                <a:ea typeface="微软雅黑" panose="020B0503020204020204" pitchFamily="34" charset="-122"/>
              </a:rPr>
              <a:t>并</a:t>
            </a:r>
            <a:r>
              <a:rPr lang="zh-CN" altLang="en-US" sz="2000" dirty="0">
                <a:solidFill>
                  <a:srgbClr val="1369B2"/>
                </a:solidFill>
                <a:latin typeface="微软雅黑" panose="020B0503020204020204" pitchFamily="34" charset="-122"/>
                <a:ea typeface="微软雅黑" panose="020B0503020204020204" pitchFamily="34" charset="-122"/>
              </a:rPr>
              <a:t>引入</a:t>
            </a:r>
            <a:r>
              <a:rPr lang="zh-CN" altLang="en-US" sz="2000" dirty="0">
                <a:solidFill>
                  <a:srgbClr val="595959"/>
                </a:solidFill>
                <a:latin typeface="微软雅黑" panose="020B0503020204020204" pitchFamily="34" charset="-122"/>
                <a:ea typeface="微软雅黑" panose="020B0503020204020204" pitchFamily="34" charset="-122"/>
              </a:rPr>
              <a:t>依赖文件。</a:t>
            </a:r>
          </a:p>
        </p:txBody>
      </p:sp>
      <p:sp>
        <p:nvSpPr>
          <p:cNvPr id="14" name="Title 1">
            <a:extLst>
              <a:ext uri="{FF2B5EF4-FFF2-40B4-BE49-F238E27FC236}">
                <a16:creationId xmlns:a16="http://schemas.microsoft.com/office/drawing/2014/main" id="{43DA623A-F92E-4B1A-8E24-D4DF8F48A24D}"/>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6.2.1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基础导航</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栏组件</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8488479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83AC20C6-8630-496F-8BEE-FE67057070D4}"/>
              </a:ext>
            </a:extLst>
          </p:cNvPr>
          <p:cNvSpPr txBox="1"/>
          <p:nvPr/>
        </p:nvSpPr>
        <p:spPr>
          <a:xfrm>
            <a:off x="3059949" y="2277666"/>
            <a:ext cx="7787785" cy="4203843"/>
          </a:xfrm>
          <a:prstGeom prst="rect">
            <a:avLst/>
          </a:prstGeom>
          <a:solidFill>
            <a:srgbClr val="F2F2F2"/>
          </a:solidFill>
        </p:spPr>
        <p:txBody>
          <a:bodyPr wrap="square">
            <a:spAutoFit/>
          </a:bodyPr>
          <a:lstStyle/>
          <a:p>
            <a:pPr lvl="0">
              <a:lnSpc>
                <a:spcPct val="120000"/>
              </a:lnSpc>
              <a:defRPr/>
            </a:pPr>
            <a:r>
              <a:rPr lang="zh-CN" altLang="en-US" sz="14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小屏幕上水平导航栏会切换为垂直的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&lt;nav class="navbar navbar-expand-</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sm</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bg</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-dark navbar-dark"&gt;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&lt;ul class="navbar-nav"&gt;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 class="nav-item"&gt;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 class="nav-link"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首页</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&lt;/a&gt;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 class="nav-item"&gt;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 class="nav-link"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标题</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1&lt;/a&gt;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 class="nav-item"&gt;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 class="nav-link"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标题</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2&lt;/a&gt;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&lt;/ul&gt;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&lt;/nav&gt;</a:t>
            </a:r>
          </a:p>
        </p:txBody>
      </p:sp>
      <p:grpSp>
        <p:nvGrpSpPr>
          <p:cNvPr id="9" name="组合 8">
            <a:extLst>
              <a:ext uri="{FF2B5EF4-FFF2-40B4-BE49-F238E27FC236}">
                <a16:creationId xmlns:a16="http://schemas.microsoft.com/office/drawing/2014/main" id="{A572FBBE-CAFE-4ACA-A2BE-18AF7BB24AAF}"/>
              </a:ext>
            </a:extLst>
          </p:cNvPr>
          <p:cNvGrpSpPr/>
          <p:nvPr/>
        </p:nvGrpSpPr>
        <p:grpSpPr>
          <a:xfrm>
            <a:off x="1143690" y="1152646"/>
            <a:ext cx="1747943" cy="773218"/>
            <a:chOff x="961390" y="2294944"/>
            <a:chExt cx="1747943" cy="773218"/>
          </a:xfrm>
        </p:grpSpPr>
        <p:sp>
          <p:nvSpPr>
            <p:cNvPr id="10" name="圆角矩形 4">
              <a:extLst>
                <a:ext uri="{FF2B5EF4-FFF2-40B4-BE49-F238E27FC236}">
                  <a16:creationId xmlns:a16="http://schemas.microsoft.com/office/drawing/2014/main" id="{CDD18056-555A-4BE9-82BB-444DA5BD33BC}"/>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1" name="文本框 10">
              <a:extLst>
                <a:ext uri="{FF2B5EF4-FFF2-40B4-BE49-F238E27FC236}">
                  <a16:creationId xmlns:a16="http://schemas.microsoft.com/office/drawing/2014/main" id="{A2BBEFDF-A3BB-4734-B8AB-7313B33D760E}"/>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02</a:t>
              </a:r>
            </a:p>
          </p:txBody>
        </p:sp>
      </p:grpSp>
      <p:sp>
        <p:nvSpPr>
          <p:cNvPr id="13" name="1">
            <a:extLst>
              <a:ext uri="{FF2B5EF4-FFF2-40B4-BE49-F238E27FC236}">
                <a16:creationId xmlns:a16="http://schemas.microsoft.com/office/drawing/2014/main" id="{E731EE78-15F3-4ED1-8765-78C87D3226C1}"/>
              </a:ext>
            </a:extLst>
          </p:cNvPr>
          <p:cNvSpPr txBox="1"/>
          <p:nvPr>
            <p:custDataLst>
              <p:tags r:id="rId1"/>
            </p:custDataLst>
          </p:nvPr>
        </p:nvSpPr>
        <p:spPr>
          <a:xfrm>
            <a:off x="3017371" y="1053530"/>
            <a:ext cx="8722842" cy="1107996"/>
          </a:xfrm>
          <a:prstGeom prst="rect">
            <a:avLst/>
          </a:prstGeom>
          <a:noFill/>
          <a:ln>
            <a:noFill/>
          </a:ln>
        </p:spPr>
        <p:txBody>
          <a:bodyPr wrap="square" rtlCol="0">
            <a:spAutoFit/>
          </a:bodyPr>
          <a:lstStyle/>
          <a:p>
            <a:pPr lvl="0" defTabSz="457200">
              <a:lnSpc>
                <a:spcPct val="150000"/>
              </a:lnSpc>
              <a:defRPr/>
            </a:pPr>
            <a:r>
              <a:rPr lang="zh-CN" altLang="en-US" sz="2400" b="1" kern="0" dirty="0">
                <a:solidFill>
                  <a:srgbClr val="595959"/>
                </a:solidFill>
                <a:latin typeface="微软雅黑" panose="020B0503020204020204" pitchFamily="34" charset="-122"/>
                <a:ea typeface="微软雅黑" panose="020B0503020204020204" pitchFamily="34" charset="-122"/>
                <a:cs typeface="+mn-ea"/>
                <a:sym typeface="+mn-lt"/>
              </a:rPr>
              <a:t>实现基础导航栏页面</a:t>
            </a:r>
            <a:endParaRPr lang="en-US" altLang="zh-CN" sz="2400" b="1" kern="0" dirty="0">
              <a:solidFill>
                <a:srgbClr val="595959"/>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修改</a:t>
            </a:r>
            <a:r>
              <a:rPr lang="en-US" altLang="zh-CN" sz="2000" dirty="0">
                <a:solidFill>
                  <a:srgbClr val="595959"/>
                </a:solidFill>
                <a:latin typeface="微软雅黑" panose="020B0503020204020204" pitchFamily="34" charset="-122"/>
                <a:ea typeface="微软雅黑" panose="020B0503020204020204" pitchFamily="34" charset="-122"/>
              </a:rPr>
              <a:t>demo04.html</a:t>
            </a:r>
            <a:r>
              <a:rPr lang="zh-CN" altLang="en-US" sz="2000" dirty="0">
                <a:solidFill>
                  <a:srgbClr val="595959"/>
                </a:solidFill>
                <a:latin typeface="微软雅黑" panose="020B0503020204020204" pitchFamily="34" charset="-122"/>
                <a:ea typeface="微软雅黑" panose="020B0503020204020204" pitchFamily="34" charset="-122"/>
              </a:rPr>
              <a:t>，在</a:t>
            </a:r>
            <a:r>
              <a:rPr lang="en-US" altLang="zh-CN" sz="2000" dirty="0">
                <a:solidFill>
                  <a:srgbClr val="1369B2"/>
                </a:solidFill>
                <a:latin typeface="微软雅黑" panose="020B0503020204020204" pitchFamily="34" charset="-122"/>
                <a:ea typeface="微软雅黑" panose="020B0503020204020204" pitchFamily="34" charset="-122"/>
              </a:rPr>
              <a:t>&lt;/body&gt;</a:t>
            </a:r>
            <a:r>
              <a:rPr lang="zh-CN" altLang="en-US" sz="2000" dirty="0">
                <a:solidFill>
                  <a:srgbClr val="595959"/>
                </a:solidFill>
                <a:latin typeface="微软雅黑" panose="020B0503020204020204" pitchFamily="34" charset="-122"/>
                <a:ea typeface="微软雅黑" panose="020B0503020204020204" pitchFamily="34" charset="-122"/>
              </a:rPr>
              <a:t>标签结束之前添加以下代码。</a:t>
            </a:r>
          </a:p>
        </p:txBody>
      </p:sp>
      <p:sp>
        <p:nvSpPr>
          <p:cNvPr id="14" name="Title 1">
            <a:extLst>
              <a:ext uri="{FF2B5EF4-FFF2-40B4-BE49-F238E27FC236}">
                <a16:creationId xmlns:a16="http://schemas.microsoft.com/office/drawing/2014/main" id="{43DA623A-F92E-4B1A-8E24-D4DF8F48A24D}"/>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6.2.1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基础导航</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栏组件</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6277730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A572FBBE-CAFE-4ACA-A2BE-18AF7BB24AAF}"/>
              </a:ext>
            </a:extLst>
          </p:cNvPr>
          <p:cNvGrpSpPr/>
          <p:nvPr/>
        </p:nvGrpSpPr>
        <p:grpSpPr>
          <a:xfrm>
            <a:off x="1143690" y="1152646"/>
            <a:ext cx="1747943" cy="773218"/>
            <a:chOff x="961390" y="2294944"/>
            <a:chExt cx="1747943" cy="773218"/>
          </a:xfrm>
        </p:grpSpPr>
        <p:sp>
          <p:nvSpPr>
            <p:cNvPr id="10" name="圆角矩形 4">
              <a:extLst>
                <a:ext uri="{FF2B5EF4-FFF2-40B4-BE49-F238E27FC236}">
                  <a16:creationId xmlns:a16="http://schemas.microsoft.com/office/drawing/2014/main" id="{CDD18056-555A-4BE9-82BB-444DA5BD33BC}"/>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1" name="文本框 10">
              <a:extLst>
                <a:ext uri="{FF2B5EF4-FFF2-40B4-BE49-F238E27FC236}">
                  <a16:creationId xmlns:a16="http://schemas.microsoft.com/office/drawing/2014/main" id="{A2BBEFDF-A3BB-4734-B8AB-7313B33D760E}"/>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03</a:t>
              </a:r>
            </a:p>
          </p:txBody>
        </p:sp>
      </p:grpSp>
      <p:sp>
        <p:nvSpPr>
          <p:cNvPr id="13" name="1">
            <a:extLst>
              <a:ext uri="{FF2B5EF4-FFF2-40B4-BE49-F238E27FC236}">
                <a16:creationId xmlns:a16="http://schemas.microsoft.com/office/drawing/2014/main" id="{E731EE78-15F3-4ED1-8765-78C87D3226C1}"/>
              </a:ext>
            </a:extLst>
          </p:cNvPr>
          <p:cNvSpPr txBox="1"/>
          <p:nvPr>
            <p:custDataLst>
              <p:tags r:id="rId1"/>
            </p:custDataLst>
          </p:nvPr>
        </p:nvSpPr>
        <p:spPr>
          <a:xfrm>
            <a:off x="3017371" y="1053530"/>
            <a:ext cx="8722842" cy="1107996"/>
          </a:xfrm>
          <a:prstGeom prst="rect">
            <a:avLst/>
          </a:prstGeom>
          <a:noFill/>
          <a:ln>
            <a:noFill/>
          </a:ln>
        </p:spPr>
        <p:txBody>
          <a:bodyPr wrap="square" rtlCol="0">
            <a:spAutoFit/>
          </a:bodyPr>
          <a:lstStyle/>
          <a:p>
            <a:pPr lvl="0" defTabSz="457200">
              <a:lnSpc>
                <a:spcPct val="150000"/>
              </a:lnSpc>
              <a:defRPr/>
            </a:pPr>
            <a:r>
              <a:rPr lang="zh-CN" altLang="en-US" sz="2400" b="1" kern="0" dirty="0">
                <a:solidFill>
                  <a:srgbClr val="595959"/>
                </a:solidFill>
                <a:latin typeface="微软雅黑" panose="020B0503020204020204" pitchFamily="34" charset="-122"/>
                <a:ea typeface="微软雅黑" panose="020B0503020204020204" pitchFamily="34" charset="-122"/>
                <a:cs typeface="+mn-ea"/>
                <a:sym typeface="+mn-lt"/>
              </a:rPr>
              <a:t>在浏览器中访问</a:t>
            </a:r>
            <a:r>
              <a:rPr lang="en-US" altLang="zh-CN" sz="2400" b="1" kern="0" dirty="0">
                <a:solidFill>
                  <a:srgbClr val="595959"/>
                </a:solidFill>
                <a:latin typeface="微软雅黑" panose="020B0503020204020204" pitchFamily="34" charset="-122"/>
                <a:ea typeface="微软雅黑" panose="020B0503020204020204" pitchFamily="34" charset="-122"/>
                <a:cs typeface="+mn-ea"/>
                <a:sym typeface="+mn-lt"/>
              </a:rPr>
              <a:t>demo04.html</a:t>
            </a:r>
          </a:p>
          <a:p>
            <a:pPr lvl="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基础导航栏（</a:t>
            </a:r>
            <a:r>
              <a:rPr lang="zh-CN" altLang="en-US" sz="2000" dirty="0">
                <a:solidFill>
                  <a:srgbClr val="1369B2"/>
                </a:solidFill>
                <a:latin typeface="微软雅黑" panose="020B0503020204020204" pitchFamily="34" charset="-122"/>
                <a:ea typeface="微软雅黑" panose="020B0503020204020204" pitchFamily="34" charset="-122"/>
              </a:rPr>
              <a:t>水平</a:t>
            </a:r>
            <a:r>
              <a:rPr lang="zh-CN" altLang="en-US" sz="2000" dirty="0">
                <a:solidFill>
                  <a:srgbClr val="595959"/>
                </a:solidFill>
                <a:latin typeface="微软雅黑" panose="020B0503020204020204" pitchFamily="34" charset="-122"/>
                <a:ea typeface="微软雅黑" panose="020B0503020204020204" pitchFamily="34" charset="-122"/>
              </a:rPr>
              <a:t>）页面效果如图。</a:t>
            </a:r>
          </a:p>
        </p:txBody>
      </p:sp>
      <p:pic>
        <p:nvPicPr>
          <p:cNvPr id="3074" name="图片 1">
            <a:extLst>
              <a:ext uri="{FF2B5EF4-FFF2-40B4-BE49-F238E27FC236}">
                <a16:creationId xmlns:a16="http://schemas.microsoft.com/office/drawing/2014/main" id="{E9EFB2A7-2526-4EE0-9DCE-94C96122D0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0870" y="2637706"/>
            <a:ext cx="5427346" cy="1440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itle 1">
            <a:extLst>
              <a:ext uri="{FF2B5EF4-FFF2-40B4-BE49-F238E27FC236}">
                <a16:creationId xmlns:a16="http://schemas.microsoft.com/office/drawing/2014/main" id="{43DA623A-F92E-4B1A-8E24-D4DF8F48A24D}"/>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6.2.1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基础导航</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栏组件</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7952995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A572FBBE-CAFE-4ACA-A2BE-18AF7BB24AAF}"/>
              </a:ext>
            </a:extLst>
          </p:cNvPr>
          <p:cNvGrpSpPr/>
          <p:nvPr/>
        </p:nvGrpSpPr>
        <p:grpSpPr>
          <a:xfrm>
            <a:off x="1143690" y="1152646"/>
            <a:ext cx="1747943" cy="773218"/>
            <a:chOff x="961390" y="2294944"/>
            <a:chExt cx="1747943" cy="773218"/>
          </a:xfrm>
        </p:grpSpPr>
        <p:sp>
          <p:nvSpPr>
            <p:cNvPr id="10" name="圆角矩形 4">
              <a:extLst>
                <a:ext uri="{FF2B5EF4-FFF2-40B4-BE49-F238E27FC236}">
                  <a16:creationId xmlns:a16="http://schemas.microsoft.com/office/drawing/2014/main" id="{CDD18056-555A-4BE9-82BB-444DA5BD33BC}"/>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1" name="文本框 10">
              <a:extLst>
                <a:ext uri="{FF2B5EF4-FFF2-40B4-BE49-F238E27FC236}">
                  <a16:creationId xmlns:a16="http://schemas.microsoft.com/office/drawing/2014/main" id="{A2BBEFDF-A3BB-4734-B8AB-7313B33D760E}"/>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04</a:t>
              </a:r>
            </a:p>
          </p:txBody>
        </p:sp>
      </p:grpSp>
      <p:sp>
        <p:nvSpPr>
          <p:cNvPr id="13" name="1">
            <a:extLst>
              <a:ext uri="{FF2B5EF4-FFF2-40B4-BE49-F238E27FC236}">
                <a16:creationId xmlns:a16="http://schemas.microsoft.com/office/drawing/2014/main" id="{E731EE78-15F3-4ED1-8765-78C87D3226C1}"/>
              </a:ext>
            </a:extLst>
          </p:cNvPr>
          <p:cNvSpPr txBox="1"/>
          <p:nvPr>
            <p:custDataLst>
              <p:tags r:id="rId1"/>
            </p:custDataLst>
          </p:nvPr>
        </p:nvSpPr>
        <p:spPr>
          <a:xfrm>
            <a:off x="3017371" y="1053530"/>
            <a:ext cx="8722842" cy="1107996"/>
          </a:xfrm>
          <a:prstGeom prst="rect">
            <a:avLst/>
          </a:prstGeom>
          <a:noFill/>
          <a:ln>
            <a:noFill/>
          </a:ln>
        </p:spPr>
        <p:txBody>
          <a:bodyPr wrap="square" rtlCol="0">
            <a:spAutoFit/>
          </a:bodyPr>
          <a:lstStyle/>
          <a:p>
            <a:pPr lvl="0" defTabSz="457200">
              <a:lnSpc>
                <a:spcPct val="150000"/>
              </a:lnSpc>
              <a:defRPr/>
            </a:pPr>
            <a:r>
              <a:rPr lang="zh-CN" altLang="en-US" sz="2400" b="1" kern="0" dirty="0">
                <a:solidFill>
                  <a:srgbClr val="595959"/>
                </a:solidFill>
                <a:latin typeface="微软雅黑" panose="020B0503020204020204" pitchFamily="34" charset="-122"/>
                <a:ea typeface="微软雅黑" panose="020B0503020204020204" pitchFamily="34" charset="-122"/>
                <a:cs typeface="+mn-ea"/>
                <a:sym typeface="+mn-lt"/>
              </a:rPr>
              <a:t>缩小浏览器窗口</a:t>
            </a:r>
            <a:endParaRPr lang="en-US" altLang="zh-CN" sz="2400" b="1" kern="0" dirty="0">
              <a:solidFill>
                <a:srgbClr val="595959"/>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在小屏幕上水平导航栏会切换为</a:t>
            </a:r>
            <a:r>
              <a:rPr lang="zh-CN" altLang="en-US" sz="2000" dirty="0">
                <a:solidFill>
                  <a:srgbClr val="1369B2"/>
                </a:solidFill>
                <a:latin typeface="微软雅黑" panose="020B0503020204020204" pitchFamily="34" charset="-122"/>
                <a:ea typeface="微软雅黑" panose="020B0503020204020204" pitchFamily="34" charset="-122"/>
              </a:rPr>
              <a:t>垂直</a:t>
            </a:r>
            <a:r>
              <a:rPr lang="zh-CN" altLang="en-US" sz="2000" dirty="0">
                <a:solidFill>
                  <a:srgbClr val="595959"/>
                </a:solidFill>
                <a:latin typeface="微软雅黑" panose="020B0503020204020204" pitchFamily="34" charset="-122"/>
                <a:ea typeface="微软雅黑" panose="020B0503020204020204" pitchFamily="34" charset="-122"/>
              </a:rPr>
              <a:t>的导航栏。</a:t>
            </a:r>
          </a:p>
        </p:txBody>
      </p:sp>
      <p:pic>
        <p:nvPicPr>
          <p:cNvPr id="4098" name="图片 1">
            <a:extLst>
              <a:ext uri="{FF2B5EF4-FFF2-40B4-BE49-F238E27FC236}">
                <a16:creationId xmlns:a16="http://schemas.microsoft.com/office/drawing/2014/main" id="{01489594-5945-49B3-8503-2D739A5BD5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4886" y="2441975"/>
            <a:ext cx="4990347" cy="2304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itle 1">
            <a:extLst>
              <a:ext uri="{FF2B5EF4-FFF2-40B4-BE49-F238E27FC236}">
                <a16:creationId xmlns:a16="http://schemas.microsoft.com/office/drawing/2014/main" id="{43DA623A-F92E-4B1A-8E24-D4DF8F48A24D}"/>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6.2.1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基础导航</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栏组件</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1984235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7"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815964" y="3576722"/>
            <a:ext cx="5751849" cy="1231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sz="2400" dirty="0" smtClean="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在导航栏中添加品牌标志</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的实现方法</a:t>
            </a:r>
            <a:r>
              <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能够实现带有品牌标志的导航栏</a:t>
            </a:r>
            <a:r>
              <a:rPr lang="zh-CN" altLang="en-US"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页面</a:t>
            </a:r>
            <a:endParaRPr lang="zh-CN" altLang="en-US" dirty="0">
              <a:solidFill>
                <a:srgbClr val="595959"/>
              </a:solidFill>
              <a:latin typeface="微软雅黑" panose="020B0503020204020204" pitchFamily="34" charset="-122"/>
              <a:ea typeface="微软雅黑" panose="020B0503020204020204" pitchFamily="34" charset="-122"/>
              <a:cs typeface="+mn-ea"/>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Title 1">
            <a:extLst>
              <a:ext uri="{FF2B5EF4-FFF2-40B4-BE49-F238E27FC236}">
                <a16:creationId xmlns:a16="http://schemas.microsoft.com/office/drawing/2014/main" id="{43DA623A-F92E-4B1A-8E24-D4DF8F48A24D}"/>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6.2.2  </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在导航栏中添加品牌标志</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4314174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1">
            <a:extLst>
              <a:ext uri="{FF2B5EF4-FFF2-40B4-BE49-F238E27FC236}">
                <a16:creationId xmlns:a16="http://schemas.microsoft.com/office/drawing/2014/main" id="{C72381D9-61FE-4369-9B57-1E7DEBE3B9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0870" y="2277666"/>
            <a:ext cx="5921351" cy="1544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35">
            <a:extLst>
              <a:ext uri="{FF2B5EF4-FFF2-40B4-BE49-F238E27FC236}">
                <a16:creationId xmlns:a16="http://schemas.microsoft.com/office/drawing/2014/main" id="{97B4EA33-2D04-4326-94A3-9A7E369BF162}"/>
              </a:ext>
            </a:extLst>
          </p:cNvPr>
          <p:cNvSpPr txBox="1">
            <a:spLocks noChangeArrowheads="1"/>
          </p:cNvSpPr>
          <p:nvPr/>
        </p:nvSpPr>
        <p:spPr bwMode="auto">
          <a:xfrm>
            <a:off x="994466" y="1269554"/>
            <a:ext cx="10441160" cy="584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实现带有</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品牌标志</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的导航栏页面，效果如图：</a:t>
            </a:r>
          </a:p>
        </p:txBody>
      </p:sp>
      <p:sp>
        <p:nvSpPr>
          <p:cNvPr id="9" name="Title 1">
            <a:extLst>
              <a:ext uri="{FF2B5EF4-FFF2-40B4-BE49-F238E27FC236}">
                <a16:creationId xmlns:a16="http://schemas.microsoft.com/office/drawing/2014/main" id="{43DA623A-F92E-4B1A-8E24-D4DF8F48A24D}"/>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6.2.2  </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在导航栏中添加品牌标志</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2423400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54AA4975-EB6A-4010-ADA0-80142EAE4C7C}"/>
              </a:ext>
            </a:extLst>
          </p:cNvPr>
          <p:cNvSpPr txBox="1"/>
          <p:nvPr/>
        </p:nvSpPr>
        <p:spPr>
          <a:xfrm>
            <a:off x="1702718" y="2493690"/>
            <a:ext cx="8640960" cy="2346283"/>
          </a:xfrm>
          <a:prstGeom prst="rect">
            <a:avLst/>
          </a:prstGeom>
          <a:solidFill>
            <a:srgbClr val="F2F2F2"/>
          </a:solidFill>
        </p:spPr>
        <p:txBody>
          <a:bodyPr wrap="square">
            <a:spAutoFit/>
          </a:bodyPr>
          <a:lstStyle/>
          <a:p>
            <a:pPr lvl="0">
              <a:lnSpc>
                <a:spcPct val="150000"/>
              </a:lnSpc>
              <a:defRPr/>
            </a:pPr>
            <a:r>
              <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 </a:t>
            </a:r>
            <a:r>
              <a:rPr lang="zh-CN" altLang="en-US"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小屏幕上水平导航栏会切换为垂直的 </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lvl="0">
              <a:lnSpc>
                <a:spcPct val="150000"/>
              </a:lnSpc>
              <a:defRPr/>
            </a:pPr>
            <a:r>
              <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&lt;nav class="navbar navbar-expand-</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sm</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bg</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-dark navbar-dark"&gt;</a:t>
            </a:r>
          </a:p>
          <a:p>
            <a:pPr lvl="0">
              <a:lnSpc>
                <a:spcPct val="150000"/>
              </a:lnSpc>
              <a:defRPr/>
            </a:pPr>
            <a:r>
              <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 class="navbar-brand" </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="#"&gt;Navbar&lt;/a&gt;</a:t>
            </a:r>
          </a:p>
          <a:p>
            <a:pPr lvl="0">
              <a:lnSpc>
                <a:spcPct val="150000"/>
              </a:lnSpc>
              <a:defRPr/>
            </a:pPr>
            <a:r>
              <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 </a:t>
            </a:r>
            <a:r>
              <a:rPr lang="zh-CN" altLang="en-US"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原代码 </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lvl="0">
              <a:lnSpc>
                <a:spcPct val="150000"/>
              </a:lnSpc>
              <a:defRPr/>
            </a:pPr>
            <a:r>
              <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&lt;/nav&gt;</a:t>
            </a:r>
          </a:p>
        </p:txBody>
      </p:sp>
      <p:sp>
        <p:nvSpPr>
          <p:cNvPr id="7" name="Title 1">
            <a:extLst>
              <a:ext uri="{FF2B5EF4-FFF2-40B4-BE49-F238E27FC236}">
                <a16:creationId xmlns:a16="http://schemas.microsoft.com/office/drawing/2014/main" id="{43DA623A-F92E-4B1A-8E24-D4DF8F48A24D}"/>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6.2.2  </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在导航栏中添加品牌标志</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grpSp>
        <p:nvGrpSpPr>
          <p:cNvPr id="12" name="组合 11">
            <a:extLst>
              <a:ext uri="{FF2B5EF4-FFF2-40B4-BE49-F238E27FC236}">
                <a16:creationId xmlns:a16="http://schemas.microsoft.com/office/drawing/2014/main" id="{A572FBBE-CAFE-4ACA-A2BE-18AF7BB24AAF}"/>
              </a:ext>
            </a:extLst>
          </p:cNvPr>
          <p:cNvGrpSpPr/>
          <p:nvPr/>
        </p:nvGrpSpPr>
        <p:grpSpPr>
          <a:xfrm>
            <a:off x="1143690" y="1152646"/>
            <a:ext cx="1747943" cy="773218"/>
            <a:chOff x="961390" y="2294944"/>
            <a:chExt cx="1747943" cy="773218"/>
          </a:xfrm>
        </p:grpSpPr>
        <p:sp>
          <p:nvSpPr>
            <p:cNvPr id="13" name="圆角矩形 4">
              <a:extLst>
                <a:ext uri="{FF2B5EF4-FFF2-40B4-BE49-F238E27FC236}">
                  <a16:creationId xmlns:a16="http://schemas.microsoft.com/office/drawing/2014/main" id="{CDD18056-555A-4BE9-82BB-444DA5BD33BC}"/>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4" name="文本框 13">
              <a:extLst>
                <a:ext uri="{FF2B5EF4-FFF2-40B4-BE49-F238E27FC236}">
                  <a16:creationId xmlns:a16="http://schemas.microsoft.com/office/drawing/2014/main" id="{A2BBEFDF-A3BB-4734-B8AB-7313B33D760E}"/>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01</a:t>
              </a:r>
            </a:p>
          </p:txBody>
        </p:sp>
      </p:grpSp>
      <p:sp>
        <p:nvSpPr>
          <p:cNvPr id="15" name="1">
            <a:extLst>
              <a:ext uri="{FF2B5EF4-FFF2-40B4-BE49-F238E27FC236}">
                <a16:creationId xmlns:a16="http://schemas.microsoft.com/office/drawing/2014/main" id="{E731EE78-15F3-4ED1-8765-78C87D3226C1}"/>
              </a:ext>
            </a:extLst>
          </p:cNvPr>
          <p:cNvSpPr txBox="1"/>
          <p:nvPr>
            <p:custDataLst>
              <p:tags r:id="rId1"/>
            </p:custDataLst>
          </p:nvPr>
        </p:nvSpPr>
        <p:spPr>
          <a:xfrm>
            <a:off x="3017371" y="1053530"/>
            <a:ext cx="8722842" cy="1107996"/>
          </a:xfrm>
          <a:prstGeom prst="rect">
            <a:avLst/>
          </a:prstGeom>
          <a:noFill/>
          <a:ln>
            <a:noFill/>
          </a:ln>
        </p:spPr>
        <p:txBody>
          <a:bodyPr wrap="square" rtlCol="0">
            <a:spAutoFit/>
          </a:bodyPr>
          <a:lstStyle/>
          <a:p>
            <a:pPr lvl="0" defTabSz="457200">
              <a:lnSpc>
                <a:spcPct val="150000"/>
              </a:lnSpc>
              <a:defRPr/>
            </a:pPr>
            <a:r>
              <a:rPr lang="zh-CN" altLang="en-US" sz="2400" b="1" kern="0" dirty="0" smtClean="0">
                <a:solidFill>
                  <a:srgbClr val="595959"/>
                </a:solidFill>
                <a:latin typeface="微软雅黑" panose="020B0503020204020204" pitchFamily="34" charset="-122"/>
                <a:ea typeface="微软雅黑" panose="020B0503020204020204" pitchFamily="34" charset="-122"/>
                <a:cs typeface="+mn-ea"/>
                <a:sym typeface="+mn-lt"/>
              </a:rPr>
              <a:t>修改导航</a:t>
            </a:r>
            <a:r>
              <a:rPr lang="zh-CN" altLang="en-US" sz="2400" b="1" kern="0" dirty="0">
                <a:solidFill>
                  <a:srgbClr val="595959"/>
                </a:solidFill>
                <a:latin typeface="微软雅黑" panose="020B0503020204020204" pitchFamily="34" charset="-122"/>
                <a:ea typeface="微软雅黑" panose="020B0503020204020204" pitchFamily="34" charset="-122"/>
                <a:cs typeface="+mn-ea"/>
                <a:sym typeface="+mn-lt"/>
              </a:rPr>
              <a:t>栏页面</a:t>
            </a:r>
            <a:endParaRPr lang="en-US" altLang="zh-CN" sz="2400" b="1" kern="0" dirty="0">
              <a:solidFill>
                <a:srgbClr val="595959"/>
              </a:solidFill>
              <a:latin typeface="微软雅黑" panose="020B0503020204020204" pitchFamily="34" charset="-122"/>
              <a:ea typeface="微软雅黑" panose="020B0503020204020204" pitchFamily="34" charset="-122"/>
              <a:cs typeface="+mn-ea"/>
              <a:sym typeface="+mn-lt"/>
            </a:endParaRPr>
          </a:p>
          <a:p>
            <a:pPr defTabSz="457200">
              <a:lnSpc>
                <a:spcPct val="150000"/>
              </a:lnSpc>
              <a:defRPr/>
            </a:pPr>
            <a:r>
              <a:rPr lang="zh-CN" altLang="en-US" sz="2000" dirty="0" smtClean="0">
                <a:solidFill>
                  <a:srgbClr val="595959"/>
                </a:solidFill>
                <a:latin typeface="微软雅黑" panose="020B0503020204020204" pitchFamily="34" charset="-122"/>
                <a:ea typeface="微软雅黑" panose="020B0503020204020204" pitchFamily="34" charset="-122"/>
              </a:rPr>
              <a:t>修改</a:t>
            </a:r>
            <a:r>
              <a:rPr lang="en-US" altLang="zh-CN" sz="2000" dirty="0">
                <a:solidFill>
                  <a:srgbClr val="595959"/>
                </a:solidFill>
                <a:latin typeface="微软雅黑" panose="020B0503020204020204" pitchFamily="34" charset="-122"/>
                <a:ea typeface="微软雅黑" panose="020B0503020204020204" pitchFamily="34" charset="-122"/>
              </a:rPr>
              <a:t>demo04.html</a:t>
            </a:r>
            <a:r>
              <a:rPr lang="zh-CN" altLang="en-US" sz="2000" dirty="0">
                <a:solidFill>
                  <a:srgbClr val="595959"/>
                </a:solidFill>
                <a:latin typeface="微软雅黑" panose="020B0503020204020204" pitchFamily="34" charset="-122"/>
                <a:ea typeface="微软雅黑" panose="020B0503020204020204" pitchFamily="34" charset="-122"/>
              </a:rPr>
              <a:t>文件，给导航栏</a:t>
            </a:r>
            <a:r>
              <a:rPr lang="zh-CN" altLang="en-US" sz="2000" dirty="0">
                <a:solidFill>
                  <a:srgbClr val="1369B2"/>
                </a:solidFill>
                <a:latin typeface="微软雅黑" panose="020B0503020204020204" pitchFamily="34" charset="-122"/>
                <a:ea typeface="微软雅黑" panose="020B0503020204020204" pitchFamily="34" charset="-122"/>
              </a:rPr>
              <a:t>添加品牌</a:t>
            </a:r>
            <a:r>
              <a:rPr lang="zh-CN" altLang="en-US" sz="2000" dirty="0" smtClean="0">
                <a:solidFill>
                  <a:srgbClr val="1369B2"/>
                </a:solidFill>
                <a:latin typeface="微软雅黑" panose="020B0503020204020204" pitchFamily="34" charset="-122"/>
                <a:ea typeface="微软雅黑" panose="020B0503020204020204" pitchFamily="34" charset="-122"/>
              </a:rPr>
              <a:t>标志</a:t>
            </a:r>
            <a:r>
              <a:rPr lang="zh-CN" altLang="en-US" sz="2000" dirty="0" smtClean="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977838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图片 1">
            <a:extLst>
              <a:ext uri="{FF2B5EF4-FFF2-40B4-BE49-F238E27FC236}">
                <a16:creationId xmlns:a16="http://schemas.microsoft.com/office/drawing/2014/main" id="{1FC469BC-4296-4958-8822-6952D60272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6894" y="2493690"/>
            <a:ext cx="5798875" cy="1512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le 1">
            <a:extLst>
              <a:ext uri="{FF2B5EF4-FFF2-40B4-BE49-F238E27FC236}">
                <a16:creationId xmlns:a16="http://schemas.microsoft.com/office/drawing/2014/main" id="{43DA623A-F92E-4B1A-8E24-D4DF8F48A24D}"/>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6.2.2  </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在导航栏中添加品牌标志</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grpSp>
        <p:nvGrpSpPr>
          <p:cNvPr id="11" name="组合 10">
            <a:extLst>
              <a:ext uri="{FF2B5EF4-FFF2-40B4-BE49-F238E27FC236}">
                <a16:creationId xmlns:a16="http://schemas.microsoft.com/office/drawing/2014/main" id="{A572FBBE-CAFE-4ACA-A2BE-18AF7BB24AAF}"/>
              </a:ext>
            </a:extLst>
          </p:cNvPr>
          <p:cNvGrpSpPr/>
          <p:nvPr/>
        </p:nvGrpSpPr>
        <p:grpSpPr>
          <a:xfrm>
            <a:off x="1143690" y="1152646"/>
            <a:ext cx="1747943" cy="773218"/>
            <a:chOff x="961390" y="2294944"/>
            <a:chExt cx="1747943" cy="773218"/>
          </a:xfrm>
        </p:grpSpPr>
        <p:sp>
          <p:nvSpPr>
            <p:cNvPr id="12" name="圆角矩形 4">
              <a:extLst>
                <a:ext uri="{FF2B5EF4-FFF2-40B4-BE49-F238E27FC236}">
                  <a16:creationId xmlns:a16="http://schemas.microsoft.com/office/drawing/2014/main" id="{CDD18056-555A-4BE9-82BB-444DA5BD33BC}"/>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3" name="文本框 12">
              <a:extLst>
                <a:ext uri="{FF2B5EF4-FFF2-40B4-BE49-F238E27FC236}">
                  <a16:creationId xmlns:a16="http://schemas.microsoft.com/office/drawing/2014/main" id="{A2BBEFDF-A3BB-4734-B8AB-7313B33D760E}"/>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02</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
        <p:nvSpPr>
          <p:cNvPr id="14" name="1">
            <a:extLst>
              <a:ext uri="{FF2B5EF4-FFF2-40B4-BE49-F238E27FC236}">
                <a16:creationId xmlns:a16="http://schemas.microsoft.com/office/drawing/2014/main" id="{E731EE78-15F3-4ED1-8765-78C87D3226C1}"/>
              </a:ext>
            </a:extLst>
          </p:cNvPr>
          <p:cNvSpPr txBox="1"/>
          <p:nvPr>
            <p:custDataLst>
              <p:tags r:id="rId1"/>
            </p:custDataLst>
          </p:nvPr>
        </p:nvSpPr>
        <p:spPr>
          <a:xfrm>
            <a:off x="3017371" y="1053530"/>
            <a:ext cx="8722842" cy="1569660"/>
          </a:xfrm>
          <a:prstGeom prst="rect">
            <a:avLst/>
          </a:prstGeom>
          <a:noFill/>
          <a:ln>
            <a:noFill/>
          </a:ln>
        </p:spPr>
        <p:txBody>
          <a:bodyPr wrap="square" rtlCol="0">
            <a:spAutoFit/>
          </a:bodyPr>
          <a:lstStyle/>
          <a:p>
            <a:pPr lvl="0" defTabSz="457200">
              <a:lnSpc>
                <a:spcPct val="150000"/>
              </a:lnSpc>
              <a:defRPr/>
            </a:pPr>
            <a:r>
              <a:rPr lang="zh-CN" altLang="en-US" sz="2400" b="1" kern="0" dirty="0" smtClean="0">
                <a:solidFill>
                  <a:srgbClr val="595959"/>
                </a:solidFill>
                <a:latin typeface="微软雅黑" panose="020B0503020204020204" pitchFamily="34" charset="-122"/>
                <a:ea typeface="微软雅黑" panose="020B0503020204020204" pitchFamily="34" charset="-122"/>
                <a:cs typeface="+mn-ea"/>
                <a:sym typeface="+mn-lt"/>
              </a:rPr>
              <a:t>在浏览器种访问</a:t>
            </a:r>
            <a:r>
              <a:rPr lang="en-US" altLang="zh-CN" b="1" kern="0" dirty="0">
                <a:solidFill>
                  <a:srgbClr val="595959"/>
                </a:solidFill>
                <a:latin typeface="微软雅黑" panose="020B0503020204020204" pitchFamily="34" charset="-122"/>
                <a:ea typeface="微软雅黑" panose="020B0503020204020204" pitchFamily="34" charset="-122"/>
                <a:cs typeface="+mn-ea"/>
                <a:sym typeface="+mn-lt"/>
              </a:rPr>
              <a:t>demo04.html</a:t>
            </a:r>
            <a:endParaRPr lang="en-US" altLang="zh-CN" sz="2400" b="1" kern="0" dirty="0">
              <a:solidFill>
                <a:srgbClr val="595959"/>
              </a:solidFill>
              <a:latin typeface="微软雅黑" panose="020B0503020204020204" pitchFamily="34" charset="-122"/>
              <a:ea typeface="微软雅黑" panose="020B0503020204020204" pitchFamily="34" charset="-122"/>
              <a:cs typeface="+mn-ea"/>
              <a:sym typeface="+mn-lt"/>
            </a:endParaRPr>
          </a:p>
          <a:p>
            <a:pPr defTabSz="457200">
              <a:lnSpc>
                <a:spcPct val="150000"/>
              </a:lnSpc>
              <a:defRPr/>
            </a:pPr>
            <a:r>
              <a:rPr lang="zh-CN" altLang="en-US" sz="2000" dirty="0" smtClean="0">
                <a:solidFill>
                  <a:srgbClr val="595959"/>
                </a:solidFill>
                <a:latin typeface="微软雅黑" panose="020B0503020204020204" pitchFamily="34" charset="-122"/>
                <a:ea typeface="微软雅黑" panose="020B0503020204020204" pitchFamily="34" charset="-122"/>
              </a:rPr>
              <a:t>带有</a:t>
            </a:r>
            <a:r>
              <a:rPr lang="zh-CN" altLang="en-US" sz="2000" dirty="0">
                <a:solidFill>
                  <a:srgbClr val="1369B2"/>
                </a:solidFill>
                <a:latin typeface="微软雅黑" panose="020B0503020204020204" pitchFamily="34" charset="-122"/>
                <a:ea typeface="微软雅黑" panose="020B0503020204020204" pitchFamily="34" charset="-122"/>
              </a:rPr>
              <a:t>品牌标志</a:t>
            </a:r>
            <a:r>
              <a:rPr lang="zh-CN" altLang="en-US" sz="2000" dirty="0">
                <a:solidFill>
                  <a:srgbClr val="595959"/>
                </a:solidFill>
                <a:latin typeface="微软雅黑" panose="020B0503020204020204" pitchFamily="34" charset="-122"/>
                <a:ea typeface="微软雅黑" panose="020B0503020204020204" pitchFamily="34" charset="-122"/>
              </a:rPr>
              <a:t>的</a:t>
            </a:r>
            <a:r>
              <a:rPr lang="zh-CN" altLang="en-US" sz="2000" dirty="0">
                <a:solidFill>
                  <a:srgbClr val="1369B2"/>
                </a:solidFill>
                <a:latin typeface="微软雅黑" panose="020B0503020204020204" pitchFamily="34" charset="-122"/>
                <a:ea typeface="微软雅黑" panose="020B0503020204020204" pitchFamily="34" charset="-122"/>
              </a:rPr>
              <a:t>导航栏</a:t>
            </a:r>
            <a:r>
              <a:rPr lang="zh-CN" altLang="en-US" sz="2000" dirty="0">
                <a:solidFill>
                  <a:srgbClr val="595959"/>
                </a:solidFill>
                <a:latin typeface="微软雅黑" panose="020B0503020204020204" pitchFamily="34" charset="-122"/>
                <a:ea typeface="微软雅黑" panose="020B0503020204020204" pitchFamily="34" charset="-122"/>
              </a:rPr>
              <a:t>页面效果如图。</a:t>
            </a:r>
          </a:p>
          <a:p>
            <a:pPr defTabSz="457200">
              <a:lnSpc>
                <a:spcPct val="150000"/>
              </a:lnSpc>
              <a:defRPr/>
            </a:pPr>
            <a:endParaRPr lang="zh-CN" altLang="en-US" sz="2000" dirty="0">
              <a:solidFill>
                <a:srgbClr val="595959"/>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007004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7"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815965" y="3576722"/>
            <a:ext cx="5429568" cy="1231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sz="24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可折叠的导航</a:t>
            </a:r>
            <a:r>
              <a:rPr lang="zh-CN" altLang="en-US" sz="2400" dirty="0" smtClean="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栏</a:t>
            </a:r>
            <a:r>
              <a:rPr lang="zh-CN" altLang="en-US" sz="2400"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的实现方法</a:t>
            </a:r>
            <a:r>
              <a:rPr lang="zh-CN" altLang="en-US"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能够实现可折叠的导航栏</a:t>
            </a:r>
            <a:r>
              <a:rPr lang="zh-CN" altLang="en-US"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页面</a:t>
            </a:r>
            <a:endParaRPr lang="zh-CN" altLang="en-US" dirty="0">
              <a:solidFill>
                <a:srgbClr val="595959"/>
              </a:solidFill>
              <a:latin typeface="微软雅黑" panose="020B0503020204020204" pitchFamily="34" charset="-122"/>
              <a:ea typeface="微软雅黑" panose="020B0503020204020204" pitchFamily="34" charset="-122"/>
              <a:cs typeface="+mn-ea"/>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Title 1">
            <a:extLst>
              <a:ext uri="{FF2B5EF4-FFF2-40B4-BE49-F238E27FC236}">
                <a16:creationId xmlns:a16="http://schemas.microsoft.com/office/drawing/2014/main" id="{43DA623A-F92E-4B1A-8E24-D4DF8F48A24D}"/>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6.2.3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实现可折叠的导航栏</a:t>
            </a:r>
          </a:p>
        </p:txBody>
      </p:sp>
    </p:spTree>
    <p:extLst>
      <p:ext uri="{BB962C8B-B14F-4D97-AF65-F5344CB8AC3E}">
        <p14:creationId xmlns:p14="http://schemas.microsoft.com/office/powerpoint/2010/main" val="1957949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5"/>
          <p:cNvSpPr txBox="1">
            <a:spLocks noChangeArrowheads="1"/>
          </p:cNvSpPr>
          <p:nvPr/>
        </p:nvSpPr>
        <p:spPr bwMode="auto">
          <a:xfrm>
            <a:off x="994466" y="2114273"/>
            <a:ext cx="10441160" cy="2685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smtClean="0">
                <a:solidFill>
                  <a:srgbClr val="1369B2"/>
                </a:solidFill>
                <a:latin typeface="微软雅黑" panose="020B0503020204020204" pitchFamily="34" charset="-122"/>
                <a:ea typeface="微软雅黑" panose="020B0503020204020204" pitchFamily="34" charset="-122"/>
                <a:cs typeface="+mn-ea"/>
              </a:rPr>
              <a:t>导航</a:t>
            </a:r>
            <a:r>
              <a:rPr lang="zh-CN" altLang="en-US" sz="2000" dirty="0">
                <a:solidFill>
                  <a:srgbClr val="1369B2"/>
                </a:solidFill>
                <a:latin typeface="微软雅黑" panose="020B0503020204020204" pitchFamily="34" charset="-122"/>
                <a:ea typeface="微软雅黑" panose="020B0503020204020204" pitchFamily="34" charset="-122"/>
                <a:cs typeface="+mn-ea"/>
              </a:rPr>
              <a:t>栏折叠功能：</a:t>
            </a:r>
            <a:r>
              <a:rPr lang="zh-CN" altLang="en-US" sz="2000" dirty="0">
                <a:solidFill>
                  <a:srgbClr val="595959"/>
                </a:solidFill>
                <a:latin typeface="微软雅黑" panose="020B0503020204020204" pitchFamily="34" charset="-122"/>
                <a:ea typeface="微软雅黑" panose="020B0503020204020204" pitchFamily="34" charset="-122"/>
                <a:cs typeface="+mn-ea"/>
              </a:rPr>
              <a:t>考虑到有些网站的导航栏内容比较多，为了避免导航栏在小屏幕下占据大量的空间，</a:t>
            </a:r>
            <a:r>
              <a:rPr lang="en-US" altLang="zh-CN" sz="2000" dirty="0">
                <a:solidFill>
                  <a:srgbClr val="595959"/>
                </a:solidFill>
                <a:latin typeface="微软雅黑" panose="020B0503020204020204" pitchFamily="34" charset="-122"/>
                <a:ea typeface="微软雅黑" panose="020B0503020204020204" pitchFamily="34" charset="-122"/>
                <a:cs typeface="+mn-ea"/>
              </a:rPr>
              <a:t>Bootstrap</a:t>
            </a:r>
            <a:r>
              <a:rPr lang="zh-CN" altLang="en-US" sz="2000" dirty="0">
                <a:solidFill>
                  <a:srgbClr val="595959"/>
                </a:solidFill>
                <a:latin typeface="微软雅黑" panose="020B0503020204020204" pitchFamily="34" charset="-122"/>
                <a:ea typeface="微软雅黑" panose="020B0503020204020204" pitchFamily="34" charset="-122"/>
                <a:cs typeface="+mn-ea"/>
              </a:rPr>
              <a:t>提供了导航栏折叠功能。</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11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cs typeface="+mn-ea"/>
              </a:rPr>
              <a:t>可折叠的导航栏的作用：</a:t>
            </a:r>
            <a:r>
              <a:rPr lang="zh-CN" altLang="en-US" sz="2000" dirty="0">
                <a:solidFill>
                  <a:srgbClr val="595959"/>
                </a:solidFill>
                <a:latin typeface="微软雅黑" panose="020B0503020204020204" pitchFamily="34" charset="-122"/>
                <a:ea typeface="微软雅黑" panose="020B0503020204020204" pitchFamily="34" charset="-122"/>
                <a:cs typeface="+mn-ea"/>
              </a:rPr>
              <a:t>能够根据页面的宽度自动调整显示状态，当</a:t>
            </a:r>
            <a:r>
              <a:rPr lang="zh-CN" altLang="en-US" sz="2000" dirty="0">
                <a:solidFill>
                  <a:srgbClr val="1369B2"/>
                </a:solidFill>
                <a:latin typeface="微软雅黑" panose="020B0503020204020204" pitchFamily="34" charset="-122"/>
                <a:ea typeface="微软雅黑" panose="020B0503020204020204" pitchFamily="34" charset="-122"/>
                <a:cs typeface="+mn-ea"/>
              </a:rPr>
              <a:t>屏幕过小</a:t>
            </a:r>
            <a:r>
              <a:rPr lang="zh-CN" altLang="en-US" sz="2000" dirty="0">
                <a:solidFill>
                  <a:srgbClr val="595959"/>
                </a:solidFill>
                <a:latin typeface="微软雅黑" panose="020B0503020204020204" pitchFamily="34" charset="-122"/>
                <a:ea typeface="微软雅黑" panose="020B0503020204020204" pitchFamily="34" charset="-122"/>
                <a:cs typeface="+mn-ea"/>
              </a:rPr>
              <a:t>时，导航栏会</a:t>
            </a:r>
            <a:r>
              <a:rPr lang="zh-CN" altLang="en-US" sz="2000" dirty="0">
                <a:solidFill>
                  <a:srgbClr val="1369B2"/>
                </a:solidFill>
                <a:latin typeface="微软雅黑" panose="020B0503020204020204" pitchFamily="34" charset="-122"/>
                <a:ea typeface="微软雅黑" panose="020B0503020204020204" pitchFamily="34" charset="-122"/>
                <a:cs typeface="+mn-ea"/>
              </a:rPr>
              <a:t>折叠</a:t>
            </a:r>
            <a:r>
              <a:rPr lang="zh-CN" altLang="en-US" sz="2000" dirty="0">
                <a:solidFill>
                  <a:srgbClr val="595959"/>
                </a:solidFill>
                <a:latin typeface="微软雅黑" panose="020B0503020204020204" pitchFamily="34" charset="-122"/>
                <a:ea typeface="微软雅黑" panose="020B0503020204020204" pitchFamily="34" charset="-122"/>
                <a:cs typeface="+mn-ea"/>
              </a:rPr>
              <a:t>起来，并出现一个</a:t>
            </a:r>
            <a:r>
              <a:rPr lang="zh-CN" altLang="en-US" sz="2000" dirty="0">
                <a:solidFill>
                  <a:srgbClr val="1369B2"/>
                </a:solidFill>
                <a:latin typeface="微软雅黑" panose="020B0503020204020204" pitchFamily="34" charset="-122"/>
                <a:ea typeface="微软雅黑" panose="020B0503020204020204" pitchFamily="34" charset="-122"/>
                <a:cs typeface="+mn-ea"/>
              </a:rPr>
              <a:t>折叠按钮</a:t>
            </a:r>
            <a:r>
              <a:rPr lang="zh-CN" altLang="en-US" sz="2000" dirty="0">
                <a:solidFill>
                  <a:srgbClr val="595959"/>
                </a:solidFill>
                <a:latin typeface="微软雅黑" panose="020B0503020204020204" pitchFamily="34" charset="-122"/>
                <a:ea typeface="微软雅黑" panose="020B0503020204020204" pitchFamily="34" charset="-122"/>
                <a:cs typeface="+mn-ea"/>
              </a:rPr>
              <a:t>，用户单击该按钮可以</a:t>
            </a:r>
            <a:r>
              <a:rPr lang="zh-CN" altLang="en-US" sz="2000" dirty="0">
                <a:solidFill>
                  <a:srgbClr val="1369B2"/>
                </a:solidFill>
                <a:latin typeface="微软雅黑" panose="020B0503020204020204" pitchFamily="34" charset="-122"/>
                <a:ea typeface="微软雅黑" panose="020B0503020204020204" pitchFamily="34" charset="-122"/>
                <a:cs typeface="+mn-ea"/>
              </a:rPr>
              <a:t>展开</a:t>
            </a:r>
            <a:r>
              <a:rPr lang="zh-CN" altLang="en-US" sz="2000" dirty="0">
                <a:solidFill>
                  <a:srgbClr val="595959"/>
                </a:solidFill>
                <a:latin typeface="微软雅黑" panose="020B0503020204020204" pitchFamily="34" charset="-122"/>
                <a:ea typeface="微软雅黑" panose="020B0503020204020204" pitchFamily="34" charset="-122"/>
                <a:cs typeface="+mn-ea"/>
              </a:rPr>
              <a:t>导航栏，再次单击该按钮可以折叠导航栏。</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4" name="TextBox 76"/>
          <p:cNvSpPr txBox="1"/>
          <p:nvPr/>
        </p:nvSpPr>
        <p:spPr>
          <a:xfrm>
            <a:off x="1024656" y="1322185"/>
            <a:ext cx="3054326"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实现可折叠的导航栏</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 name="Title 1">
            <a:extLst>
              <a:ext uri="{FF2B5EF4-FFF2-40B4-BE49-F238E27FC236}">
                <a16:creationId xmlns:a16="http://schemas.microsoft.com/office/drawing/2014/main" id="{29BC7A40-BEEC-4D03-A24C-A75BF72D9742}"/>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6.2.3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实现可折叠的导航栏</a:t>
            </a:r>
          </a:p>
        </p:txBody>
      </p:sp>
    </p:spTree>
    <p:extLst>
      <p:ext uri="{BB962C8B-B14F-4D97-AF65-F5344CB8AC3E}">
        <p14:creationId xmlns:p14="http://schemas.microsoft.com/office/powerpoint/2010/main" val="32942711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9BC7A40-BEEC-4D03-A24C-A75BF72D9742}"/>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6.2.3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实现可折叠的导航栏</a:t>
            </a:r>
          </a:p>
        </p:txBody>
      </p:sp>
      <p:sp>
        <p:nvSpPr>
          <p:cNvPr id="6" name="TextBox 35">
            <a:extLst>
              <a:ext uri="{FF2B5EF4-FFF2-40B4-BE49-F238E27FC236}">
                <a16:creationId xmlns:a16="http://schemas.microsoft.com/office/drawing/2014/main" id="{60E4D497-5C49-4BEA-9164-C49A5BE01FE5}"/>
              </a:ext>
            </a:extLst>
          </p:cNvPr>
          <p:cNvSpPr txBox="1">
            <a:spLocks noChangeArrowheads="1"/>
          </p:cNvSpPr>
          <p:nvPr/>
        </p:nvSpPr>
        <p:spPr bwMode="auto">
          <a:xfrm>
            <a:off x="994466" y="1269554"/>
            <a:ext cx="10441160" cy="584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实现</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可折叠</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的导航栏页面，效果如图：</a:t>
            </a:r>
          </a:p>
        </p:txBody>
      </p:sp>
      <p:pic>
        <p:nvPicPr>
          <p:cNvPr id="7" name="图片 1">
            <a:extLst>
              <a:ext uri="{FF2B5EF4-FFF2-40B4-BE49-F238E27FC236}">
                <a16:creationId xmlns:a16="http://schemas.microsoft.com/office/drawing/2014/main" id="{04EEA8FF-DA13-4183-AA11-1357E52F32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2678" y="2309604"/>
            <a:ext cx="4952064" cy="1487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a:extLst>
              <a:ext uri="{FF2B5EF4-FFF2-40B4-BE49-F238E27FC236}">
                <a16:creationId xmlns:a16="http://schemas.microsoft.com/office/drawing/2014/main" id="{DF50D026-9372-45FA-9EB6-4E14A1E8DB79}"/>
              </a:ext>
            </a:extLst>
          </p:cNvPr>
          <p:cNvSpPr txBox="1"/>
          <p:nvPr/>
        </p:nvSpPr>
        <p:spPr>
          <a:xfrm>
            <a:off x="2378550" y="4509914"/>
            <a:ext cx="2880320" cy="553998"/>
          </a:xfrm>
          <a:prstGeom prst="rect">
            <a:avLst/>
          </a:prstGeom>
          <a:noFill/>
        </p:spPr>
        <p:txBody>
          <a:bodyPr wrap="square" rtlCol="0">
            <a:spAutoFit/>
          </a:bodyPr>
          <a:lstStyle/>
          <a:p>
            <a:pPr algn="ct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网页在</a:t>
            </a:r>
            <a:r>
              <a:rPr lang="zh-CN" altLang="en-US" sz="2000" dirty="0">
                <a:solidFill>
                  <a:srgbClr val="1369B2"/>
                </a:solidFill>
                <a:latin typeface="微软雅黑" panose="020B0503020204020204" pitchFamily="34" charset="-122"/>
                <a:ea typeface="微软雅黑" panose="020B0503020204020204" pitchFamily="34" charset="-122"/>
              </a:rPr>
              <a:t>小屏幕</a:t>
            </a:r>
            <a:r>
              <a:rPr lang="zh-CN" altLang="en-US" sz="2000" dirty="0">
                <a:solidFill>
                  <a:srgbClr val="595959"/>
                </a:solidFill>
                <a:latin typeface="微软雅黑" panose="020B0503020204020204" pitchFamily="34" charset="-122"/>
                <a:ea typeface="微软雅黑" panose="020B0503020204020204" pitchFamily="34" charset="-122"/>
              </a:rPr>
              <a:t>下的效果</a:t>
            </a:r>
          </a:p>
        </p:txBody>
      </p:sp>
      <p:sp>
        <p:nvSpPr>
          <p:cNvPr id="9" name="文本框 8">
            <a:extLst>
              <a:ext uri="{FF2B5EF4-FFF2-40B4-BE49-F238E27FC236}">
                <a16:creationId xmlns:a16="http://schemas.microsoft.com/office/drawing/2014/main" id="{7C726645-2397-4C57-8E01-064899C0DC8E}"/>
              </a:ext>
            </a:extLst>
          </p:cNvPr>
          <p:cNvSpPr txBox="1"/>
          <p:nvPr/>
        </p:nvSpPr>
        <p:spPr>
          <a:xfrm>
            <a:off x="7279324" y="4509914"/>
            <a:ext cx="2880320" cy="499624"/>
          </a:xfrm>
          <a:prstGeom prst="rect">
            <a:avLst/>
          </a:prstGeom>
          <a:noFill/>
        </p:spPr>
        <p:txBody>
          <a:bodyPr wrap="square" rtlCol="0">
            <a:spAutoFit/>
          </a:bodyPr>
          <a:lstStyle/>
          <a:p>
            <a:pPr algn="ctr">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rPr>
              <a:t>导航</a:t>
            </a:r>
            <a:r>
              <a:rPr lang="zh-CN" altLang="en-US" sz="2000" dirty="0" smtClean="0">
                <a:solidFill>
                  <a:srgbClr val="1369B2"/>
                </a:solidFill>
                <a:latin typeface="微软雅黑" panose="020B0503020204020204" pitchFamily="34" charset="-122"/>
                <a:ea typeface="微软雅黑" panose="020B0503020204020204" pitchFamily="34" charset="-122"/>
              </a:rPr>
              <a:t>栏</a:t>
            </a:r>
            <a:r>
              <a:rPr lang="zh-CN" altLang="en-US" sz="2000" dirty="0" smtClean="0">
                <a:solidFill>
                  <a:srgbClr val="595959"/>
                </a:solidFill>
                <a:latin typeface="微软雅黑" panose="020B0503020204020204" pitchFamily="34" charset="-122"/>
                <a:ea typeface="微软雅黑" panose="020B0503020204020204" pitchFamily="34" charset="-122"/>
              </a:rPr>
              <a:t>效果</a:t>
            </a:r>
            <a:endParaRPr lang="zh-CN" altLang="en-US" sz="2000" dirty="0">
              <a:solidFill>
                <a:srgbClr val="595959"/>
              </a:solidFill>
              <a:latin typeface="微软雅黑" panose="020B0503020204020204" pitchFamily="34" charset="-122"/>
              <a:ea typeface="微软雅黑" panose="020B0503020204020204" pitchFamily="34" charset="-122"/>
            </a:endParaRPr>
          </a:p>
        </p:txBody>
      </p:sp>
      <p:pic>
        <p:nvPicPr>
          <p:cNvPr id="10" name="图片 1">
            <a:extLst>
              <a:ext uri="{FF2B5EF4-FFF2-40B4-BE49-F238E27FC236}">
                <a16:creationId xmlns:a16="http://schemas.microsoft.com/office/drawing/2014/main" id="{BA398A5D-0D97-4BF6-AE8E-1E79F095A2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7722" y="2038809"/>
            <a:ext cx="4223524" cy="2232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169307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54AA4975-EB6A-4010-ADA0-80142EAE4C7C}"/>
              </a:ext>
            </a:extLst>
          </p:cNvPr>
          <p:cNvSpPr txBox="1"/>
          <p:nvPr/>
        </p:nvSpPr>
        <p:spPr>
          <a:xfrm>
            <a:off x="1232802" y="2853730"/>
            <a:ext cx="10118988" cy="984437"/>
          </a:xfrm>
          <a:prstGeom prst="rect">
            <a:avLst/>
          </a:prstGeom>
          <a:solidFill>
            <a:srgbClr val="F2F2F2"/>
          </a:solidFill>
        </p:spPr>
        <p:txBody>
          <a:bodyPr wrap="square">
            <a:spAutoFit/>
          </a:bodyPr>
          <a:lstStyle/>
          <a:p>
            <a:pPr lvl="0">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&lt;script </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src</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js</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/jquery.min.js"&gt;&lt;/script&gt;</a:t>
            </a:r>
          </a:p>
          <a:p>
            <a:pPr lvl="0">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&lt;script </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src</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="bootstrap-4.6.0-dist/</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js</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/bootstrap.min.js"&gt;&lt;/script&gt;</a:t>
            </a:r>
          </a:p>
          <a:p>
            <a:pPr lvl="0">
              <a:lnSpc>
                <a:spcPct val="150000"/>
              </a:lnSpc>
              <a:defRPr/>
            </a:pPr>
            <a:endParaRPr lang="en-US" altLang="zh-CN" sz="3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p:txBody>
      </p:sp>
      <p:sp>
        <p:nvSpPr>
          <p:cNvPr id="7" name="Title 1">
            <a:extLst>
              <a:ext uri="{FF2B5EF4-FFF2-40B4-BE49-F238E27FC236}">
                <a16:creationId xmlns:a16="http://schemas.microsoft.com/office/drawing/2014/main" id="{3FA09C3E-6984-4368-917C-EE15EE3A692A}"/>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6.2.3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实现可折叠的导航栏</a:t>
            </a:r>
          </a:p>
        </p:txBody>
      </p:sp>
      <p:grpSp>
        <p:nvGrpSpPr>
          <p:cNvPr id="6" name="组合 5">
            <a:extLst>
              <a:ext uri="{FF2B5EF4-FFF2-40B4-BE49-F238E27FC236}">
                <a16:creationId xmlns:a16="http://schemas.microsoft.com/office/drawing/2014/main" id="{A572FBBE-CAFE-4ACA-A2BE-18AF7BB24AAF}"/>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CDD18056-555A-4BE9-82BB-444DA5BD33BC}"/>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0" name="文本框 9">
              <a:extLst>
                <a:ext uri="{FF2B5EF4-FFF2-40B4-BE49-F238E27FC236}">
                  <a16:creationId xmlns:a16="http://schemas.microsoft.com/office/drawing/2014/main" id="{A2BBEFDF-A3BB-4734-B8AB-7313B33D760E}"/>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01</a:t>
              </a:r>
            </a:p>
          </p:txBody>
        </p:sp>
      </p:grpSp>
      <p:sp>
        <p:nvSpPr>
          <p:cNvPr id="11" name="1">
            <a:extLst>
              <a:ext uri="{FF2B5EF4-FFF2-40B4-BE49-F238E27FC236}">
                <a16:creationId xmlns:a16="http://schemas.microsoft.com/office/drawing/2014/main" id="{E731EE78-15F3-4ED1-8765-78C87D3226C1}"/>
              </a:ext>
            </a:extLst>
          </p:cNvPr>
          <p:cNvSpPr txBox="1"/>
          <p:nvPr>
            <p:custDataLst>
              <p:tags r:id="rId1"/>
            </p:custDataLst>
          </p:nvPr>
        </p:nvSpPr>
        <p:spPr>
          <a:xfrm>
            <a:off x="3017371" y="1053530"/>
            <a:ext cx="8046387" cy="1569660"/>
          </a:xfrm>
          <a:prstGeom prst="rect">
            <a:avLst/>
          </a:prstGeom>
          <a:noFill/>
          <a:ln>
            <a:noFill/>
          </a:ln>
        </p:spPr>
        <p:txBody>
          <a:bodyPr wrap="square" rtlCol="0">
            <a:spAutoFit/>
          </a:bodyPr>
          <a:lstStyle/>
          <a:p>
            <a:pPr lvl="0" defTabSz="457200">
              <a:lnSpc>
                <a:spcPct val="150000"/>
              </a:lnSpc>
              <a:defRPr/>
            </a:pPr>
            <a:r>
              <a:rPr lang="zh-CN" altLang="en-US" sz="2400" b="1" kern="0" dirty="0" smtClean="0">
                <a:solidFill>
                  <a:srgbClr val="595959"/>
                </a:solidFill>
                <a:latin typeface="微软雅黑" panose="020B0503020204020204" pitchFamily="34" charset="-122"/>
                <a:ea typeface="微软雅黑" panose="020B0503020204020204" pitchFamily="34" charset="-122"/>
                <a:cs typeface="+mn-ea"/>
                <a:sym typeface="+mn-lt"/>
              </a:rPr>
              <a:t>修改导航</a:t>
            </a:r>
            <a:r>
              <a:rPr lang="zh-CN" altLang="en-US" sz="2400" b="1" kern="0" dirty="0">
                <a:solidFill>
                  <a:srgbClr val="595959"/>
                </a:solidFill>
                <a:latin typeface="微软雅黑" panose="020B0503020204020204" pitchFamily="34" charset="-122"/>
                <a:ea typeface="微软雅黑" panose="020B0503020204020204" pitchFamily="34" charset="-122"/>
                <a:cs typeface="+mn-ea"/>
                <a:sym typeface="+mn-lt"/>
              </a:rPr>
              <a:t>栏页面</a:t>
            </a:r>
            <a:endParaRPr lang="en-US" altLang="zh-CN" sz="2400" b="1" kern="0" dirty="0">
              <a:solidFill>
                <a:srgbClr val="595959"/>
              </a:solidFill>
              <a:latin typeface="微软雅黑" panose="020B0503020204020204" pitchFamily="34" charset="-122"/>
              <a:ea typeface="微软雅黑" panose="020B0503020204020204" pitchFamily="34" charset="-122"/>
              <a:cs typeface="+mn-ea"/>
              <a:sym typeface="+mn-lt"/>
            </a:endParaRPr>
          </a:p>
          <a:p>
            <a:pPr defTabSz="457200">
              <a:lnSpc>
                <a:spcPct val="150000"/>
              </a:lnSpc>
              <a:defRPr/>
            </a:pPr>
            <a:r>
              <a:rPr lang="zh-CN" altLang="en-US" sz="2000" dirty="0" smtClean="0">
                <a:solidFill>
                  <a:srgbClr val="595959"/>
                </a:solidFill>
                <a:latin typeface="微软雅黑" panose="020B0503020204020204" pitchFamily="34" charset="-122"/>
                <a:ea typeface="微软雅黑" panose="020B0503020204020204" pitchFamily="34" charset="-122"/>
              </a:rPr>
              <a:t>修改</a:t>
            </a:r>
            <a:r>
              <a:rPr lang="en-US" altLang="zh-CN" sz="2000" dirty="0">
                <a:solidFill>
                  <a:srgbClr val="595959"/>
                </a:solidFill>
                <a:latin typeface="微软雅黑" panose="020B0503020204020204" pitchFamily="34" charset="-122"/>
                <a:ea typeface="微软雅黑" panose="020B0503020204020204" pitchFamily="34" charset="-122"/>
              </a:rPr>
              <a:t>demo04.html</a:t>
            </a:r>
            <a:r>
              <a:rPr lang="zh-CN" altLang="en-US" sz="2000" dirty="0">
                <a:solidFill>
                  <a:srgbClr val="595959"/>
                </a:solidFill>
                <a:latin typeface="微软雅黑" panose="020B0503020204020204" pitchFamily="34" charset="-122"/>
                <a:ea typeface="微软雅黑" panose="020B0503020204020204" pitchFamily="34" charset="-122"/>
              </a:rPr>
              <a:t>文件</a:t>
            </a:r>
            <a:r>
              <a:rPr lang="zh-CN" altLang="en-US" sz="2000" dirty="0" smtClean="0">
                <a:solidFill>
                  <a:srgbClr val="595959"/>
                </a:solidFill>
                <a:latin typeface="微软雅黑" panose="020B0503020204020204" pitchFamily="34" charset="-122"/>
                <a:ea typeface="微软雅黑" panose="020B0503020204020204" pitchFamily="34" charset="-122"/>
              </a:rPr>
              <a:t>，在</a:t>
            </a:r>
            <a:r>
              <a:rPr lang="en-US" altLang="zh-CN" sz="2000" dirty="0" smtClean="0">
                <a:solidFill>
                  <a:srgbClr val="1369B2"/>
                </a:solidFill>
                <a:latin typeface="微软雅黑" panose="020B0503020204020204" pitchFamily="34" charset="-122"/>
                <a:ea typeface="微软雅黑" panose="020B0503020204020204" pitchFamily="34" charset="-122"/>
              </a:rPr>
              <a:t>&lt;/</a:t>
            </a:r>
            <a:r>
              <a:rPr lang="en-US" altLang="zh-CN" sz="2000" dirty="0">
                <a:solidFill>
                  <a:srgbClr val="1369B2"/>
                </a:solidFill>
                <a:latin typeface="微软雅黑" panose="020B0503020204020204" pitchFamily="34" charset="-122"/>
                <a:ea typeface="微软雅黑" panose="020B0503020204020204" pitchFamily="34" charset="-122"/>
              </a:rPr>
              <a:t>head&gt;</a:t>
            </a:r>
            <a:r>
              <a:rPr lang="zh-CN" altLang="en-US" sz="2000" dirty="0">
                <a:solidFill>
                  <a:srgbClr val="595959"/>
                </a:solidFill>
                <a:latin typeface="微软雅黑" panose="020B0503020204020204" pitchFamily="34" charset="-122"/>
                <a:ea typeface="微软雅黑" panose="020B0503020204020204" pitchFamily="34" charset="-122"/>
              </a:rPr>
              <a:t>标签前面</a:t>
            </a:r>
            <a:r>
              <a:rPr lang="zh-CN" altLang="en-US" sz="2000" dirty="0">
                <a:solidFill>
                  <a:srgbClr val="1369B2"/>
                </a:solidFill>
                <a:latin typeface="微软雅黑" panose="020B0503020204020204" pitchFamily="34" charset="-122"/>
                <a:ea typeface="微软雅黑" panose="020B0503020204020204" pitchFamily="34" charset="-122"/>
              </a:rPr>
              <a:t>引入</a:t>
            </a:r>
            <a:r>
              <a:rPr lang="en-US" altLang="zh-CN" sz="2000" dirty="0">
                <a:solidFill>
                  <a:srgbClr val="595959"/>
                </a:solidFill>
                <a:latin typeface="微软雅黑" panose="020B0503020204020204" pitchFamily="34" charset="-122"/>
                <a:ea typeface="微软雅黑" panose="020B0503020204020204" pitchFamily="34" charset="-122"/>
              </a:rPr>
              <a:t>jQuery</a:t>
            </a:r>
            <a:r>
              <a:rPr lang="zh-CN" altLang="en-US" sz="2000" dirty="0">
                <a:solidFill>
                  <a:srgbClr val="595959"/>
                </a:solidFill>
                <a:latin typeface="微软雅黑" panose="020B0503020204020204" pitchFamily="34" charset="-122"/>
                <a:ea typeface="微软雅黑" panose="020B0503020204020204" pitchFamily="34" charset="-122"/>
              </a:rPr>
              <a:t>文件和</a:t>
            </a:r>
            <a:r>
              <a:rPr lang="en-US" altLang="zh-CN" sz="2000" dirty="0">
                <a:solidFill>
                  <a:srgbClr val="595959"/>
                </a:solidFill>
                <a:latin typeface="微软雅黑" panose="020B0503020204020204" pitchFamily="34" charset="-122"/>
                <a:ea typeface="微软雅黑" panose="020B0503020204020204" pitchFamily="34" charset="-122"/>
              </a:rPr>
              <a:t>bootstrap.min.js</a:t>
            </a:r>
            <a:r>
              <a:rPr lang="zh-CN" altLang="en-US" sz="2000" dirty="0">
                <a:solidFill>
                  <a:srgbClr val="595959"/>
                </a:solidFill>
                <a:latin typeface="微软雅黑" panose="020B0503020204020204" pitchFamily="34" charset="-122"/>
                <a:ea typeface="微软雅黑" panose="020B0503020204020204" pitchFamily="34" charset="-122"/>
              </a:rPr>
              <a:t>核心</a:t>
            </a:r>
            <a:r>
              <a:rPr lang="zh-CN" altLang="en-US" sz="2000" dirty="0" smtClean="0">
                <a:solidFill>
                  <a:srgbClr val="595959"/>
                </a:solidFill>
                <a:latin typeface="微软雅黑" panose="020B0503020204020204" pitchFamily="34" charset="-122"/>
                <a:ea typeface="微软雅黑" panose="020B0503020204020204" pitchFamily="34" charset="-122"/>
              </a:rPr>
              <a:t>文件。</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774735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54AA4975-EB6A-4010-ADA0-80142EAE4C7C}"/>
              </a:ext>
            </a:extLst>
          </p:cNvPr>
          <p:cNvSpPr txBox="1"/>
          <p:nvPr/>
        </p:nvSpPr>
        <p:spPr>
          <a:xfrm>
            <a:off x="1702718" y="2133650"/>
            <a:ext cx="9793088" cy="3742178"/>
          </a:xfrm>
          <a:prstGeom prst="rect">
            <a:avLst/>
          </a:prstGeom>
          <a:solidFill>
            <a:srgbClr val="F2F2F2"/>
          </a:solidFill>
        </p:spPr>
        <p:txBody>
          <a:bodyPr wrap="square">
            <a:spAutoFit/>
          </a:bodyPr>
          <a:lstStyle/>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小屏幕上水平导航栏会折叠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&lt;nav class="navbar navbar-expand-</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sm</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bg</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-dark navbar-dark"&gt;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 class="navbar-brand"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="#"&gt;Navbar&lt;/a&gt;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&lt;button class="navbar-toggler" type="button" data-toggle="collapse" data-target="#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navtop</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&lt;span class="navbar-toggler-icon"&gt;&lt;/span&gt;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&lt;/button&gt;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class="collapse navbar-collapse" id="</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navtop</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将原来的</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ul.navbar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-nav</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放到此处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&lt;/nav&gt;</a:t>
            </a:r>
          </a:p>
        </p:txBody>
      </p:sp>
      <p:sp>
        <p:nvSpPr>
          <p:cNvPr id="7" name="Title 1">
            <a:extLst>
              <a:ext uri="{FF2B5EF4-FFF2-40B4-BE49-F238E27FC236}">
                <a16:creationId xmlns:a16="http://schemas.microsoft.com/office/drawing/2014/main" id="{3FA09C3E-6984-4368-917C-EE15EE3A692A}"/>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6.2.3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实现可折叠的导航栏</a:t>
            </a:r>
          </a:p>
        </p:txBody>
      </p:sp>
      <p:grpSp>
        <p:nvGrpSpPr>
          <p:cNvPr id="6" name="组合 5">
            <a:extLst>
              <a:ext uri="{FF2B5EF4-FFF2-40B4-BE49-F238E27FC236}">
                <a16:creationId xmlns:a16="http://schemas.microsoft.com/office/drawing/2014/main" id="{A572FBBE-CAFE-4ACA-A2BE-18AF7BB24AAF}"/>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CDD18056-555A-4BE9-82BB-444DA5BD33BC}"/>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0" name="文本框 9">
              <a:extLst>
                <a:ext uri="{FF2B5EF4-FFF2-40B4-BE49-F238E27FC236}">
                  <a16:creationId xmlns:a16="http://schemas.microsoft.com/office/drawing/2014/main" id="{A2BBEFDF-A3BB-4734-B8AB-7313B33D760E}"/>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02</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
        <p:nvSpPr>
          <p:cNvPr id="11" name="1">
            <a:extLst>
              <a:ext uri="{FF2B5EF4-FFF2-40B4-BE49-F238E27FC236}">
                <a16:creationId xmlns:a16="http://schemas.microsoft.com/office/drawing/2014/main" id="{E731EE78-15F3-4ED1-8765-78C87D3226C1}"/>
              </a:ext>
            </a:extLst>
          </p:cNvPr>
          <p:cNvSpPr txBox="1"/>
          <p:nvPr>
            <p:custDataLst>
              <p:tags r:id="rId1"/>
            </p:custDataLst>
          </p:nvPr>
        </p:nvSpPr>
        <p:spPr>
          <a:xfrm>
            <a:off x="3017371" y="1053897"/>
            <a:ext cx="8046387" cy="1107996"/>
          </a:xfrm>
          <a:prstGeom prst="rect">
            <a:avLst/>
          </a:prstGeom>
          <a:noFill/>
          <a:ln>
            <a:noFill/>
          </a:ln>
        </p:spPr>
        <p:txBody>
          <a:bodyPr wrap="square" rtlCol="0">
            <a:spAutoFit/>
          </a:bodyPr>
          <a:lstStyle/>
          <a:p>
            <a:pPr lvl="0" defTabSz="457200">
              <a:lnSpc>
                <a:spcPct val="150000"/>
              </a:lnSpc>
              <a:defRPr/>
            </a:pPr>
            <a:r>
              <a:rPr lang="zh-CN" altLang="en-US" sz="2400" b="1" kern="0" dirty="0" smtClean="0">
                <a:solidFill>
                  <a:srgbClr val="595959"/>
                </a:solidFill>
                <a:latin typeface="微软雅黑" panose="020B0503020204020204" pitchFamily="34" charset="-122"/>
                <a:ea typeface="微软雅黑" panose="020B0503020204020204" pitchFamily="34" charset="-122"/>
                <a:cs typeface="+mn-ea"/>
                <a:sym typeface="+mn-lt"/>
              </a:rPr>
              <a:t>修改导航</a:t>
            </a:r>
            <a:r>
              <a:rPr lang="zh-CN" altLang="en-US" sz="2400" b="1" kern="0" dirty="0">
                <a:solidFill>
                  <a:srgbClr val="595959"/>
                </a:solidFill>
                <a:latin typeface="微软雅黑" panose="020B0503020204020204" pitchFamily="34" charset="-122"/>
                <a:ea typeface="微软雅黑" panose="020B0503020204020204" pitchFamily="34" charset="-122"/>
                <a:cs typeface="+mn-ea"/>
                <a:sym typeface="+mn-lt"/>
              </a:rPr>
              <a:t>栏页面</a:t>
            </a:r>
            <a:endParaRPr lang="en-US" altLang="zh-CN" sz="2400" b="1" kern="0" dirty="0">
              <a:solidFill>
                <a:srgbClr val="595959"/>
              </a:solidFill>
              <a:latin typeface="微软雅黑" panose="020B0503020204020204" pitchFamily="34" charset="-122"/>
              <a:ea typeface="微软雅黑" panose="020B0503020204020204" pitchFamily="34" charset="-122"/>
              <a:cs typeface="+mn-ea"/>
              <a:sym typeface="+mn-lt"/>
            </a:endParaRPr>
          </a:p>
          <a:p>
            <a:pPr defTabSz="457200">
              <a:lnSpc>
                <a:spcPct val="150000"/>
              </a:lnSpc>
              <a:defRPr/>
            </a:pPr>
            <a:r>
              <a:rPr lang="zh-CN" altLang="en-US" sz="2000" dirty="0" smtClean="0">
                <a:solidFill>
                  <a:srgbClr val="595959"/>
                </a:solidFill>
                <a:latin typeface="微软雅黑" panose="020B0503020204020204" pitchFamily="34" charset="-122"/>
                <a:ea typeface="微软雅黑" panose="020B0503020204020204" pitchFamily="34" charset="-122"/>
              </a:rPr>
              <a:t>修改</a:t>
            </a:r>
            <a:r>
              <a:rPr lang="en-US" altLang="zh-CN" sz="2000" dirty="0">
                <a:solidFill>
                  <a:srgbClr val="595959"/>
                </a:solidFill>
                <a:latin typeface="微软雅黑" panose="020B0503020204020204" pitchFamily="34" charset="-122"/>
                <a:ea typeface="微软雅黑" panose="020B0503020204020204" pitchFamily="34" charset="-122"/>
              </a:rPr>
              <a:t>demo04.html</a:t>
            </a:r>
            <a:r>
              <a:rPr lang="zh-CN" altLang="en-US" sz="2000" dirty="0">
                <a:solidFill>
                  <a:srgbClr val="595959"/>
                </a:solidFill>
                <a:latin typeface="微软雅黑" panose="020B0503020204020204" pitchFamily="34" charset="-122"/>
                <a:ea typeface="微软雅黑" panose="020B0503020204020204" pitchFamily="34" charset="-122"/>
              </a:rPr>
              <a:t>文件</a:t>
            </a:r>
            <a:r>
              <a:rPr lang="zh-CN" altLang="en-US" sz="2000" dirty="0" smtClean="0">
                <a:solidFill>
                  <a:srgbClr val="595959"/>
                </a:solidFill>
                <a:latin typeface="微软雅黑" panose="020B0503020204020204" pitchFamily="34" charset="-122"/>
                <a:ea typeface="微软雅黑" panose="020B0503020204020204" pitchFamily="34" charset="-122"/>
              </a:rPr>
              <a:t>，添加</a:t>
            </a:r>
            <a:r>
              <a:rPr lang="zh-CN" altLang="en-US" sz="2000" dirty="0">
                <a:solidFill>
                  <a:srgbClr val="1369B2"/>
                </a:solidFill>
                <a:latin typeface="微软雅黑" panose="020B0503020204020204" pitchFamily="34" charset="-122"/>
                <a:ea typeface="微软雅黑" panose="020B0503020204020204" pitchFamily="34" charset="-122"/>
              </a:rPr>
              <a:t>折叠</a:t>
            </a:r>
            <a:r>
              <a:rPr lang="zh-CN" altLang="en-US" sz="2000" dirty="0" smtClean="0">
                <a:solidFill>
                  <a:srgbClr val="1369B2"/>
                </a:solidFill>
                <a:latin typeface="微软雅黑" panose="020B0503020204020204" pitchFamily="34" charset="-122"/>
                <a:ea typeface="微软雅黑" panose="020B0503020204020204" pitchFamily="34" charset="-122"/>
              </a:rPr>
              <a:t>按钮</a:t>
            </a:r>
            <a:r>
              <a:rPr lang="zh-CN" altLang="en-US" sz="2000" dirty="0" smtClean="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821865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A09C3E-6984-4368-917C-EE15EE3A692A}"/>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6.2.3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实现可折叠的导航栏</a:t>
            </a:r>
          </a:p>
        </p:txBody>
      </p:sp>
      <p:pic>
        <p:nvPicPr>
          <p:cNvPr id="6146" name="图片 1">
            <a:extLst>
              <a:ext uri="{FF2B5EF4-FFF2-40B4-BE49-F238E27FC236}">
                <a16:creationId xmlns:a16="http://schemas.microsoft.com/office/drawing/2014/main" id="{A2DDDD06-FC94-419A-989D-0C40B26F6A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9656" y="2493690"/>
            <a:ext cx="5801813" cy="1742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5">
            <a:extLst>
              <a:ext uri="{FF2B5EF4-FFF2-40B4-BE49-F238E27FC236}">
                <a16:creationId xmlns:a16="http://schemas.microsoft.com/office/drawing/2014/main" id="{A572FBBE-CAFE-4ACA-A2BE-18AF7BB24AAF}"/>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CDD18056-555A-4BE9-82BB-444DA5BD33BC}"/>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A2BBEFDF-A3BB-4734-B8AB-7313B33D760E}"/>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03</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
        <p:nvSpPr>
          <p:cNvPr id="10" name="1">
            <a:extLst>
              <a:ext uri="{FF2B5EF4-FFF2-40B4-BE49-F238E27FC236}">
                <a16:creationId xmlns:a16="http://schemas.microsoft.com/office/drawing/2014/main" id="{E731EE78-15F3-4ED1-8765-78C87D3226C1}"/>
              </a:ext>
            </a:extLst>
          </p:cNvPr>
          <p:cNvSpPr txBox="1"/>
          <p:nvPr>
            <p:custDataLst>
              <p:tags r:id="rId1"/>
            </p:custDataLst>
          </p:nvPr>
        </p:nvSpPr>
        <p:spPr>
          <a:xfrm>
            <a:off x="2954581" y="1053897"/>
            <a:ext cx="8046387" cy="1569660"/>
          </a:xfrm>
          <a:prstGeom prst="rect">
            <a:avLst/>
          </a:prstGeom>
          <a:noFill/>
          <a:ln>
            <a:noFill/>
          </a:ln>
        </p:spPr>
        <p:txBody>
          <a:bodyPr wrap="square" rtlCol="0">
            <a:spAutoFit/>
          </a:bodyPr>
          <a:lstStyle/>
          <a:p>
            <a:pPr lvl="0" defTabSz="457200">
              <a:lnSpc>
                <a:spcPct val="150000"/>
              </a:lnSpc>
              <a:defRPr/>
            </a:pPr>
            <a:r>
              <a:rPr lang="zh-CN" altLang="en-US" b="1" kern="0" dirty="0" smtClean="0">
                <a:solidFill>
                  <a:srgbClr val="595959"/>
                </a:solidFill>
                <a:latin typeface="微软雅黑" panose="020B0503020204020204" pitchFamily="34" charset="-122"/>
                <a:ea typeface="微软雅黑" panose="020B0503020204020204" pitchFamily="34" charset="-122"/>
                <a:cs typeface="+mn-ea"/>
                <a:sym typeface="+mn-lt"/>
              </a:rPr>
              <a:t>在</a:t>
            </a:r>
            <a:r>
              <a:rPr lang="zh-CN" altLang="en-US" b="1" kern="0" dirty="0">
                <a:solidFill>
                  <a:srgbClr val="595959"/>
                </a:solidFill>
                <a:latin typeface="微软雅黑" panose="020B0503020204020204" pitchFamily="34" charset="-122"/>
                <a:ea typeface="微软雅黑" panose="020B0503020204020204" pitchFamily="34" charset="-122"/>
                <a:cs typeface="+mn-ea"/>
                <a:sym typeface="+mn-lt"/>
              </a:rPr>
              <a:t>浏览器中访问</a:t>
            </a:r>
            <a:r>
              <a:rPr lang="en-US" altLang="zh-CN" b="1" kern="0" dirty="0">
                <a:solidFill>
                  <a:srgbClr val="595959"/>
                </a:solidFill>
                <a:latin typeface="微软雅黑" panose="020B0503020204020204" pitchFamily="34" charset="-122"/>
                <a:ea typeface="微软雅黑" panose="020B0503020204020204" pitchFamily="34" charset="-122"/>
                <a:cs typeface="+mn-ea"/>
                <a:sym typeface="+mn-lt"/>
              </a:rPr>
              <a:t>demo04.html</a:t>
            </a:r>
            <a:endParaRPr lang="en-US" altLang="zh-CN" sz="2400" b="1" kern="0" dirty="0">
              <a:solidFill>
                <a:srgbClr val="595959"/>
              </a:solidFill>
              <a:latin typeface="微软雅黑" panose="020B0503020204020204" pitchFamily="34" charset="-122"/>
              <a:ea typeface="微软雅黑" panose="020B0503020204020204" pitchFamily="34" charset="-122"/>
              <a:cs typeface="+mn-ea"/>
              <a:sym typeface="+mn-lt"/>
            </a:endParaRPr>
          </a:p>
          <a:p>
            <a:pPr defTabSz="457200">
              <a:lnSpc>
                <a:spcPct val="150000"/>
              </a:lnSpc>
              <a:defRPr/>
            </a:pPr>
            <a:r>
              <a:rPr lang="zh-CN" altLang="en-US" sz="2000" dirty="0" smtClean="0">
                <a:solidFill>
                  <a:srgbClr val="595959"/>
                </a:solidFill>
                <a:latin typeface="微软雅黑" panose="020B0503020204020204" pitchFamily="34" charset="-122"/>
                <a:ea typeface="微软雅黑" panose="020B0503020204020204" pitchFamily="34" charset="-122"/>
              </a:rPr>
              <a:t>查看</a:t>
            </a:r>
            <a:r>
              <a:rPr lang="zh-CN" altLang="en-US" sz="2000" dirty="0">
                <a:solidFill>
                  <a:srgbClr val="595959"/>
                </a:solidFill>
                <a:latin typeface="微软雅黑" panose="020B0503020204020204" pitchFamily="34" charset="-122"/>
                <a:ea typeface="微软雅黑" panose="020B0503020204020204" pitchFamily="34" charset="-122"/>
              </a:rPr>
              <a:t>网页在</a:t>
            </a:r>
            <a:r>
              <a:rPr lang="zh-CN" altLang="en-US" sz="2000" dirty="0">
                <a:solidFill>
                  <a:srgbClr val="1369B2"/>
                </a:solidFill>
                <a:latin typeface="微软雅黑" panose="020B0503020204020204" pitchFamily="34" charset="-122"/>
                <a:ea typeface="微软雅黑" panose="020B0503020204020204" pitchFamily="34" charset="-122"/>
              </a:rPr>
              <a:t>小屏幕</a:t>
            </a:r>
            <a:r>
              <a:rPr lang="zh-CN" altLang="en-US" sz="2000" dirty="0">
                <a:solidFill>
                  <a:srgbClr val="595959"/>
                </a:solidFill>
                <a:latin typeface="微软雅黑" panose="020B0503020204020204" pitchFamily="34" charset="-122"/>
                <a:ea typeface="微软雅黑" panose="020B0503020204020204" pitchFamily="34" charset="-122"/>
              </a:rPr>
              <a:t>下的效果。</a:t>
            </a:r>
          </a:p>
          <a:p>
            <a:pPr defTabSz="457200">
              <a:lnSpc>
                <a:spcPct val="150000"/>
              </a:lnSpc>
              <a:defRPr/>
            </a:pPr>
            <a:endParaRPr lang="zh-CN" altLang="en-US" sz="2000" dirty="0">
              <a:solidFill>
                <a:srgbClr val="595959"/>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990618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A09C3E-6984-4368-917C-EE15EE3A692A}"/>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6.2.3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实现可折叠的导航栏</a:t>
            </a:r>
          </a:p>
        </p:txBody>
      </p:sp>
      <p:pic>
        <p:nvPicPr>
          <p:cNvPr id="7170" name="图片 1">
            <a:extLst>
              <a:ext uri="{FF2B5EF4-FFF2-40B4-BE49-F238E27FC236}">
                <a16:creationId xmlns:a16="http://schemas.microsoft.com/office/drawing/2014/main" id="{3CD98E87-4104-43CC-90F9-12771EDF9B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2877" y="2493690"/>
            <a:ext cx="5177223" cy="2736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5">
            <a:extLst>
              <a:ext uri="{FF2B5EF4-FFF2-40B4-BE49-F238E27FC236}">
                <a16:creationId xmlns:a16="http://schemas.microsoft.com/office/drawing/2014/main" id="{A572FBBE-CAFE-4ACA-A2BE-18AF7BB24AAF}"/>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CDD18056-555A-4BE9-82BB-444DA5BD33BC}"/>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A2BBEFDF-A3BB-4734-B8AB-7313B33D760E}"/>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04</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
        <p:nvSpPr>
          <p:cNvPr id="10" name="1">
            <a:extLst>
              <a:ext uri="{FF2B5EF4-FFF2-40B4-BE49-F238E27FC236}">
                <a16:creationId xmlns:a16="http://schemas.microsoft.com/office/drawing/2014/main" id="{E731EE78-15F3-4ED1-8765-78C87D3226C1}"/>
              </a:ext>
            </a:extLst>
          </p:cNvPr>
          <p:cNvSpPr txBox="1"/>
          <p:nvPr>
            <p:custDataLst>
              <p:tags r:id="rId1"/>
            </p:custDataLst>
          </p:nvPr>
        </p:nvSpPr>
        <p:spPr>
          <a:xfrm>
            <a:off x="2954581" y="1053897"/>
            <a:ext cx="8046387" cy="2031325"/>
          </a:xfrm>
          <a:prstGeom prst="rect">
            <a:avLst/>
          </a:prstGeom>
          <a:noFill/>
          <a:ln>
            <a:noFill/>
          </a:ln>
        </p:spPr>
        <p:txBody>
          <a:bodyPr wrap="square" rtlCol="0">
            <a:spAutoFit/>
          </a:bodyPr>
          <a:lstStyle/>
          <a:p>
            <a:pPr lvl="0" defTabSz="457200">
              <a:lnSpc>
                <a:spcPct val="150000"/>
              </a:lnSpc>
              <a:defRPr/>
            </a:pPr>
            <a:r>
              <a:rPr lang="zh-CN" altLang="en-US" b="1" kern="0" dirty="0" smtClean="0">
                <a:solidFill>
                  <a:srgbClr val="595959"/>
                </a:solidFill>
                <a:latin typeface="微软雅黑" panose="020B0503020204020204" pitchFamily="34" charset="-122"/>
                <a:ea typeface="微软雅黑" panose="020B0503020204020204" pitchFamily="34" charset="-122"/>
                <a:cs typeface="+mn-ea"/>
                <a:sym typeface="+mn-lt"/>
              </a:rPr>
              <a:t>在</a:t>
            </a:r>
            <a:r>
              <a:rPr lang="zh-CN" altLang="en-US" b="1" kern="0" dirty="0">
                <a:solidFill>
                  <a:srgbClr val="595959"/>
                </a:solidFill>
                <a:latin typeface="微软雅黑" panose="020B0503020204020204" pitchFamily="34" charset="-122"/>
                <a:ea typeface="微软雅黑" panose="020B0503020204020204" pitchFamily="34" charset="-122"/>
                <a:cs typeface="+mn-ea"/>
                <a:sym typeface="+mn-lt"/>
              </a:rPr>
              <a:t>浏览器中访问</a:t>
            </a:r>
            <a:r>
              <a:rPr lang="en-US" altLang="zh-CN" b="1" kern="0" dirty="0">
                <a:solidFill>
                  <a:srgbClr val="595959"/>
                </a:solidFill>
                <a:latin typeface="微软雅黑" panose="020B0503020204020204" pitchFamily="34" charset="-122"/>
                <a:ea typeface="微软雅黑" panose="020B0503020204020204" pitchFamily="34" charset="-122"/>
                <a:cs typeface="+mn-ea"/>
                <a:sym typeface="+mn-lt"/>
              </a:rPr>
              <a:t>demo04.html</a:t>
            </a:r>
            <a:endParaRPr lang="en-US" altLang="zh-CN" sz="2400" b="1" kern="0" dirty="0">
              <a:solidFill>
                <a:srgbClr val="595959"/>
              </a:solidFill>
              <a:latin typeface="微软雅黑" panose="020B0503020204020204" pitchFamily="34" charset="-122"/>
              <a:ea typeface="微软雅黑" panose="020B0503020204020204" pitchFamily="34" charset="-122"/>
              <a:cs typeface="+mn-ea"/>
              <a:sym typeface="+mn-lt"/>
            </a:endParaRPr>
          </a:p>
          <a:p>
            <a:pPr defTabSz="457200">
              <a:lnSpc>
                <a:spcPct val="150000"/>
              </a:lnSpc>
              <a:defRPr/>
            </a:pPr>
            <a:r>
              <a:rPr lang="zh-CN" altLang="en-US" sz="2000" dirty="0" smtClean="0">
                <a:solidFill>
                  <a:srgbClr val="595959"/>
                </a:solidFill>
                <a:latin typeface="微软雅黑" panose="020B0503020204020204" pitchFamily="34" charset="-122"/>
                <a:ea typeface="微软雅黑" panose="020B0503020204020204" pitchFamily="34" charset="-122"/>
              </a:rPr>
              <a:t>单击</a:t>
            </a:r>
            <a:r>
              <a:rPr lang="zh-CN" altLang="en-US" sz="2000" dirty="0">
                <a:solidFill>
                  <a:srgbClr val="595959"/>
                </a:solidFill>
                <a:latin typeface="微软雅黑" panose="020B0503020204020204" pitchFamily="34" charset="-122"/>
                <a:ea typeface="微软雅黑" panose="020B0503020204020204" pitchFamily="34" charset="-122"/>
              </a:rPr>
              <a:t>折叠按钮即可</a:t>
            </a:r>
            <a:r>
              <a:rPr lang="zh-CN" altLang="en-US" sz="2000" dirty="0">
                <a:solidFill>
                  <a:srgbClr val="1369B2"/>
                </a:solidFill>
                <a:latin typeface="微软雅黑" panose="020B0503020204020204" pitchFamily="34" charset="-122"/>
                <a:ea typeface="微软雅黑" panose="020B0503020204020204" pitchFamily="34" charset="-122"/>
              </a:rPr>
              <a:t>展开</a:t>
            </a:r>
            <a:r>
              <a:rPr lang="zh-CN" altLang="en-US" sz="2000" dirty="0">
                <a:solidFill>
                  <a:srgbClr val="595959"/>
                </a:solidFill>
                <a:latin typeface="微软雅黑" panose="020B0503020204020204" pitchFamily="34" charset="-122"/>
                <a:ea typeface="微软雅黑" panose="020B0503020204020204" pitchFamily="34" charset="-122"/>
              </a:rPr>
              <a:t>导航栏，查看导航栏</a:t>
            </a:r>
            <a:r>
              <a:rPr lang="zh-CN" altLang="en-US" sz="2000" dirty="0">
                <a:solidFill>
                  <a:srgbClr val="1369B2"/>
                </a:solidFill>
                <a:latin typeface="微软雅黑" panose="020B0503020204020204" pitchFamily="34" charset="-122"/>
                <a:ea typeface="微软雅黑" panose="020B0503020204020204" pitchFamily="34" charset="-122"/>
              </a:rPr>
              <a:t>展开</a:t>
            </a:r>
            <a:r>
              <a:rPr lang="zh-CN" altLang="en-US" sz="2000" dirty="0">
                <a:solidFill>
                  <a:srgbClr val="595959"/>
                </a:solidFill>
                <a:latin typeface="微软雅黑" panose="020B0503020204020204" pitchFamily="34" charset="-122"/>
                <a:ea typeface="微软雅黑" panose="020B0503020204020204" pitchFamily="34" charset="-122"/>
              </a:rPr>
              <a:t>效果。</a:t>
            </a:r>
          </a:p>
          <a:p>
            <a:pPr defTabSz="457200">
              <a:lnSpc>
                <a:spcPct val="150000"/>
              </a:lnSpc>
              <a:defRPr/>
            </a:pPr>
            <a:endParaRPr lang="zh-CN" altLang="en-US" sz="2000" dirty="0">
              <a:solidFill>
                <a:srgbClr val="595959"/>
              </a:solidFill>
              <a:latin typeface="微软雅黑" panose="020B0503020204020204" pitchFamily="34" charset="-122"/>
              <a:ea typeface="微软雅黑" panose="020B0503020204020204" pitchFamily="34" charset="-122"/>
            </a:endParaRPr>
          </a:p>
          <a:p>
            <a:pPr defTabSz="457200">
              <a:lnSpc>
                <a:spcPct val="150000"/>
              </a:lnSpc>
              <a:defRPr/>
            </a:pPr>
            <a:endParaRPr lang="zh-CN" altLang="en-US" sz="2000" dirty="0">
              <a:solidFill>
                <a:srgbClr val="595959"/>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54496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30997"/>
          </a:xfrm>
          <a:prstGeom prst="rect">
            <a:avLst/>
          </a:prstGeom>
          <a:noFill/>
        </p:spPr>
        <p:txBody>
          <a:bodyPr wrap="square" lIns="91443" tIns="45720" rIns="91443" bIns="45720" rtlCol="0">
            <a:spAutoFit/>
          </a:bodyPr>
          <a:lstStyle/>
          <a:p>
            <a:r>
              <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表单组件</a:t>
            </a: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6.3</a:t>
            </a:r>
          </a:p>
        </p:txBody>
      </p:sp>
    </p:spTree>
    <p:extLst>
      <p:ext uri="{BB962C8B-B14F-4D97-AF65-F5344CB8AC3E}">
        <p14:creationId xmlns:p14="http://schemas.microsoft.com/office/powerpoint/2010/main" val="12680115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7"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815965" y="3576722"/>
            <a:ext cx="4983480" cy="1231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表单控件</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，能够使用表单控件实现网页中的表单</a:t>
            </a:r>
            <a:r>
              <a:rPr lang="zh-CN" altLang="en-US"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效果</a:t>
            </a:r>
            <a:endParaRPr lang="zh-CN" altLang="en-US" dirty="0">
              <a:solidFill>
                <a:srgbClr val="595959"/>
              </a:solidFill>
              <a:latin typeface="微软雅黑" panose="020B0503020204020204" pitchFamily="34" charset="-122"/>
              <a:ea typeface="微软雅黑" panose="020B0503020204020204" pitchFamily="34" charset="-122"/>
              <a:cs typeface="+mn-ea"/>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Title 1">
            <a:extLst>
              <a:ext uri="{FF2B5EF4-FFF2-40B4-BE49-F238E27FC236}">
                <a16:creationId xmlns:a16="http://schemas.microsoft.com/office/drawing/2014/main" id="{A5A373F7-A187-42B9-9017-12CE5611263B}"/>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6.3.1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表单控件</a:t>
            </a:r>
          </a:p>
        </p:txBody>
      </p:sp>
    </p:spTree>
    <p:extLst>
      <p:ext uri="{BB962C8B-B14F-4D97-AF65-F5344CB8AC3E}">
        <p14:creationId xmlns:p14="http://schemas.microsoft.com/office/powerpoint/2010/main" val="4934772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5A373F7-A187-42B9-9017-12CE5611263B}"/>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6.3.1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表单控件</a:t>
            </a:r>
          </a:p>
        </p:txBody>
      </p:sp>
      <p:sp>
        <p:nvSpPr>
          <p:cNvPr id="10" name="文本框 9">
            <a:extLst>
              <a:ext uri="{FF2B5EF4-FFF2-40B4-BE49-F238E27FC236}">
                <a16:creationId xmlns:a16="http://schemas.microsoft.com/office/drawing/2014/main" id="{93A7C52E-1453-4C90-BBE6-3FC57B429E38}"/>
              </a:ext>
            </a:extLst>
          </p:cNvPr>
          <p:cNvSpPr txBox="1"/>
          <p:nvPr/>
        </p:nvSpPr>
        <p:spPr>
          <a:xfrm>
            <a:off x="966310" y="1125538"/>
            <a:ext cx="10833856" cy="1015663"/>
          </a:xfrm>
          <a:prstGeom prst="rect">
            <a:avLst/>
          </a:prstGeom>
          <a:noFill/>
        </p:spPr>
        <p:txBody>
          <a:bodyPr wrap="square" rtlCol="0">
            <a:spAutoFit/>
          </a:body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cs typeface="+mn-ea"/>
              </a:rPr>
              <a:t>在</a:t>
            </a:r>
            <a:r>
              <a:rPr lang="zh-CN" altLang="en-US" sz="2000" dirty="0">
                <a:solidFill>
                  <a:srgbClr val="595959"/>
                </a:solidFill>
                <a:latin typeface="微软雅黑" panose="020B0503020204020204" pitchFamily="34" charset="-122"/>
                <a:ea typeface="微软雅黑" panose="020B0503020204020204" pitchFamily="34" charset="-122"/>
              </a:rPr>
              <a:t>日常生活</a:t>
            </a:r>
            <a:r>
              <a:rPr lang="zh-CN" altLang="en-US" sz="2000" dirty="0">
                <a:solidFill>
                  <a:srgbClr val="595959"/>
                </a:solidFill>
                <a:latin typeface="微软雅黑" panose="020B0503020204020204" pitchFamily="34" charset="-122"/>
                <a:ea typeface="微软雅黑" panose="020B0503020204020204" pitchFamily="34" charset="-122"/>
                <a:cs typeface="+mn-ea"/>
              </a:rPr>
              <a:t>中，我们浏览一些</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网站，例如</a:t>
            </a:r>
            <a:r>
              <a:rPr lang="zh-CN" altLang="en-US" sz="2000" dirty="0">
                <a:solidFill>
                  <a:srgbClr val="595959"/>
                </a:solidFill>
                <a:latin typeface="微软雅黑" panose="020B0503020204020204" pitchFamily="34" charset="-122"/>
                <a:ea typeface="微软雅黑" panose="020B0503020204020204" pitchFamily="34" charset="-122"/>
                <a:cs typeface="+mn-ea"/>
              </a:rPr>
              <a:t>淘宝网</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、百度等</a:t>
            </a:r>
            <a:r>
              <a:rPr lang="zh-CN" altLang="en-US" sz="2000" dirty="0">
                <a:solidFill>
                  <a:srgbClr val="595959"/>
                </a:solidFill>
                <a:latin typeface="微软雅黑" panose="020B0503020204020204" pitchFamily="34" charset="-122"/>
                <a:ea typeface="微软雅黑" panose="020B0503020204020204" pitchFamily="34" charset="-122"/>
                <a:cs typeface="+mn-ea"/>
              </a:rPr>
              <a:t>，注册、登录或者个人设置的界面经常使用</a:t>
            </a:r>
            <a:r>
              <a:rPr lang="zh-CN" altLang="en-US" sz="2000" dirty="0">
                <a:solidFill>
                  <a:srgbClr val="1369B2"/>
                </a:solidFill>
                <a:latin typeface="微软雅黑" panose="020B0503020204020204" pitchFamily="34" charset="-122"/>
                <a:ea typeface="微软雅黑" panose="020B0503020204020204" pitchFamily="34" charset="-122"/>
                <a:cs typeface="+mn-ea"/>
              </a:rPr>
              <a:t>表单组件</a:t>
            </a:r>
            <a:r>
              <a:rPr lang="zh-CN" altLang="en-US" sz="2000" dirty="0">
                <a:solidFill>
                  <a:srgbClr val="595959"/>
                </a:solidFill>
                <a:latin typeface="微软雅黑" panose="020B0503020204020204" pitchFamily="34" charset="-122"/>
                <a:ea typeface="微软雅黑" panose="020B0503020204020204" pitchFamily="34" charset="-122"/>
                <a:cs typeface="+mn-ea"/>
              </a:rPr>
              <a:t>来实现。表单中的每一项需要我们填写的内容通过表单控件来实现。</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5" name="图片 4">
            <a:extLst>
              <a:ext uri="{FF2B5EF4-FFF2-40B4-BE49-F238E27FC236}">
                <a16:creationId xmlns:a16="http://schemas.microsoft.com/office/drawing/2014/main" id="{EEC625F6-419D-4C89-AB26-BD1FEDB8B3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50990" y="2349674"/>
            <a:ext cx="3463081" cy="3805584"/>
          </a:xfrm>
          <a:prstGeom prst="rect">
            <a:avLst/>
          </a:prstGeom>
          <a:ln>
            <a:solidFill>
              <a:schemeClr val="bg1">
                <a:lumMod val="65000"/>
              </a:schemeClr>
            </a:solidFill>
          </a:ln>
        </p:spPr>
      </p:pic>
    </p:spTree>
    <p:extLst>
      <p:ext uri="{BB962C8B-B14F-4D97-AF65-F5344CB8AC3E}">
        <p14:creationId xmlns:p14="http://schemas.microsoft.com/office/powerpoint/2010/main" val="31514457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5"/>
          <p:cNvSpPr txBox="1">
            <a:spLocks noChangeArrowheads="1"/>
          </p:cNvSpPr>
          <p:nvPr/>
        </p:nvSpPr>
        <p:spPr bwMode="auto">
          <a:xfrm>
            <a:off x="994466" y="2114273"/>
            <a:ext cx="10441160" cy="2777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cs typeface="+mn-ea"/>
              </a:rPr>
              <a:t>表单中的</a:t>
            </a:r>
            <a:r>
              <a:rPr lang="zh-CN" altLang="en-US" sz="2000" dirty="0">
                <a:solidFill>
                  <a:srgbClr val="1369B2"/>
                </a:solidFill>
                <a:latin typeface="微软雅黑" panose="020B0503020204020204" pitchFamily="34" charset="-122"/>
                <a:ea typeface="微软雅黑" panose="020B0503020204020204" pitchFamily="34" charset="-122"/>
                <a:cs typeface="+mn-ea"/>
              </a:rPr>
              <a:t>文本输入框</a:t>
            </a:r>
            <a:r>
              <a:rPr lang="zh-CN" altLang="en-US" sz="2000" dirty="0">
                <a:solidFill>
                  <a:srgbClr val="595959"/>
                </a:solidFill>
                <a:latin typeface="微软雅黑" panose="020B0503020204020204" pitchFamily="34" charset="-122"/>
                <a:ea typeface="微软雅黑" panose="020B0503020204020204" pitchFamily="34" charset="-122"/>
                <a:cs typeface="+mn-ea"/>
              </a:rPr>
              <a:t>和</a:t>
            </a:r>
            <a:r>
              <a:rPr lang="zh-CN" altLang="en-US" sz="2000" dirty="0">
                <a:solidFill>
                  <a:srgbClr val="1369B2"/>
                </a:solidFill>
                <a:latin typeface="微软雅黑" panose="020B0503020204020204" pitchFamily="34" charset="-122"/>
                <a:ea typeface="微软雅黑" panose="020B0503020204020204" pitchFamily="34" charset="-122"/>
                <a:cs typeface="+mn-ea"/>
              </a:rPr>
              <a:t>文本域</a:t>
            </a:r>
            <a:r>
              <a:rPr lang="zh-CN" altLang="en-US" sz="2000" dirty="0">
                <a:solidFill>
                  <a:srgbClr val="595959"/>
                </a:solidFill>
                <a:latin typeface="微软雅黑" panose="020B0503020204020204" pitchFamily="34" charset="-122"/>
                <a:ea typeface="微软雅黑" panose="020B0503020204020204" pitchFamily="34" charset="-122"/>
                <a:cs typeface="+mn-ea"/>
              </a:rPr>
              <a:t>的</a:t>
            </a:r>
            <a:r>
              <a:rPr lang="zh-CN" altLang="en-US" sz="2000" dirty="0">
                <a:solidFill>
                  <a:srgbClr val="1369B2"/>
                </a:solidFill>
                <a:latin typeface="微软雅黑" panose="020B0503020204020204" pitchFamily="34" charset="-122"/>
                <a:ea typeface="微软雅黑" panose="020B0503020204020204" pitchFamily="34" charset="-122"/>
                <a:cs typeface="+mn-ea"/>
              </a:rPr>
              <a:t>作用</a:t>
            </a:r>
            <a:r>
              <a:rPr lang="zh-CN" altLang="en-US" sz="2000" dirty="0">
                <a:solidFill>
                  <a:srgbClr val="595959"/>
                </a:solidFill>
                <a:latin typeface="微软雅黑" panose="020B0503020204020204" pitchFamily="34" charset="-122"/>
                <a:ea typeface="微软雅黑" panose="020B0503020204020204" pitchFamily="34" charset="-122"/>
                <a:cs typeface="+mn-ea"/>
              </a:rPr>
              <a:t>：用于让用户</a:t>
            </a:r>
            <a:r>
              <a:rPr lang="zh-CN" altLang="en-US" sz="2000" dirty="0">
                <a:solidFill>
                  <a:srgbClr val="1369B2"/>
                </a:solidFill>
                <a:latin typeface="微软雅黑" panose="020B0503020204020204" pitchFamily="34" charset="-122"/>
                <a:ea typeface="微软雅黑" panose="020B0503020204020204" pitchFamily="34" charset="-122"/>
                <a:cs typeface="+mn-ea"/>
              </a:rPr>
              <a:t>输入文本信息</a:t>
            </a:r>
            <a:r>
              <a:rPr lang="zh-CN" altLang="en-US" sz="2000" dirty="0">
                <a:solidFill>
                  <a:srgbClr val="595959"/>
                </a:solidFill>
                <a:latin typeface="微软雅黑" panose="020B0503020204020204" pitchFamily="34" charset="-122"/>
                <a:ea typeface="微软雅黑" panose="020B0503020204020204" pitchFamily="34" charset="-122"/>
                <a:cs typeface="+mn-ea"/>
              </a:rPr>
              <a:t>，文本输入</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框</a:t>
            </a:r>
            <a:r>
              <a:rPr lang="zh-CN" altLang="en-US" sz="2000" dirty="0">
                <a:solidFill>
                  <a:srgbClr val="595959"/>
                </a:solidFill>
                <a:latin typeface="微软雅黑" panose="020B0503020204020204" pitchFamily="34" charset="-122"/>
                <a:ea typeface="微软雅黑" panose="020B0503020204020204" pitchFamily="34" charset="-122"/>
                <a:cs typeface="+mn-ea"/>
              </a:rPr>
              <a:t>用于</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输入</a:t>
            </a:r>
            <a:r>
              <a:rPr lang="zh-CN" altLang="en-US" sz="2000" dirty="0">
                <a:solidFill>
                  <a:srgbClr val="1369B2"/>
                </a:solidFill>
                <a:latin typeface="微软雅黑" panose="020B0503020204020204" pitchFamily="34" charset="-122"/>
                <a:ea typeface="微软雅黑" panose="020B0503020204020204" pitchFamily="34" charset="-122"/>
                <a:cs typeface="+mn-ea"/>
              </a:rPr>
              <a:t>单行文本</a:t>
            </a:r>
            <a:r>
              <a:rPr lang="zh-CN" altLang="en-US" sz="2000" dirty="0">
                <a:solidFill>
                  <a:srgbClr val="595959"/>
                </a:solidFill>
                <a:latin typeface="微软雅黑" panose="020B0503020204020204" pitchFamily="34" charset="-122"/>
                <a:ea typeface="微软雅黑" panose="020B0503020204020204" pitchFamily="34" charset="-122"/>
                <a:cs typeface="+mn-ea"/>
              </a:rPr>
              <a:t>，而文本</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域用于输入</a:t>
            </a:r>
            <a:r>
              <a:rPr lang="zh-CN" altLang="en-US" sz="2000" dirty="0">
                <a:solidFill>
                  <a:srgbClr val="1369B2"/>
                </a:solidFill>
                <a:latin typeface="微软雅黑" panose="020B0503020204020204" pitchFamily="34" charset="-122"/>
                <a:ea typeface="微软雅黑" panose="020B0503020204020204" pitchFamily="34" charset="-122"/>
                <a:cs typeface="+mn-ea"/>
              </a:rPr>
              <a:t>多行文本。</a:t>
            </a:r>
            <a:endParaRPr lang="en-US" altLang="zh-CN" sz="2000" dirty="0">
              <a:solidFill>
                <a:srgbClr val="1369B2"/>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1000" dirty="0">
              <a:solidFill>
                <a:srgbClr val="595959"/>
              </a:solidFill>
              <a:latin typeface="微软雅黑" panose="020B0503020204020204" pitchFamily="34" charset="-122"/>
              <a:ea typeface="微软雅黑" panose="020B0503020204020204" pitchFamily="34" charset="-122"/>
              <a:cs typeface="+mn-ea"/>
            </a:endParaRPr>
          </a:p>
          <a:p>
            <a:pPr marL="342900" indent="-342900">
              <a:lnSpc>
                <a:spcPct val="150000"/>
              </a:lnSpc>
              <a:buFont typeface="Wingdings" panose="05000000000000000000" pitchFamily="2" charset="2"/>
              <a:buChar char="l"/>
            </a:pPr>
            <a:r>
              <a:rPr lang="en-US" altLang="zh-CN" sz="2000" dirty="0">
                <a:solidFill>
                  <a:srgbClr val="1369B2"/>
                </a:solidFill>
                <a:latin typeface="微软雅黑" panose="020B0503020204020204" pitchFamily="34" charset="-122"/>
                <a:ea typeface="微软雅黑" panose="020B0503020204020204" pitchFamily="34" charset="-122"/>
                <a:cs typeface="+mn-ea"/>
              </a:rPr>
              <a:t>.form-group</a:t>
            </a:r>
            <a:r>
              <a:rPr lang="zh-CN" altLang="en-US" sz="2000" dirty="0">
                <a:solidFill>
                  <a:srgbClr val="1369B2"/>
                </a:solidFill>
                <a:latin typeface="微软雅黑" panose="020B0503020204020204" pitchFamily="34" charset="-122"/>
                <a:ea typeface="微软雅黑" panose="020B0503020204020204" pitchFamily="34" charset="-122"/>
                <a:cs typeface="+mn-ea"/>
              </a:rPr>
              <a:t>类：</a:t>
            </a:r>
            <a:r>
              <a:rPr lang="zh-CN" altLang="en-US" sz="2000" dirty="0">
                <a:solidFill>
                  <a:srgbClr val="595959"/>
                </a:solidFill>
                <a:latin typeface="微软雅黑" panose="020B0503020204020204" pitchFamily="34" charset="-122"/>
                <a:ea typeface="微软雅黑" panose="020B0503020204020204" pitchFamily="34" charset="-122"/>
                <a:cs typeface="+mn-ea"/>
              </a:rPr>
              <a:t>表示</a:t>
            </a:r>
            <a:r>
              <a:rPr lang="zh-CN" altLang="en-US" sz="2000" dirty="0">
                <a:solidFill>
                  <a:srgbClr val="1369B2"/>
                </a:solidFill>
                <a:latin typeface="微软雅黑" panose="020B0503020204020204" pitchFamily="34" charset="-122"/>
                <a:ea typeface="微软雅黑" panose="020B0503020204020204" pitchFamily="34" charset="-122"/>
                <a:cs typeface="+mn-ea"/>
              </a:rPr>
              <a:t>表单组</a:t>
            </a:r>
            <a:r>
              <a:rPr lang="zh-CN" altLang="en-US" sz="2000" dirty="0">
                <a:solidFill>
                  <a:srgbClr val="595959"/>
                </a:solidFill>
                <a:latin typeface="微软雅黑" panose="020B0503020204020204" pitchFamily="34" charset="-122"/>
                <a:ea typeface="微软雅黑" panose="020B0503020204020204" pitchFamily="34" charset="-122"/>
                <a:cs typeface="+mn-ea"/>
              </a:rPr>
              <a:t>，每个表单组对应表单中要填的每一项信息，表单组中存放</a:t>
            </a:r>
            <a:r>
              <a:rPr lang="zh-CN" altLang="en-US" sz="2000" dirty="0">
                <a:solidFill>
                  <a:srgbClr val="1369B2"/>
                </a:solidFill>
                <a:latin typeface="微软雅黑" panose="020B0503020204020204" pitchFamily="34" charset="-122"/>
                <a:ea typeface="微软雅黑" panose="020B0503020204020204" pitchFamily="34" charset="-122"/>
                <a:cs typeface="+mn-ea"/>
              </a:rPr>
              <a:t>表单</a:t>
            </a:r>
            <a:r>
              <a:rPr lang="zh-CN" altLang="en-US" sz="2000" dirty="0" smtClean="0">
                <a:solidFill>
                  <a:srgbClr val="1369B2"/>
                </a:solidFill>
                <a:latin typeface="微软雅黑" panose="020B0503020204020204" pitchFamily="34" charset="-122"/>
                <a:ea typeface="微软雅黑" panose="020B0503020204020204" pitchFamily="34" charset="-122"/>
                <a:cs typeface="+mn-ea"/>
              </a:rPr>
              <a:t>控件</a:t>
            </a:r>
            <a:r>
              <a:rPr lang="zh-CN" altLang="en-US" sz="2000" dirty="0">
                <a:solidFill>
                  <a:srgbClr val="595959"/>
                </a:solidFill>
                <a:latin typeface="微软雅黑" panose="020B0503020204020204" pitchFamily="34" charset="-122"/>
                <a:ea typeface="微软雅黑" panose="020B0503020204020204" pitchFamily="34" charset="-122"/>
                <a:cs typeface="+mn-ea"/>
              </a:rPr>
              <a:t>。</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500" dirty="0">
              <a:solidFill>
                <a:srgbClr val="595959"/>
              </a:solidFill>
              <a:latin typeface="微软雅黑" panose="020B0503020204020204" pitchFamily="34" charset="-122"/>
              <a:ea typeface="微软雅黑" panose="020B0503020204020204" pitchFamily="34" charset="-122"/>
              <a:cs typeface="+mn-ea"/>
            </a:endParaRPr>
          </a:p>
          <a:p>
            <a:pPr marL="342900" indent="-342900">
              <a:lnSpc>
                <a:spcPct val="150000"/>
              </a:lnSpc>
              <a:buFont typeface="Wingdings" panose="05000000000000000000" pitchFamily="2" charset="2"/>
              <a:buChar char="l"/>
            </a:pPr>
            <a:r>
              <a:rPr lang="en-US" altLang="zh-CN" sz="2000" dirty="0">
                <a:solidFill>
                  <a:srgbClr val="1369B2"/>
                </a:solidFill>
                <a:latin typeface="微软雅黑" panose="020B0503020204020204" pitchFamily="34" charset="-122"/>
                <a:ea typeface="微软雅黑" panose="020B0503020204020204" pitchFamily="34" charset="-122"/>
                <a:cs typeface="+mn-ea"/>
              </a:rPr>
              <a:t>.form-control</a:t>
            </a:r>
            <a:r>
              <a:rPr lang="zh-CN" altLang="en-US" sz="2000" dirty="0">
                <a:solidFill>
                  <a:srgbClr val="1369B2"/>
                </a:solidFill>
                <a:latin typeface="微软雅黑" panose="020B0503020204020204" pitchFamily="34" charset="-122"/>
                <a:ea typeface="微软雅黑" panose="020B0503020204020204" pitchFamily="34" charset="-122"/>
                <a:cs typeface="+mn-ea"/>
              </a:rPr>
              <a:t>类：</a:t>
            </a:r>
            <a:r>
              <a:rPr lang="zh-CN" altLang="en-US" sz="2000" dirty="0">
                <a:solidFill>
                  <a:srgbClr val="595959"/>
                </a:solidFill>
                <a:latin typeface="微软雅黑" panose="020B0503020204020204" pitchFamily="34" charset="-122"/>
                <a:ea typeface="微软雅黑" panose="020B0503020204020204" pitchFamily="34" charset="-122"/>
                <a:cs typeface="+mn-ea"/>
              </a:rPr>
              <a:t>设置表单控件</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样式。</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4" name="TextBox 76"/>
          <p:cNvSpPr txBox="1"/>
          <p:nvPr/>
        </p:nvSpPr>
        <p:spPr>
          <a:xfrm>
            <a:off x="1024656" y="1322185"/>
            <a:ext cx="3270350"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文本</a:t>
            </a: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输入框和文本域</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 name="Title 1">
            <a:extLst>
              <a:ext uri="{FF2B5EF4-FFF2-40B4-BE49-F238E27FC236}">
                <a16:creationId xmlns:a16="http://schemas.microsoft.com/office/drawing/2014/main" id="{25EF5B5A-59E0-4BA8-B34B-99886659E05A}"/>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6.3.1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表单控件</a:t>
            </a:r>
          </a:p>
        </p:txBody>
      </p:sp>
    </p:spTree>
    <p:extLst>
      <p:ext uri="{BB962C8B-B14F-4D97-AF65-F5344CB8AC3E}">
        <p14:creationId xmlns:p14="http://schemas.microsoft.com/office/powerpoint/2010/main" val="890058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5EF5B5A-59E0-4BA8-B34B-99886659E05A}"/>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6.3.1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表单控件</a:t>
            </a:r>
          </a:p>
        </p:txBody>
      </p:sp>
      <p:sp>
        <p:nvSpPr>
          <p:cNvPr id="5" name="TextBox 35">
            <a:extLst>
              <a:ext uri="{FF2B5EF4-FFF2-40B4-BE49-F238E27FC236}">
                <a16:creationId xmlns:a16="http://schemas.microsoft.com/office/drawing/2014/main" id="{BC0DF9E9-838C-406C-B07C-3532DC853A8C}"/>
              </a:ext>
            </a:extLst>
          </p:cNvPr>
          <p:cNvSpPr txBox="1">
            <a:spLocks noChangeArrowheads="1"/>
          </p:cNvSpPr>
          <p:nvPr/>
        </p:nvSpPr>
        <p:spPr bwMode="auto">
          <a:xfrm>
            <a:off x="994466" y="1197546"/>
            <a:ext cx="10441160" cy="584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实现</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文本输入框和文本域</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的页面</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效果。</a:t>
            </a: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pic>
        <p:nvPicPr>
          <p:cNvPr id="11" name="图片 1">
            <a:extLst>
              <a:ext uri="{FF2B5EF4-FFF2-40B4-BE49-F238E27FC236}">
                <a16:creationId xmlns:a16="http://schemas.microsoft.com/office/drawing/2014/main" id="{82DDD3F9-E977-4490-B548-8629BE19A9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6029" y="2133650"/>
            <a:ext cx="4021385" cy="253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421616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5EF5B5A-59E0-4BA8-B34B-99886659E05A}"/>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6.3.1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表单控件</a:t>
            </a:r>
          </a:p>
        </p:txBody>
      </p:sp>
      <p:sp>
        <p:nvSpPr>
          <p:cNvPr id="5" name="文本框 4">
            <a:extLst>
              <a:ext uri="{FF2B5EF4-FFF2-40B4-BE49-F238E27FC236}">
                <a16:creationId xmlns:a16="http://schemas.microsoft.com/office/drawing/2014/main" id="{CA22F1E4-39AE-424B-B19B-3301952C7205}"/>
              </a:ext>
            </a:extLst>
          </p:cNvPr>
          <p:cNvSpPr txBox="1"/>
          <p:nvPr/>
        </p:nvSpPr>
        <p:spPr>
          <a:xfrm>
            <a:off x="3059949" y="2277666"/>
            <a:ext cx="7787785" cy="4111510"/>
          </a:xfrm>
          <a:prstGeom prst="rect">
            <a:avLst/>
          </a:prstGeom>
          <a:solidFill>
            <a:srgbClr val="F2F2F2"/>
          </a:solidFill>
        </p:spPr>
        <p:txBody>
          <a:bodyPr wrap="square">
            <a:spAutoFit/>
          </a:bodyPr>
          <a:lstStyle/>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&lt;!DOCTYPE html&gt;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&lt;html&gt;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&lt;head&gt;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&lt;meta charset="UTF-8"&gt;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&lt;meta name="viewport" content="width=device-width, initial-scale=1.0"&gt;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&lt;title&gt;Document&lt;/title&gt;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&lt;link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="bootstrap-4.6.0-dist/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css</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/bootstrap.min.css"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rel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="stylesheet"&gt;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&lt;/head&gt;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&lt;body class="m-3"&gt;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&lt;/body&gt;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&lt;/html&gt;</a:t>
            </a:r>
          </a:p>
        </p:txBody>
      </p:sp>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01</a:t>
              </a: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053530"/>
            <a:ext cx="8722842" cy="1053622"/>
          </a:xfrm>
          <a:prstGeom prst="rect">
            <a:avLst/>
          </a:prstGeom>
          <a:noFill/>
          <a:ln>
            <a:noFill/>
          </a:ln>
        </p:spPr>
        <p:txBody>
          <a:bodyPr wrap="square" rtlCol="0">
            <a:spAutoFit/>
          </a:bodyPr>
          <a:lstStyle/>
          <a:p>
            <a:pPr lvl="0" defTabSz="457200">
              <a:lnSpc>
                <a:spcPct val="150000"/>
              </a:lnSpc>
              <a:defRPr/>
            </a:pPr>
            <a:r>
              <a:rPr lang="zh-CN" altLang="en-US" sz="2400" b="1" kern="0" dirty="0">
                <a:solidFill>
                  <a:srgbClr val="595959"/>
                </a:solidFill>
                <a:latin typeface="微软雅黑" panose="020B0503020204020204" pitchFamily="34" charset="-122"/>
                <a:ea typeface="微软雅黑" panose="020B0503020204020204" pitchFamily="34" charset="-122"/>
                <a:cs typeface="+mn-ea"/>
                <a:sym typeface="+mn-lt"/>
              </a:rPr>
              <a:t>实现文本输入框和文本域的页面效果</a:t>
            </a:r>
            <a:endParaRPr lang="en-US" altLang="zh-CN" sz="2400" b="1" kern="0" dirty="0">
              <a:solidFill>
                <a:srgbClr val="595959"/>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1800" dirty="0">
                <a:solidFill>
                  <a:srgbClr val="595959"/>
                </a:solidFill>
                <a:latin typeface="微软雅黑" panose="020B0503020204020204" pitchFamily="34" charset="-122"/>
                <a:ea typeface="微软雅黑" panose="020B0503020204020204" pitchFamily="34" charset="-122"/>
              </a:rPr>
              <a:t>创建</a:t>
            </a:r>
            <a:r>
              <a:rPr lang="en-US" altLang="zh-CN" sz="1800" dirty="0">
                <a:solidFill>
                  <a:srgbClr val="595959"/>
                </a:solidFill>
                <a:latin typeface="微软雅黑" panose="020B0503020204020204" pitchFamily="34" charset="-122"/>
                <a:ea typeface="微软雅黑" panose="020B0503020204020204" pitchFamily="34" charset="-122"/>
              </a:rPr>
              <a:t>C:\code\chapter06\demo05.html</a:t>
            </a:r>
            <a:r>
              <a:rPr lang="zh-CN" altLang="en-US" sz="1800" dirty="0">
                <a:solidFill>
                  <a:srgbClr val="595959"/>
                </a:solidFill>
                <a:latin typeface="微软雅黑" panose="020B0503020204020204" pitchFamily="34" charset="-122"/>
                <a:ea typeface="微软雅黑" panose="020B0503020204020204" pitchFamily="34" charset="-122"/>
              </a:rPr>
              <a:t>，配置</a:t>
            </a:r>
            <a:r>
              <a:rPr lang="zh-CN" altLang="en-US" sz="1800" dirty="0">
                <a:solidFill>
                  <a:srgbClr val="1369B2"/>
                </a:solidFill>
                <a:latin typeface="微软雅黑" panose="020B0503020204020204" pitchFamily="34" charset="-122"/>
                <a:ea typeface="微软雅黑" panose="020B0503020204020204" pitchFamily="34" charset="-122"/>
              </a:rPr>
              <a:t>视口</a:t>
            </a:r>
            <a:r>
              <a:rPr lang="zh-CN" altLang="en-US" sz="1800" dirty="0">
                <a:solidFill>
                  <a:srgbClr val="595959"/>
                </a:solidFill>
                <a:latin typeface="微软雅黑" panose="020B0503020204020204" pitchFamily="34" charset="-122"/>
                <a:ea typeface="微软雅黑" panose="020B0503020204020204" pitchFamily="34" charset="-122"/>
              </a:rPr>
              <a:t>并</a:t>
            </a:r>
            <a:r>
              <a:rPr lang="zh-CN" altLang="en-US" sz="1800" dirty="0">
                <a:solidFill>
                  <a:srgbClr val="1369B2"/>
                </a:solidFill>
                <a:latin typeface="微软雅黑" panose="020B0503020204020204" pitchFamily="34" charset="-122"/>
                <a:ea typeface="微软雅黑" panose="020B0503020204020204" pitchFamily="34" charset="-122"/>
              </a:rPr>
              <a:t>引入</a:t>
            </a:r>
            <a:r>
              <a:rPr lang="zh-CN" altLang="en-US" sz="1800" dirty="0">
                <a:solidFill>
                  <a:srgbClr val="595959"/>
                </a:solidFill>
                <a:latin typeface="微软雅黑" panose="020B0503020204020204" pitchFamily="34" charset="-122"/>
                <a:ea typeface="微软雅黑" panose="020B0503020204020204" pitchFamily="34" charset="-122"/>
              </a:rPr>
              <a:t>依赖文件。</a:t>
            </a:r>
          </a:p>
        </p:txBody>
      </p:sp>
    </p:spTree>
    <p:extLst>
      <p:ext uri="{BB962C8B-B14F-4D97-AF65-F5344CB8AC3E}">
        <p14:creationId xmlns:p14="http://schemas.microsoft.com/office/powerpoint/2010/main" val="23048918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5EF5B5A-59E0-4BA8-B34B-99886659E05A}"/>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6.3.1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表单控件</a:t>
            </a:r>
          </a:p>
        </p:txBody>
      </p:sp>
      <p:sp>
        <p:nvSpPr>
          <p:cNvPr id="5" name="文本框 4">
            <a:extLst>
              <a:ext uri="{FF2B5EF4-FFF2-40B4-BE49-F238E27FC236}">
                <a16:creationId xmlns:a16="http://schemas.microsoft.com/office/drawing/2014/main" id="{CA22F1E4-39AE-424B-B19B-3301952C7205}"/>
              </a:ext>
            </a:extLst>
          </p:cNvPr>
          <p:cNvSpPr txBox="1"/>
          <p:nvPr/>
        </p:nvSpPr>
        <p:spPr>
          <a:xfrm>
            <a:off x="2278782" y="2225280"/>
            <a:ext cx="8856984" cy="4228850"/>
          </a:xfrm>
          <a:prstGeom prst="rect">
            <a:avLst/>
          </a:prstGeom>
          <a:solidFill>
            <a:srgbClr val="F2F2F2"/>
          </a:solidFill>
        </p:spPr>
        <p:txBody>
          <a:bodyPr wrap="square">
            <a:spAutoFit/>
          </a:bodyPr>
          <a:lstStyle/>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&lt;form&gt;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实现文本输入框页面效果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class="form-group"&gt;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&lt;label for="email"&gt;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邮箱地址：</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&lt;/label&gt;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&lt;input type="text" class="form-control" id="email" placeholder="</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请输入邮箱地址</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实现文本域页面效果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class="form-group"&gt;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&lt;label for="address"&gt;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家庭住址：</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&lt;/label&gt;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textarea</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class="form-control" id="address" rows="3"&gt;&lt;/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textarea</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&lt;/form&gt;</a:t>
            </a:r>
          </a:p>
        </p:txBody>
      </p:sp>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01</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053530"/>
            <a:ext cx="8722842" cy="1107996"/>
          </a:xfrm>
          <a:prstGeom prst="rect">
            <a:avLst/>
          </a:prstGeom>
          <a:noFill/>
          <a:ln>
            <a:noFill/>
          </a:ln>
        </p:spPr>
        <p:txBody>
          <a:bodyPr wrap="square" rtlCol="0">
            <a:spAutoFit/>
          </a:bodyPr>
          <a:lstStyle/>
          <a:p>
            <a:pPr lvl="0" defTabSz="457200">
              <a:lnSpc>
                <a:spcPct val="150000"/>
              </a:lnSpc>
              <a:defRPr/>
            </a:pPr>
            <a:r>
              <a:rPr lang="zh-CN" altLang="en-US" sz="2400" b="1" kern="0" dirty="0">
                <a:solidFill>
                  <a:srgbClr val="595959"/>
                </a:solidFill>
                <a:latin typeface="微软雅黑" panose="020B0503020204020204" pitchFamily="34" charset="-122"/>
                <a:ea typeface="微软雅黑" panose="020B0503020204020204" pitchFamily="34" charset="-122"/>
                <a:cs typeface="+mn-ea"/>
                <a:sym typeface="+mn-lt"/>
              </a:rPr>
              <a:t>实现文本输入框和文本域的页面效果</a:t>
            </a:r>
            <a:endParaRPr lang="en-US" altLang="zh-CN" sz="2400" b="1" kern="0" dirty="0">
              <a:solidFill>
                <a:srgbClr val="595959"/>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smtClean="0">
                <a:solidFill>
                  <a:srgbClr val="595959"/>
                </a:solidFill>
                <a:latin typeface="微软雅黑" panose="020B0503020204020204" pitchFamily="34" charset="-122"/>
                <a:ea typeface="微软雅黑" panose="020B0503020204020204" pitchFamily="34" charset="-122"/>
              </a:rPr>
              <a:t>实现</a:t>
            </a:r>
            <a:r>
              <a:rPr lang="zh-CN" altLang="en-US" sz="2000" dirty="0">
                <a:solidFill>
                  <a:srgbClr val="1369B2"/>
                </a:solidFill>
                <a:latin typeface="微软雅黑" panose="020B0503020204020204" pitchFamily="34" charset="-122"/>
                <a:ea typeface="微软雅黑" panose="020B0503020204020204" pitchFamily="34" charset="-122"/>
              </a:rPr>
              <a:t>文本输入框</a:t>
            </a:r>
            <a:r>
              <a:rPr lang="zh-CN" altLang="en-US" sz="2000" dirty="0">
                <a:solidFill>
                  <a:srgbClr val="595959"/>
                </a:solidFill>
                <a:latin typeface="微软雅黑" panose="020B0503020204020204" pitchFamily="34" charset="-122"/>
                <a:ea typeface="微软雅黑" panose="020B0503020204020204" pitchFamily="34" charset="-122"/>
              </a:rPr>
              <a:t>和</a:t>
            </a:r>
            <a:r>
              <a:rPr lang="zh-CN" altLang="en-US" sz="2000" dirty="0">
                <a:solidFill>
                  <a:srgbClr val="1369B2"/>
                </a:solidFill>
                <a:latin typeface="微软雅黑" panose="020B0503020204020204" pitchFamily="34" charset="-122"/>
                <a:ea typeface="微软雅黑" panose="020B0503020204020204" pitchFamily="34" charset="-122"/>
              </a:rPr>
              <a:t>文本域</a:t>
            </a:r>
            <a:r>
              <a:rPr lang="zh-CN" altLang="en-US" sz="2000" dirty="0">
                <a:solidFill>
                  <a:srgbClr val="595959"/>
                </a:solidFill>
                <a:latin typeface="微软雅黑" panose="020B0503020204020204" pitchFamily="34" charset="-122"/>
                <a:ea typeface="微软雅黑" panose="020B0503020204020204" pitchFamily="34" charset="-122"/>
              </a:rPr>
              <a:t>的页面效果。</a:t>
            </a:r>
          </a:p>
        </p:txBody>
      </p:sp>
    </p:spTree>
    <p:extLst>
      <p:ext uri="{BB962C8B-B14F-4D97-AF65-F5344CB8AC3E}">
        <p14:creationId xmlns:p14="http://schemas.microsoft.com/office/powerpoint/2010/main" val="22298626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5EF5B5A-59E0-4BA8-B34B-99886659E05A}"/>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6.3.1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表单控件</a:t>
            </a:r>
          </a:p>
        </p:txBody>
      </p:sp>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02</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053530"/>
            <a:ext cx="8722842" cy="1107996"/>
          </a:xfrm>
          <a:prstGeom prst="rect">
            <a:avLst/>
          </a:prstGeom>
          <a:noFill/>
          <a:ln>
            <a:noFill/>
          </a:ln>
        </p:spPr>
        <p:txBody>
          <a:bodyPr wrap="square" rtlCol="0">
            <a:spAutoFit/>
          </a:bodyPr>
          <a:lstStyle/>
          <a:p>
            <a:pPr lvl="0" defTabSz="457200">
              <a:lnSpc>
                <a:spcPct val="150000"/>
              </a:lnSpc>
              <a:defRPr/>
            </a:pPr>
            <a:r>
              <a:rPr lang="zh-CN" altLang="en-US" sz="2400" b="1" kern="0" dirty="0">
                <a:solidFill>
                  <a:srgbClr val="595959"/>
                </a:solidFill>
                <a:latin typeface="微软雅黑" panose="020B0503020204020204" pitchFamily="34" charset="-122"/>
                <a:ea typeface="微软雅黑" panose="020B0503020204020204" pitchFamily="34" charset="-122"/>
                <a:cs typeface="+mn-ea"/>
                <a:sym typeface="+mn-lt"/>
              </a:rPr>
              <a:t>在浏览器中访问</a:t>
            </a:r>
            <a:r>
              <a:rPr lang="en-US" altLang="zh-CN" sz="2400" b="1" kern="0" dirty="0">
                <a:solidFill>
                  <a:srgbClr val="595959"/>
                </a:solidFill>
                <a:latin typeface="微软雅黑" panose="020B0503020204020204" pitchFamily="34" charset="-122"/>
                <a:ea typeface="微软雅黑" panose="020B0503020204020204" pitchFamily="34" charset="-122"/>
                <a:cs typeface="+mn-ea"/>
                <a:sym typeface="+mn-lt"/>
              </a:rPr>
              <a:t>demo05.html</a:t>
            </a:r>
          </a:p>
          <a:p>
            <a:pPr lvl="0" defTabSz="457200">
              <a:lnSpc>
                <a:spcPct val="150000"/>
              </a:lnSpc>
              <a:defRPr/>
            </a:pPr>
            <a:r>
              <a:rPr lang="zh-CN" altLang="en-US" sz="2000" dirty="0">
                <a:solidFill>
                  <a:srgbClr val="1369B2"/>
                </a:solidFill>
                <a:latin typeface="微软雅黑" panose="020B0503020204020204" pitchFamily="34" charset="-122"/>
                <a:ea typeface="微软雅黑" panose="020B0503020204020204" pitchFamily="34" charset="-122"/>
              </a:rPr>
              <a:t>文本输入框</a:t>
            </a:r>
            <a:r>
              <a:rPr lang="zh-CN" altLang="en-US" sz="2000" dirty="0">
                <a:solidFill>
                  <a:srgbClr val="595959"/>
                </a:solidFill>
                <a:latin typeface="微软雅黑" panose="020B0503020204020204" pitchFamily="34" charset="-122"/>
                <a:ea typeface="微软雅黑" panose="020B0503020204020204" pitchFamily="34" charset="-122"/>
              </a:rPr>
              <a:t>和</a:t>
            </a:r>
            <a:r>
              <a:rPr lang="zh-CN" altLang="en-US" sz="2000" dirty="0">
                <a:solidFill>
                  <a:srgbClr val="1369B2"/>
                </a:solidFill>
                <a:latin typeface="微软雅黑" panose="020B0503020204020204" pitchFamily="34" charset="-122"/>
                <a:ea typeface="微软雅黑" panose="020B0503020204020204" pitchFamily="34" charset="-122"/>
              </a:rPr>
              <a:t>文本域</a:t>
            </a:r>
            <a:r>
              <a:rPr lang="zh-CN" altLang="en-US" sz="2000" dirty="0">
                <a:solidFill>
                  <a:srgbClr val="595959"/>
                </a:solidFill>
                <a:latin typeface="微软雅黑" panose="020B0503020204020204" pitchFamily="34" charset="-122"/>
                <a:ea typeface="微软雅黑" panose="020B0503020204020204" pitchFamily="34" charset="-122"/>
              </a:rPr>
              <a:t>的页面效果如图。</a:t>
            </a:r>
          </a:p>
        </p:txBody>
      </p:sp>
      <p:pic>
        <p:nvPicPr>
          <p:cNvPr id="8194" name="图片 1">
            <a:extLst>
              <a:ext uri="{FF2B5EF4-FFF2-40B4-BE49-F238E27FC236}">
                <a16:creationId xmlns:a16="http://schemas.microsoft.com/office/drawing/2014/main" id="{722D5670-0907-4549-BB8D-98C7120812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2611" y="2567503"/>
            <a:ext cx="4564041" cy="2878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70723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5"/>
          <p:cNvSpPr txBox="1">
            <a:spLocks noChangeArrowheads="1"/>
          </p:cNvSpPr>
          <p:nvPr/>
        </p:nvSpPr>
        <p:spPr bwMode="auto">
          <a:xfrm>
            <a:off x="1053492" y="2133650"/>
            <a:ext cx="10442313" cy="2777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342900" indent="-342900">
              <a:lnSpc>
                <a:spcPct val="150000"/>
              </a:lnSpc>
              <a:buFont typeface="Wingdings" panose="05000000000000000000" pitchFamily="2" charset="2"/>
              <a:buChar char="l"/>
            </a:pP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smtClean="0">
                <a:solidFill>
                  <a:srgbClr val="1369B2"/>
                </a:solidFill>
                <a:latin typeface="微软雅黑" panose="020B0503020204020204" pitchFamily="34" charset="-122"/>
                <a:ea typeface="微软雅黑" panose="020B0503020204020204" pitchFamily="34" charset="-122"/>
                <a:cs typeface="+mn-ea"/>
              </a:rPr>
              <a:t>form-check</a:t>
            </a:r>
            <a:r>
              <a:rPr lang="zh-CN" altLang="en-US" sz="2000" dirty="0" smtClean="0">
                <a:solidFill>
                  <a:srgbClr val="1369B2"/>
                </a:solidFill>
                <a:latin typeface="微软雅黑" panose="020B0503020204020204" pitchFamily="34" charset="-122"/>
                <a:ea typeface="微软雅黑" panose="020B0503020204020204" pitchFamily="34" charset="-122"/>
                <a:cs typeface="+mn-ea"/>
              </a:rPr>
              <a:t>类</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a:t>
            </a:r>
            <a:r>
              <a:rPr lang="zh-CN" altLang="en-US" sz="2000" dirty="0">
                <a:solidFill>
                  <a:srgbClr val="595959"/>
                </a:solidFill>
                <a:latin typeface="微软雅黑" panose="020B0503020204020204" pitchFamily="34" charset="-122"/>
                <a:ea typeface="微软雅黑" panose="020B0503020204020204" pitchFamily="34" charset="-122"/>
                <a:cs typeface="+mn-ea"/>
              </a:rPr>
              <a:t>用于为一组单选框或复选框的</a:t>
            </a:r>
            <a:r>
              <a:rPr lang="zh-CN" altLang="en-US" sz="2000" dirty="0">
                <a:solidFill>
                  <a:srgbClr val="1369B2"/>
                </a:solidFill>
                <a:latin typeface="微软雅黑" panose="020B0503020204020204" pitchFamily="34" charset="-122"/>
                <a:ea typeface="微软雅黑" panose="020B0503020204020204" pitchFamily="34" charset="-122"/>
                <a:cs typeface="+mn-ea"/>
              </a:rPr>
              <a:t>外层容器</a:t>
            </a:r>
            <a:r>
              <a:rPr lang="zh-CN" altLang="en-US" sz="2000" dirty="0">
                <a:solidFill>
                  <a:srgbClr val="595959"/>
                </a:solidFill>
                <a:latin typeface="微软雅黑" panose="020B0503020204020204" pitchFamily="34" charset="-122"/>
                <a:ea typeface="微软雅黑" panose="020B0503020204020204" pitchFamily="34" charset="-122"/>
                <a:cs typeface="+mn-ea"/>
              </a:rPr>
              <a:t>设置</a:t>
            </a:r>
            <a:r>
              <a:rPr lang="zh-CN" altLang="en-US" sz="2000" dirty="0">
                <a:solidFill>
                  <a:srgbClr val="1369B2"/>
                </a:solidFill>
                <a:latin typeface="微软雅黑" panose="020B0503020204020204" pitchFamily="34" charset="-122"/>
                <a:ea typeface="微软雅黑" panose="020B0503020204020204" pitchFamily="34" charset="-122"/>
                <a:cs typeface="+mn-ea"/>
              </a:rPr>
              <a:t>样式</a:t>
            </a:r>
            <a:r>
              <a:rPr lang="zh-CN" altLang="en-US" sz="2000" dirty="0">
                <a:solidFill>
                  <a:srgbClr val="595959"/>
                </a:solidFill>
                <a:latin typeface="微软雅黑" panose="020B0503020204020204" pitchFamily="34" charset="-122"/>
                <a:ea typeface="微软雅黑" panose="020B0503020204020204" pitchFamily="34" charset="-122"/>
                <a:cs typeface="+mn-ea"/>
              </a:rPr>
              <a:t>，容器内的排列方式为</a:t>
            </a:r>
            <a:r>
              <a:rPr lang="zh-CN" altLang="en-US" sz="2000" dirty="0">
                <a:solidFill>
                  <a:srgbClr val="1369B2"/>
                </a:solidFill>
                <a:latin typeface="微软雅黑" panose="020B0503020204020204" pitchFamily="34" charset="-122"/>
                <a:ea typeface="微软雅黑" panose="020B0503020204020204" pitchFamily="34" charset="-122"/>
                <a:cs typeface="+mn-ea"/>
              </a:rPr>
              <a:t>垂直排列</a:t>
            </a:r>
            <a:r>
              <a:rPr lang="zh-CN" altLang="en-US" sz="2000" dirty="0">
                <a:solidFill>
                  <a:srgbClr val="595959"/>
                </a:solidFill>
                <a:latin typeface="微软雅黑" panose="020B0503020204020204" pitchFamily="34" charset="-122"/>
                <a:ea typeface="微软雅黑" panose="020B0503020204020204" pitchFamily="34" charset="-122"/>
                <a:cs typeface="+mn-ea"/>
              </a:rPr>
              <a:t>。</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marL="342900" indent="-342900">
              <a:lnSpc>
                <a:spcPct val="150000"/>
              </a:lnSpc>
              <a:buFont typeface="Wingdings" panose="05000000000000000000" pitchFamily="2" charset="2"/>
              <a:buChar char="l"/>
            </a:pPr>
            <a:endParaRPr lang="zh-CN" altLang="en-US" sz="500" dirty="0">
              <a:solidFill>
                <a:srgbClr val="595959"/>
              </a:solidFill>
              <a:latin typeface="微软雅黑" panose="020B0503020204020204" pitchFamily="34" charset="-122"/>
              <a:ea typeface="微软雅黑" panose="020B0503020204020204" pitchFamily="34" charset="-122"/>
              <a:cs typeface="+mn-ea"/>
            </a:endParaRPr>
          </a:p>
          <a:p>
            <a:pPr marL="342900" indent="-342900">
              <a:lnSpc>
                <a:spcPct val="150000"/>
              </a:lnSpc>
              <a:buFont typeface="Wingdings" panose="05000000000000000000" pitchFamily="2" charset="2"/>
              <a:buChar char="l"/>
            </a:pP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smtClean="0">
                <a:solidFill>
                  <a:srgbClr val="1369B2"/>
                </a:solidFill>
                <a:latin typeface="微软雅黑" panose="020B0503020204020204" pitchFamily="34" charset="-122"/>
                <a:ea typeface="微软雅黑" panose="020B0503020204020204" pitchFamily="34" charset="-122"/>
                <a:cs typeface="+mn-ea"/>
              </a:rPr>
              <a:t>form-check-inline</a:t>
            </a:r>
            <a:r>
              <a:rPr lang="zh-CN" altLang="en-US" sz="2000" dirty="0" smtClean="0">
                <a:solidFill>
                  <a:srgbClr val="1369B2"/>
                </a:solidFill>
                <a:latin typeface="微软雅黑" panose="020B0503020204020204" pitchFamily="34" charset="-122"/>
                <a:ea typeface="微软雅黑" panose="020B0503020204020204" pitchFamily="34" charset="-122"/>
                <a:cs typeface="+mn-ea"/>
              </a:rPr>
              <a:t>类</a:t>
            </a:r>
            <a:r>
              <a:rPr lang="zh-CN" altLang="en-US" sz="2000" dirty="0">
                <a:solidFill>
                  <a:srgbClr val="595959"/>
                </a:solidFill>
                <a:latin typeface="微软雅黑" panose="020B0503020204020204" pitchFamily="34" charset="-122"/>
                <a:ea typeface="微软雅黑" panose="020B0503020204020204" pitchFamily="34" charset="-122"/>
                <a:cs typeface="+mn-ea"/>
              </a:rPr>
              <a:t>：功能和</a:t>
            </a:r>
            <a:r>
              <a:rPr lang="en-US" altLang="zh-CN" sz="2000" dirty="0">
                <a:solidFill>
                  <a:srgbClr val="595959"/>
                </a:solidFill>
                <a:latin typeface="微软雅黑" panose="020B0503020204020204" pitchFamily="34" charset="-122"/>
                <a:ea typeface="微软雅黑" panose="020B0503020204020204" pitchFamily="34" charset="-122"/>
                <a:cs typeface="+mn-ea"/>
              </a:rPr>
              <a:t>.form-check</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相同，但排列</a:t>
            </a:r>
            <a:r>
              <a:rPr lang="zh-CN" altLang="en-US" sz="2000" dirty="0">
                <a:solidFill>
                  <a:srgbClr val="595959"/>
                </a:solidFill>
                <a:latin typeface="微软雅黑" panose="020B0503020204020204" pitchFamily="34" charset="-122"/>
                <a:ea typeface="微软雅黑" panose="020B0503020204020204" pitchFamily="34" charset="-122"/>
                <a:cs typeface="+mn-ea"/>
              </a:rPr>
              <a:t>方式为</a:t>
            </a:r>
            <a:r>
              <a:rPr lang="zh-CN" altLang="en-US" sz="2000" dirty="0">
                <a:solidFill>
                  <a:srgbClr val="1369B2"/>
                </a:solidFill>
                <a:latin typeface="微软雅黑" panose="020B0503020204020204" pitchFamily="34" charset="-122"/>
                <a:ea typeface="微软雅黑" panose="020B0503020204020204" pitchFamily="34" charset="-122"/>
                <a:cs typeface="+mn-ea"/>
              </a:rPr>
              <a:t>水平</a:t>
            </a:r>
            <a:r>
              <a:rPr lang="zh-CN" altLang="en-US" sz="2000" dirty="0" smtClean="0">
                <a:solidFill>
                  <a:srgbClr val="1369B2"/>
                </a:solidFill>
                <a:latin typeface="微软雅黑" panose="020B0503020204020204" pitchFamily="34" charset="-122"/>
                <a:ea typeface="微软雅黑" panose="020B0503020204020204" pitchFamily="34" charset="-122"/>
                <a:cs typeface="+mn-ea"/>
              </a:rPr>
              <a:t>排列</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marL="342900" indent="-342900">
              <a:lnSpc>
                <a:spcPct val="150000"/>
              </a:lnSpc>
              <a:buFont typeface="Wingdings" panose="05000000000000000000" pitchFamily="2" charset="2"/>
              <a:buChar char="l"/>
            </a:pPr>
            <a:endParaRPr lang="zh-CN" altLang="en-US" sz="500" dirty="0">
              <a:solidFill>
                <a:srgbClr val="595959"/>
              </a:solidFill>
              <a:latin typeface="微软雅黑" panose="020B0503020204020204" pitchFamily="34" charset="-122"/>
              <a:ea typeface="微软雅黑" panose="020B0503020204020204" pitchFamily="34" charset="-122"/>
              <a:cs typeface="+mn-ea"/>
            </a:endParaRPr>
          </a:p>
          <a:p>
            <a:pPr marL="342900" indent="-342900">
              <a:lnSpc>
                <a:spcPct val="150000"/>
              </a:lnSpc>
              <a:buFont typeface="Wingdings" panose="05000000000000000000" pitchFamily="2" charset="2"/>
              <a:buChar char="l"/>
            </a:pP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smtClean="0">
                <a:solidFill>
                  <a:srgbClr val="1369B2"/>
                </a:solidFill>
                <a:latin typeface="微软雅黑" panose="020B0503020204020204" pitchFamily="34" charset="-122"/>
                <a:ea typeface="微软雅黑" panose="020B0503020204020204" pitchFamily="34" charset="-122"/>
                <a:cs typeface="+mn-ea"/>
              </a:rPr>
              <a:t>form-check-input</a:t>
            </a:r>
            <a:r>
              <a:rPr lang="zh-CN" altLang="en-US" sz="2000" dirty="0" smtClean="0">
                <a:solidFill>
                  <a:srgbClr val="1369B2"/>
                </a:solidFill>
                <a:latin typeface="微软雅黑" panose="020B0503020204020204" pitchFamily="34" charset="-122"/>
                <a:ea typeface="微软雅黑" panose="020B0503020204020204" pitchFamily="34" charset="-122"/>
                <a:cs typeface="+mn-ea"/>
              </a:rPr>
              <a:t>类</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a:t>
            </a:r>
            <a:r>
              <a:rPr lang="zh-CN" altLang="en-US" sz="2000" dirty="0">
                <a:solidFill>
                  <a:srgbClr val="595959"/>
                </a:solidFill>
                <a:latin typeface="微软雅黑" panose="020B0503020204020204" pitchFamily="34" charset="-122"/>
                <a:ea typeface="微软雅黑" panose="020B0503020204020204" pitchFamily="34" charset="-122"/>
                <a:cs typeface="+mn-ea"/>
              </a:rPr>
              <a:t>用于为</a:t>
            </a:r>
            <a:r>
              <a:rPr lang="zh-CN" altLang="en-US" sz="2000" dirty="0">
                <a:solidFill>
                  <a:srgbClr val="1369B2"/>
                </a:solidFill>
                <a:latin typeface="微软雅黑" panose="020B0503020204020204" pitchFamily="34" charset="-122"/>
                <a:ea typeface="微软雅黑" panose="020B0503020204020204" pitchFamily="34" charset="-122"/>
                <a:cs typeface="+mn-ea"/>
              </a:rPr>
              <a:t>单选框</a:t>
            </a:r>
            <a:r>
              <a:rPr lang="zh-CN" altLang="en-US" sz="2000" dirty="0">
                <a:solidFill>
                  <a:srgbClr val="595959"/>
                </a:solidFill>
                <a:latin typeface="微软雅黑" panose="020B0503020204020204" pitchFamily="34" charset="-122"/>
                <a:ea typeface="微软雅黑" panose="020B0503020204020204" pitchFamily="34" charset="-122"/>
                <a:cs typeface="+mn-ea"/>
              </a:rPr>
              <a:t>或</a:t>
            </a:r>
            <a:r>
              <a:rPr lang="zh-CN" altLang="en-US" sz="2000" dirty="0">
                <a:solidFill>
                  <a:srgbClr val="1369B2"/>
                </a:solidFill>
                <a:latin typeface="微软雅黑" panose="020B0503020204020204" pitchFamily="34" charset="-122"/>
                <a:ea typeface="微软雅黑" panose="020B0503020204020204" pitchFamily="34" charset="-122"/>
                <a:cs typeface="+mn-ea"/>
              </a:rPr>
              <a:t>复选框控件</a:t>
            </a:r>
            <a:r>
              <a:rPr lang="zh-CN" altLang="en-US" sz="2000" dirty="0">
                <a:solidFill>
                  <a:srgbClr val="595959"/>
                </a:solidFill>
                <a:latin typeface="微软雅黑" panose="020B0503020204020204" pitchFamily="34" charset="-122"/>
                <a:ea typeface="微软雅黑" panose="020B0503020204020204" pitchFamily="34" charset="-122"/>
                <a:cs typeface="+mn-ea"/>
              </a:rPr>
              <a:t>设置</a:t>
            </a:r>
            <a:r>
              <a:rPr lang="zh-CN" altLang="en-US" sz="2000" dirty="0">
                <a:solidFill>
                  <a:srgbClr val="1369B2"/>
                </a:solidFill>
                <a:latin typeface="微软雅黑" panose="020B0503020204020204" pitchFamily="34" charset="-122"/>
                <a:ea typeface="微软雅黑" panose="020B0503020204020204" pitchFamily="34" charset="-122"/>
                <a:cs typeface="+mn-ea"/>
              </a:rPr>
              <a:t>样式</a:t>
            </a:r>
            <a:r>
              <a:rPr lang="zh-CN" altLang="en-US" sz="2000" dirty="0">
                <a:solidFill>
                  <a:srgbClr val="595959"/>
                </a:solidFill>
                <a:latin typeface="微软雅黑" panose="020B0503020204020204" pitchFamily="34" charset="-122"/>
                <a:ea typeface="微软雅黑" panose="020B0503020204020204" pitchFamily="34" charset="-122"/>
                <a:cs typeface="+mn-ea"/>
              </a:rPr>
              <a:t>。</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marL="342900" indent="-342900">
              <a:lnSpc>
                <a:spcPct val="150000"/>
              </a:lnSpc>
              <a:buFont typeface="Wingdings" panose="05000000000000000000" pitchFamily="2" charset="2"/>
              <a:buChar char="l"/>
            </a:pPr>
            <a:endParaRPr lang="zh-CN" altLang="en-US" sz="500" dirty="0">
              <a:solidFill>
                <a:srgbClr val="595959"/>
              </a:solidFill>
              <a:latin typeface="微软雅黑" panose="020B0503020204020204" pitchFamily="34" charset="-122"/>
              <a:ea typeface="微软雅黑" panose="020B0503020204020204" pitchFamily="34" charset="-122"/>
              <a:cs typeface="+mn-ea"/>
            </a:endParaRPr>
          </a:p>
          <a:p>
            <a:pPr marL="342900" indent="-342900">
              <a:lnSpc>
                <a:spcPct val="150000"/>
              </a:lnSpc>
              <a:buFont typeface="Wingdings" panose="05000000000000000000" pitchFamily="2" charset="2"/>
              <a:buChar char="l"/>
            </a:pP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smtClean="0">
                <a:solidFill>
                  <a:srgbClr val="1369B2"/>
                </a:solidFill>
                <a:latin typeface="微软雅黑" panose="020B0503020204020204" pitchFamily="34" charset="-122"/>
                <a:ea typeface="微软雅黑" panose="020B0503020204020204" pitchFamily="34" charset="-122"/>
                <a:cs typeface="+mn-ea"/>
              </a:rPr>
              <a:t>form-check-label</a:t>
            </a:r>
            <a:r>
              <a:rPr lang="zh-CN" altLang="en-US" sz="2000" dirty="0" smtClean="0">
                <a:solidFill>
                  <a:srgbClr val="1369B2"/>
                </a:solidFill>
                <a:latin typeface="微软雅黑" panose="020B0503020204020204" pitchFamily="34" charset="-122"/>
                <a:ea typeface="微软雅黑" panose="020B0503020204020204" pitchFamily="34" charset="-122"/>
                <a:cs typeface="+mn-ea"/>
              </a:rPr>
              <a:t>类</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a:t>
            </a:r>
            <a:r>
              <a:rPr lang="zh-CN" altLang="en-US" sz="2000" dirty="0">
                <a:solidFill>
                  <a:srgbClr val="595959"/>
                </a:solidFill>
                <a:latin typeface="微软雅黑" panose="020B0503020204020204" pitchFamily="34" charset="-122"/>
                <a:ea typeface="微软雅黑" panose="020B0503020204020204" pitchFamily="34" charset="-122"/>
                <a:cs typeface="+mn-ea"/>
              </a:rPr>
              <a:t>用于为单选框或复选框对应的</a:t>
            </a:r>
            <a:r>
              <a:rPr lang="en-US" altLang="zh-CN" sz="2000" dirty="0">
                <a:solidFill>
                  <a:srgbClr val="1369B2"/>
                </a:solidFill>
                <a:latin typeface="微软雅黑" panose="020B0503020204020204" pitchFamily="34" charset="-122"/>
                <a:ea typeface="微软雅黑" panose="020B0503020204020204" pitchFamily="34" charset="-122"/>
                <a:cs typeface="+mn-ea"/>
              </a:rPr>
              <a:t>&lt;label&gt;</a:t>
            </a:r>
            <a:r>
              <a:rPr lang="zh-CN" altLang="en-US" sz="2000" dirty="0">
                <a:solidFill>
                  <a:srgbClr val="1369B2"/>
                </a:solidFill>
                <a:latin typeface="微软雅黑" panose="020B0503020204020204" pitchFamily="34" charset="-122"/>
                <a:ea typeface="微软雅黑" panose="020B0503020204020204" pitchFamily="34" charset="-122"/>
                <a:cs typeface="+mn-ea"/>
              </a:rPr>
              <a:t>标签</a:t>
            </a:r>
            <a:r>
              <a:rPr lang="zh-CN" altLang="en-US" sz="2000" dirty="0">
                <a:solidFill>
                  <a:srgbClr val="595959"/>
                </a:solidFill>
                <a:latin typeface="微软雅黑" panose="020B0503020204020204" pitchFamily="34" charset="-122"/>
                <a:ea typeface="微软雅黑" panose="020B0503020204020204" pitchFamily="34" charset="-122"/>
                <a:cs typeface="+mn-ea"/>
              </a:rPr>
              <a:t>设置</a:t>
            </a:r>
            <a:r>
              <a:rPr lang="zh-CN" altLang="en-US" sz="2000" dirty="0">
                <a:solidFill>
                  <a:srgbClr val="1369B2"/>
                </a:solidFill>
                <a:latin typeface="微软雅黑" panose="020B0503020204020204" pitchFamily="34" charset="-122"/>
                <a:ea typeface="微软雅黑" panose="020B0503020204020204" pitchFamily="34" charset="-122"/>
                <a:cs typeface="+mn-ea"/>
              </a:rPr>
              <a:t>样式</a:t>
            </a:r>
            <a:r>
              <a:rPr lang="zh-CN" altLang="en-US" sz="2000" dirty="0">
                <a:solidFill>
                  <a:srgbClr val="595959"/>
                </a:solidFill>
                <a:latin typeface="微软雅黑" panose="020B0503020204020204" pitchFamily="34" charset="-122"/>
                <a:ea typeface="微软雅黑" panose="020B0503020204020204" pitchFamily="34" charset="-122"/>
                <a:cs typeface="+mn-ea"/>
              </a:rPr>
              <a:t>。</a:t>
            </a:r>
          </a:p>
        </p:txBody>
      </p:sp>
      <p:sp>
        <p:nvSpPr>
          <p:cNvPr id="4" name="TextBox 76"/>
          <p:cNvSpPr txBox="1"/>
          <p:nvPr/>
        </p:nvSpPr>
        <p:spPr>
          <a:xfrm>
            <a:off x="1024656" y="1322185"/>
            <a:ext cx="3270350"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单</a:t>
            </a: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选框和复选框</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 name="Title 1">
            <a:extLst>
              <a:ext uri="{FF2B5EF4-FFF2-40B4-BE49-F238E27FC236}">
                <a16:creationId xmlns:a16="http://schemas.microsoft.com/office/drawing/2014/main" id="{25EF5B5A-59E0-4BA8-B34B-99886659E05A}"/>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6.3.1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表单控件</a:t>
            </a:r>
          </a:p>
        </p:txBody>
      </p:sp>
    </p:spTree>
    <p:extLst>
      <p:ext uri="{BB962C8B-B14F-4D97-AF65-F5344CB8AC3E}">
        <p14:creationId xmlns:p14="http://schemas.microsoft.com/office/powerpoint/2010/main" val="32381339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5EF5B5A-59E0-4BA8-B34B-99886659E05A}"/>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6.3.1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表单控件</a:t>
            </a:r>
          </a:p>
        </p:txBody>
      </p:sp>
      <p:sp>
        <p:nvSpPr>
          <p:cNvPr id="5" name="TextBox 35">
            <a:extLst>
              <a:ext uri="{FF2B5EF4-FFF2-40B4-BE49-F238E27FC236}">
                <a16:creationId xmlns:a16="http://schemas.microsoft.com/office/drawing/2014/main" id="{18B10988-040B-4833-A380-A90C9ECCE9CA}"/>
              </a:ext>
            </a:extLst>
          </p:cNvPr>
          <p:cNvSpPr txBox="1">
            <a:spLocks noChangeArrowheads="1"/>
          </p:cNvSpPr>
          <p:nvPr/>
        </p:nvSpPr>
        <p:spPr bwMode="auto">
          <a:xfrm>
            <a:off x="994466" y="1269554"/>
            <a:ext cx="10441160" cy="584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实现</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单选框</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和</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复选框</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的页面</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效果。</a:t>
            </a: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pic>
        <p:nvPicPr>
          <p:cNvPr id="9" name="图片 1">
            <a:extLst>
              <a:ext uri="{FF2B5EF4-FFF2-40B4-BE49-F238E27FC236}">
                <a16:creationId xmlns:a16="http://schemas.microsoft.com/office/drawing/2014/main" id="{8D59DA10-8501-497C-8FC1-31145019BD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3254" y="2272673"/>
            <a:ext cx="4992472" cy="259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470101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5EF5B5A-59E0-4BA8-B34B-99886659E05A}"/>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6.3.1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表单控件</a:t>
            </a:r>
          </a:p>
        </p:txBody>
      </p:sp>
      <p:sp>
        <p:nvSpPr>
          <p:cNvPr id="5" name="文本框 4">
            <a:extLst>
              <a:ext uri="{FF2B5EF4-FFF2-40B4-BE49-F238E27FC236}">
                <a16:creationId xmlns:a16="http://schemas.microsoft.com/office/drawing/2014/main" id="{CA22F1E4-39AE-424B-B19B-3301952C7205}"/>
              </a:ext>
            </a:extLst>
          </p:cNvPr>
          <p:cNvSpPr txBox="1"/>
          <p:nvPr/>
        </p:nvSpPr>
        <p:spPr>
          <a:xfrm>
            <a:off x="3059949" y="2277666"/>
            <a:ext cx="7787785" cy="4111510"/>
          </a:xfrm>
          <a:prstGeom prst="rect">
            <a:avLst/>
          </a:prstGeom>
          <a:solidFill>
            <a:srgbClr val="F2F2F2"/>
          </a:solidFill>
        </p:spPr>
        <p:txBody>
          <a:bodyPr wrap="square">
            <a:spAutoFit/>
          </a:bodyPr>
          <a:lstStyle/>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&lt;!DOCTYPE html&gt;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&lt;html&gt;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&lt;head&gt;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&lt;meta charset="UTF-8"&gt;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&lt;meta name="viewport" content="width=device-width, initial-scale=1.0"&gt;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&lt;title&gt;Document&lt;/title&gt;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&lt;link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="bootstrap-4.6.0-dist/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css</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/bootstrap.min.css"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rel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="stylesheet"&gt;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&lt;/head&gt;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&lt;body class="m-3"&gt;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&lt;/body&gt;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&lt;/html&gt;</a:t>
            </a:r>
          </a:p>
        </p:txBody>
      </p:sp>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01</a:t>
              </a: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053530"/>
            <a:ext cx="8722842" cy="1061829"/>
          </a:xfrm>
          <a:prstGeom prst="rect">
            <a:avLst/>
          </a:prstGeom>
          <a:noFill/>
          <a:ln>
            <a:noFill/>
          </a:ln>
        </p:spPr>
        <p:txBody>
          <a:bodyPr wrap="square" rtlCol="0">
            <a:spAutoFit/>
          </a:bodyPr>
          <a:lstStyle/>
          <a:p>
            <a:pPr lvl="0" defTabSz="457200">
              <a:lnSpc>
                <a:spcPct val="150000"/>
              </a:lnSpc>
              <a:defRPr/>
            </a:pPr>
            <a:r>
              <a:rPr lang="zh-CN" altLang="en-US" sz="2400" b="1" kern="0" dirty="0">
                <a:solidFill>
                  <a:srgbClr val="595959"/>
                </a:solidFill>
                <a:latin typeface="微软雅黑" panose="020B0503020204020204" pitchFamily="34" charset="-122"/>
                <a:ea typeface="微软雅黑" panose="020B0503020204020204" pitchFamily="34" charset="-122"/>
                <a:cs typeface="+mn-ea"/>
                <a:sym typeface="+mn-lt"/>
              </a:rPr>
              <a:t>实现单选框和复选框的页面效果</a:t>
            </a:r>
            <a:endParaRPr lang="en-US" altLang="zh-CN" sz="2400" b="1" kern="0" dirty="0">
              <a:solidFill>
                <a:srgbClr val="595959"/>
              </a:solidFill>
              <a:latin typeface="微软雅黑" panose="020B0503020204020204" pitchFamily="34" charset="-122"/>
              <a:ea typeface="微软雅黑" panose="020B0503020204020204" pitchFamily="34" charset="-122"/>
              <a:cs typeface="+mn-ea"/>
              <a:sym typeface="+mn-lt"/>
            </a:endParaRPr>
          </a:p>
          <a:p>
            <a:pPr lvl="0">
              <a:lnSpc>
                <a:spcPct val="150000"/>
              </a:lnSpc>
              <a:defRPr/>
            </a:pPr>
            <a:r>
              <a:rPr lang="zh-CN" altLang="en-US" sz="1800" dirty="0">
                <a:solidFill>
                  <a:srgbClr val="595959"/>
                </a:solidFill>
                <a:latin typeface="微软雅黑" panose="020B0503020204020204" pitchFamily="34" charset="-122"/>
                <a:ea typeface="微软雅黑" panose="020B0503020204020204" pitchFamily="34" charset="-122"/>
              </a:rPr>
              <a:t>创建</a:t>
            </a:r>
            <a:r>
              <a:rPr lang="en-US" altLang="zh-CN" sz="1800" dirty="0">
                <a:solidFill>
                  <a:srgbClr val="595959"/>
                </a:solidFill>
                <a:latin typeface="微软雅黑" panose="020B0503020204020204" pitchFamily="34" charset="-122"/>
                <a:ea typeface="微软雅黑" panose="020B0503020204020204" pitchFamily="34" charset="-122"/>
              </a:rPr>
              <a:t>C:\code\chapter06\demo06.html</a:t>
            </a:r>
            <a:r>
              <a:rPr lang="zh-CN" altLang="en-US" sz="1800" dirty="0">
                <a:solidFill>
                  <a:srgbClr val="595959"/>
                </a:solidFill>
                <a:latin typeface="微软雅黑" panose="020B0503020204020204" pitchFamily="34" charset="-122"/>
                <a:ea typeface="微软雅黑" panose="020B0503020204020204" pitchFamily="34" charset="-122"/>
              </a:rPr>
              <a:t>，配置</a:t>
            </a:r>
            <a:r>
              <a:rPr lang="zh-CN" altLang="en-US" sz="1800" dirty="0">
                <a:solidFill>
                  <a:srgbClr val="1369B2"/>
                </a:solidFill>
                <a:latin typeface="微软雅黑" panose="020B0503020204020204" pitchFamily="34" charset="-122"/>
                <a:ea typeface="微软雅黑" panose="020B0503020204020204" pitchFamily="34" charset="-122"/>
              </a:rPr>
              <a:t>视口</a:t>
            </a:r>
            <a:r>
              <a:rPr lang="zh-CN" altLang="en-US" sz="1800" dirty="0">
                <a:solidFill>
                  <a:srgbClr val="595959"/>
                </a:solidFill>
                <a:latin typeface="微软雅黑" panose="020B0503020204020204" pitchFamily="34" charset="-122"/>
                <a:ea typeface="微软雅黑" panose="020B0503020204020204" pitchFamily="34" charset="-122"/>
              </a:rPr>
              <a:t>并</a:t>
            </a:r>
            <a:r>
              <a:rPr lang="zh-CN" altLang="en-US" sz="1800" dirty="0">
                <a:solidFill>
                  <a:srgbClr val="1369B2"/>
                </a:solidFill>
                <a:latin typeface="微软雅黑" panose="020B0503020204020204" pitchFamily="34" charset="-122"/>
                <a:ea typeface="微软雅黑" panose="020B0503020204020204" pitchFamily="34" charset="-122"/>
              </a:rPr>
              <a:t>引入</a:t>
            </a:r>
            <a:r>
              <a:rPr lang="zh-CN" altLang="en-US" sz="1800" dirty="0">
                <a:solidFill>
                  <a:srgbClr val="595959"/>
                </a:solidFill>
                <a:latin typeface="微软雅黑" panose="020B0503020204020204" pitchFamily="34" charset="-122"/>
                <a:ea typeface="微软雅黑" panose="020B0503020204020204" pitchFamily="34" charset="-122"/>
              </a:rPr>
              <a:t>依赖文件。</a:t>
            </a:r>
          </a:p>
        </p:txBody>
      </p:sp>
    </p:spTree>
    <p:extLst>
      <p:ext uri="{BB962C8B-B14F-4D97-AF65-F5344CB8AC3E}">
        <p14:creationId xmlns:p14="http://schemas.microsoft.com/office/powerpoint/2010/main" val="18142997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5EF5B5A-59E0-4BA8-B34B-99886659E05A}"/>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6.3.1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表单控件</a:t>
            </a:r>
          </a:p>
        </p:txBody>
      </p:sp>
      <p:sp>
        <p:nvSpPr>
          <p:cNvPr id="5" name="文本框 4">
            <a:extLst>
              <a:ext uri="{FF2B5EF4-FFF2-40B4-BE49-F238E27FC236}">
                <a16:creationId xmlns:a16="http://schemas.microsoft.com/office/drawing/2014/main" id="{CA22F1E4-39AE-424B-B19B-3301952C7205}"/>
              </a:ext>
            </a:extLst>
          </p:cNvPr>
          <p:cNvSpPr txBox="1"/>
          <p:nvPr/>
        </p:nvSpPr>
        <p:spPr>
          <a:xfrm>
            <a:off x="2134766" y="2205658"/>
            <a:ext cx="9505056" cy="4228850"/>
          </a:xfrm>
          <a:prstGeom prst="rect">
            <a:avLst/>
          </a:prstGeom>
          <a:solidFill>
            <a:srgbClr val="F2F2F2"/>
          </a:solidFill>
        </p:spPr>
        <p:txBody>
          <a:bodyPr wrap="square">
            <a:spAutoFit/>
          </a:bodyPr>
          <a:lstStyle/>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&lt;form&gt;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实现单选框页面效果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性别</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&lt;/div&gt;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class="form-check"&gt;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&lt;input class="form-check-input" type="radio" name="gender" value="0" id="male"&gt;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&lt;label class="form-check-label" for="male"&gt;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男</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&lt;/label&gt;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class="form-check"&gt;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&lt;input class="form-check-input" type="radio" name="gender" value="1" id="female"&gt;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&lt;label class="form-check-label" for="female"&gt;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女</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&lt;/label&gt;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&lt;/form&gt;</a:t>
            </a:r>
          </a:p>
        </p:txBody>
      </p:sp>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01</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053530"/>
            <a:ext cx="8722842" cy="1107996"/>
          </a:xfrm>
          <a:prstGeom prst="rect">
            <a:avLst/>
          </a:prstGeom>
          <a:noFill/>
          <a:ln>
            <a:noFill/>
          </a:ln>
        </p:spPr>
        <p:txBody>
          <a:bodyPr wrap="square" rtlCol="0">
            <a:spAutoFit/>
          </a:bodyPr>
          <a:lstStyle/>
          <a:p>
            <a:pPr lvl="0" defTabSz="457200">
              <a:lnSpc>
                <a:spcPct val="150000"/>
              </a:lnSpc>
              <a:defRPr/>
            </a:pPr>
            <a:r>
              <a:rPr lang="zh-CN" altLang="en-US" sz="2400" b="1" kern="0" dirty="0">
                <a:solidFill>
                  <a:srgbClr val="595959"/>
                </a:solidFill>
                <a:latin typeface="微软雅黑" panose="020B0503020204020204" pitchFamily="34" charset="-122"/>
                <a:ea typeface="微软雅黑" panose="020B0503020204020204" pitchFamily="34" charset="-122"/>
                <a:cs typeface="+mn-ea"/>
                <a:sym typeface="+mn-lt"/>
              </a:rPr>
              <a:t>实现单选框和复选框的页面效果</a:t>
            </a:r>
            <a:endParaRPr lang="en-US" altLang="zh-CN" sz="2400" b="1" kern="0" dirty="0">
              <a:solidFill>
                <a:srgbClr val="595959"/>
              </a:solidFill>
              <a:latin typeface="微软雅黑" panose="020B0503020204020204" pitchFamily="34" charset="-122"/>
              <a:ea typeface="微软雅黑" panose="020B0503020204020204" pitchFamily="34" charset="-122"/>
              <a:cs typeface="+mn-ea"/>
              <a:sym typeface="+mn-lt"/>
            </a:endParaRPr>
          </a:p>
          <a:p>
            <a:pPr lvl="0">
              <a:lnSpc>
                <a:spcPct val="150000"/>
              </a:lnSpc>
              <a:defRPr/>
            </a:pPr>
            <a:r>
              <a:rPr lang="zh-CN" altLang="en-US" sz="2000" dirty="0" smtClean="0">
                <a:solidFill>
                  <a:srgbClr val="595959"/>
                </a:solidFill>
                <a:latin typeface="微软雅黑" panose="020B0503020204020204" pitchFamily="34" charset="-122"/>
                <a:ea typeface="微软雅黑" panose="020B0503020204020204" pitchFamily="34" charset="-122"/>
              </a:rPr>
              <a:t>在</a:t>
            </a:r>
            <a:r>
              <a:rPr lang="en-US" altLang="zh-CN" sz="2000" dirty="0">
                <a:solidFill>
                  <a:srgbClr val="1369B2"/>
                </a:solidFill>
                <a:latin typeface="微软雅黑" panose="020B0503020204020204" pitchFamily="34" charset="-122"/>
                <a:ea typeface="微软雅黑" panose="020B0503020204020204" pitchFamily="34" charset="-122"/>
              </a:rPr>
              <a:t>&lt;/body&gt;</a:t>
            </a:r>
            <a:r>
              <a:rPr lang="zh-CN" altLang="en-US" sz="2000" dirty="0">
                <a:solidFill>
                  <a:srgbClr val="595959"/>
                </a:solidFill>
                <a:latin typeface="微软雅黑" panose="020B0503020204020204" pitchFamily="34" charset="-122"/>
                <a:ea typeface="微软雅黑" panose="020B0503020204020204" pitchFamily="34" charset="-122"/>
              </a:rPr>
              <a:t>标签结束前添加以下代码。</a:t>
            </a:r>
          </a:p>
        </p:txBody>
      </p:sp>
    </p:spTree>
    <p:extLst>
      <p:ext uri="{BB962C8B-B14F-4D97-AF65-F5344CB8AC3E}">
        <p14:creationId xmlns:p14="http://schemas.microsoft.com/office/powerpoint/2010/main" val="26128882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5EF5B5A-59E0-4BA8-B34B-99886659E05A}"/>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6.3.1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表单控件</a:t>
            </a:r>
          </a:p>
        </p:txBody>
      </p:sp>
      <p:sp>
        <p:nvSpPr>
          <p:cNvPr id="5" name="文本框 4">
            <a:extLst>
              <a:ext uri="{FF2B5EF4-FFF2-40B4-BE49-F238E27FC236}">
                <a16:creationId xmlns:a16="http://schemas.microsoft.com/office/drawing/2014/main" id="{CA22F1E4-39AE-424B-B19B-3301952C7205}"/>
              </a:ext>
            </a:extLst>
          </p:cNvPr>
          <p:cNvSpPr txBox="1"/>
          <p:nvPr/>
        </p:nvSpPr>
        <p:spPr>
          <a:xfrm>
            <a:off x="1774726" y="2277666"/>
            <a:ext cx="9587985" cy="3785652"/>
          </a:xfrm>
          <a:prstGeom prst="rect">
            <a:avLst/>
          </a:prstGeom>
          <a:solidFill>
            <a:srgbClr val="F2F2F2"/>
          </a:solidFill>
        </p:spPr>
        <p:txBody>
          <a:bodyPr wrap="square">
            <a:spAutoFit/>
          </a:bodyPr>
          <a:lstStyle/>
          <a:p>
            <a:pPr lvl="0">
              <a:lnSpc>
                <a:spcPct val="150000"/>
              </a:lnSpc>
              <a:defRPr/>
            </a:pPr>
            <a:r>
              <a:rPr lang="zh-CN" altLang="en-US"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实现复选框页面效果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爱好</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&lt;/div&gt;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class="form-check"&gt;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&lt;input class="form-check-input" type="checkbox" name="hobby[]" value="0" id="sing"&gt;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&lt;label class="form-check-label" for="sing"&gt;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唱歌</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&lt;/label&gt;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class="form-check"&gt;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&lt;input class="form-check-input" type="checkbox" name="hobby[]" value="1" id="swim"&gt;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&lt;label class="form-check-label" for="swim"&gt;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游泳</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&lt;/label&gt;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&lt;/div&gt;</a:t>
            </a:r>
          </a:p>
        </p:txBody>
      </p:sp>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01</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053530"/>
            <a:ext cx="8722842" cy="1107996"/>
          </a:xfrm>
          <a:prstGeom prst="rect">
            <a:avLst/>
          </a:prstGeom>
          <a:noFill/>
          <a:ln>
            <a:noFill/>
          </a:ln>
        </p:spPr>
        <p:txBody>
          <a:bodyPr wrap="square" rtlCol="0">
            <a:spAutoFit/>
          </a:bodyPr>
          <a:lstStyle/>
          <a:p>
            <a:pPr lvl="0" defTabSz="457200">
              <a:lnSpc>
                <a:spcPct val="150000"/>
              </a:lnSpc>
              <a:defRPr/>
            </a:pPr>
            <a:r>
              <a:rPr lang="zh-CN" altLang="en-US" sz="2400" b="1" kern="0" dirty="0">
                <a:solidFill>
                  <a:srgbClr val="595959"/>
                </a:solidFill>
                <a:latin typeface="微软雅黑" panose="020B0503020204020204" pitchFamily="34" charset="-122"/>
                <a:ea typeface="微软雅黑" panose="020B0503020204020204" pitchFamily="34" charset="-122"/>
                <a:cs typeface="+mn-ea"/>
                <a:sym typeface="+mn-lt"/>
              </a:rPr>
              <a:t>实现单选框和复选框的页面效果</a:t>
            </a:r>
            <a:endParaRPr lang="en-US" altLang="zh-CN" sz="2400" b="1" kern="0" dirty="0">
              <a:solidFill>
                <a:srgbClr val="595959"/>
              </a:solidFill>
              <a:latin typeface="微软雅黑" panose="020B0503020204020204" pitchFamily="34" charset="-122"/>
              <a:ea typeface="微软雅黑" panose="020B0503020204020204" pitchFamily="34" charset="-122"/>
              <a:cs typeface="+mn-ea"/>
              <a:sym typeface="+mn-lt"/>
            </a:endParaRPr>
          </a:p>
          <a:p>
            <a:pPr lvl="0">
              <a:lnSpc>
                <a:spcPct val="150000"/>
              </a:lnSpc>
              <a:defRPr/>
            </a:pPr>
            <a:r>
              <a:rPr lang="zh-CN" altLang="en-US" sz="2000" dirty="0" smtClean="0">
                <a:solidFill>
                  <a:srgbClr val="595959"/>
                </a:solidFill>
                <a:latin typeface="微软雅黑" panose="020B0503020204020204" pitchFamily="34" charset="-122"/>
                <a:ea typeface="微软雅黑" panose="020B0503020204020204" pitchFamily="34" charset="-122"/>
              </a:rPr>
              <a:t>在</a:t>
            </a:r>
            <a:r>
              <a:rPr lang="en-US" altLang="zh-CN" sz="2000" dirty="0">
                <a:solidFill>
                  <a:srgbClr val="1369B2"/>
                </a:solidFill>
                <a:latin typeface="微软雅黑" panose="020B0503020204020204" pitchFamily="34" charset="-122"/>
                <a:ea typeface="微软雅黑" panose="020B0503020204020204" pitchFamily="34" charset="-122"/>
              </a:rPr>
              <a:t>&lt;/form&gt;</a:t>
            </a:r>
            <a:r>
              <a:rPr lang="zh-CN" altLang="en-US" sz="2000" dirty="0">
                <a:solidFill>
                  <a:srgbClr val="595959"/>
                </a:solidFill>
                <a:latin typeface="微软雅黑" panose="020B0503020204020204" pitchFamily="34" charset="-122"/>
                <a:ea typeface="微软雅黑" panose="020B0503020204020204" pitchFamily="34" charset="-122"/>
              </a:rPr>
              <a:t>标签结束前添加以下代码。</a:t>
            </a:r>
          </a:p>
        </p:txBody>
      </p:sp>
    </p:spTree>
    <p:extLst>
      <p:ext uri="{BB962C8B-B14F-4D97-AF65-F5344CB8AC3E}">
        <p14:creationId xmlns:p14="http://schemas.microsoft.com/office/powerpoint/2010/main" val="614909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5EF5B5A-59E0-4BA8-B34B-99886659E05A}"/>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6.3.1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表单控件</a:t>
            </a:r>
          </a:p>
        </p:txBody>
      </p:sp>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02</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053530"/>
            <a:ext cx="8722842" cy="1107996"/>
          </a:xfrm>
          <a:prstGeom prst="rect">
            <a:avLst/>
          </a:prstGeom>
          <a:noFill/>
          <a:ln>
            <a:noFill/>
          </a:ln>
        </p:spPr>
        <p:txBody>
          <a:bodyPr wrap="square" rtlCol="0">
            <a:spAutoFit/>
          </a:bodyPr>
          <a:lstStyle/>
          <a:p>
            <a:pPr lvl="0" defTabSz="457200">
              <a:lnSpc>
                <a:spcPct val="150000"/>
              </a:lnSpc>
              <a:defRPr/>
            </a:pPr>
            <a:r>
              <a:rPr lang="zh-CN" altLang="en-US" b="1" kern="0" dirty="0">
                <a:solidFill>
                  <a:srgbClr val="595959"/>
                </a:solidFill>
                <a:latin typeface="微软雅黑" panose="020B0503020204020204" pitchFamily="34" charset="-122"/>
                <a:ea typeface="微软雅黑" panose="020B0503020204020204" pitchFamily="34" charset="-122"/>
                <a:cs typeface="+mn-ea"/>
                <a:sym typeface="+mn-lt"/>
              </a:rPr>
              <a:t>在浏览器中访问</a:t>
            </a:r>
            <a:r>
              <a:rPr lang="en-US" altLang="zh-CN" b="1" kern="0" dirty="0">
                <a:solidFill>
                  <a:srgbClr val="595959"/>
                </a:solidFill>
                <a:latin typeface="微软雅黑" panose="020B0503020204020204" pitchFamily="34" charset="-122"/>
                <a:ea typeface="微软雅黑" panose="020B0503020204020204" pitchFamily="34" charset="-122"/>
                <a:cs typeface="+mn-ea"/>
                <a:sym typeface="+mn-lt"/>
              </a:rPr>
              <a:t>demo06.html</a:t>
            </a:r>
            <a:endParaRPr lang="en-US" altLang="zh-CN" sz="2400" b="1" kern="0" dirty="0">
              <a:solidFill>
                <a:srgbClr val="595959"/>
              </a:solidFill>
              <a:latin typeface="微软雅黑" panose="020B0503020204020204" pitchFamily="34" charset="-122"/>
              <a:ea typeface="微软雅黑" panose="020B0503020204020204" pitchFamily="34" charset="-122"/>
              <a:cs typeface="+mn-ea"/>
              <a:sym typeface="+mn-lt"/>
            </a:endParaRPr>
          </a:p>
          <a:p>
            <a:pPr lvl="0">
              <a:lnSpc>
                <a:spcPct val="150000"/>
              </a:lnSpc>
              <a:defRPr/>
            </a:pPr>
            <a:r>
              <a:rPr lang="zh-CN" altLang="en-US" sz="2000" dirty="0">
                <a:solidFill>
                  <a:srgbClr val="1369B2"/>
                </a:solidFill>
                <a:latin typeface="微软雅黑" panose="020B0503020204020204" pitchFamily="34" charset="-122"/>
                <a:ea typeface="微软雅黑" panose="020B0503020204020204" pitchFamily="34" charset="-122"/>
              </a:rPr>
              <a:t>单选框</a:t>
            </a:r>
            <a:r>
              <a:rPr lang="zh-CN" altLang="en-US" sz="2000" dirty="0">
                <a:solidFill>
                  <a:srgbClr val="595959"/>
                </a:solidFill>
                <a:latin typeface="微软雅黑" panose="020B0503020204020204" pitchFamily="34" charset="-122"/>
                <a:ea typeface="微软雅黑" panose="020B0503020204020204" pitchFamily="34" charset="-122"/>
              </a:rPr>
              <a:t>和</a:t>
            </a:r>
            <a:r>
              <a:rPr lang="zh-CN" altLang="en-US" sz="2000" dirty="0">
                <a:solidFill>
                  <a:srgbClr val="1369B2"/>
                </a:solidFill>
                <a:latin typeface="微软雅黑" panose="020B0503020204020204" pitchFamily="34" charset="-122"/>
                <a:ea typeface="微软雅黑" panose="020B0503020204020204" pitchFamily="34" charset="-122"/>
              </a:rPr>
              <a:t>复选框</a:t>
            </a:r>
            <a:r>
              <a:rPr lang="zh-CN" altLang="en-US" sz="2000" dirty="0">
                <a:solidFill>
                  <a:srgbClr val="595959"/>
                </a:solidFill>
                <a:latin typeface="微软雅黑" panose="020B0503020204020204" pitchFamily="34" charset="-122"/>
                <a:ea typeface="微软雅黑" panose="020B0503020204020204" pitchFamily="34" charset="-122"/>
              </a:rPr>
              <a:t>页面效果如图。</a:t>
            </a:r>
          </a:p>
        </p:txBody>
      </p:sp>
      <p:pic>
        <p:nvPicPr>
          <p:cNvPr id="9218" name="图片 1">
            <a:extLst>
              <a:ext uri="{FF2B5EF4-FFF2-40B4-BE49-F238E27FC236}">
                <a16:creationId xmlns:a16="http://schemas.microsoft.com/office/drawing/2014/main" id="{B2244A1E-22B2-4038-B718-DFDED3986B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0870" y="2529516"/>
            <a:ext cx="4992472" cy="259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090587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5"/>
          <p:cNvSpPr txBox="1">
            <a:spLocks noChangeArrowheads="1"/>
          </p:cNvSpPr>
          <p:nvPr/>
        </p:nvSpPr>
        <p:spPr bwMode="auto">
          <a:xfrm>
            <a:off x="838622" y="1738302"/>
            <a:ext cx="10441160" cy="11618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342900" indent="-342900">
              <a:lnSpc>
                <a:spcPct val="150000"/>
              </a:lnSpc>
              <a:buFont typeface="Wingdings" panose="05000000000000000000" pitchFamily="2" charset="2"/>
              <a:buChar char="l"/>
            </a:pPr>
            <a:r>
              <a:rPr lang="en-US" altLang="zh-CN" sz="2000" dirty="0">
                <a:solidFill>
                  <a:srgbClr val="1369B2"/>
                </a:solidFill>
                <a:latin typeface="微软雅黑" panose="020B0503020204020204" pitchFamily="34" charset="-122"/>
                <a:ea typeface="微软雅黑" panose="020B0503020204020204" pitchFamily="34" charset="-122"/>
                <a:cs typeface="+mn-ea"/>
              </a:rPr>
              <a:t>.form-group</a:t>
            </a:r>
            <a:r>
              <a:rPr lang="zh-CN" altLang="en-US" sz="2000" dirty="0">
                <a:solidFill>
                  <a:srgbClr val="1369B2"/>
                </a:solidFill>
                <a:latin typeface="微软雅黑" panose="020B0503020204020204" pitchFamily="34" charset="-122"/>
                <a:ea typeface="微软雅黑" panose="020B0503020204020204" pitchFamily="34" charset="-122"/>
                <a:cs typeface="+mn-ea"/>
              </a:rPr>
              <a:t>类</a:t>
            </a:r>
            <a:r>
              <a:rPr lang="zh-CN" altLang="en-US"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rPr>
              <a:t>表示表单组</a:t>
            </a:r>
            <a:endParaRPr lang="en-US"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endParaRPr lang="en-US" altLang="zh-CN" sz="500" dirty="0">
              <a:solidFill>
                <a:srgbClr val="595959"/>
              </a:solidFill>
              <a:latin typeface="微软雅黑" panose="020B0503020204020204" pitchFamily="34" charset="-122"/>
              <a:ea typeface="微软雅黑" panose="020B0503020204020204" pitchFamily="34" charset="-122"/>
              <a:cs typeface="+mn-ea"/>
            </a:endParaRPr>
          </a:p>
          <a:p>
            <a:pPr marL="342900" indent="-342900">
              <a:lnSpc>
                <a:spcPct val="150000"/>
              </a:lnSpc>
              <a:buFont typeface="Wingdings" panose="05000000000000000000" pitchFamily="2" charset="2"/>
              <a:buChar char="l"/>
            </a:pPr>
            <a:r>
              <a:rPr lang="en-US" altLang="zh-CN" sz="2000" dirty="0">
                <a:solidFill>
                  <a:srgbClr val="1369B2"/>
                </a:solidFill>
                <a:latin typeface="微软雅黑" panose="020B0503020204020204" pitchFamily="34" charset="-122"/>
                <a:ea typeface="微软雅黑" panose="020B0503020204020204" pitchFamily="34" charset="-122"/>
                <a:cs typeface="+mn-ea"/>
              </a:rPr>
              <a:t>.form-control</a:t>
            </a:r>
            <a:r>
              <a:rPr lang="zh-CN" altLang="en-US" sz="2000" dirty="0">
                <a:solidFill>
                  <a:srgbClr val="1369B2"/>
                </a:solidFill>
                <a:latin typeface="微软雅黑" panose="020B0503020204020204" pitchFamily="34" charset="-122"/>
                <a:ea typeface="微软雅黑" panose="020B0503020204020204" pitchFamily="34" charset="-122"/>
                <a:cs typeface="+mn-ea"/>
              </a:rPr>
              <a:t>类：</a:t>
            </a:r>
            <a:r>
              <a:rPr lang="zh-CN" altLang="en-US" sz="2000" dirty="0">
                <a:solidFill>
                  <a:srgbClr val="595959"/>
                </a:solidFill>
                <a:latin typeface="微软雅黑" panose="020B0503020204020204" pitchFamily="34" charset="-122"/>
                <a:ea typeface="微软雅黑" panose="020B0503020204020204" pitchFamily="34" charset="-122"/>
              </a:rPr>
              <a:t>设置表单控件样式</a:t>
            </a:r>
          </a:p>
        </p:txBody>
      </p:sp>
      <p:sp>
        <p:nvSpPr>
          <p:cNvPr id="4" name="TextBox 76"/>
          <p:cNvSpPr txBox="1"/>
          <p:nvPr/>
        </p:nvSpPr>
        <p:spPr>
          <a:xfrm>
            <a:off x="1024656" y="1172785"/>
            <a:ext cx="1974206"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下</a:t>
            </a: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拉列表</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 name="Title 1">
            <a:extLst>
              <a:ext uri="{FF2B5EF4-FFF2-40B4-BE49-F238E27FC236}">
                <a16:creationId xmlns:a16="http://schemas.microsoft.com/office/drawing/2014/main" id="{25EF5B5A-59E0-4BA8-B34B-99886659E05A}"/>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6.3.1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表单控件</a:t>
            </a:r>
          </a:p>
        </p:txBody>
      </p:sp>
      <p:sp>
        <p:nvSpPr>
          <p:cNvPr id="5" name="TextBox 35">
            <a:extLst>
              <a:ext uri="{FF2B5EF4-FFF2-40B4-BE49-F238E27FC236}">
                <a16:creationId xmlns:a16="http://schemas.microsoft.com/office/drawing/2014/main" id="{3A1F85CA-0505-4025-BC15-146643399395}"/>
              </a:ext>
            </a:extLst>
          </p:cNvPr>
          <p:cNvSpPr txBox="1">
            <a:spLocks noChangeArrowheads="1"/>
          </p:cNvSpPr>
          <p:nvPr/>
        </p:nvSpPr>
        <p:spPr bwMode="auto">
          <a:xfrm>
            <a:off x="990294" y="2921826"/>
            <a:ext cx="5392944" cy="584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实现下拉列表的页面</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效果。</a:t>
            </a: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pic>
        <p:nvPicPr>
          <p:cNvPr id="6" name="图片 1">
            <a:extLst>
              <a:ext uri="{FF2B5EF4-FFF2-40B4-BE49-F238E27FC236}">
                <a16:creationId xmlns:a16="http://schemas.microsoft.com/office/drawing/2014/main" id="{8B7A0B37-69A8-4954-B069-CE102F82A5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5379" y="3712442"/>
            <a:ext cx="4536504" cy="1685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a:extLst>
              <a:ext uri="{FF2B5EF4-FFF2-40B4-BE49-F238E27FC236}">
                <a16:creationId xmlns:a16="http://schemas.microsoft.com/office/drawing/2014/main" id="{9F9E25EF-7C7C-4C09-B4B9-4CD0E9D98D48}"/>
              </a:ext>
            </a:extLst>
          </p:cNvPr>
          <p:cNvSpPr txBox="1"/>
          <p:nvPr/>
        </p:nvSpPr>
        <p:spPr>
          <a:xfrm>
            <a:off x="2134766" y="5400075"/>
            <a:ext cx="3096344" cy="499624"/>
          </a:xfrm>
          <a:prstGeom prst="rect">
            <a:avLst/>
          </a:prstGeom>
          <a:noFill/>
        </p:spPr>
        <p:txBody>
          <a:bodyPr wrap="square" rtlCol="0">
            <a:spAutoFit/>
          </a:bodyPr>
          <a:lstStyle/>
          <a:p>
            <a:pPr lvl="0" algn="ctr">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下拉列表页面效果</a:t>
            </a:r>
          </a:p>
        </p:txBody>
      </p:sp>
      <p:sp>
        <p:nvSpPr>
          <p:cNvPr id="9" name="文本框 8">
            <a:extLst>
              <a:ext uri="{FF2B5EF4-FFF2-40B4-BE49-F238E27FC236}">
                <a16:creationId xmlns:a16="http://schemas.microsoft.com/office/drawing/2014/main" id="{864357AD-DE62-4F0C-B974-F1D0A16B25BE}"/>
              </a:ext>
            </a:extLst>
          </p:cNvPr>
          <p:cNvSpPr txBox="1"/>
          <p:nvPr/>
        </p:nvSpPr>
        <p:spPr>
          <a:xfrm>
            <a:off x="6938609" y="5450450"/>
            <a:ext cx="3096344" cy="499624"/>
          </a:xfrm>
          <a:prstGeom prst="rect">
            <a:avLst/>
          </a:prstGeom>
          <a:noFill/>
        </p:spPr>
        <p:txBody>
          <a:bodyPr wrap="square" rtlCol="0">
            <a:spAutoFit/>
          </a:bodyPr>
          <a:lstStyle/>
          <a:p>
            <a:pPr lvl="0" algn="ctr">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下拉列表展开效果</a:t>
            </a:r>
          </a:p>
        </p:txBody>
      </p:sp>
      <p:pic>
        <p:nvPicPr>
          <p:cNvPr id="10" name="图片 1">
            <a:extLst>
              <a:ext uri="{FF2B5EF4-FFF2-40B4-BE49-F238E27FC236}">
                <a16:creationId xmlns:a16="http://schemas.microsoft.com/office/drawing/2014/main" id="{6B32CE5F-8BCF-4D47-B2D7-72BAE0CCC8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1230" y="3064370"/>
            <a:ext cx="4176464" cy="2525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180055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5EF5B5A-59E0-4BA8-B34B-99886659E05A}"/>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6.3.1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表单控件</a:t>
            </a:r>
          </a:p>
        </p:txBody>
      </p:sp>
      <p:sp>
        <p:nvSpPr>
          <p:cNvPr id="5" name="文本框 4">
            <a:extLst>
              <a:ext uri="{FF2B5EF4-FFF2-40B4-BE49-F238E27FC236}">
                <a16:creationId xmlns:a16="http://schemas.microsoft.com/office/drawing/2014/main" id="{CA22F1E4-39AE-424B-B19B-3301952C7205}"/>
              </a:ext>
            </a:extLst>
          </p:cNvPr>
          <p:cNvSpPr txBox="1"/>
          <p:nvPr/>
        </p:nvSpPr>
        <p:spPr>
          <a:xfrm>
            <a:off x="3059949" y="2205658"/>
            <a:ext cx="7787785" cy="4111510"/>
          </a:xfrm>
          <a:prstGeom prst="rect">
            <a:avLst/>
          </a:prstGeom>
          <a:solidFill>
            <a:srgbClr val="F2F2F2"/>
          </a:solidFill>
        </p:spPr>
        <p:txBody>
          <a:bodyPr wrap="square">
            <a:spAutoFit/>
          </a:bodyPr>
          <a:lstStyle/>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&lt;!DOCTYPE html&gt;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&lt;html&gt;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&lt;head&gt;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&lt;meta charset="UTF-8"&gt;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&lt;meta name="viewport" content="width=device-width, initial-scale=1.0"&gt;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&lt;title&gt;Document&lt;/title&gt;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&lt;link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="bootstrap-4.6.0-dist/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css</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/bootstrap.min.css"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rel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="stylesheet"&gt;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&lt;/head&gt;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&lt;body class="m-3"&gt;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&lt;/body&gt;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&lt;/html&gt;</a:t>
            </a:r>
          </a:p>
        </p:txBody>
      </p:sp>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01</a:t>
              </a: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053530"/>
            <a:ext cx="8722842" cy="1053622"/>
          </a:xfrm>
          <a:prstGeom prst="rect">
            <a:avLst/>
          </a:prstGeom>
          <a:noFill/>
          <a:ln>
            <a:noFill/>
          </a:ln>
        </p:spPr>
        <p:txBody>
          <a:bodyPr wrap="square" rtlCol="0">
            <a:spAutoFit/>
          </a:bodyPr>
          <a:lstStyle/>
          <a:p>
            <a:pPr lvl="0" defTabSz="457200">
              <a:lnSpc>
                <a:spcPct val="150000"/>
              </a:lnSpc>
              <a:defRPr/>
            </a:pPr>
            <a:r>
              <a:rPr lang="zh-CN" altLang="en-US" sz="2400" b="1" kern="0" dirty="0">
                <a:solidFill>
                  <a:srgbClr val="595959"/>
                </a:solidFill>
                <a:latin typeface="微软雅黑" panose="020B0503020204020204" pitchFamily="34" charset="-122"/>
                <a:ea typeface="微软雅黑" panose="020B0503020204020204" pitchFamily="34" charset="-122"/>
                <a:cs typeface="+mn-ea"/>
                <a:sym typeface="+mn-lt"/>
              </a:rPr>
              <a:t>实现下拉列表的页面效果</a:t>
            </a:r>
            <a:endParaRPr lang="en-US" altLang="zh-CN" sz="2400" b="1" kern="0" dirty="0">
              <a:solidFill>
                <a:srgbClr val="595959"/>
              </a:solidFill>
              <a:latin typeface="微软雅黑" panose="020B0503020204020204" pitchFamily="34" charset="-122"/>
              <a:ea typeface="微软雅黑" panose="020B0503020204020204" pitchFamily="34" charset="-122"/>
              <a:cs typeface="+mn-ea"/>
              <a:sym typeface="+mn-lt"/>
            </a:endParaRPr>
          </a:p>
          <a:p>
            <a:pPr lvl="0">
              <a:lnSpc>
                <a:spcPct val="150000"/>
              </a:lnSpc>
              <a:defRPr/>
            </a:pPr>
            <a:r>
              <a:rPr lang="zh-CN" altLang="en-US" sz="1800" dirty="0">
                <a:solidFill>
                  <a:srgbClr val="595959"/>
                </a:solidFill>
                <a:latin typeface="微软雅黑" panose="020B0503020204020204" pitchFamily="34" charset="-122"/>
                <a:ea typeface="微软雅黑" panose="020B0503020204020204" pitchFamily="34" charset="-122"/>
              </a:rPr>
              <a:t>创建</a:t>
            </a:r>
            <a:r>
              <a:rPr lang="en-US" altLang="zh-CN" sz="1800" dirty="0">
                <a:solidFill>
                  <a:srgbClr val="595959"/>
                </a:solidFill>
                <a:latin typeface="微软雅黑" panose="020B0503020204020204" pitchFamily="34" charset="-122"/>
                <a:ea typeface="微软雅黑" panose="020B0503020204020204" pitchFamily="34" charset="-122"/>
              </a:rPr>
              <a:t>C:\code\chapter06\demo07.html</a:t>
            </a:r>
            <a:r>
              <a:rPr lang="zh-CN" altLang="en-US" sz="1800" dirty="0">
                <a:solidFill>
                  <a:srgbClr val="595959"/>
                </a:solidFill>
                <a:latin typeface="微软雅黑" panose="020B0503020204020204" pitchFamily="34" charset="-122"/>
                <a:ea typeface="微软雅黑" panose="020B0503020204020204" pitchFamily="34" charset="-122"/>
              </a:rPr>
              <a:t>，配置</a:t>
            </a:r>
            <a:r>
              <a:rPr lang="zh-CN" altLang="en-US" sz="1800" dirty="0">
                <a:solidFill>
                  <a:srgbClr val="1369B2"/>
                </a:solidFill>
                <a:latin typeface="微软雅黑" panose="020B0503020204020204" pitchFamily="34" charset="-122"/>
                <a:ea typeface="微软雅黑" panose="020B0503020204020204" pitchFamily="34" charset="-122"/>
              </a:rPr>
              <a:t>视口</a:t>
            </a:r>
            <a:r>
              <a:rPr lang="zh-CN" altLang="en-US" sz="1800" dirty="0">
                <a:solidFill>
                  <a:srgbClr val="595959"/>
                </a:solidFill>
                <a:latin typeface="微软雅黑" panose="020B0503020204020204" pitchFamily="34" charset="-122"/>
                <a:ea typeface="微软雅黑" panose="020B0503020204020204" pitchFamily="34" charset="-122"/>
              </a:rPr>
              <a:t>并</a:t>
            </a:r>
            <a:r>
              <a:rPr lang="zh-CN" altLang="en-US" sz="1800" dirty="0">
                <a:solidFill>
                  <a:srgbClr val="1369B2"/>
                </a:solidFill>
                <a:latin typeface="微软雅黑" panose="020B0503020204020204" pitchFamily="34" charset="-122"/>
                <a:ea typeface="微软雅黑" panose="020B0503020204020204" pitchFamily="34" charset="-122"/>
              </a:rPr>
              <a:t>引入</a:t>
            </a:r>
            <a:r>
              <a:rPr lang="zh-CN" altLang="en-US" sz="1800" dirty="0">
                <a:solidFill>
                  <a:srgbClr val="595959"/>
                </a:solidFill>
                <a:latin typeface="微软雅黑" panose="020B0503020204020204" pitchFamily="34" charset="-122"/>
                <a:ea typeface="微软雅黑" panose="020B0503020204020204" pitchFamily="34" charset="-122"/>
              </a:rPr>
              <a:t>依赖文件。</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351178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5EF5B5A-59E0-4BA8-B34B-99886659E05A}"/>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6.3.1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表单控件</a:t>
            </a:r>
          </a:p>
        </p:txBody>
      </p:sp>
      <p:sp>
        <p:nvSpPr>
          <p:cNvPr id="5" name="文本框 4">
            <a:extLst>
              <a:ext uri="{FF2B5EF4-FFF2-40B4-BE49-F238E27FC236}">
                <a16:creationId xmlns:a16="http://schemas.microsoft.com/office/drawing/2014/main" id="{CA22F1E4-39AE-424B-B19B-3301952C7205}"/>
              </a:ext>
            </a:extLst>
          </p:cNvPr>
          <p:cNvSpPr txBox="1"/>
          <p:nvPr/>
        </p:nvSpPr>
        <p:spPr>
          <a:xfrm>
            <a:off x="3059949" y="2133650"/>
            <a:ext cx="7787785" cy="4222310"/>
          </a:xfrm>
          <a:prstGeom prst="rect">
            <a:avLst/>
          </a:prstGeom>
          <a:solidFill>
            <a:srgbClr val="F2F2F2"/>
          </a:solidFill>
        </p:spPr>
        <p:txBody>
          <a:bodyPr wrap="square">
            <a:spAutoFit/>
          </a:bodyPr>
          <a:lstStyle/>
          <a:p>
            <a:pPr lvl="0">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&lt;form&gt;</a:t>
            </a:r>
          </a:p>
          <a:p>
            <a:pPr lvl="0">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实现下拉列表页面效果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lvl="0">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class="form-group"&gt;</a:t>
            </a:r>
          </a:p>
          <a:p>
            <a:pPr lvl="0">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&lt;label for="select"&gt;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请选择</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&lt;/label&gt;</a:t>
            </a:r>
          </a:p>
          <a:p>
            <a:pPr lvl="0">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&lt;select class="form-control" id="select"&gt;</a:t>
            </a:r>
          </a:p>
          <a:p>
            <a:pPr lvl="0">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&lt;option&gt;1&lt;/option&gt;</a:t>
            </a:r>
          </a:p>
          <a:p>
            <a:pPr lvl="0">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&lt;option&gt;2&lt;/option&gt;</a:t>
            </a:r>
          </a:p>
          <a:p>
            <a:pPr lvl="0">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&lt;option&gt;3&lt;/option&gt;</a:t>
            </a:r>
          </a:p>
          <a:p>
            <a:pPr lvl="0">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&lt;option&gt;4&lt;/option&gt;</a:t>
            </a:r>
          </a:p>
          <a:p>
            <a:pPr lvl="0">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&lt;option&gt;5&lt;/option&gt;</a:t>
            </a:r>
          </a:p>
          <a:p>
            <a:pPr lvl="0">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&lt;/select&gt;</a:t>
            </a:r>
          </a:p>
          <a:p>
            <a:pPr lvl="0">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&lt;/div&gt;</a:t>
            </a:r>
          </a:p>
          <a:p>
            <a:pPr lvl="0">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&lt;/form&gt;</a:t>
            </a:r>
          </a:p>
        </p:txBody>
      </p:sp>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01</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053530"/>
            <a:ext cx="8722842" cy="1053622"/>
          </a:xfrm>
          <a:prstGeom prst="rect">
            <a:avLst/>
          </a:prstGeom>
          <a:noFill/>
          <a:ln>
            <a:noFill/>
          </a:ln>
        </p:spPr>
        <p:txBody>
          <a:bodyPr wrap="square" rtlCol="0">
            <a:spAutoFit/>
          </a:bodyPr>
          <a:lstStyle/>
          <a:p>
            <a:pPr lvl="0" defTabSz="457200">
              <a:lnSpc>
                <a:spcPct val="150000"/>
              </a:lnSpc>
              <a:defRPr/>
            </a:pPr>
            <a:r>
              <a:rPr lang="zh-CN" altLang="en-US" sz="2400" b="1" kern="0" dirty="0">
                <a:solidFill>
                  <a:srgbClr val="595959"/>
                </a:solidFill>
                <a:latin typeface="微软雅黑" panose="020B0503020204020204" pitchFamily="34" charset="-122"/>
                <a:ea typeface="微软雅黑" panose="020B0503020204020204" pitchFamily="34" charset="-122"/>
                <a:cs typeface="+mn-ea"/>
                <a:sym typeface="+mn-lt"/>
              </a:rPr>
              <a:t>实现下拉列表的页面效果</a:t>
            </a:r>
            <a:endParaRPr lang="en-US" altLang="zh-CN" sz="2400" b="1" kern="0" dirty="0">
              <a:solidFill>
                <a:srgbClr val="595959"/>
              </a:solidFill>
              <a:latin typeface="微软雅黑" panose="020B0503020204020204" pitchFamily="34" charset="-122"/>
              <a:ea typeface="微软雅黑" panose="020B0503020204020204" pitchFamily="34" charset="-122"/>
              <a:cs typeface="+mn-ea"/>
              <a:sym typeface="+mn-lt"/>
            </a:endParaRPr>
          </a:p>
          <a:p>
            <a:pPr lvl="0">
              <a:lnSpc>
                <a:spcPct val="150000"/>
              </a:lnSpc>
              <a:defRPr/>
            </a:pPr>
            <a:r>
              <a:rPr lang="zh-CN" altLang="en-US" sz="1800" dirty="0" smtClean="0">
                <a:solidFill>
                  <a:srgbClr val="595959"/>
                </a:solidFill>
                <a:latin typeface="微软雅黑" panose="020B0503020204020204" pitchFamily="34" charset="-122"/>
                <a:ea typeface="微软雅黑" panose="020B0503020204020204" pitchFamily="34" charset="-122"/>
              </a:rPr>
              <a:t>在</a:t>
            </a:r>
            <a:r>
              <a:rPr lang="en-US" altLang="zh-CN" sz="1800" dirty="0">
                <a:solidFill>
                  <a:srgbClr val="1369B2"/>
                </a:solidFill>
                <a:latin typeface="微软雅黑" panose="020B0503020204020204" pitchFamily="34" charset="-122"/>
                <a:ea typeface="微软雅黑" panose="020B0503020204020204" pitchFamily="34" charset="-122"/>
              </a:rPr>
              <a:t>&lt;/body&gt;</a:t>
            </a:r>
            <a:r>
              <a:rPr lang="zh-CN" altLang="en-US" sz="1800" dirty="0">
                <a:solidFill>
                  <a:srgbClr val="595959"/>
                </a:solidFill>
                <a:latin typeface="微软雅黑" panose="020B0503020204020204" pitchFamily="34" charset="-122"/>
                <a:ea typeface="微软雅黑" panose="020B0503020204020204" pitchFamily="34" charset="-122"/>
              </a:rPr>
              <a:t>标签结束之前添加以下代码。</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642846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5EF5B5A-59E0-4BA8-B34B-99886659E05A}"/>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6.3.1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表单控件</a:t>
            </a:r>
          </a:p>
        </p:txBody>
      </p:sp>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02</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053530"/>
            <a:ext cx="8722842" cy="1107996"/>
          </a:xfrm>
          <a:prstGeom prst="rect">
            <a:avLst/>
          </a:prstGeom>
          <a:noFill/>
          <a:ln>
            <a:noFill/>
          </a:ln>
        </p:spPr>
        <p:txBody>
          <a:bodyPr wrap="square" rtlCol="0">
            <a:spAutoFit/>
          </a:bodyPr>
          <a:lstStyle/>
          <a:p>
            <a:pPr lvl="0" defTabSz="457200">
              <a:lnSpc>
                <a:spcPct val="150000"/>
              </a:lnSpc>
              <a:defRPr/>
            </a:pPr>
            <a:r>
              <a:rPr lang="zh-CN" altLang="en-US" sz="2400" b="1" kern="0" dirty="0">
                <a:solidFill>
                  <a:srgbClr val="595959"/>
                </a:solidFill>
                <a:latin typeface="微软雅黑" panose="020B0503020204020204" pitchFamily="34" charset="-122"/>
                <a:ea typeface="微软雅黑" panose="020B0503020204020204" pitchFamily="34" charset="-122"/>
                <a:cs typeface="+mn-ea"/>
                <a:sym typeface="+mn-lt"/>
              </a:rPr>
              <a:t>在浏览器中访问</a:t>
            </a:r>
            <a:r>
              <a:rPr lang="en-US" altLang="zh-CN" sz="2400" b="1" kern="0" dirty="0">
                <a:solidFill>
                  <a:srgbClr val="595959"/>
                </a:solidFill>
                <a:latin typeface="微软雅黑" panose="020B0503020204020204" pitchFamily="34" charset="-122"/>
                <a:ea typeface="微软雅黑" panose="020B0503020204020204" pitchFamily="34" charset="-122"/>
                <a:cs typeface="+mn-ea"/>
                <a:sym typeface="+mn-lt"/>
              </a:rPr>
              <a:t>demo07.html</a:t>
            </a:r>
          </a:p>
          <a:p>
            <a:pPr lvl="0">
              <a:lnSpc>
                <a:spcPct val="150000"/>
              </a:lnSpc>
              <a:defRPr/>
            </a:pPr>
            <a:r>
              <a:rPr lang="zh-CN" altLang="en-US" sz="2000" dirty="0">
                <a:solidFill>
                  <a:srgbClr val="1369B2"/>
                </a:solidFill>
                <a:latin typeface="微软雅黑" panose="020B0503020204020204" pitchFamily="34" charset="-122"/>
                <a:ea typeface="微软雅黑" panose="020B0503020204020204" pitchFamily="34" charset="-122"/>
              </a:rPr>
              <a:t>下拉列表</a:t>
            </a:r>
            <a:r>
              <a:rPr lang="zh-CN" altLang="en-US" sz="2000" dirty="0">
                <a:solidFill>
                  <a:srgbClr val="595959"/>
                </a:solidFill>
                <a:latin typeface="微软雅黑" panose="020B0503020204020204" pitchFamily="34" charset="-122"/>
                <a:ea typeface="微软雅黑" panose="020B0503020204020204" pitchFamily="34" charset="-122"/>
              </a:rPr>
              <a:t>页面效果如图。</a:t>
            </a:r>
          </a:p>
        </p:txBody>
      </p:sp>
      <p:pic>
        <p:nvPicPr>
          <p:cNvPr id="10242" name="图片 1">
            <a:extLst>
              <a:ext uri="{FF2B5EF4-FFF2-40B4-BE49-F238E27FC236}">
                <a16:creationId xmlns:a16="http://schemas.microsoft.com/office/drawing/2014/main" id="{5679AADD-DFF4-43D9-88C9-3715692430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2839" y="2607747"/>
            <a:ext cx="5313819" cy="197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179903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5EF5B5A-59E0-4BA8-B34B-99886659E05A}"/>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6.3.1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表单控件</a:t>
            </a:r>
          </a:p>
        </p:txBody>
      </p:sp>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02</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053530"/>
            <a:ext cx="8722842" cy="1107996"/>
          </a:xfrm>
          <a:prstGeom prst="rect">
            <a:avLst/>
          </a:prstGeom>
          <a:noFill/>
          <a:ln>
            <a:noFill/>
          </a:ln>
        </p:spPr>
        <p:txBody>
          <a:bodyPr wrap="square" rtlCol="0">
            <a:spAutoFit/>
          </a:bodyPr>
          <a:lstStyle/>
          <a:p>
            <a:pPr lvl="0" defTabSz="457200">
              <a:lnSpc>
                <a:spcPct val="150000"/>
              </a:lnSpc>
              <a:defRPr/>
            </a:pPr>
            <a:r>
              <a:rPr lang="zh-CN" altLang="en-US" sz="2400" b="1" kern="0" dirty="0">
                <a:solidFill>
                  <a:srgbClr val="595959"/>
                </a:solidFill>
                <a:latin typeface="微软雅黑" panose="020B0503020204020204" pitchFamily="34" charset="-122"/>
                <a:ea typeface="微软雅黑" panose="020B0503020204020204" pitchFamily="34" charset="-122"/>
                <a:cs typeface="+mn-ea"/>
                <a:sym typeface="+mn-lt"/>
              </a:rPr>
              <a:t>在浏览器中访问</a:t>
            </a:r>
            <a:r>
              <a:rPr lang="en-US" altLang="zh-CN" sz="2400" b="1" kern="0" dirty="0">
                <a:solidFill>
                  <a:srgbClr val="595959"/>
                </a:solidFill>
                <a:latin typeface="微软雅黑" panose="020B0503020204020204" pitchFamily="34" charset="-122"/>
                <a:ea typeface="微软雅黑" panose="020B0503020204020204" pitchFamily="34" charset="-122"/>
                <a:cs typeface="+mn-ea"/>
                <a:sym typeface="+mn-lt"/>
              </a:rPr>
              <a:t>demo07.html</a:t>
            </a:r>
          </a:p>
          <a:p>
            <a:pPr lvl="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单击下拉列表，即可显示</a:t>
            </a:r>
            <a:r>
              <a:rPr lang="zh-CN" altLang="en-US" sz="2000" dirty="0">
                <a:solidFill>
                  <a:srgbClr val="1369B2"/>
                </a:solidFill>
                <a:latin typeface="微软雅黑" panose="020B0503020204020204" pitchFamily="34" charset="-122"/>
                <a:ea typeface="微软雅黑" panose="020B0503020204020204" pitchFamily="34" charset="-122"/>
              </a:rPr>
              <a:t>展开后</a:t>
            </a:r>
            <a:r>
              <a:rPr lang="zh-CN" altLang="en-US" sz="2000" dirty="0">
                <a:solidFill>
                  <a:srgbClr val="595959"/>
                </a:solidFill>
                <a:latin typeface="微软雅黑" panose="020B0503020204020204" pitchFamily="34" charset="-122"/>
                <a:ea typeface="微软雅黑" panose="020B0503020204020204" pitchFamily="34" charset="-122"/>
              </a:rPr>
              <a:t>的下拉列表。</a:t>
            </a:r>
          </a:p>
        </p:txBody>
      </p:sp>
      <p:pic>
        <p:nvPicPr>
          <p:cNvPr id="11266" name="图片 1">
            <a:extLst>
              <a:ext uri="{FF2B5EF4-FFF2-40B4-BE49-F238E27FC236}">
                <a16:creationId xmlns:a16="http://schemas.microsoft.com/office/drawing/2014/main" id="{BD99DF31-6975-4D95-9CB0-B87B698E1B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4906" y="2493690"/>
            <a:ext cx="4176464" cy="2525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606913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5"/>
          <p:cNvSpPr txBox="1">
            <a:spLocks noChangeArrowheads="1"/>
          </p:cNvSpPr>
          <p:nvPr/>
        </p:nvSpPr>
        <p:spPr bwMode="auto">
          <a:xfrm>
            <a:off x="994466" y="2022301"/>
            <a:ext cx="10441160" cy="1623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Bootstrap</a:t>
            </a:r>
            <a:r>
              <a:rPr lang="zh-CN" altLang="en-US" sz="2000" dirty="0">
                <a:solidFill>
                  <a:srgbClr val="595959"/>
                </a:solidFill>
                <a:latin typeface="微软雅黑" panose="020B0503020204020204" pitchFamily="34" charset="-122"/>
                <a:ea typeface="微软雅黑" panose="020B0503020204020204" pitchFamily="34" charset="-122"/>
                <a:cs typeface="+mn-ea"/>
              </a:rPr>
              <a:t>提供了</a:t>
            </a:r>
            <a:r>
              <a:rPr lang="en-US" altLang="zh-CN" sz="2000" dirty="0">
                <a:solidFill>
                  <a:srgbClr val="1369B2"/>
                </a:solidFill>
                <a:latin typeface="微软雅黑" panose="020B0503020204020204" pitchFamily="34" charset="-122"/>
                <a:ea typeface="微软雅黑" panose="020B0503020204020204" pitchFamily="34" charset="-122"/>
                <a:cs typeface="+mn-ea"/>
              </a:rPr>
              <a:t>.form-control-*</a:t>
            </a:r>
            <a:r>
              <a:rPr lang="zh-CN" altLang="en-US" sz="2000" dirty="0">
                <a:solidFill>
                  <a:srgbClr val="1369B2"/>
                </a:solidFill>
                <a:latin typeface="微软雅黑" panose="020B0503020204020204" pitchFamily="34" charset="-122"/>
                <a:ea typeface="微软雅黑" panose="020B0503020204020204" pitchFamily="34" charset="-122"/>
                <a:cs typeface="+mn-ea"/>
              </a:rPr>
              <a:t>类</a:t>
            </a:r>
            <a:r>
              <a:rPr lang="zh-CN" altLang="en-US" sz="2000" dirty="0">
                <a:solidFill>
                  <a:srgbClr val="595959"/>
                </a:solidFill>
                <a:latin typeface="微软雅黑" panose="020B0503020204020204" pitchFamily="34" charset="-122"/>
                <a:ea typeface="微软雅黑" panose="020B0503020204020204" pitchFamily="34" charset="-122"/>
                <a:cs typeface="+mn-ea"/>
              </a:rPr>
              <a:t>用于更改表单</a:t>
            </a:r>
            <a:r>
              <a:rPr lang="zh-CN" altLang="en-US" sz="2000" dirty="0">
                <a:solidFill>
                  <a:srgbClr val="1369B2"/>
                </a:solidFill>
                <a:latin typeface="微软雅黑" panose="020B0503020204020204" pitchFamily="34" charset="-122"/>
                <a:ea typeface="微软雅黑" panose="020B0503020204020204" pitchFamily="34" charset="-122"/>
                <a:cs typeface="+mn-ea"/>
              </a:rPr>
              <a:t>控件</a:t>
            </a:r>
            <a:r>
              <a:rPr lang="zh-CN" altLang="en-US" sz="2000" dirty="0">
                <a:solidFill>
                  <a:srgbClr val="595959"/>
                </a:solidFill>
                <a:latin typeface="微软雅黑" panose="020B0503020204020204" pitchFamily="34" charset="-122"/>
                <a:ea typeface="微软雅黑" panose="020B0503020204020204" pitchFamily="34" charset="-122"/>
                <a:cs typeface="+mn-ea"/>
              </a:rPr>
              <a:t>的</a:t>
            </a:r>
            <a:r>
              <a:rPr lang="zh-CN" altLang="en-US" sz="2000" dirty="0">
                <a:solidFill>
                  <a:srgbClr val="1369B2"/>
                </a:solidFill>
                <a:latin typeface="微软雅黑" panose="020B0503020204020204" pitchFamily="34" charset="-122"/>
                <a:ea typeface="微软雅黑" panose="020B0503020204020204" pitchFamily="34" charset="-122"/>
                <a:cs typeface="+mn-ea"/>
              </a:rPr>
              <a:t>大小</a:t>
            </a:r>
            <a:r>
              <a:rPr lang="zh-CN" altLang="en-US" sz="2000" dirty="0">
                <a:solidFill>
                  <a:srgbClr val="595959"/>
                </a:solidFill>
                <a:latin typeface="微软雅黑" panose="020B0503020204020204" pitchFamily="34" charset="-122"/>
                <a:ea typeface="微软雅黑" panose="020B0503020204020204" pitchFamily="34" charset="-122"/>
                <a:cs typeface="+mn-ea"/>
              </a:rPr>
              <a:t>，</a:t>
            </a:r>
            <a:r>
              <a:rPr lang="zh-CN" altLang="en-US" sz="2000" dirty="0">
                <a:solidFill>
                  <a:srgbClr val="1369B2"/>
                </a:solidFill>
                <a:latin typeface="微软雅黑" panose="020B0503020204020204" pitchFamily="34" charset="-122"/>
                <a:ea typeface="微软雅黑" panose="020B0503020204020204" pitchFamily="34" charset="-122"/>
                <a:cs typeface="+mn-ea"/>
              </a:rPr>
              <a:t>*</a:t>
            </a:r>
            <a:r>
              <a:rPr lang="zh-CN" altLang="en-US" sz="2000" dirty="0">
                <a:solidFill>
                  <a:srgbClr val="595959"/>
                </a:solidFill>
                <a:latin typeface="微软雅黑" panose="020B0503020204020204" pitchFamily="34" charset="-122"/>
                <a:ea typeface="微软雅黑" panose="020B0503020204020204" pitchFamily="34" charset="-122"/>
                <a:cs typeface="+mn-ea"/>
              </a:rPr>
              <a:t>的可选值有</a:t>
            </a:r>
            <a:r>
              <a:rPr lang="en-US" altLang="zh-CN" sz="2000" dirty="0" err="1">
                <a:solidFill>
                  <a:srgbClr val="1369B2"/>
                </a:solidFill>
                <a:latin typeface="微软雅黑" panose="020B0503020204020204" pitchFamily="34" charset="-122"/>
                <a:ea typeface="微软雅黑" panose="020B0503020204020204" pitchFamily="34" charset="-122"/>
                <a:cs typeface="+mn-ea"/>
              </a:rPr>
              <a:t>sm</a:t>
            </a:r>
            <a:r>
              <a:rPr lang="zh-CN" altLang="en-US" sz="2000" dirty="0">
                <a:solidFill>
                  <a:srgbClr val="595959"/>
                </a:solidFill>
                <a:latin typeface="微软雅黑" panose="020B0503020204020204" pitchFamily="34" charset="-122"/>
                <a:ea typeface="微软雅黑" panose="020B0503020204020204" pitchFamily="34" charset="-122"/>
                <a:cs typeface="+mn-ea"/>
              </a:rPr>
              <a:t>和</a:t>
            </a:r>
            <a:r>
              <a:rPr lang="en-US" altLang="zh-CN" sz="2000" dirty="0">
                <a:solidFill>
                  <a:srgbClr val="1369B2"/>
                </a:solidFill>
                <a:latin typeface="微软雅黑" panose="020B0503020204020204" pitchFamily="34" charset="-122"/>
                <a:ea typeface="微软雅黑" panose="020B0503020204020204" pitchFamily="34" charset="-122"/>
                <a:cs typeface="+mn-ea"/>
              </a:rPr>
              <a:t>lg</a:t>
            </a:r>
            <a:r>
              <a:rPr lang="zh-CN" altLang="en-US" sz="2000" dirty="0">
                <a:solidFill>
                  <a:srgbClr val="595959"/>
                </a:solidFill>
                <a:latin typeface="微软雅黑" panose="020B0503020204020204" pitchFamily="34" charset="-122"/>
                <a:ea typeface="微软雅黑" panose="020B0503020204020204" pitchFamily="34" charset="-122"/>
                <a:cs typeface="+mn-ea"/>
              </a:rPr>
              <a:t>，分别表示</a:t>
            </a:r>
            <a:r>
              <a:rPr lang="zh-CN" altLang="en-US" sz="2000" dirty="0">
                <a:solidFill>
                  <a:srgbClr val="1369B2"/>
                </a:solidFill>
                <a:latin typeface="微软雅黑" panose="020B0503020204020204" pitchFamily="34" charset="-122"/>
                <a:ea typeface="微软雅黑" panose="020B0503020204020204" pitchFamily="34" charset="-122"/>
                <a:cs typeface="+mn-ea"/>
              </a:rPr>
              <a:t>小</a:t>
            </a:r>
            <a:r>
              <a:rPr lang="zh-CN" altLang="en-US" sz="2000" dirty="0">
                <a:solidFill>
                  <a:srgbClr val="595959"/>
                </a:solidFill>
                <a:latin typeface="微软雅黑" panose="020B0503020204020204" pitchFamily="34" charset="-122"/>
                <a:ea typeface="微软雅黑" panose="020B0503020204020204" pitchFamily="34" charset="-122"/>
                <a:cs typeface="+mn-ea"/>
              </a:rPr>
              <a:t>和</a:t>
            </a:r>
            <a:r>
              <a:rPr lang="zh-CN" altLang="en-US" sz="2000" dirty="0">
                <a:solidFill>
                  <a:srgbClr val="1369B2"/>
                </a:solidFill>
                <a:latin typeface="微软雅黑" panose="020B0503020204020204" pitchFamily="34" charset="-122"/>
                <a:ea typeface="微软雅黑" panose="020B0503020204020204" pitchFamily="34" charset="-122"/>
                <a:cs typeface="+mn-ea"/>
              </a:rPr>
              <a:t>大</a:t>
            </a:r>
            <a:r>
              <a:rPr lang="zh-CN" altLang="en-US" sz="2000" dirty="0">
                <a:solidFill>
                  <a:srgbClr val="595959"/>
                </a:solidFill>
                <a:latin typeface="微软雅黑" panose="020B0503020204020204" pitchFamily="34" charset="-122"/>
                <a:ea typeface="微软雅黑" panose="020B0503020204020204" pitchFamily="34" charset="-122"/>
                <a:cs typeface="+mn-ea"/>
              </a:rPr>
              <a:t>，如果没有设置</a:t>
            </a:r>
            <a:r>
              <a:rPr lang="en-US" altLang="zh-CN" sz="2000" dirty="0">
                <a:solidFill>
                  <a:srgbClr val="595959"/>
                </a:solidFill>
                <a:latin typeface="微软雅黑" panose="020B0503020204020204" pitchFamily="34" charset="-122"/>
                <a:ea typeface="微软雅黑" panose="020B0503020204020204" pitchFamily="34" charset="-122"/>
                <a:cs typeface="+mn-ea"/>
              </a:rPr>
              <a:t>.form-control-*</a:t>
            </a:r>
            <a:r>
              <a:rPr lang="zh-CN" altLang="en-US" sz="2000" dirty="0">
                <a:solidFill>
                  <a:srgbClr val="595959"/>
                </a:solidFill>
                <a:latin typeface="微软雅黑" panose="020B0503020204020204" pitchFamily="34" charset="-122"/>
                <a:ea typeface="微软雅黑" panose="020B0503020204020204" pitchFamily="34" charset="-122"/>
                <a:cs typeface="+mn-ea"/>
              </a:rPr>
              <a:t>，则表单控件为</a:t>
            </a:r>
            <a:r>
              <a:rPr lang="zh-CN" altLang="en-US" sz="2000" dirty="0">
                <a:solidFill>
                  <a:srgbClr val="1369B2"/>
                </a:solidFill>
                <a:latin typeface="微软雅黑" panose="020B0503020204020204" pitchFamily="34" charset="-122"/>
                <a:ea typeface="微软雅黑" panose="020B0503020204020204" pitchFamily="34" charset="-122"/>
                <a:cs typeface="+mn-ea"/>
              </a:rPr>
              <a:t>中等大小</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a:t>
            </a:r>
            <a:endParaRPr lang="en-US" altLang="zh-CN" sz="2000" dirty="0" smtClean="0">
              <a:solidFill>
                <a:srgbClr val="595959"/>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500" dirty="0" smtClean="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cs typeface="+mn-ea"/>
              </a:rPr>
              <a:t>下面</a:t>
            </a:r>
            <a:r>
              <a:rPr lang="zh-CN" altLang="en-US" sz="2000" dirty="0">
                <a:solidFill>
                  <a:srgbClr val="595959"/>
                </a:solidFill>
                <a:latin typeface="微软雅黑" panose="020B0503020204020204" pitchFamily="34" charset="-122"/>
                <a:ea typeface="微软雅黑" panose="020B0503020204020204" pitchFamily="34" charset="-122"/>
                <a:cs typeface="+mn-ea"/>
              </a:rPr>
              <a:t>以文本输入框为例进行演示，示例代码如下。</a:t>
            </a:r>
          </a:p>
        </p:txBody>
      </p:sp>
      <p:sp>
        <p:nvSpPr>
          <p:cNvPr id="7" name="Title 1">
            <a:extLst>
              <a:ext uri="{FF2B5EF4-FFF2-40B4-BE49-F238E27FC236}">
                <a16:creationId xmlns:a16="http://schemas.microsoft.com/office/drawing/2014/main" id="{25EF5B5A-59E0-4BA8-B34B-99886659E05A}"/>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6.3.1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表单控件</a:t>
            </a:r>
          </a:p>
        </p:txBody>
      </p:sp>
      <p:sp>
        <p:nvSpPr>
          <p:cNvPr id="9" name="文本框 8">
            <a:extLst>
              <a:ext uri="{FF2B5EF4-FFF2-40B4-BE49-F238E27FC236}">
                <a16:creationId xmlns:a16="http://schemas.microsoft.com/office/drawing/2014/main" id="{80FED637-EA37-4E52-8ACE-49F6C1C8318A}"/>
              </a:ext>
            </a:extLst>
          </p:cNvPr>
          <p:cNvSpPr txBox="1"/>
          <p:nvPr/>
        </p:nvSpPr>
        <p:spPr>
          <a:xfrm>
            <a:off x="1918742" y="3757231"/>
            <a:ext cx="7787785" cy="2264851"/>
          </a:xfrm>
          <a:prstGeom prst="rect">
            <a:avLst/>
          </a:prstGeom>
          <a:solidFill>
            <a:srgbClr val="F2F2F2"/>
          </a:solidFill>
        </p:spPr>
        <p:txBody>
          <a:bodyPr wrap="square">
            <a:spAutoFit/>
          </a:bodyPr>
          <a:lstStyle/>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较小的文本输入框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&lt;input type="text" class="form-control form-control-</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sm</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placeholder="</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小</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中等的文本输入框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&lt;input type="text" class="form-control" placeholder="</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中</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较大的文本输入框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&lt;input type="text" class="form-control form-control-lg" placeholder="</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大</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p:txBody>
      </p:sp>
      <p:sp>
        <p:nvSpPr>
          <p:cNvPr id="6" name="矩形 5">
            <a:extLst>
              <a:ext uri="{FF2B5EF4-FFF2-40B4-BE49-F238E27FC236}">
                <a16:creationId xmlns:a16="http://schemas.microsoft.com/office/drawing/2014/main" id="{2112EC40-A66D-4624-89BE-1F2F4CFB6932}"/>
              </a:ext>
            </a:extLst>
          </p:cNvPr>
          <p:cNvSpPr/>
          <p:nvPr/>
        </p:nvSpPr>
        <p:spPr>
          <a:xfrm>
            <a:off x="2181898" y="1262275"/>
            <a:ext cx="3913308" cy="670560"/>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8" name="文本框 7">
            <a:extLst>
              <a:ext uri="{FF2B5EF4-FFF2-40B4-BE49-F238E27FC236}">
                <a16:creationId xmlns:a16="http://schemas.microsoft.com/office/drawing/2014/main" id="{DC97F200-584E-4863-AC7C-FEFAE9F54CFD}"/>
              </a:ext>
            </a:extLst>
          </p:cNvPr>
          <p:cNvSpPr txBox="1"/>
          <p:nvPr/>
        </p:nvSpPr>
        <p:spPr>
          <a:xfrm>
            <a:off x="2291860" y="1402476"/>
            <a:ext cx="3803346" cy="400110"/>
          </a:xfrm>
          <a:prstGeom prst="rect">
            <a:avLst/>
          </a:prstGeom>
          <a:solidFill>
            <a:srgbClr val="1369B2"/>
          </a:solidFill>
        </p:spPr>
        <p:txBody>
          <a:bodyPr wrap="square" rtlCol="0">
            <a:spAutoFit/>
          </a:bodyPr>
          <a:lstStyle/>
          <a:p>
            <a:r>
              <a:rPr lang="zh-CN" altLang="en-US" sz="2000" dirty="0" smtClean="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rPr>
              <a:t>多学一招：更改</a:t>
            </a:r>
            <a:r>
              <a:rPr lang="zh-CN" altLang="en-US" sz="2000" dirty="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rPr>
              <a:t>表单控件的</a:t>
            </a:r>
            <a:r>
              <a:rPr lang="zh-CN" altLang="en-US" sz="2000" dirty="0" smtClean="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rPr>
              <a:t>大小</a:t>
            </a:r>
            <a:endParaRPr lang="zh-CN" altLang="en-US" sz="2000" dirty="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10" name="矩形 9">
            <a:extLst>
              <a:ext uri="{FF2B5EF4-FFF2-40B4-BE49-F238E27FC236}">
                <a16:creationId xmlns:a16="http://schemas.microsoft.com/office/drawing/2014/main" id="{87171776-C649-475B-AF6D-6B1F33BB1F72}"/>
              </a:ext>
            </a:extLst>
          </p:cNvPr>
          <p:cNvSpPr/>
          <p:nvPr/>
        </p:nvSpPr>
        <p:spPr>
          <a:xfrm>
            <a:off x="6187706" y="1262275"/>
            <a:ext cx="83127" cy="670560"/>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1" name="矩形 10">
            <a:extLst>
              <a:ext uri="{FF2B5EF4-FFF2-40B4-BE49-F238E27FC236}">
                <a16:creationId xmlns:a16="http://schemas.microsoft.com/office/drawing/2014/main" id="{C7237529-15D2-46EA-8481-511A367458F3}"/>
              </a:ext>
            </a:extLst>
          </p:cNvPr>
          <p:cNvSpPr/>
          <p:nvPr/>
        </p:nvSpPr>
        <p:spPr>
          <a:xfrm>
            <a:off x="6375435" y="1262275"/>
            <a:ext cx="83127" cy="670560"/>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pic>
        <p:nvPicPr>
          <p:cNvPr id="12" name="图形 11" descr="讲故事">
            <a:extLst>
              <a:ext uri="{FF2B5EF4-FFF2-40B4-BE49-F238E27FC236}">
                <a16:creationId xmlns:a16="http://schemas.microsoft.com/office/drawing/2014/main" id="{6684872B-9D64-4BDB-95BD-35B49D3CED26}"/>
              </a:ext>
            </a:extLst>
          </p:cNvPr>
          <p:cNvPicPr>
            <a:picLocks noChangeAspect="1"/>
          </p:cNvPicPr>
          <p:nvPr/>
        </p:nvPicPr>
        <p:blipFill>
          <a:blip r:embed="rId2">
            <a:extLst>
              <a:ext uri="{96DAC541-7B7A-43D3-8B79-37D633B846F1}">
                <asvg:svgBlip xmlns:asvg="http://schemas.microsoft.com/office/drawing/2016/SVG/main" xmlns="" r:embed="rId4"/>
              </a:ext>
            </a:extLst>
          </a:blip>
          <a:stretch>
            <a:fillRect/>
          </a:stretch>
        </p:blipFill>
        <p:spPr>
          <a:xfrm>
            <a:off x="982639" y="1045642"/>
            <a:ext cx="936104" cy="936104"/>
          </a:xfrm>
          <a:prstGeom prst="rect">
            <a:avLst/>
          </a:prstGeom>
        </p:spPr>
      </p:pic>
    </p:spTree>
    <p:extLst>
      <p:ext uri="{BB962C8B-B14F-4D97-AF65-F5344CB8AC3E}">
        <p14:creationId xmlns:p14="http://schemas.microsoft.com/office/powerpoint/2010/main" val="16559544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5EF5B5A-59E0-4BA8-B34B-99886659E05A}"/>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6.3.1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表单控件</a:t>
            </a:r>
          </a:p>
        </p:txBody>
      </p:sp>
      <p:pic>
        <p:nvPicPr>
          <p:cNvPr id="1026" name="图片 1">
            <a:extLst>
              <a:ext uri="{FF2B5EF4-FFF2-40B4-BE49-F238E27FC236}">
                <a16:creationId xmlns:a16="http://schemas.microsoft.com/office/drawing/2014/main" id="{8CCAF9BA-F0A8-4D3B-A868-83268C0DC3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63464" y="2986286"/>
            <a:ext cx="4781550" cy="217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7B852402-1B7C-4F7A-AACA-F3138B9F50CC}"/>
              </a:ext>
            </a:extLst>
          </p:cNvPr>
          <p:cNvSpPr txBox="1"/>
          <p:nvPr/>
        </p:nvSpPr>
        <p:spPr>
          <a:xfrm>
            <a:off x="1270670" y="2122190"/>
            <a:ext cx="4032448" cy="553998"/>
          </a:xfrm>
          <a:prstGeom prst="rect">
            <a:avLst/>
          </a:prstGeom>
          <a:noFill/>
        </p:spPr>
        <p:txBody>
          <a:bodyPr wrap="square" rtlCol="0">
            <a:spAutoFit/>
          </a:bodyPr>
          <a:lstStyle/>
          <a:p>
            <a:pPr>
              <a:lnSpc>
                <a:spcPct val="150000"/>
              </a:lnSpc>
            </a:pPr>
            <a:r>
              <a:rPr lang="en-US" altLang="zh-CN" sz="2000" dirty="0">
                <a:solidFill>
                  <a:srgbClr val="1369B2"/>
                </a:solidFill>
                <a:latin typeface="微软雅黑" panose="020B0503020204020204" pitchFamily="34" charset="-122"/>
                <a:ea typeface="微软雅黑" panose="020B0503020204020204" pitchFamily="34" charset="-122"/>
              </a:rPr>
              <a:t>3</a:t>
            </a:r>
            <a:r>
              <a:rPr lang="zh-CN" altLang="en-US" sz="2000" dirty="0">
                <a:solidFill>
                  <a:srgbClr val="1369B2"/>
                </a:solidFill>
                <a:latin typeface="微软雅黑" panose="020B0503020204020204" pitchFamily="34" charset="-122"/>
                <a:ea typeface="微软雅黑" panose="020B0503020204020204" pitchFamily="34" charset="-122"/>
              </a:rPr>
              <a:t>种</a:t>
            </a:r>
            <a:r>
              <a:rPr lang="zh-CN" altLang="en-US" sz="2000" dirty="0">
                <a:solidFill>
                  <a:srgbClr val="595959"/>
                </a:solidFill>
                <a:latin typeface="微软雅黑" panose="020B0503020204020204" pitchFamily="34" charset="-122"/>
                <a:ea typeface="微软雅黑" panose="020B0503020204020204" pitchFamily="34" charset="-122"/>
              </a:rPr>
              <a:t>大小文本输入框显示效果如</a:t>
            </a:r>
            <a:r>
              <a:rPr lang="zh-CN" altLang="en-US" sz="2000" dirty="0" smtClean="0">
                <a:solidFill>
                  <a:srgbClr val="595959"/>
                </a:solidFill>
                <a:latin typeface="微软雅黑" panose="020B0503020204020204" pitchFamily="34" charset="-122"/>
                <a:ea typeface="微软雅黑" panose="020B0503020204020204" pitchFamily="34" charset="-122"/>
              </a:rPr>
              <a:t>图。</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2112EC40-A66D-4624-89BE-1F2F4CFB6932}"/>
              </a:ext>
            </a:extLst>
          </p:cNvPr>
          <p:cNvSpPr/>
          <p:nvPr/>
        </p:nvSpPr>
        <p:spPr>
          <a:xfrm>
            <a:off x="2181898" y="1262275"/>
            <a:ext cx="3913308" cy="670560"/>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8" name="文本框 7">
            <a:extLst>
              <a:ext uri="{FF2B5EF4-FFF2-40B4-BE49-F238E27FC236}">
                <a16:creationId xmlns:a16="http://schemas.microsoft.com/office/drawing/2014/main" id="{DC97F200-584E-4863-AC7C-FEFAE9F54CFD}"/>
              </a:ext>
            </a:extLst>
          </p:cNvPr>
          <p:cNvSpPr txBox="1"/>
          <p:nvPr/>
        </p:nvSpPr>
        <p:spPr>
          <a:xfrm>
            <a:off x="2291860" y="1402476"/>
            <a:ext cx="3803346" cy="400110"/>
          </a:xfrm>
          <a:prstGeom prst="rect">
            <a:avLst/>
          </a:prstGeom>
          <a:solidFill>
            <a:srgbClr val="1369B2"/>
          </a:solidFill>
        </p:spPr>
        <p:txBody>
          <a:bodyPr wrap="square" rtlCol="0">
            <a:spAutoFit/>
          </a:bodyPr>
          <a:lstStyle/>
          <a:p>
            <a:r>
              <a:rPr lang="zh-CN" altLang="en-US" sz="2000" dirty="0" smtClean="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rPr>
              <a:t>多学一招：更改</a:t>
            </a:r>
            <a:r>
              <a:rPr lang="zh-CN" altLang="en-US" sz="2000" dirty="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rPr>
              <a:t>表单控件的</a:t>
            </a:r>
            <a:r>
              <a:rPr lang="zh-CN" altLang="en-US" sz="2000" dirty="0" smtClean="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rPr>
              <a:t>大小</a:t>
            </a:r>
            <a:endParaRPr lang="zh-CN" altLang="en-US" sz="2000" dirty="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9" name="矩形 8">
            <a:extLst>
              <a:ext uri="{FF2B5EF4-FFF2-40B4-BE49-F238E27FC236}">
                <a16:creationId xmlns:a16="http://schemas.microsoft.com/office/drawing/2014/main" id="{87171776-C649-475B-AF6D-6B1F33BB1F72}"/>
              </a:ext>
            </a:extLst>
          </p:cNvPr>
          <p:cNvSpPr/>
          <p:nvPr/>
        </p:nvSpPr>
        <p:spPr>
          <a:xfrm>
            <a:off x="6187706" y="1262275"/>
            <a:ext cx="83127" cy="670560"/>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0" name="矩形 9">
            <a:extLst>
              <a:ext uri="{FF2B5EF4-FFF2-40B4-BE49-F238E27FC236}">
                <a16:creationId xmlns:a16="http://schemas.microsoft.com/office/drawing/2014/main" id="{C7237529-15D2-46EA-8481-511A367458F3}"/>
              </a:ext>
            </a:extLst>
          </p:cNvPr>
          <p:cNvSpPr/>
          <p:nvPr/>
        </p:nvSpPr>
        <p:spPr>
          <a:xfrm>
            <a:off x="6375435" y="1262275"/>
            <a:ext cx="83127" cy="670560"/>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pic>
        <p:nvPicPr>
          <p:cNvPr id="11" name="图形 11" descr="讲故事">
            <a:extLst>
              <a:ext uri="{FF2B5EF4-FFF2-40B4-BE49-F238E27FC236}">
                <a16:creationId xmlns:a16="http://schemas.microsoft.com/office/drawing/2014/main" id="{6684872B-9D64-4BDB-95BD-35B49D3CED26}"/>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82639" y="1045642"/>
            <a:ext cx="936104" cy="936104"/>
          </a:xfrm>
          <a:prstGeom prst="rect">
            <a:avLst/>
          </a:prstGeom>
        </p:spPr>
      </p:pic>
    </p:spTree>
    <p:extLst>
      <p:ext uri="{BB962C8B-B14F-4D97-AF65-F5344CB8AC3E}">
        <p14:creationId xmlns:p14="http://schemas.microsoft.com/office/powerpoint/2010/main" val="3054072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7"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815964" y="3576722"/>
            <a:ext cx="5247793" cy="1231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dirty="0" smtClean="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表</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单布局</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，能够实现不同的表单布局</a:t>
            </a:r>
            <a:r>
              <a:rPr lang="zh-CN" altLang="en-US"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页面</a:t>
            </a:r>
            <a:endParaRPr lang="zh-CN" altLang="en-US" dirty="0">
              <a:solidFill>
                <a:srgbClr val="595959"/>
              </a:solidFill>
              <a:latin typeface="微软雅黑" panose="020B0503020204020204" pitchFamily="34" charset="-122"/>
              <a:ea typeface="微软雅黑" panose="020B0503020204020204" pitchFamily="34" charset="-122"/>
              <a:cs typeface="+mn-ea"/>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Title 1">
            <a:extLst>
              <a:ext uri="{FF2B5EF4-FFF2-40B4-BE49-F238E27FC236}">
                <a16:creationId xmlns:a16="http://schemas.microsoft.com/office/drawing/2014/main" id="{A5A373F7-A187-42B9-9017-12CE5611263B}"/>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6.3.2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表单布局</a:t>
            </a:r>
          </a:p>
        </p:txBody>
      </p:sp>
    </p:spTree>
    <p:extLst>
      <p:ext uri="{BB962C8B-B14F-4D97-AF65-F5344CB8AC3E}">
        <p14:creationId xmlns:p14="http://schemas.microsoft.com/office/powerpoint/2010/main" val="4277096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93A7C52E-1453-4C90-BBE6-3FC57B429E38}"/>
              </a:ext>
            </a:extLst>
          </p:cNvPr>
          <p:cNvSpPr txBox="1"/>
          <p:nvPr/>
        </p:nvSpPr>
        <p:spPr>
          <a:xfrm>
            <a:off x="1143690" y="1053530"/>
            <a:ext cx="9577064" cy="961289"/>
          </a:xfrm>
          <a:prstGeom prst="rect">
            <a:avLst/>
          </a:prstGeom>
          <a:noFill/>
        </p:spPr>
        <p:txBody>
          <a:bodyPr wrap="square" rtlCol="0">
            <a:spAutoFit/>
          </a:body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cs typeface="+mn-ea"/>
              </a:rPr>
              <a:t>在日常生活中，不同网站的登录或注册页面布局方式也不同，利用</a:t>
            </a:r>
            <a:r>
              <a:rPr lang="en-US" altLang="zh-CN" sz="2000" dirty="0">
                <a:solidFill>
                  <a:srgbClr val="595959"/>
                </a:solidFill>
                <a:latin typeface="微软雅黑" panose="020B0503020204020204" pitchFamily="34" charset="-122"/>
                <a:ea typeface="微软雅黑" panose="020B0503020204020204" pitchFamily="34" charset="-122"/>
                <a:cs typeface="+mn-ea"/>
              </a:rPr>
              <a:t>Bootstrap</a:t>
            </a:r>
            <a:r>
              <a:rPr lang="zh-CN" altLang="en-US" sz="2000" dirty="0">
                <a:solidFill>
                  <a:srgbClr val="595959"/>
                </a:solidFill>
                <a:latin typeface="微软雅黑" panose="020B0503020204020204" pitchFamily="34" charset="-122"/>
                <a:ea typeface="微软雅黑" panose="020B0503020204020204" pitchFamily="34" charset="-122"/>
                <a:cs typeface="+mn-ea"/>
              </a:rPr>
              <a:t>提供的</a:t>
            </a:r>
            <a:r>
              <a:rPr lang="zh-CN" altLang="en-US" sz="2000" dirty="0">
                <a:solidFill>
                  <a:srgbClr val="1369B2"/>
                </a:solidFill>
                <a:latin typeface="微软雅黑" panose="020B0503020204020204" pitchFamily="34" charset="-122"/>
                <a:ea typeface="微软雅黑" panose="020B0503020204020204" pitchFamily="34" charset="-122"/>
                <a:cs typeface="+mn-ea"/>
              </a:rPr>
              <a:t>样式类</a:t>
            </a:r>
            <a:r>
              <a:rPr lang="zh-CN" altLang="en-US" sz="2000" dirty="0">
                <a:solidFill>
                  <a:srgbClr val="595959"/>
                </a:solidFill>
                <a:latin typeface="微软雅黑" panose="020B0503020204020204" pitchFamily="34" charset="-122"/>
                <a:ea typeface="微软雅黑" panose="020B0503020204020204" pitchFamily="34" charset="-122"/>
                <a:cs typeface="+mn-ea"/>
              </a:rPr>
              <a:t>可以实现多种</a:t>
            </a:r>
            <a:r>
              <a:rPr lang="zh-CN" altLang="en-US" sz="2000" dirty="0">
                <a:solidFill>
                  <a:srgbClr val="1369B2"/>
                </a:solidFill>
                <a:latin typeface="微软雅黑" panose="020B0503020204020204" pitchFamily="34" charset="-122"/>
                <a:ea typeface="微软雅黑" panose="020B0503020204020204" pitchFamily="34" charset="-122"/>
                <a:cs typeface="+mn-ea"/>
              </a:rPr>
              <a:t>表单布局</a:t>
            </a:r>
            <a:r>
              <a:rPr lang="zh-CN" altLang="en-US" sz="2000" dirty="0">
                <a:solidFill>
                  <a:srgbClr val="595959"/>
                </a:solidFill>
                <a:latin typeface="微软雅黑" panose="020B0503020204020204" pitchFamily="34" charset="-122"/>
                <a:ea typeface="微软雅黑" panose="020B0503020204020204" pitchFamily="34" charset="-122"/>
                <a:cs typeface="+mn-ea"/>
              </a:rPr>
              <a:t>。</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4" name="Title 1">
            <a:extLst>
              <a:ext uri="{FF2B5EF4-FFF2-40B4-BE49-F238E27FC236}">
                <a16:creationId xmlns:a16="http://schemas.microsoft.com/office/drawing/2014/main" id="{94D1F8F7-78DD-4719-BC9E-52AE9717F513}"/>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6.3.2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表单布局</a:t>
            </a:r>
          </a:p>
        </p:txBody>
      </p:sp>
      <p:pic>
        <p:nvPicPr>
          <p:cNvPr id="3" name="图片 2">
            <a:extLst>
              <a:ext uri="{FF2B5EF4-FFF2-40B4-BE49-F238E27FC236}">
                <a16:creationId xmlns:a16="http://schemas.microsoft.com/office/drawing/2014/main" id="{19F254DA-6870-4F4C-A257-3F8F77BC4F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8702" y="2330816"/>
            <a:ext cx="4989583" cy="3617090"/>
          </a:xfrm>
          <a:prstGeom prst="rect">
            <a:avLst/>
          </a:prstGeom>
        </p:spPr>
      </p:pic>
      <p:pic>
        <p:nvPicPr>
          <p:cNvPr id="6" name="图片 5">
            <a:extLst>
              <a:ext uri="{FF2B5EF4-FFF2-40B4-BE49-F238E27FC236}">
                <a16:creationId xmlns:a16="http://schemas.microsoft.com/office/drawing/2014/main" id="{E910C072-1F4C-4849-968C-48B4EC27B01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75326" y="2014819"/>
            <a:ext cx="2592288" cy="3785199"/>
          </a:xfrm>
          <a:prstGeom prst="rect">
            <a:avLst/>
          </a:prstGeom>
        </p:spPr>
      </p:pic>
    </p:spTree>
    <p:extLst>
      <p:ext uri="{BB962C8B-B14F-4D97-AF65-F5344CB8AC3E}">
        <p14:creationId xmlns:p14="http://schemas.microsoft.com/office/powerpoint/2010/main" val="12597614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4D1F8F7-78DD-4719-BC9E-52AE9717F513}"/>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6.3.2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表单布局</a:t>
            </a:r>
          </a:p>
        </p:txBody>
      </p:sp>
      <p:sp>
        <p:nvSpPr>
          <p:cNvPr id="5" name="TextBox 35">
            <a:extLst>
              <a:ext uri="{FF2B5EF4-FFF2-40B4-BE49-F238E27FC236}">
                <a16:creationId xmlns:a16="http://schemas.microsoft.com/office/drawing/2014/main" id="{072420BD-C065-4FA1-8659-E8943A7E4251}"/>
              </a:ext>
            </a:extLst>
          </p:cNvPr>
          <p:cNvSpPr txBox="1">
            <a:spLocks noChangeArrowheads="1"/>
          </p:cNvSpPr>
          <p:nvPr/>
        </p:nvSpPr>
        <p:spPr bwMode="auto">
          <a:xfrm>
            <a:off x="907147" y="1737505"/>
            <a:ext cx="10441160" cy="1046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smtClean="0">
                <a:solidFill>
                  <a:srgbClr val="1369B2"/>
                </a:solidFill>
                <a:latin typeface="微软雅黑" panose="020B0503020204020204" pitchFamily="34" charset="-122"/>
                <a:ea typeface="微软雅黑" panose="020B0503020204020204" pitchFamily="34" charset="-122"/>
                <a:cs typeface="+mn-ea"/>
              </a:rPr>
              <a:t>垂直</a:t>
            </a:r>
            <a:r>
              <a:rPr lang="zh-CN" altLang="en-US" sz="2000" dirty="0">
                <a:solidFill>
                  <a:srgbClr val="1369B2"/>
                </a:solidFill>
                <a:latin typeface="微软雅黑" panose="020B0503020204020204" pitchFamily="34" charset="-122"/>
                <a:ea typeface="微软雅黑" panose="020B0503020204020204" pitchFamily="34" charset="-122"/>
                <a:cs typeface="+mn-ea"/>
              </a:rPr>
              <a:t>布局</a:t>
            </a:r>
            <a:r>
              <a:rPr lang="zh-CN" altLang="en-US" sz="2000" dirty="0">
                <a:solidFill>
                  <a:srgbClr val="595959"/>
                </a:solidFill>
                <a:latin typeface="微软雅黑" panose="020B0503020204020204" pitchFamily="34" charset="-122"/>
                <a:ea typeface="微软雅黑" panose="020B0503020204020204" pitchFamily="34" charset="-122"/>
                <a:cs typeface="+mn-ea"/>
              </a:rPr>
              <a:t>是将表单中的每个</a:t>
            </a:r>
            <a:r>
              <a:rPr lang="zh-CN" altLang="en-US" sz="2000" dirty="0">
                <a:solidFill>
                  <a:srgbClr val="1369B2"/>
                </a:solidFill>
                <a:latin typeface="微软雅黑" panose="020B0503020204020204" pitchFamily="34" charset="-122"/>
                <a:ea typeface="微软雅黑" panose="020B0503020204020204" pitchFamily="34" charset="-122"/>
                <a:cs typeface="+mn-ea"/>
              </a:rPr>
              <a:t>表单控件</a:t>
            </a:r>
            <a:r>
              <a:rPr lang="zh-CN" altLang="en-US" sz="2000" dirty="0">
                <a:solidFill>
                  <a:srgbClr val="595959"/>
                </a:solidFill>
                <a:latin typeface="微软雅黑" panose="020B0503020204020204" pitchFamily="34" charset="-122"/>
                <a:ea typeface="微软雅黑" panose="020B0503020204020204" pitchFamily="34" charset="-122"/>
                <a:cs typeface="+mn-ea"/>
              </a:rPr>
              <a:t>都放到一个</a:t>
            </a:r>
            <a:r>
              <a:rPr lang="en-US" altLang="zh-CN" sz="2000" dirty="0">
                <a:solidFill>
                  <a:srgbClr val="1369B2"/>
                </a:solidFill>
                <a:latin typeface="微软雅黑" panose="020B0503020204020204" pitchFamily="34" charset="-122"/>
                <a:ea typeface="微软雅黑" panose="020B0503020204020204" pitchFamily="34" charset="-122"/>
                <a:cs typeface="+mn-ea"/>
              </a:rPr>
              <a:t>&lt;div&gt;</a:t>
            </a:r>
            <a:r>
              <a:rPr lang="zh-CN" altLang="en-US" sz="2000" dirty="0">
                <a:solidFill>
                  <a:srgbClr val="1369B2"/>
                </a:solidFill>
                <a:latin typeface="微软雅黑" panose="020B0503020204020204" pitchFamily="34" charset="-122"/>
                <a:ea typeface="微软雅黑" panose="020B0503020204020204" pitchFamily="34" charset="-122"/>
                <a:cs typeface="+mn-ea"/>
              </a:rPr>
              <a:t>标签</a:t>
            </a:r>
            <a:r>
              <a:rPr lang="zh-CN" altLang="en-US" sz="2000" dirty="0">
                <a:solidFill>
                  <a:srgbClr val="595959"/>
                </a:solidFill>
                <a:latin typeface="微软雅黑" panose="020B0503020204020204" pitchFamily="34" charset="-122"/>
                <a:ea typeface="微软雅黑" panose="020B0503020204020204" pitchFamily="34" charset="-122"/>
                <a:cs typeface="+mn-ea"/>
              </a:rPr>
              <a:t>中，利用</a:t>
            </a:r>
            <a:r>
              <a:rPr lang="en-US" altLang="zh-CN" sz="2000" dirty="0">
                <a:solidFill>
                  <a:srgbClr val="595959"/>
                </a:solidFill>
                <a:latin typeface="微软雅黑" panose="020B0503020204020204" pitchFamily="34" charset="-122"/>
                <a:ea typeface="微软雅黑" panose="020B0503020204020204" pitchFamily="34" charset="-122"/>
                <a:cs typeface="+mn-ea"/>
              </a:rPr>
              <a:t>div</a:t>
            </a:r>
            <a:r>
              <a:rPr lang="zh-CN" altLang="en-US" sz="2000" dirty="0">
                <a:solidFill>
                  <a:srgbClr val="595959"/>
                </a:solidFill>
                <a:latin typeface="微软雅黑" panose="020B0503020204020204" pitchFamily="34" charset="-122"/>
                <a:ea typeface="微软雅黑" panose="020B0503020204020204" pitchFamily="34" charset="-122"/>
                <a:cs typeface="+mn-ea"/>
              </a:rPr>
              <a:t>元素是</a:t>
            </a:r>
            <a:r>
              <a:rPr lang="zh-CN" altLang="en-US" sz="2000" dirty="0">
                <a:solidFill>
                  <a:srgbClr val="1369B2"/>
                </a:solidFill>
                <a:latin typeface="微软雅黑" panose="020B0503020204020204" pitchFamily="34" charset="-122"/>
                <a:ea typeface="微软雅黑" panose="020B0503020204020204" pitchFamily="34" charset="-122"/>
                <a:cs typeface="+mn-ea"/>
              </a:rPr>
              <a:t>块级元素</a:t>
            </a:r>
            <a:r>
              <a:rPr lang="zh-CN" altLang="en-US" sz="2000" dirty="0">
                <a:solidFill>
                  <a:srgbClr val="595959"/>
                </a:solidFill>
                <a:latin typeface="微软雅黑" panose="020B0503020204020204" pitchFamily="34" charset="-122"/>
                <a:ea typeface="微软雅黑" panose="020B0503020204020204" pitchFamily="34" charset="-122"/>
                <a:cs typeface="+mn-ea"/>
              </a:rPr>
              <a:t>的特点实现垂直排列。</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6" name="TextBox 76">
            <a:extLst>
              <a:ext uri="{FF2B5EF4-FFF2-40B4-BE49-F238E27FC236}">
                <a16:creationId xmlns:a16="http://schemas.microsoft.com/office/drawing/2014/main" id="{9112F55D-44AB-4BD4-8B31-C02EB6C7C227}"/>
              </a:ext>
            </a:extLst>
          </p:cNvPr>
          <p:cNvSpPr txBox="1"/>
          <p:nvPr/>
        </p:nvSpPr>
        <p:spPr>
          <a:xfrm>
            <a:off x="994466" y="1212844"/>
            <a:ext cx="2118222"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垂直</a:t>
            </a: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布局</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 name="TextBox 35">
            <a:extLst>
              <a:ext uri="{FF2B5EF4-FFF2-40B4-BE49-F238E27FC236}">
                <a16:creationId xmlns:a16="http://schemas.microsoft.com/office/drawing/2014/main" id="{2AC8B835-8E21-47D3-AA5C-614E45B2AF9C}"/>
              </a:ext>
            </a:extLst>
          </p:cNvPr>
          <p:cNvSpPr txBox="1">
            <a:spLocks noChangeArrowheads="1"/>
          </p:cNvSpPr>
          <p:nvPr/>
        </p:nvSpPr>
        <p:spPr bwMode="auto">
          <a:xfrm>
            <a:off x="907147" y="2906215"/>
            <a:ext cx="10441160" cy="584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创建</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垂直布局</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表单页面，效果如图：</a:t>
            </a:r>
          </a:p>
        </p:txBody>
      </p:sp>
      <p:pic>
        <p:nvPicPr>
          <p:cNvPr id="8" name="图片 1">
            <a:extLst>
              <a:ext uri="{FF2B5EF4-FFF2-40B4-BE49-F238E27FC236}">
                <a16:creationId xmlns:a16="http://schemas.microsoft.com/office/drawing/2014/main" id="{E27370AD-04E7-4B85-8E07-3808CA9C3E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7487" y="3613260"/>
            <a:ext cx="4320480" cy="2356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527072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A22F1E4-39AE-424B-B19B-3301952C7205}"/>
              </a:ext>
            </a:extLst>
          </p:cNvPr>
          <p:cNvSpPr txBox="1"/>
          <p:nvPr/>
        </p:nvSpPr>
        <p:spPr>
          <a:xfrm>
            <a:off x="3059949" y="2277666"/>
            <a:ext cx="7787785" cy="4111510"/>
          </a:xfrm>
          <a:prstGeom prst="rect">
            <a:avLst/>
          </a:prstGeom>
          <a:solidFill>
            <a:srgbClr val="F2F2F2"/>
          </a:solidFill>
        </p:spPr>
        <p:txBody>
          <a:bodyPr wrap="square">
            <a:spAutoFit/>
          </a:bodyPr>
          <a:lstStyle/>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&lt;!DOCTYPE html&gt;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&lt;html&gt;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&lt;head&gt;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&lt;meta charset="UTF-8"&gt;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&lt;meta name="viewport" content="width=device-width, initial-scale=1.0"&gt;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&lt;title&gt;Document&lt;/title&gt;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&lt;link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="bootstrap-4.6.0-dist/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css</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/bootstrap.min.css"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rel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="stylesheet"&gt;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&lt;/head&gt;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&lt;body class="m-3"&gt;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&lt;/body&gt;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&lt;/html&gt;</a:t>
            </a:r>
          </a:p>
        </p:txBody>
      </p:sp>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01</a:t>
              </a: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053530"/>
            <a:ext cx="8722842" cy="1053622"/>
          </a:xfrm>
          <a:prstGeom prst="rect">
            <a:avLst/>
          </a:prstGeom>
          <a:noFill/>
          <a:ln>
            <a:noFill/>
          </a:ln>
        </p:spPr>
        <p:txBody>
          <a:bodyPr wrap="square" rtlCol="0">
            <a:spAutoFit/>
          </a:bodyPr>
          <a:lstStyle/>
          <a:p>
            <a:pPr lvl="0" defTabSz="457200">
              <a:lnSpc>
                <a:spcPct val="150000"/>
              </a:lnSpc>
              <a:defRPr/>
            </a:pPr>
            <a:r>
              <a:rPr lang="zh-CN" altLang="en-US" b="1" kern="0" dirty="0">
                <a:solidFill>
                  <a:srgbClr val="595959"/>
                </a:solidFill>
                <a:latin typeface="微软雅黑" panose="020B0503020204020204" pitchFamily="34" charset="-122"/>
                <a:ea typeface="微软雅黑" panose="020B0503020204020204" pitchFamily="34" charset="-122"/>
                <a:cs typeface="+mn-ea"/>
                <a:sym typeface="+mn-lt"/>
              </a:rPr>
              <a:t>创建垂直布局表单页面</a:t>
            </a:r>
            <a:endParaRPr lang="en-US" altLang="zh-CN" b="1" kern="0" dirty="0">
              <a:solidFill>
                <a:srgbClr val="595959"/>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1800" dirty="0">
                <a:solidFill>
                  <a:srgbClr val="595959"/>
                </a:solidFill>
                <a:latin typeface="微软雅黑" panose="020B0503020204020204" pitchFamily="34" charset="-122"/>
                <a:ea typeface="微软雅黑" panose="020B0503020204020204" pitchFamily="34" charset="-122"/>
              </a:rPr>
              <a:t>创建</a:t>
            </a:r>
            <a:r>
              <a:rPr lang="en-US" altLang="zh-CN" sz="1800" dirty="0">
                <a:solidFill>
                  <a:srgbClr val="595959"/>
                </a:solidFill>
                <a:latin typeface="微软雅黑" panose="020B0503020204020204" pitchFamily="34" charset="-122"/>
                <a:ea typeface="微软雅黑" panose="020B0503020204020204" pitchFamily="34" charset="-122"/>
              </a:rPr>
              <a:t>C:\code\chapter06\demo08.html</a:t>
            </a:r>
            <a:r>
              <a:rPr lang="zh-CN" altLang="en-US" sz="1800" dirty="0">
                <a:solidFill>
                  <a:srgbClr val="595959"/>
                </a:solidFill>
                <a:latin typeface="微软雅黑" panose="020B0503020204020204" pitchFamily="34" charset="-122"/>
                <a:ea typeface="微软雅黑" panose="020B0503020204020204" pitchFamily="34" charset="-122"/>
              </a:rPr>
              <a:t>，配置</a:t>
            </a:r>
            <a:r>
              <a:rPr lang="zh-CN" altLang="en-US" sz="1800" dirty="0">
                <a:solidFill>
                  <a:srgbClr val="1369B2"/>
                </a:solidFill>
                <a:latin typeface="微软雅黑" panose="020B0503020204020204" pitchFamily="34" charset="-122"/>
                <a:ea typeface="微软雅黑" panose="020B0503020204020204" pitchFamily="34" charset="-122"/>
              </a:rPr>
              <a:t>视口</a:t>
            </a:r>
            <a:r>
              <a:rPr lang="zh-CN" altLang="en-US" sz="1800" dirty="0">
                <a:solidFill>
                  <a:srgbClr val="595959"/>
                </a:solidFill>
                <a:latin typeface="微软雅黑" panose="020B0503020204020204" pitchFamily="34" charset="-122"/>
                <a:ea typeface="微软雅黑" panose="020B0503020204020204" pitchFamily="34" charset="-122"/>
              </a:rPr>
              <a:t>并</a:t>
            </a:r>
            <a:r>
              <a:rPr lang="zh-CN" altLang="en-US" sz="1800" dirty="0">
                <a:solidFill>
                  <a:srgbClr val="1369B2"/>
                </a:solidFill>
                <a:latin typeface="微软雅黑" panose="020B0503020204020204" pitchFamily="34" charset="-122"/>
                <a:ea typeface="微软雅黑" panose="020B0503020204020204" pitchFamily="34" charset="-122"/>
              </a:rPr>
              <a:t>引入</a:t>
            </a:r>
            <a:r>
              <a:rPr lang="zh-CN" altLang="en-US" sz="1800" dirty="0">
                <a:solidFill>
                  <a:srgbClr val="595959"/>
                </a:solidFill>
                <a:latin typeface="微软雅黑" panose="020B0503020204020204" pitchFamily="34" charset="-122"/>
                <a:ea typeface="微软雅黑" panose="020B0503020204020204" pitchFamily="34" charset="-122"/>
              </a:rPr>
              <a:t>依赖文件。</a:t>
            </a:r>
          </a:p>
        </p:txBody>
      </p:sp>
      <p:sp>
        <p:nvSpPr>
          <p:cNvPr id="11" name="Title 1">
            <a:extLst>
              <a:ext uri="{FF2B5EF4-FFF2-40B4-BE49-F238E27FC236}">
                <a16:creationId xmlns:a16="http://schemas.microsoft.com/office/drawing/2014/main" id="{B8DFB000-472B-481F-A053-16BEDBF618AC}"/>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6.3.2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表单布局</a:t>
            </a:r>
          </a:p>
        </p:txBody>
      </p:sp>
    </p:spTree>
    <p:extLst>
      <p:ext uri="{BB962C8B-B14F-4D97-AF65-F5344CB8AC3E}">
        <p14:creationId xmlns:p14="http://schemas.microsoft.com/office/powerpoint/2010/main" val="41945008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A22F1E4-39AE-424B-B19B-3301952C7205}"/>
              </a:ext>
            </a:extLst>
          </p:cNvPr>
          <p:cNvSpPr txBox="1"/>
          <p:nvPr/>
        </p:nvSpPr>
        <p:spPr>
          <a:xfrm>
            <a:off x="3059949" y="2277666"/>
            <a:ext cx="7787785" cy="3742178"/>
          </a:xfrm>
          <a:prstGeom prst="rect">
            <a:avLst/>
          </a:prstGeom>
          <a:solidFill>
            <a:srgbClr val="F2F2F2"/>
          </a:solidFill>
        </p:spPr>
        <p:txBody>
          <a:bodyPr wrap="square">
            <a:spAutoFit/>
          </a:bodyPr>
          <a:lstStyle/>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&lt;form&gt;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class="form-group"&gt;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&lt;label for="email"&gt;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邮箱地址：</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&lt;/label&gt;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&lt;input type="email" class="form-control" id="email"&gt;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class="form-group"&gt;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&lt;label for="password"&gt;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密码：</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&lt;/label&gt;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&lt;input type="password" class="form-control" id="password"&gt;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&lt;/form&gt;</a:t>
            </a:r>
          </a:p>
        </p:txBody>
      </p:sp>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02</a:t>
              </a: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053530"/>
            <a:ext cx="8722842" cy="1107996"/>
          </a:xfrm>
          <a:prstGeom prst="rect">
            <a:avLst/>
          </a:prstGeom>
          <a:noFill/>
          <a:ln>
            <a:noFill/>
          </a:ln>
        </p:spPr>
        <p:txBody>
          <a:bodyPr wrap="square" rtlCol="0">
            <a:spAutoFit/>
          </a:bodyPr>
          <a:lstStyle/>
          <a:p>
            <a:pPr lvl="0" defTabSz="457200">
              <a:lnSpc>
                <a:spcPct val="150000"/>
              </a:lnSpc>
              <a:defRPr/>
            </a:pPr>
            <a:r>
              <a:rPr lang="zh-CN" altLang="en-US" sz="2400" b="1" kern="0" dirty="0">
                <a:solidFill>
                  <a:srgbClr val="595959"/>
                </a:solidFill>
                <a:latin typeface="微软雅黑" panose="020B0503020204020204" pitchFamily="34" charset="-122"/>
                <a:ea typeface="微软雅黑" panose="020B0503020204020204" pitchFamily="34" charset="-122"/>
                <a:cs typeface="+mn-ea"/>
                <a:sym typeface="+mn-lt"/>
              </a:rPr>
              <a:t>创建垂直布局表单页面</a:t>
            </a:r>
            <a:endParaRPr lang="en-US" altLang="zh-CN" sz="2400" b="1" kern="0" dirty="0">
              <a:solidFill>
                <a:srgbClr val="595959"/>
              </a:solidFill>
              <a:latin typeface="微软雅黑" panose="020B0503020204020204" pitchFamily="34" charset="-122"/>
              <a:ea typeface="微软雅黑" panose="020B0503020204020204" pitchFamily="34" charset="-122"/>
              <a:cs typeface="+mn-ea"/>
              <a:sym typeface="+mn-lt"/>
            </a:endParaRPr>
          </a:p>
          <a:p>
            <a:pPr lvl="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修改</a:t>
            </a:r>
            <a:r>
              <a:rPr lang="en-US" altLang="zh-CN" sz="2000" dirty="0">
                <a:solidFill>
                  <a:srgbClr val="595959"/>
                </a:solidFill>
                <a:latin typeface="微软雅黑" panose="020B0503020204020204" pitchFamily="34" charset="-122"/>
                <a:ea typeface="微软雅黑" panose="020B0503020204020204" pitchFamily="34" charset="-122"/>
              </a:rPr>
              <a:t>demo08.html</a:t>
            </a:r>
            <a:r>
              <a:rPr lang="zh-CN" altLang="en-US" sz="2000" dirty="0">
                <a:solidFill>
                  <a:srgbClr val="595959"/>
                </a:solidFill>
                <a:latin typeface="微软雅黑" panose="020B0503020204020204" pitchFamily="34" charset="-122"/>
                <a:ea typeface="微软雅黑" panose="020B0503020204020204" pitchFamily="34" charset="-122"/>
              </a:rPr>
              <a:t>，创建两个</a:t>
            </a:r>
            <a:r>
              <a:rPr lang="zh-CN" altLang="en-US" sz="2000" dirty="0">
                <a:solidFill>
                  <a:srgbClr val="1369B2"/>
                </a:solidFill>
                <a:latin typeface="微软雅黑" panose="020B0503020204020204" pitchFamily="34" charset="-122"/>
                <a:ea typeface="微软雅黑" panose="020B0503020204020204" pitchFamily="34" charset="-122"/>
              </a:rPr>
              <a:t>表单组</a:t>
            </a:r>
            <a:r>
              <a:rPr lang="zh-CN" altLang="en-US" sz="2000" dirty="0">
                <a:solidFill>
                  <a:srgbClr val="595959"/>
                </a:solidFill>
                <a:latin typeface="微软雅黑" panose="020B0503020204020204" pitchFamily="34" charset="-122"/>
                <a:ea typeface="微软雅黑" panose="020B0503020204020204" pitchFamily="34" charset="-122"/>
              </a:rPr>
              <a:t>，并按照</a:t>
            </a:r>
            <a:r>
              <a:rPr lang="zh-CN" altLang="en-US" sz="2000" dirty="0">
                <a:solidFill>
                  <a:srgbClr val="1369B2"/>
                </a:solidFill>
                <a:latin typeface="微软雅黑" panose="020B0503020204020204" pitchFamily="34" charset="-122"/>
                <a:ea typeface="微软雅黑" panose="020B0503020204020204" pitchFamily="34" charset="-122"/>
              </a:rPr>
              <a:t>垂直布局</a:t>
            </a:r>
            <a:r>
              <a:rPr lang="zh-CN" altLang="en-US" sz="2000" dirty="0">
                <a:solidFill>
                  <a:srgbClr val="595959"/>
                </a:solidFill>
                <a:latin typeface="微软雅黑" panose="020B0503020204020204" pitchFamily="34" charset="-122"/>
                <a:ea typeface="微软雅黑" panose="020B0503020204020204" pitchFamily="34" charset="-122"/>
              </a:rPr>
              <a:t>的方式进行布局。</a:t>
            </a:r>
          </a:p>
        </p:txBody>
      </p:sp>
      <p:sp>
        <p:nvSpPr>
          <p:cNvPr id="11" name="Title 1">
            <a:extLst>
              <a:ext uri="{FF2B5EF4-FFF2-40B4-BE49-F238E27FC236}">
                <a16:creationId xmlns:a16="http://schemas.microsoft.com/office/drawing/2014/main" id="{B8DFB000-472B-481F-A053-16BEDBF618AC}"/>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6.3.2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表单布局</a:t>
            </a:r>
          </a:p>
        </p:txBody>
      </p:sp>
    </p:spTree>
    <p:extLst>
      <p:ext uri="{BB962C8B-B14F-4D97-AF65-F5344CB8AC3E}">
        <p14:creationId xmlns:p14="http://schemas.microsoft.com/office/powerpoint/2010/main" val="35098913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03</a:t>
              </a: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053530"/>
            <a:ext cx="8722842" cy="1107996"/>
          </a:xfrm>
          <a:prstGeom prst="rect">
            <a:avLst/>
          </a:prstGeom>
          <a:noFill/>
          <a:ln>
            <a:noFill/>
          </a:ln>
        </p:spPr>
        <p:txBody>
          <a:bodyPr wrap="square" rtlCol="0">
            <a:spAutoFit/>
          </a:bodyPr>
          <a:lstStyle/>
          <a:p>
            <a:pPr lvl="0" defTabSz="457200">
              <a:lnSpc>
                <a:spcPct val="150000"/>
              </a:lnSpc>
              <a:defRPr/>
            </a:pPr>
            <a:r>
              <a:rPr lang="zh-CN" altLang="en-US" sz="2400" b="1" kern="0" dirty="0">
                <a:solidFill>
                  <a:srgbClr val="595959"/>
                </a:solidFill>
                <a:latin typeface="微软雅黑" panose="020B0503020204020204" pitchFamily="34" charset="-122"/>
                <a:ea typeface="微软雅黑" panose="020B0503020204020204" pitchFamily="34" charset="-122"/>
                <a:cs typeface="+mn-ea"/>
                <a:sym typeface="+mn-lt"/>
              </a:rPr>
              <a:t>在浏览器中访问</a:t>
            </a:r>
            <a:r>
              <a:rPr lang="en-US" altLang="zh-CN" sz="2400" b="1" kern="0" dirty="0">
                <a:solidFill>
                  <a:srgbClr val="595959"/>
                </a:solidFill>
                <a:latin typeface="微软雅黑" panose="020B0503020204020204" pitchFamily="34" charset="-122"/>
                <a:ea typeface="微软雅黑" panose="020B0503020204020204" pitchFamily="34" charset="-122"/>
                <a:cs typeface="+mn-ea"/>
                <a:sym typeface="+mn-lt"/>
              </a:rPr>
              <a:t>demo08.html</a:t>
            </a:r>
          </a:p>
          <a:p>
            <a:pPr lvl="0">
              <a:lnSpc>
                <a:spcPct val="150000"/>
              </a:lnSpc>
              <a:defRPr/>
            </a:pPr>
            <a:r>
              <a:rPr lang="zh-CN" altLang="en-US" sz="2000" dirty="0">
                <a:solidFill>
                  <a:srgbClr val="1369B2"/>
                </a:solidFill>
                <a:latin typeface="微软雅黑" panose="020B0503020204020204" pitchFamily="34" charset="-122"/>
                <a:ea typeface="微软雅黑" panose="020B0503020204020204" pitchFamily="34" charset="-122"/>
              </a:rPr>
              <a:t>垂直布局表单</a:t>
            </a:r>
            <a:r>
              <a:rPr lang="zh-CN" altLang="en-US" sz="2000" dirty="0">
                <a:solidFill>
                  <a:srgbClr val="595959"/>
                </a:solidFill>
                <a:latin typeface="微软雅黑" panose="020B0503020204020204" pitchFamily="34" charset="-122"/>
                <a:ea typeface="微软雅黑" panose="020B0503020204020204" pitchFamily="34" charset="-122"/>
              </a:rPr>
              <a:t>页面显示效果如图。</a:t>
            </a:r>
          </a:p>
        </p:txBody>
      </p:sp>
      <p:sp>
        <p:nvSpPr>
          <p:cNvPr id="11" name="Title 1">
            <a:extLst>
              <a:ext uri="{FF2B5EF4-FFF2-40B4-BE49-F238E27FC236}">
                <a16:creationId xmlns:a16="http://schemas.microsoft.com/office/drawing/2014/main" id="{B8DFB000-472B-481F-A053-16BEDBF618AC}"/>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6.3.2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表单布局</a:t>
            </a:r>
          </a:p>
        </p:txBody>
      </p:sp>
      <p:pic>
        <p:nvPicPr>
          <p:cNvPr id="3074" name="图片 1">
            <a:extLst>
              <a:ext uri="{FF2B5EF4-FFF2-40B4-BE49-F238E27FC236}">
                <a16:creationId xmlns:a16="http://schemas.microsoft.com/office/drawing/2014/main" id="{60A8803B-4E0D-4B11-93C1-BB6CCB5563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4886" y="2441975"/>
            <a:ext cx="4750270" cy="2590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494106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4D1F8F7-78DD-4719-BC9E-52AE9717F513}"/>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6.3.2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表单布局</a:t>
            </a:r>
          </a:p>
        </p:txBody>
      </p:sp>
      <p:sp>
        <p:nvSpPr>
          <p:cNvPr id="5" name="TextBox 35">
            <a:extLst>
              <a:ext uri="{FF2B5EF4-FFF2-40B4-BE49-F238E27FC236}">
                <a16:creationId xmlns:a16="http://schemas.microsoft.com/office/drawing/2014/main" id="{072420BD-C065-4FA1-8659-E8943A7E4251}"/>
              </a:ext>
            </a:extLst>
          </p:cNvPr>
          <p:cNvSpPr txBox="1">
            <a:spLocks noChangeArrowheads="1"/>
          </p:cNvSpPr>
          <p:nvPr/>
        </p:nvSpPr>
        <p:spPr bwMode="auto">
          <a:xfrm>
            <a:off x="994466" y="2114273"/>
            <a:ext cx="10441160" cy="1046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cs typeface="+mn-ea"/>
              </a:rPr>
              <a:t>表</a:t>
            </a:r>
            <a:r>
              <a:rPr lang="zh-CN" altLang="en-US" sz="2000" dirty="0">
                <a:solidFill>
                  <a:srgbClr val="595959"/>
                </a:solidFill>
                <a:latin typeface="微软雅黑" panose="020B0503020204020204" pitchFamily="34" charset="-122"/>
                <a:ea typeface="微软雅黑" panose="020B0503020204020204" pitchFamily="34" charset="-122"/>
                <a:cs typeface="+mn-ea"/>
              </a:rPr>
              <a:t>单的</a:t>
            </a:r>
            <a:r>
              <a:rPr lang="zh-CN" altLang="en-US" sz="2000" dirty="0">
                <a:solidFill>
                  <a:srgbClr val="1369B2"/>
                </a:solidFill>
                <a:latin typeface="微软雅黑" panose="020B0503020204020204" pitchFamily="34" charset="-122"/>
                <a:ea typeface="微软雅黑" panose="020B0503020204020204" pitchFamily="34" charset="-122"/>
                <a:cs typeface="+mn-ea"/>
              </a:rPr>
              <a:t>行内布局</a:t>
            </a:r>
            <a:r>
              <a:rPr lang="zh-CN" altLang="en-US" sz="2000" dirty="0">
                <a:solidFill>
                  <a:srgbClr val="595959"/>
                </a:solidFill>
                <a:latin typeface="微软雅黑" panose="020B0503020204020204" pitchFamily="34" charset="-122"/>
                <a:ea typeface="微软雅黑" panose="020B0503020204020204" pitchFamily="34" charset="-122"/>
                <a:cs typeface="+mn-ea"/>
              </a:rPr>
              <a:t>是将表单中的</a:t>
            </a:r>
            <a:r>
              <a:rPr lang="en-US" altLang="zh-CN" sz="2000" dirty="0">
                <a:solidFill>
                  <a:srgbClr val="1369B2"/>
                </a:solidFill>
                <a:latin typeface="微软雅黑" panose="020B0503020204020204" pitchFamily="34" charset="-122"/>
                <a:ea typeface="微软雅黑" panose="020B0503020204020204" pitchFamily="34" charset="-122"/>
                <a:cs typeface="+mn-ea"/>
              </a:rPr>
              <a:t>&lt;div&gt;</a:t>
            </a:r>
            <a:r>
              <a:rPr lang="zh-CN" altLang="en-US" sz="2000" dirty="0">
                <a:solidFill>
                  <a:srgbClr val="1369B2"/>
                </a:solidFill>
                <a:latin typeface="微软雅黑" panose="020B0503020204020204" pitchFamily="34" charset="-122"/>
                <a:ea typeface="微软雅黑" panose="020B0503020204020204" pitchFamily="34" charset="-122"/>
                <a:cs typeface="+mn-ea"/>
              </a:rPr>
              <a:t>标签</a:t>
            </a:r>
            <a:r>
              <a:rPr lang="zh-CN" altLang="en-US"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&lt;label&gt;</a:t>
            </a:r>
            <a:r>
              <a:rPr lang="zh-CN" altLang="en-US" sz="2000" dirty="0">
                <a:solidFill>
                  <a:srgbClr val="1369B2"/>
                </a:solidFill>
                <a:latin typeface="微软雅黑" panose="020B0503020204020204" pitchFamily="34" charset="-122"/>
                <a:ea typeface="微软雅黑" panose="020B0503020204020204" pitchFamily="34" charset="-122"/>
                <a:cs typeface="+mn-ea"/>
              </a:rPr>
              <a:t>标签</a:t>
            </a:r>
            <a:r>
              <a:rPr lang="zh-CN" altLang="en-US" sz="2000" dirty="0">
                <a:solidFill>
                  <a:srgbClr val="595959"/>
                </a:solidFill>
                <a:latin typeface="微软雅黑" panose="020B0503020204020204" pitchFamily="34" charset="-122"/>
                <a:ea typeface="微软雅黑" panose="020B0503020204020204" pitchFamily="34" charset="-122"/>
                <a:cs typeface="+mn-ea"/>
              </a:rPr>
              <a:t>和</a:t>
            </a:r>
            <a:r>
              <a:rPr lang="zh-CN" altLang="en-US" sz="2000" dirty="0">
                <a:solidFill>
                  <a:srgbClr val="1369B2"/>
                </a:solidFill>
                <a:latin typeface="微软雅黑" panose="020B0503020204020204" pitchFamily="34" charset="-122"/>
                <a:ea typeface="微软雅黑" panose="020B0503020204020204" pitchFamily="34" charset="-122"/>
                <a:cs typeface="+mn-ea"/>
              </a:rPr>
              <a:t>表单控件</a:t>
            </a:r>
            <a:r>
              <a:rPr lang="zh-CN" altLang="en-US" sz="2000" dirty="0">
                <a:solidFill>
                  <a:srgbClr val="595959"/>
                </a:solidFill>
                <a:latin typeface="微软雅黑" panose="020B0503020204020204" pitchFamily="34" charset="-122"/>
                <a:ea typeface="微软雅黑" panose="020B0503020204020204" pitchFamily="34" charset="-122"/>
                <a:cs typeface="+mn-ea"/>
              </a:rPr>
              <a:t>都转换为</a:t>
            </a:r>
            <a:r>
              <a:rPr lang="zh-CN" altLang="en-US" sz="2000" dirty="0">
                <a:solidFill>
                  <a:srgbClr val="1369B2"/>
                </a:solidFill>
                <a:latin typeface="微软雅黑" panose="020B0503020204020204" pitchFamily="34" charset="-122"/>
                <a:ea typeface="微软雅黑" panose="020B0503020204020204" pitchFamily="34" charset="-122"/>
                <a:cs typeface="+mn-ea"/>
              </a:rPr>
              <a:t>行内元素</a:t>
            </a:r>
            <a:r>
              <a:rPr lang="zh-CN" altLang="en-US" sz="2000" dirty="0">
                <a:solidFill>
                  <a:srgbClr val="595959"/>
                </a:solidFill>
                <a:latin typeface="微软雅黑" panose="020B0503020204020204" pitchFamily="34" charset="-122"/>
                <a:ea typeface="微软雅黑" panose="020B0503020204020204" pitchFamily="34" charset="-122"/>
                <a:cs typeface="+mn-ea"/>
              </a:rPr>
              <a:t>进行显示，为</a:t>
            </a:r>
            <a:r>
              <a:rPr lang="en-US" altLang="zh-CN" sz="2000" dirty="0">
                <a:solidFill>
                  <a:srgbClr val="1369B2"/>
                </a:solidFill>
                <a:latin typeface="微软雅黑" panose="020B0503020204020204" pitchFamily="34" charset="-122"/>
                <a:ea typeface="微软雅黑" panose="020B0503020204020204" pitchFamily="34" charset="-122"/>
                <a:cs typeface="+mn-ea"/>
              </a:rPr>
              <a:t>&lt;form&gt;</a:t>
            </a:r>
            <a:r>
              <a:rPr lang="zh-CN" altLang="en-US" sz="2000" dirty="0">
                <a:solidFill>
                  <a:srgbClr val="1369B2"/>
                </a:solidFill>
                <a:latin typeface="微软雅黑" panose="020B0503020204020204" pitchFamily="34" charset="-122"/>
                <a:ea typeface="微软雅黑" panose="020B0503020204020204" pitchFamily="34" charset="-122"/>
                <a:cs typeface="+mn-ea"/>
              </a:rPr>
              <a:t>标签</a:t>
            </a:r>
            <a:r>
              <a:rPr lang="zh-CN" altLang="en-US" sz="2000" dirty="0">
                <a:solidFill>
                  <a:srgbClr val="595959"/>
                </a:solidFill>
                <a:latin typeface="微软雅黑" panose="020B0503020204020204" pitchFamily="34" charset="-122"/>
                <a:ea typeface="微软雅黑" panose="020B0503020204020204" pitchFamily="34" charset="-122"/>
                <a:cs typeface="+mn-ea"/>
              </a:rPr>
              <a:t>添加</a:t>
            </a:r>
            <a:r>
              <a:rPr lang="en-US" altLang="zh-CN" sz="2000" dirty="0">
                <a:solidFill>
                  <a:srgbClr val="1369B2"/>
                </a:solidFill>
                <a:latin typeface="微软雅黑" panose="020B0503020204020204" pitchFamily="34" charset="-122"/>
                <a:ea typeface="微软雅黑" panose="020B0503020204020204" pitchFamily="34" charset="-122"/>
                <a:cs typeface="+mn-ea"/>
              </a:rPr>
              <a:t>form-inline</a:t>
            </a:r>
            <a:r>
              <a:rPr lang="zh-CN" altLang="en-US" sz="2000" dirty="0">
                <a:solidFill>
                  <a:srgbClr val="1369B2"/>
                </a:solidFill>
                <a:latin typeface="微软雅黑" panose="020B0503020204020204" pitchFamily="34" charset="-122"/>
                <a:ea typeface="微软雅黑" panose="020B0503020204020204" pitchFamily="34" charset="-122"/>
                <a:cs typeface="+mn-ea"/>
              </a:rPr>
              <a:t>类名</a:t>
            </a:r>
            <a:r>
              <a:rPr lang="zh-CN" altLang="en-US" sz="2000" dirty="0">
                <a:solidFill>
                  <a:srgbClr val="595959"/>
                </a:solidFill>
                <a:latin typeface="微软雅黑" panose="020B0503020204020204" pitchFamily="34" charset="-122"/>
                <a:ea typeface="微软雅黑" panose="020B0503020204020204" pitchFamily="34" charset="-122"/>
                <a:cs typeface="+mn-ea"/>
              </a:rPr>
              <a:t>即可实现行内布局。</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6" name="TextBox 76">
            <a:extLst>
              <a:ext uri="{FF2B5EF4-FFF2-40B4-BE49-F238E27FC236}">
                <a16:creationId xmlns:a16="http://schemas.microsoft.com/office/drawing/2014/main" id="{9112F55D-44AB-4BD4-8B31-C02EB6C7C227}"/>
              </a:ext>
            </a:extLst>
          </p:cNvPr>
          <p:cNvSpPr txBox="1"/>
          <p:nvPr/>
        </p:nvSpPr>
        <p:spPr>
          <a:xfrm>
            <a:off x="1024656" y="1322185"/>
            <a:ext cx="2118222"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行</a:t>
            </a: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内布局</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 name="TextBox 35">
            <a:extLst>
              <a:ext uri="{FF2B5EF4-FFF2-40B4-BE49-F238E27FC236}">
                <a16:creationId xmlns:a16="http://schemas.microsoft.com/office/drawing/2014/main" id="{2AC8B835-8E21-47D3-AA5C-614E45B2AF9C}"/>
              </a:ext>
            </a:extLst>
          </p:cNvPr>
          <p:cNvSpPr txBox="1">
            <a:spLocks noChangeArrowheads="1"/>
          </p:cNvSpPr>
          <p:nvPr/>
        </p:nvSpPr>
        <p:spPr bwMode="auto">
          <a:xfrm>
            <a:off x="1001754" y="3235375"/>
            <a:ext cx="10441160" cy="530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创建行内布局表单页面，效果如图：</a:t>
            </a:r>
          </a:p>
        </p:txBody>
      </p:sp>
      <p:pic>
        <p:nvPicPr>
          <p:cNvPr id="9" name="图片 1">
            <a:extLst>
              <a:ext uri="{FF2B5EF4-FFF2-40B4-BE49-F238E27FC236}">
                <a16:creationId xmlns:a16="http://schemas.microsoft.com/office/drawing/2014/main" id="{BEA7747F-3E69-44C9-86BE-1C72FB118A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6894" y="4005858"/>
            <a:ext cx="5270663" cy="1389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3925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4D1F8F7-78DD-4719-BC9E-52AE9717F513}"/>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6.3.2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表单布局</a:t>
            </a:r>
          </a:p>
        </p:txBody>
      </p:sp>
      <p:sp>
        <p:nvSpPr>
          <p:cNvPr id="7" name="TextBox 35">
            <a:extLst>
              <a:ext uri="{FF2B5EF4-FFF2-40B4-BE49-F238E27FC236}">
                <a16:creationId xmlns:a16="http://schemas.microsoft.com/office/drawing/2014/main" id="{2AC8B835-8E21-47D3-AA5C-614E45B2AF9C}"/>
              </a:ext>
            </a:extLst>
          </p:cNvPr>
          <p:cNvSpPr txBox="1">
            <a:spLocks noChangeArrowheads="1"/>
          </p:cNvSpPr>
          <p:nvPr/>
        </p:nvSpPr>
        <p:spPr bwMode="auto">
          <a:xfrm>
            <a:off x="994466" y="1175941"/>
            <a:ext cx="10645356" cy="1046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修改</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demo08.html</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文件，为</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&lt;form&gt;</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标签添加</a:t>
            </a:r>
            <a:r>
              <a:rPr lang="en-US" altLang="zh-CN"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form-inline</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类名</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，然后在浏览器中访问</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demo08.html</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，行内布局表单页面显示效果如图。</a:t>
            </a:r>
          </a:p>
        </p:txBody>
      </p:sp>
      <p:pic>
        <p:nvPicPr>
          <p:cNvPr id="4098" name="图片 1">
            <a:extLst>
              <a:ext uri="{FF2B5EF4-FFF2-40B4-BE49-F238E27FC236}">
                <a16:creationId xmlns:a16="http://schemas.microsoft.com/office/drawing/2014/main" id="{BEA7747F-3E69-44C9-86BE-1C72FB118A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6894" y="2616101"/>
            <a:ext cx="5270663" cy="1389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922508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4D1F8F7-78DD-4719-BC9E-52AE9717F513}"/>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6.3.2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表单布局</a:t>
            </a:r>
          </a:p>
        </p:txBody>
      </p:sp>
      <p:sp>
        <p:nvSpPr>
          <p:cNvPr id="5" name="TextBox 35">
            <a:extLst>
              <a:ext uri="{FF2B5EF4-FFF2-40B4-BE49-F238E27FC236}">
                <a16:creationId xmlns:a16="http://schemas.microsoft.com/office/drawing/2014/main" id="{072420BD-C065-4FA1-8659-E8943A7E4251}"/>
              </a:ext>
            </a:extLst>
          </p:cNvPr>
          <p:cNvSpPr txBox="1">
            <a:spLocks noChangeArrowheads="1"/>
          </p:cNvSpPr>
          <p:nvPr/>
        </p:nvSpPr>
        <p:spPr bwMode="auto">
          <a:xfrm>
            <a:off x="994466" y="2114273"/>
            <a:ext cx="10441160" cy="3354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smtClean="0">
                <a:solidFill>
                  <a:srgbClr val="1369B2"/>
                </a:solidFill>
                <a:latin typeface="微软雅黑" panose="020B0503020204020204" pitchFamily="34" charset="-122"/>
                <a:ea typeface="微软雅黑" panose="020B0503020204020204" pitchFamily="34" charset="-122"/>
                <a:cs typeface="+mn-ea"/>
                <a:sym typeface="Arial" panose="020B0604020202020204" pitchFamily="34" charset="0"/>
              </a:rPr>
              <a:t>水平</a:t>
            </a:r>
            <a:r>
              <a:rPr lang="zh-CN" altLang="en-US" sz="2000" dirty="0">
                <a:solidFill>
                  <a:srgbClr val="1369B2"/>
                </a:solidFill>
                <a:latin typeface="微软雅黑" panose="020B0503020204020204" pitchFamily="34" charset="-122"/>
                <a:ea typeface="微软雅黑" panose="020B0503020204020204" pitchFamily="34" charset="-122"/>
                <a:cs typeface="+mn-ea"/>
                <a:sym typeface="Arial" panose="020B0604020202020204" pitchFamily="34" charset="0"/>
              </a:rPr>
              <a:t>布局的</a:t>
            </a:r>
            <a:r>
              <a:rPr lang="zh-CN" altLang="en-US" sz="2000" dirty="0" smtClean="0">
                <a:solidFill>
                  <a:srgbClr val="1369B2"/>
                </a:solidFill>
                <a:latin typeface="微软雅黑" panose="020B0503020204020204" pitchFamily="34" charset="-122"/>
                <a:ea typeface="微软雅黑" panose="020B0503020204020204" pitchFamily="34" charset="-122"/>
                <a:cs typeface="+mn-ea"/>
                <a:sym typeface="Arial" panose="020B0604020202020204" pitchFamily="34" charset="0"/>
              </a:rPr>
              <a:t>实现思路</a:t>
            </a: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：将</a:t>
            </a:r>
            <a:r>
              <a:rPr lang="en-US" altLang="zh-CN" sz="2000" dirty="0">
                <a:solidFill>
                  <a:srgbClr val="1369B2"/>
                </a:solidFill>
                <a:latin typeface="微软雅黑" panose="020B0503020204020204" pitchFamily="34" charset="-122"/>
                <a:ea typeface="微软雅黑" panose="020B0503020204020204" pitchFamily="34" charset="-122"/>
                <a:cs typeface="+mn-ea"/>
                <a:sym typeface="Arial" panose="020B0604020202020204" pitchFamily="34" charset="0"/>
              </a:rPr>
              <a:t>&lt;label&gt;</a:t>
            </a:r>
            <a:r>
              <a:rPr lang="zh-CN" altLang="en-US" sz="20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和</a:t>
            </a:r>
            <a:r>
              <a:rPr lang="en-US" altLang="zh-CN" sz="2000" dirty="0">
                <a:solidFill>
                  <a:srgbClr val="1369B2"/>
                </a:solidFill>
                <a:latin typeface="微软雅黑" panose="020B0503020204020204" pitchFamily="34" charset="-122"/>
                <a:ea typeface="微软雅黑" panose="020B0503020204020204" pitchFamily="34" charset="-122"/>
                <a:cs typeface="+mn-ea"/>
                <a:sym typeface="Arial" panose="020B0604020202020204" pitchFamily="34" charset="0"/>
              </a:rPr>
              <a:t>&lt;input&gt;</a:t>
            </a:r>
            <a:r>
              <a:rPr lang="zh-CN" altLang="en-US" sz="20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标签在</a:t>
            </a:r>
            <a:r>
              <a:rPr lang="zh-CN" altLang="en-US" sz="2000" dirty="0">
                <a:solidFill>
                  <a:srgbClr val="1369B2"/>
                </a:solidFill>
                <a:latin typeface="微软雅黑" panose="020B0503020204020204" pitchFamily="34" charset="-122"/>
                <a:ea typeface="微软雅黑" panose="020B0503020204020204" pitchFamily="34" charset="-122"/>
                <a:cs typeface="+mn-ea"/>
                <a:sym typeface="Arial" panose="020B0604020202020204" pitchFamily="34" charset="0"/>
              </a:rPr>
              <a:t>同一行</a:t>
            </a:r>
            <a:r>
              <a:rPr lang="zh-CN" altLang="en-US" sz="20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显示，每个</a:t>
            </a:r>
            <a:r>
              <a:rPr lang="zh-CN" altLang="en-US" sz="2000" dirty="0">
                <a:solidFill>
                  <a:srgbClr val="1369B2"/>
                </a:solidFill>
                <a:latin typeface="微软雅黑" panose="020B0503020204020204" pitchFamily="34" charset="-122"/>
                <a:ea typeface="微软雅黑" panose="020B0503020204020204" pitchFamily="34" charset="-122"/>
                <a:cs typeface="+mn-ea"/>
                <a:sym typeface="Arial" panose="020B0604020202020204" pitchFamily="34" charset="0"/>
              </a:rPr>
              <a:t>表单组</a:t>
            </a:r>
            <a:r>
              <a:rPr lang="zh-CN" altLang="en-US" sz="20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单独占一行，这样就避免了一行显示太多的内容</a:t>
            </a: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a:t>
            </a:r>
            <a:endParaRPr lang="en-US" altLang="zh-CN" sz="2000" dirty="0" smtClean="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endParaRPr>
          </a:p>
          <a:p>
            <a:pPr>
              <a:lnSpc>
                <a:spcPct val="150000"/>
              </a:lnSpc>
            </a:pPr>
            <a:endParaRPr lang="en-US" altLang="zh-CN" sz="10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endParaRPr>
          </a:p>
          <a:p>
            <a:pPr>
              <a:lnSpc>
                <a:spcPct val="150000"/>
              </a:lnSpc>
            </a:pPr>
            <a:r>
              <a:rPr lang="zh-CN" altLang="en-US" sz="2000" dirty="0" smtClean="0">
                <a:solidFill>
                  <a:srgbClr val="1369B2"/>
                </a:solidFill>
                <a:latin typeface="微软雅黑" panose="020B0503020204020204" pitchFamily="34" charset="-122"/>
                <a:ea typeface="微软雅黑" panose="020B0503020204020204" pitchFamily="34" charset="-122"/>
                <a:cs typeface="+mn-ea"/>
                <a:sym typeface="Arial" panose="020B0604020202020204" pitchFamily="34" charset="0"/>
              </a:rPr>
              <a:t>实现方法</a:t>
            </a: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a:t>
            </a:r>
            <a:r>
              <a:rPr lang="en-US" altLang="zh-CN" sz="2000" dirty="0" smtClean="0">
                <a:solidFill>
                  <a:srgbClr val="1369B2"/>
                </a:solidFill>
                <a:latin typeface="微软雅黑" panose="020B0503020204020204" pitchFamily="34" charset="-122"/>
                <a:ea typeface="微软雅黑" panose="020B0503020204020204" pitchFamily="34" charset="-122"/>
                <a:cs typeface="+mn-ea"/>
                <a:sym typeface="Arial" panose="020B0604020202020204" pitchFamily="34" charset="0"/>
              </a:rPr>
              <a:t>Bootstrap</a:t>
            </a:r>
            <a:r>
              <a:rPr lang="zh-CN" altLang="en-US" sz="20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的</a:t>
            </a:r>
            <a:r>
              <a:rPr lang="zh-CN" altLang="en-US" sz="2000" dirty="0">
                <a:solidFill>
                  <a:srgbClr val="1369B2"/>
                </a:solidFill>
                <a:latin typeface="微软雅黑" panose="020B0503020204020204" pitchFamily="34" charset="-122"/>
                <a:ea typeface="微软雅黑" panose="020B0503020204020204" pitchFamily="34" charset="-122"/>
                <a:cs typeface="+mn-ea"/>
                <a:sym typeface="Arial" panose="020B0604020202020204" pitchFamily="34" charset="0"/>
              </a:rPr>
              <a:t>栅格系统</a:t>
            </a:r>
            <a:r>
              <a:rPr lang="zh-CN" altLang="en-US" sz="20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来实现水平布局，为表单组添加</a:t>
            </a:r>
            <a:r>
              <a:rPr lang="en-US" altLang="zh-CN" sz="2000" dirty="0">
                <a:solidFill>
                  <a:srgbClr val="1369B2"/>
                </a:solidFill>
                <a:latin typeface="微软雅黑" panose="020B0503020204020204" pitchFamily="34" charset="-122"/>
                <a:ea typeface="微软雅黑" panose="020B0503020204020204" pitchFamily="34" charset="-122"/>
                <a:cs typeface="+mn-ea"/>
                <a:sym typeface="Arial" panose="020B0604020202020204" pitchFamily="34" charset="0"/>
              </a:rPr>
              <a:t>.row</a:t>
            </a:r>
            <a:r>
              <a:rPr lang="zh-CN" altLang="en-US" sz="2000" dirty="0">
                <a:solidFill>
                  <a:srgbClr val="1369B2"/>
                </a:solidFill>
                <a:latin typeface="微软雅黑" panose="020B0503020204020204" pitchFamily="34" charset="-122"/>
                <a:ea typeface="微软雅黑" panose="020B0503020204020204" pitchFamily="34" charset="-122"/>
                <a:cs typeface="+mn-ea"/>
                <a:sym typeface="Arial" panose="020B0604020202020204" pitchFamily="34" charset="0"/>
              </a:rPr>
              <a:t>类</a:t>
            </a:r>
            <a:r>
              <a:rPr lang="zh-CN" altLang="en-US" sz="20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，并为</a:t>
            </a:r>
            <a:r>
              <a:rPr lang="en-US" altLang="zh-CN" sz="20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&lt;label&gt;</a:t>
            </a:r>
            <a:r>
              <a:rPr lang="zh-CN" altLang="en-US" sz="20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和</a:t>
            </a:r>
            <a:r>
              <a:rPr lang="en-US" altLang="zh-CN" sz="20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&lt;input&gt;</a:t>
            </a:r>
            <a:r>
              <a:rPr lang="zh-CN" altLang="en-US" sz="20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标签添加</a:t>
            </a:r>
            <a:r>
              <a:rPr lang="en-US" altLang="zh-CN" sz="2000" dirty="0">
                <a:solidFill>
                  <a:srgbClr val="1369B2"/>
                </a:solidFill>
                <a:latin typeface="微软雅黑" panose="020B0503020204020204" pitchFamily="34" charset="-122"/>
                <a:ea typeface="微软雅黑" panose="020B0503020204020204" pitchFamily="34" charset="-122"/>
                <a:cs typeface="+mn-ea"/>
                <a:sym typeface="Arial" panose="020B0604020202020204" pitchFamily="34" charset="0"/>
              </a:rPr>
              <a:t>col-*</a:t>
            </a:r>
            <a:r>
              <a:rPr lang="zh-CN" altLang="en-US" sz="2000" dirty="0">
                <a:solidFill>
                  <a:srgbClr val="1369B2"/>
                </a:solidFill>
                <a:latin typeface="微软雅黑" panose="020B0503020204020204" pitchFamily="34" charset="-122"/>
                <a:ea typeface="微软雅黑" panose="020B0503020204020204" pitchFamily="34" charset="-122"/>
                <a:cs typeface="+mn-ea"/>
                <a:sym typeface="Arial" panose="020B0604020202020204" pitchFamily="34" charset="0"/>
              </a:rPr>
              <a:t>类名</a:t>
            </a:r>
            <a:r>
              <a:rPr lang="zh-CN" altLang="en-US" sz="20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，即可让</a:t>
            </a:r>
            <a:r>
              <a:rPr lang="en-US" altLang="zh-CN" sz="20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&lt;label&gt;</a:t>
            </a:r>
            <a:r>
              <a:rPr lang="zh-CN" altLang="en-US" sz="20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和</a:t>
            </a:r>
            <a:r>
              <a:rPr lang="en-US" altLang="zh-CN" sz="20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&lt;input&gt;</a:t>
            </a:r>
            <a:r>
              <a:rPr lang="zh-CN" altLang="en-US" sz="20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标签</a:t>
            </a:r>
            <a:r>
              <a:rPr lang="zh-CN" altLang="en-US" sz="2000" dirty="0">
                <a:solidFill>
                  <a:srgbClr val="1369B2"/>
                </a:solidFill>
                <a:latin typeface="微软雅黑" panose="020B0503020204020204" pitchFamily="34" charset="-122"/>
                <a:ea typeface="微软雅黑" panose="020B0503020204020204" pitchFamily="34" charset="-122"/>
                <a:cs typeface="+mn-ea"/>
                <a:sym typeface="Arial" panose="020B0604020202020204" pitchFamily="34" charset="0"/>
              </a:rPr>
              <a:t>水平排列</a:t>
            </a:r>
            <a:r>
              <a:rPr lang="zh-CN" altLang="en-US" sz="20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a:t>
            </a:r>
          </a:p>
          <a:p>
            <a:pPr>
              <a:lnSpc>
                <a:spcPct val="150000"/>
              </a:lnSpc>
            </a:pPr>
            <a:endParaRPr lang="zh-CN" altLang="en-US" sz="10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endParaRPr>
          </a:p>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Bootstrap</a:t>
            </a:r>
            <a:r>
              <a:rPr lang="zh-CN" altLang="en-US" sz="20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还为表单中的</a:t>
            </a:r>
            <a:r>
              <a:rPr lang="en-US" altLang="zh-CN" sz="20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&lt;label&gt;</a:t>
            </a:r>
            <a:r>
              <a:rPr lang="zh-CN" altLang="en-US" sz="20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标签提供了</a:t>
            </a:r>
            <a:r>
              <a:rPr lang="en-US" altLang="zh-CN" sz="2000" dirty="0">
                <a:solidFill>
                  <a:srgbClr val="1369B2"/>
                </a:solidFill>
                <a:latin typeface="微软雅黑" panose="020B0503020204020204" pitchFamily="34" charset="-122"/>
                <a:ea typeface="微软雅黑" panose="020B0503020204020204" pitchFamily="34" charset="-122"/>
                <a:cs typeface="+mn-ea"/>
                <a:sym typeface="Arial" panose="020B0604020202020204" pitchFamily="34" charset="0"/>
              </a:rPr>
              <a:t>.col-form-label</a:t>
            </a:r>
            <a:r>
              <a:rPr lang="zh-CN" altLang="en-US" sz="2000" dirty="0">
                <a:solidFill>
                  <a:srgbClr val="1369B2"/>
                </a:solidFill>
                <a:latin typeface="微软雅黑" panose="020B0503020204020204" pitchFamily="34" charset="-122"/>
                <a:ea typeface="微软雅黑" panose="020B0503020204020204" pitchFamily="34" charset="-122"/>
                <a:cs typeface="+mn-ea"/>
                <a:sym typeface="Arial" panose="020B0604020202020204" pitchFamily="34" charset="0"/>
              </a:rPr>
              <a:t>类</a:t>
            </a:r>
            <a:r>
              <a:rPr lang="zh-CN" altLang="en-US" sz="20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，用于使</a:t>
            </a:r>
            <a:r>
              <a:rPr lang="en-US" altLang="zh-CN" sz="20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&lt;label&gt;</a:t>
            </a:r>
            <a:r>
              <a:rPr lang="zh-CN" altLang="en-US" sz="20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标签的文字内容与其关联的表单控件</a:t>
            </a:r>
            <a:r>
              <a:rPr lang="zh-CN" altLang="en-US" sz="2000" dirty="0">
                <a:solidFill>
                  <a:srgbClr val="1369B2"/>
                </a:solidFill>
                <a:latin typeface="微软雅黑" panose="020B0503020204020204" pitchFamily="34" charset="-122"/>
                <a:ea typeface="微软雅黑" panose="020B0503020204020204" pitchFamily="34" charset="-122"/>
                <a:cs typeface="+mn-ea"/>
                <a:sym typeface="Arial" panose="020B0604020202020204" pitchFamily="34" charset="0"/>
              </a:rPr>
              <a:t>垂直居中</a:t>
            </a: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6" name="TextBox 76">
            <a:extLst>
              <a:ext uri="{FF2B5EF4-FFF2-40B4-BE49-F238E27FC236}">
                <a16:creationId xmlns:a16="http://schemas.microsoft.com/office/drawing/2014/main" id="{9112F55D-44AB-4BD4-8B31-C02EB6C7C227}"/>
              </a:ext>
            </a:extLst>
          </p:cNvPr>
          <p:cNvSpPr txBox="1"/>
          <p:nvPr/>
        </p:nvSpPr>
        <p:spPr>
          <a:xfrm>
            <a:off x="1024656" y="1322185"/>
            <a:ext cx="2118222"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水平</a:t>
            </a: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布局</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36015496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4D1F8F7-78DD-4719-BC9E-52AE9717F513}"/>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6.3.2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表单布局</a:t>
            </a:r>
          </a:p>
        </p:txBody>
      </p:sp>
      <p:sp>
        <p:nvSpPr>
          <p:cNvPr id="7" name="TextBox 35">
            <a:extLst>
              <a:ext uri="{FF2B5EF4-FFF2-40B4-BE49-F238E27FC236}">
                <a16:creationId xmlns:a16="http://schemas.microsoft.com/office/drawing/2014/main" id="{2AC8B835-8E21-47D3-AA5C-614E45B2AF9C}"/>
              </a:ext>
            </a:extLst>
          </p:cNvPr>
          <p:cNvSpPr txBox="1">
            <a:spLocks noChangeArrowheads="1"/>
          </p:cNvSpPr>
          <p:nvPr/>
        </p:nvSpPr>
        <p:spPr bwMode="auto">
          <a:xfrm>
            <a:off x="994466" y="1269554"/>
            <a:ext cx="10441160" cy="584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创建</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水平布局表单</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页面，效果如图：</a:t>
            </a:r>
          </a:p>
        </p:txBody>
      </p:sp>
      <p:pic>
        <p:nvPicPr>
          <p:cNvPr id="5122" name="图片 1">
            <a:extLst>
              <a:ext uri="{FF2B5EF4-FFF2-40B4-BE49-F238E27FC236}">
                <a16:creationId xmlns:a16="http://schemas.microsoft.com/office/drawing/2014/main" id="{EDF74D29-2970-418B-B583-07318B562A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6210" y="2133650"/>
            <a:ext cx="6414056" cy="1942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26621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4D1F8F7-78DD-4719-BC9E-52AE9717F513}"/>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6.3.2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表单布局</a:t>
            </a:r>
          </a:p>
        </p:txBody>
      </p:sp>
      <p:sp>
        <p:nvSpPr>
          <p:cNvPr id="6" name="文本框 5">
            <a:extLst>
              <a:ext uri="{FF2B5EF4-FFF2-40B4-BE49-F238E27FC236}">
                <a16:creationId xmlns:a16="http://schemas.microsoft.com/office/drawing/2014/main" id="{F7D977EE-25EB-4291-9018-AD953B258351}"/>
              </a:ext>
            </a:extLst>
          </p:cNvPr>
          <p:cNvSpPr txBox="1"/>
          <p:nvPr/>
        </p:nvSpPr>
        <p:spPr>
          <a:xfrm>
            <a:off x="2321153" y="2349674"/>
            <a:ext cx="7787785" cy="3742178"/>
          </a:xfrm>
          <a:prstGeom prst="rect">
            <a:avLst/>
          </a:prstGeom>
          <a:solidFill>
            <a:srgbClr val="F2F2F2"/>
          </a:solidFill>
        </p:spPr>
        <p:txBody>
          <a:bodyPr wrap="square">
            <a:spAutoFit/>
          </a:bodyPr>
          <a:lstStyle/>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&lt;form&gt;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class="form-group row"&gt;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&lt;label for="email" class="col-sm-2 col-form-label"&gt;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邮箱地址：</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&lt;/label&gt;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&lt;input type="email" class="form-control col-sm-10" id="email"&gt;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class="form-group row"&gt;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&lt;label for="password" class="col-sm-2 col-form-label"&gt;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密码：</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&lt;/label&gt;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&lt;input type="password" class="form-control col-sm-10" id="password"&gt;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&lt;/form&gt;</a:t>
            </a:r>
          </a:p>
        </p:txBody>
      </p:sp>
      <p:grpSp>
        <p:nvGrpSpPr>
          <p:cNvPr id="5" name="组合 4">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01</a:t>
              </a: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053530"/>
            <a:ext cx="8722842" cy="1061829"/>
          </a:xfrm>
          <a:prstGeom prst="rect">
            <a:avLst/>
          </a:prstGeom>
          <a:noFill/>
          <a:ln>
            <a:noFill/>
          </a:ln>
        </p:spPr>
        <p:txBody>
          <a:bodyPr wrap="square" rtlCol="0">
            <a:spAutoFit/>
          </a:bodyPr>
          <a:lstStyle/>
          <a:p>
            <a:pPr lvl="0" defTabSz="457200">
              <a:lnSpc>
                <a:spcPct val="150000"/>
              </a:lnSpc>
              <a:defRPr/>
            </a:pPr>
            <a:r>
              <a:rPr lang="zh-CN" altLang="en-US" b="1" kern="0" dirty="0" smtClean="0">
                <a:solidFill>
                  <a:srgbClr val="595959"/>
                </a:solidFill>
                <a:latin typeface="微软雅黑" panose="020B0503020204020204" pitchFamily="34" charset="-122"/>
                <a:ea typeface="微软雅黑" panose="020B0503020204020204" pitchFamily="34" charset="-122"/>
                <a:cs typeface="+mn-ea"/>
                <a:sym typeface="+mn-lt"/>
              </a:rPr>
              <a:t>创建水平布局</a:t>
            </a:r>
            <a:r>
              <a:rPr lang="zh-CN" altLang="en-US" b="1" kern="0" dirty="0">
                <a:solidFill>
                  <a:srgbClr val="595959"/>
                </a:solidFill>
                <a:latin typeface="微软雅黑" panose="020B0503020204020204" pitchFamily="34" charset="-122"/>
                <a:ea typeface="微软雅黑" panose="020B0503020204020204" pitchFamily="34" charset="-122"/>
                <a:cs typeface="+mn-ea"/>
                <a:sym typeface="+mn-lt"/>
              </a:rPr>
              <a:t>表单页面</a:t>
            </a:r>
            <a:endParaRPr lang="en-US" altLang="zh-CN" b="1" kern="0" dirty="0">
              <a:solidFill>
                <a:srgbClr val="595959"/>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1800" dirty="0" smtClean="0">
                <a:solidFill>
                  <a:srgbClr val="595959"/>
                </a:solidFill>
                <a:latin typeface="微软雅黑" panose="020B0503020204020204" pitchFamily="34" charset="-122"/>
                <a:ea typeface="微软雅黑" panose="020B0503020204020204" pitchFamily="34" charset="-122"/>
              </a:rPr>
              <a:t>修改</a:t>
            </a:r>
            <a:r>
              <a:rPr lang="en-US" altLang="zh-CN" sz="1800" dirty="0" smtClean="0">
                <a:solidFill>
                  <a:srgbClr val="595959"/>
                </a:solidFill>
                <a:latin typeface="微软雅黑" panose="020B0503020204020204" pitchFamily="34" charset="-122"/>
                <a:ea typeface="微软雅黑" panose="020B0503020204020204" pitchFamily="34" charset="-122"/>
              </a:rPr>
              <a:t>C</a:t>
            </a:r>
            <a:r>
              <a:rPr lang="en-US" altLang="zh-CN" sz="1800" dirty="0">
                <a:solidFill>
                  <a:srgbClr val="595959"/>
                </a:solidFill>
                <a:latin typeface="微软雅黑" panose="020B0503020204020204" pitchFamily="34" charset="-122"/>
                <a:ea typeface="微软雅黑" panose="020B0503020204020204" pitchFamily="34" charset="-122"/>
              </a:rPr>
              <a:t>:\code\chapter06\demo08.html</a:t>
            </a:r>
            <a:r>
              <a:rPr lang="zh-CN" altLang="en-US" sz="1800" dirty="0" smtClean="0">
                <a:solidFill>
                  <a:srgbClr val="595959"/>
                </a:solidFill>
                <a:latin typeface="微软雅黑" panose="020B0503020204020204" pitchFamily="34" charset="-122"/>
                <a:ea typeface="微软雅黑" panose="020B0503020204020204" pitchFamily="34" charset="-122"/>
              </a:rPr>
              <a:t>，</a:t>
            </a:r>
            <a:r>
              <a:rPr lang="zh-CN" altLang="en-US" sz="18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实现</a:t>
            </a:r>
            <a:r>
              <a:rPr lang="zh-CN" altLang="en-US" sz="18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表单的</a:t>
            </a:r>
            <a:r>
              <a:rPr lang="zh-CN" altLang="en-US" sz="18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水平布局</a:t>
            </a:r>
            <a:r>
              <a:rPr lang="zh-CN" altLang="en-US" sz="1800" dirty="0" smtClean="0">
                <a:solidFill>
                  <a:srgbClr val="595959"/>
                </a:solidFill>
                <a:latin typeface="微软雅黑" panose="020B0503020204020204" pitchFamily="34" charset="-122"/>
                <a:ea typeface="微软雅黑" panose="020B0503020204020204" pitchFamily="34" charset="-122"/>
              </a:rPr>
              <a:t>。</a:t>
            </a:r>
            <a:endParaRPr lang="zh-CN" altLang="en-US" sz="1800" dirty="0">
              <a:solidFill>
                <a:srgbClr val="595959"/>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810100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4D1F8F7-78DD-4719-BC9E-52AE9717F513}"/>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6.3.2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表单布局</a:t>
            </a:r>
          </a:p>
        </p:txBody>
      </p:sp>
      <p:pic>
        <p:nvPicPr>
          <p:cNvPr id="8" name="图片 1">
            <a:extLst>
              <a:ext uri="{FF2B5EF4-FFF2-40B4-BE49-F238E27FC236}">
                <a16:creationId xmlns:a16="http://schemas.microsoft.com/office/drawing/2014/main" id="{B2B3C2B2-90E1-4B91-8332-7456307E31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2878" y="2441975"/>
            <a:ext cx="6342632" cy="1920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9"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0" name="文本框 9">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02</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
        <p:nvSpPr>
          <p:cNvPr id="11"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053530"/>
            <a:ext cx="8722842" cy="1107996"/>
          </a:xfrm>
          <a:prstGeom prst="rect">
            <a:avLst/>
          </a:prstGeom>
          <a:noFill/>
          <a:ln>
            <a:noFill/>
          </a:ln>
        </p:spPr>
        <p:txBody>
          <a:bodyPr wrap="square" rtlCol="0">
            <a:spAutoFit/>
          </a:bodyPr>
          <a:lstStyle/>
          <a:p>
            <a:pPr lvl="0" defTabSz="457200">
              <a:lnSpc>
                <a:spcPct val="150000"/>
              </a:lnSpc>
              <a:defRPr/>
            </a:pPr>
            <a:r>
              <a:rPr lang="zh-CN" altLang="en-US" sz="2400" b="1" kern="0" dirty="0">
                <a:solidFill>
                  <a:srgbClr val="595959"/>
                </a:solidFill>
                <a:latin typeface="微软雅黑" panose="020B0503020204020204" pitchFamily="34" charset="-122"/>
                <a:ea typeface="微软雅黑" panose="020B0503020204020204" pitchFamily="34" charset="-122"/>
                <a:cs typeface="+mn-ea"/>
                <a:sym typeface="+mn-lt"/>
              </a:rPr>
              <a:t>在浏览器中访问</a:t>
            </a:r>
            <a:r>
              <a:rPr lang="en-US" altLang="zh-CN" sz="2400" b="1" kern="0" dirty="0">
                <a:solidFill>
                  <a:srgbClr val="595959"/>
                </a:solidFill>
                <a:latin typeface="微软雅黑" panose="020B0503020204020204" pitchFamily="34" charset="-122"/>
                <a:ea typeface="微软雅黑" panose="020B0503020204020204" pitchFamily="34" charset="-122"/>
                <a:cs typeface="+mn-ea"/>
                <a:sym typeface="+mn-lt"/>
              </a:rPr>
              <a:t>demo08.html</a:t>
            </a:r>
          </a:p>
          <a:p>
            <a:pPr lvl="0">
              <a:lnSpc>
                <a:spcPct val="150000"/>
              </a:lnSpc>
              <a:defRPr/>
            </a:pP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水平布局</a:t>
            </a:r>
            <a:r>
              <a:rPr lang="zh-CN" altLang="en-US" sz="2000" dirty="0" smtClean="0">
                <a:solidFill>
                  <a:srgbClr val="1369B2"/>
                </a:solidFill>
                <a:latin typeface="微软雅黑" panose="020B0503020204020204" pitchFamily="34" charset="-122"/>
                <a:ea typeface="微软雅黑" panose="020B0503020204020204" pitchFamily="34" charset="-122"/>
              </a:rPr>
              <a:t>表</a:t>
            </a:r>
            <a:r>
              <a:rPr lang="zh-CN" altLang="en-US" sz="2000" dirty="0">
                <a:solidFill>
                  <a:srgbClr val="1369B2"/>
                </a:solidFill>
                <a:latin typeface="微软雅黑" panose="020B0503020204020204" pitchFamily="34" charset="-122"/>
                <a:ea typeface="微软雅黑" panose="020B0503020204020204" pitchFamily="34" charset="-122"/>
              </a:rPr>
              <a:t>单</a:t>
            </a:r>
            <a:r>
              <a:rPr lang="zh-CN" altLang="en-US" sz="2000" dirty="0">
                <a:solidFill>
                  <a:srgbClr val="595959"/>
                </a:solidFill>
                <a:latin typeface="微软雅黑" panose="020B0503020204020204" pitchFamily="34" charset="-122"/>
                <a:ea typeface="微软雅黑" panose="020B0503020204020204" pitchFamily="34" charset="-122"/>
              </a:rPr>
              <a:t>页面显示效果如图。</a:t>
            </a:r>
          </a:p>
        </p:txBody>
      </p:sp>
    </p:spTree>
    <p:extLst>
      <p:ext uri="{BB962C8B-B14F-4D97-AF65-F5344CB8AC3E}">
        <p14:creationId xmlns:p14="http://schemas.microsoft.com/office/powerpoint/2010/main" val="41044918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7"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815964" y="3576722"/>
            <a:ext cx="5247793" cy="1231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dirty="0" smtClean="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表</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单验证</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，能够实现表单的验证</a:t>
            </a:r>
            <a:r>
              <a:rPr lang="zh-CN" altLang="en-US"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功能</a:t>
            </a:r>
            <a:endParaRPr lang="zh-CN" altLang="en-US" dirty="0">
              <a:solidFill>
                <a:srgbClr val="595959"/>
              </a:solidFill>
              <a:latin typeface="微软雅黑" panose="020B0503020204020204" pitchFamily="34" charset="-122"/>
              <a:ea typeface="微软雅黑" panose="020B0503020204020204" pitchFamily="34" charset="-122"/>
              <a:cs typeface="+mn-ea"/>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Title 1">
            <a:extLst>
              <a:ext uri="{FF2B5EF4-FFF2-40B4-BE49-F238E27FC236}">
                <a16:creationId xmlns:a16="http://schemas.microsoft.com/office/drawing/2014/main" id="{A5A373F7-A187-42B9-9017-12CE5611263B}"/>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6.3.3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表单验证</a:t>
            </a:r>
          </a:p>
        </p:txBody>
      </p:sp>
    </p:spTree>
    <p:extLst>
      <p:ext uri="{BB962C8B-B14F-4D97-AF65-F5344CB8AC3E}">
        <p14:creationId xmlns:p14="http://schemas.microsoft.com/office/powerpoint/2010/main" val="30337678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5A373F7-A187-42B9-9017-12CE5611263B}"/>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6.3.3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表单验证</a:t>
            </a:r>
          </a:p>
        </p:txBody>
      </p:sp>
      <p:sp>
        <p:nvSpPr>
          <p:cNvPr id="10" name="文本框 9">
            <a:extLst>
              <a:ext uri="{FF2B5EF4-FFF2-40B4-BE49-F238E27FC236}">
                <a16:creationId xmlns:a16="http://schemas.microsoft.com/office/drawing/2014/main" id="{B7D59ED0-C813-4F96-833C-F85FB01AEB9E}"/>
              </a:ext>
            </a:extLst>
          </p:cNvPr>
          <p:cNvSpPr txBox="1"/>
          <p:nvPr/>
        </p:nvSpPr>
        <p:spPr>
          <a:xfrm>
            <a:off x="1198662" y="1341562"/>
            <a:ext cx="10081120" cy="1477328"/>
          </a:xfrm>
          <a:prstGeom prst="rect">
            <a:avLst/>
          </a:prstGeom>
          <a:noFill/>
        </p:spPr>
        <p:txBody>
          <a:bodyPr wrap="square" rtlCol="0">
            <a:spAutoFit/>
          </a:body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cs typeface="+mn-ea"/>
              </a:rPr>
              <a:t>日常生活中，我们浏览网站时需要注册账户。在注册页面，根据提示输入相应的信息，但是信息有一定的</a:t>
            </a:r>
            <a:r>
              <a:rPr lang="zh-CN" altLang="en-US" sz="2000" dirty="0">
                <a:solidFill>
                  <a:srgbClr val="1369B2"/>
                </a:solidFill>
                <a:latin typeface="微软雅黑" panose="020B0503020204020204" pitchFamily="34" charset="-122"/>
                <a:ea typeface="微软雅黑" panose="020B0503020204020204" pitchFamily="34" charset="-122"/>
                <a:cs typeface="+mn-ea"/>
              </a:rPr>
              <a:t>规范</a:t>
            </a:r>
            <a:r>
              <a:rPr lang="zh-CN" altLang="en-US" sz="2000" dirty="0">
                <a:solidFill>
                  <a:srgbClr val="595959"/>
                </a:solidFill>
                <a:latin typeface="微软雅黑" panose="020B0503020204020204" pitchFamily="34" charset="-122"/>
                <a:ea typeface="微软雅黑" panose="020B0503020204020204" pitchFamily="34" charset="-122"/>
                <a:cs typeface="+mn-ea"/>
              </a:rPr>
              <a:t>，例如输入的手机号应是</a:t>
            </a:r>
            <a:r>
              <a:rPr lang="en-US" altLang="zh-CN" sz="2000" dirty="0">
                <a:solidFill>
                  <a:srgbClr val="595959"/>
                </a:solidFill>
                <a:latin typeface="微软雅黑" panose="020B0503020204020204" pitchFamily="34" charset="-122"/>
                <a:ea typeface="微软雅黑" panose="020B0503020204020204" pitchFamily="34" charset="-122"/>
                <a:cs typeface="+mn-ea"/>
              </a:rPr>
              <a:t>11</a:t>
            </a:r>
            <a:r>
              <a:rPr lang="zh-CN" altLang="en-US" sz="2000" dirty="0">
                <a:solidFill>
                  <a:srgbClr val="595959"/>
                </a:solidFill>
                <a:latin typeface="微软雅黑" panose="020B0503020204020204" pitchFamily="34" charset="-122"/>
                <a:ea typeface="微软雅黑" panose="020B0503020204020204" pitchFamily="34" charset="-122"/>
                <a:cs typeface="+mn-ea"/>
              </a:rPr>
              <a:t>位数字，当我们输入汉字或输入</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的</a:t>
            </a:r>
            <a:endParaRPr lang="en-US" altLang="zh-CN" sz="2000" dirty="0" smtClean="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cs typeface="+mn-ea"/>
              </a:rPr>
              <a:t>数字</a:t>
            </a:r>
            <a:r>
              <a:rPr lang="zh-CN" altLang="en-US" sz="2000" dirty="0">
                <a:solidFill>
                  <a:srgbClr val="595959"/>
                </a:solidFill>
                <a:latin typeface="微软雅黑" panose="020B0503020204020204" pitchFamily="34" charset="-122"/>
                <a:ea typeface="微软雅黑" panose="020B0503020204020204" pitchFamily="34" charset="-122"/>
                <a:cs typeface="+mn-ea"/>
              </a:rPr>
              <a:t>小于</a:t>
            </a:r>
            <a:r>
              <a:rPr lang="en-US" altLang="zh-CN" sz="2000" dirty="0">
                <a:solidFill>
                  <a:srgbClr val="595959"/>
                </a:solidFill>
                <a:latin typeface="微软雅黑" panose="020B0503020204020204" pitchFamily="34" charset="-122"/>
                <a:ea typeface="微软雅黑" panose="020B0503020204020204" pitchFamily="34" charset="-122"/>
                <a:cs typeface="+mn-ea"/>
              </a:rPr>
              <a:t>11</a:t>
            </a:r>
            <a:r>
              <a:rPr lang="zh-CN" altLang="en-US" sz="2000" dirty="0">
                <a:solidFill>
                  <a:srgbClr val="595959"/>
                </a:solidFill>
                <a:latin typeface="微软雅黑" panose="020B0503020204020204" pitchFamily="34" charset="-122"/>
                <a:ea typeface="微软雅黑" panose="020B0503020204020204" pitchFamily="34" charset="-122"/>
                <a:cs typeface="+mn-ea"/>
              </a:rPr>
              <a:t>时，页面中会提示输入的信息有误，这种</a:t>
            </a:r>
            <a:r>
              <a:rPr lang="zh-CN" altLang="en-US" sz="2000" dirty="0">
                <a:solidFill>
                  <a:srgbClr val="1369B2"/>
                </a:solidFill>
                <a:latin typeface="微软雅黑" panose="020B0503020204020204" pitchFamily="34" charset="-122"/>
                <a:ea typeface="微软雅黑" panose="020B0503020204020204" pitchFamily="34" charset="-122"/>
                <a:cs typeface="+mn-ea"/>
              </a:rPr>
              <a:t>提示效果</a:t>
            </a:r>
            <a:r>
              <a:rPr lang="zh-CN" altLang="en-US" sz="2000" dirty="0">
                <a:solidFill>
                  <a:srgbClr val="595959"/>
                </a:solidFill>
                <a:latin typeface="微软雅黑" panose="020B0503020204020204" pitchFamily="34" charset="-122"/>
                <a:ea typeface="微软雅黑" panose="020B0503020204020204" pitchFamily="34" charset="-122"/>
                <a:cs typeface="+mn-ea"/>
              </a:rPr>
              <a:t>是如何实现的呢？</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16513044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5A373F7-A187-42B9-9017-12CE5611263B}"/>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6.3.3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表单验证</a:t>
            </a:r>
          </a:p>
        </p:txBody>
      </p:sp>
      <p:sp>
        <p:nvSpPr>
          <p:cNvPr id="10" name="文本框 9">
            <a:extLst>
              <a:ext uri="{FF2B5EF4-FFF2-40B4-BE49-F238E27FC236}">
                <a16:creationId xmlns:a16="http://schemas.microsoft.com/office/drawing/2014/main" id="{B7D59ED0-C813-4F96-833C-F85FB01AEB9E}"/>
              </a:ext>
            </a:extLst>
          </p:cNvPr>
          <p:cNvSpPr txBox="1"/>
          <p:nvPr/>
        </p:nvSpPr>
        <p:spPr>
          <a:xfrm>
            <a:off x="1054646" y="1197546"/>
            <a:ext cx="10081120" cy="4204484"/>
          </a:xfrm>
          <a:prstGeom prst="rect">
            <a:avLst/>
          </a:prstGeom>
          <a:noFill/>
        </p:spPr>
        <p:txBody>
          <a:bodyPr wrap="square" rtlCol="0">
            <a:spAutoFit/>
          </a:bodyPr>
          <a:lstStyle/>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HTML5</a:t>
            </a:r>
            <a:r>
              <a:rPr lang="zh-CN" altLang="en-US" sz="2000" dirty="0">
                <a:solidFill>
                  <a:srgbClr val="595959"/>
                </a:solidFill>
                <a:latin typeface="微软雅黑" panose="020B0503020204020204" pitchFamily="34" charset="-122"/>
                <a:ea typeface="微软雅黑" panose="020B0503020204020204" pitchFamily="34" charset="-122"/>
                <a:cs typeface="+mn-ea"/>
              </a:rPr>
              <a:t>中的</a:t>
            </a:r>
            <a:r>
              <a:rPr lang="zh-CN" altLang="en-US" sz="2000" dirty="0">
                <a:solidFill>
                  <a:srgbClr val="1369B2"/>
                </a:solidFill>
                <a:latin typeface="微软雅黑" panose="020B0503020204020204" pitchFamily="34" charset="-122"/>
                <a:ea typeface="微软雅黑" panose="020B0503020204020204" pitchFamily="34" charset="-122"/>
                <a:cs typeface="+mn-ea"/>
              </a:rPr>
              <a:t>表单验证功能</a:t>
            </a:r>
            <a:r>
              <a:rPr lang="zh-CN" altLang="en-US" sz="2000" dirty="0">
                <a:solidFill>
                  <a:srgbClr val="595959"/>
                </a:solidFill>
                <a:latin typeface="微软雅黑" panose="020B0503020204020204" pitchFamily="34" charset="-122"/>
                <a:ea typeface="微软雅黑" panose="020B0503020204020204" pitchFamily="34" charset="-122"/>
                <a:cs typeface="+mn-ea"/>
              </a:rPr>
              <a:t>：用来对用户输入的内容进行验证，如邮箱地址格式验证</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a:t>
            </a:r>
            <a:endParaRPr lang="en-US" altLang="zh-CN" sz="2000" dirty="0" smtClean="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cs typeface="+mn-ea"/>
              </a:rPr>
              <a:t>必</a:t>
            </a:r>
            <a:r>
              <a:rPr lang="zh-CN" altLang="en-US" sz="2000" dirty="0">
                <a:solidFill>
                  <a:srgbClr val="595959"/>
                </a:solidFill>
                <a:latin typeface="微软雅黑" panose="020B0503020204020204" pitchFamily="34" charset="-122"/>
                <a:ea typeface="微软雅黑" panose="020B0503020204020204" pitchFamily="34" charset="-122"/>
                <a:cs typeface="+mn-ea"/>
              </a:rPr>
              <a:t>填项验证等。</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16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HTML5</a:t>
            </a:r>
            <a:r>
              <a:rPr lang="zh-CN" altLang="en-US" sz="2000" dirty="0">
                <a:solidFill>
                  <a:srgbClr val="1369B2"/>
                </a:solidFill>
                <a:latin typeface="微软雅黑" panose="020B0503020204020204" pitchFamily="34" charset="-122"/>
                <a:ea typeface="微软雅黑" panose="020B0503020204020204" pitchFamily="34" charset="-122"/>
                <a:cs typeface="+mn-ea"/>
              </a:rPr>
              <a:t>表单验证</a:t>
            </a:r>
            <a:r>
              <a:rPr lang="zh-CN" altLang="en-US" sz="2000" dirty="0">
                <a:solidFill>
                  <a:srgbClr val="595959"/>
                </a:solidFill>
                <a:latin typeface="微软雅黑" panose="020B0503020204020204" pitchFamily="34" charset="-122"/>
                <a:ea typeface="微软雅黑" panose="020B0503020204020204" pitchFamily="34" charset="-122"/>
                <a:cs typeface="+mn-ea"/>
              </a:rPr>
              <a:t>的</a:t>
            </a:r>
            <a:r>
              <a:rPr lang="zh-CN" altLang="en-US" sz="2000" dirty="0">
                <a:solidFill>
                  <a:srgbClr val="1369B2"/>
                </a:solidFill>
                <a:latin typeface="微软雅黑" panose="020B0503020204020204" pitchFamily="34" charset="-122"/>
                <a:ea typeface="微软雅黑" panose="020B0503020204020204" pitchFamily="34" charset="-122"/>
                <a:cs typeface="+mn-ea"/>
              </a:rPr>
              <a:t>样式</a:t>
            </a:r>
            <a:r>
              <a:rPr lang="zh-CN" altLang="en-US" sz="2000" dirty="0">
                <a:solidFill>
                  <a:srgbClr val="595959"/>
                </a:solidFill>
                <a:latin typeface="微软雅黑" panose="020B0503020204020204" pitchFamily="34" charset="-122"/>
                <a:ea typeface="微软雅黑" panose="020B0503020204020204" pitchFamily="34" charset="-122"/>
                <a:cs typeface="+mn-ea"/>
              </a:rPr>
              <a:t>效果是浏览器</a:t>
            </a:r>
            <a:r>
              <a:rPr lang="zh-CN" altLang="en-US" sz="2000" dirty="0">
                <a:solidFill>
                  <a:srgbClr val="1369B2"/>
                </a:solidFill>
                <a:latin typeface="微软雅黑" panose="020B0503020204020204" pitchFamily="34" charset="-122"/>
                <a:ea typeface="微软雅黑" panose="020B0503020204020204" pitchFamily="34" charset="-122"/>
                <a:cs typeface="+mn-ea"/>
              </a:rPr>
              <a:t>默认设置</a:t>
            </a:r>
            <a:r>
              <a:rPr lang="zh-CN" altLang="en-US" sz="2000" dirty="0">
                <a:solidFill>
                  <a:srgbClr val="595959"/>
                </a:solidFill>
                <a:latin typeface="微软雅黑" panose="020B0503020204020204" pitchFamily="34" charset="-122"/>
                <a:ea typeface="微软雅黑" panose="020B0503020204020204" pitchFamily="34" charset="-122"/>
                <a:cs typeface="+mn-ea"/>
              </a:rPr>
              <a:t>的，用户体验欠佳。</a:t>
            </a:r>
            <a:r>
              <a:rPr lang="zh-CN" altLang="en-US" sz="2000" dirty="0">
                <a:solidFill>
                  <a:srgbClr val="1369B2"/>
                </a:solidFill>
                <a:latin typeface="微软雅黑" panose="020B0503020204020204" pitchFamily="34" charset="-122"/>
                <a:ea typeface="微软雅黑" panose="020B0503020204020204" pitchFamily="34" charset="-122"/>
                <a:cs typeface="+mn-ea"/>
              </a:rPr>
              <a:t>为了提高用户的体验</a:t>
            </a:r>
            <a:r>
              <a:rPr lang="zh-CN" altLang="en-US"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595959"/>
                </a:solidFill>
                <a:latin typeface="微软雅黑" panose="020B0503020204020204" pitchFamily="34" charset="-122"/>
                <a:ea typeface="微软雅黑" panose="020B0503020204020204" pitchFamily="34" charset="-122"/>
                <a:cs typeface="+mn-ea"/>
              </a:rPr>
              <a:t>Bootstrap</a:t>
            </a:r>
            <a:r>
              <a:rPr lang="zh-CN" altLang="en-US" sz="2000" dirty="0">
                <a:solidFill>
                  <a:srgbClr val="595959"/>
                </a:solidFill>
                <a:latin typeface="微软雅黑" panose="020B0503020204020204" pitchFamily="34" charset="-122"/>
                <a:ea typeface="微软雅黑" panose="020B0503020204020204" pitchFamily="34" charset="-122"/>
                <a:cs typeface="+mn-ea"/>
              </a:rPr>
              <a:t>提供了</a:t>
            </a:r>
            <a:r>
              <a:rPr lang="en-US" altLang="zh-CN" sz="2000" dirty="0">
                <a:solidFill>
                  <a:srgbClr val="1369B2"/>
                </a:solidFill>
                <a:latin typeface="微软雅黑" panose="020B0503020204020204" pitchFamily="34" charset="-122"/>
                <a:ea typeface="微软雅黑" panose="020B0503020204020204" pitchFamily="34" charset="-122"/>
                <a:cs typeface="+mn-ea"/>
              </a:rPr>
              <a:t>.needs-validation</a:t>
            </a:r>
            <a:r>
              <a:rPr lang="zh-CN" altLang="en-US"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.invalid-feedback</a:t>
            </a:r>
            <a:r>
              <a:rPr lang="zh-CN" altLang="en-US" sz="2000" dirty="0">
                <a:solidFill>
                  <a:srgbClr val="595959"/>
                </a:solidFill>
                <a:latin typeface="微软雅黑" panose="020B0503020204020204" pitchFamily="34" charset="-122"/>
                <a:ea typeface="微软雅黑" panose="020B0503020204020204" pitchFamily="34" charset="-122"/>
                <a:cs typeface="+mn-ea"/>
              </a:rPr>
              <a:t>类，用来更好地传达表单验证的结果，并可以结合</a:t>
            </a:r>
            <a:r>
              <a:rPr lang="en-US" altLang="zh-CN" sz="2000" dirty="0">
                <a:solidFill>
                  <a:srgbClr val="1369B2"/>
                </a:solidFill>
                <a:latin typeface="微软雅黑" panose="020B0503020204020204" pitchFamily="34" charset="-122"/>
                <a:ea typeface="微软雅黑" panose="020B0503020204020204" pitchFamily="34" charset="-122"/>
                <a:cs typeface="+mn-ea"/>
              </a:rPr>
              <a:t>JavaScript</a:t>
            </a:r>
            <a:r>
              <a:rPr lang="zh-CN" altLang="en-US" sz="2000" dirty="0">
                <a:solidFill>
                  <a:srgbClr val="595959"/>
                </a:solidFill>
                <a:latin typeface="微软雅黑" panose="020B0503020204020204" pitchFamily="34" charset="-122"/>
                <a:ea typeface="微软雅黑" panose="020B0503020204020204" pitchFamily="34" charset="-122"/>
                <a:cs typeface="+mn-ea"/>
              </a:rPr>
              <a:t>实现</a:t>
            </a:r>
            <a:r>
              <a:rPr lang="zh-CN" altLang="en-US" sz="2000" dirty="0">
                <a:solidFill>
                  <a:srgbClr val="1369B2"/>
                </a:solidFill>
                <a:latin typeface="微软雅黑" panose="020B0503020204020204" pitchFamily="34" charset="-122"/>
                <a:ea typeface="微软雅黑" panose="020B0503020204020204" pitchFamily="34" charset="-122"/>
                <a:cs typeface="+mn-ea"/>
              </a:rPr>
              <a:t>自定义消息</a:t>
            </a:r>
            <a:r>
              <a:rPr lang="zh-CN" altLang="en-US" sz="2000" dirty="0">
                <a:solidFill>
                  <a:srgbClr val="595959"/>
                </a:solidFill>
                <a:latin typeface="微软雅黑" panose="020B0503020204020204" pitchFamily="34" charset="-122"/>
                <a:ea typeface="微软雅黑" panose="020B0503020204020204" pitchFamily="34" charset="-122"/>
                <a:cs typeface="+mn-ea"/>
              </a:rPr>
              <a:t>。</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1050" dirty="0">
              <a:solidFill>
                <a:srgbClr val="595959"/>
              </a:solidFill>
              <a:latin typeface="微软雅黑" panose="020B0503020204020204" pitchFamily="34" charset="-122"/>
              <a:ea typeface="微软雅黑" panose="020B0503020204020204" pitchFamily="34" charset="-122"/>
              <a:cs typeface="+mn-ea"/>
            </a:endParaRPr>
          </a:p>
          <a:p>
            <a:pPr marL="342900" indent="-342900">
              <a:lnSpc>
                <a:spcPct val="150000"/>
              </a:lnSpc>
              <a:buFont typeface="Wingdings" panose="05000000000000000000" pitchFamily="2" charset="2"/>
              <a:buChar char="l"/>
            </a:pPr>
            <a:r>
              <a:rPr lang="en-US" altLang="zh-CN" sz="2000" dirty="0">
                <a:solidFill>
                  <a:srgbClr val="1369B2"/>
                </a:solidFill>
                <a:latin typeface="微软雅黑" panose="020B0503020204020204" pitchFamily="34" charset="-122"/>
                <a:ea typeface="微软雅黑" panose="020B0503020204020204" pitchFamily="34" charset="-122"/>
                <a:cs typeface="+mn-ea"/>
              </a:rPr>
              <a:t>.needs-validation</a:t>
            </a:r>
            <a:r>
              <a:rPr lang="zh-CN" altLang="en-US" sz="2000" dirty="0">
                <a:solidFill>
                  <a:srgbClr val="1369B2"/>
                </a:solidFill>
                <a:latin typeface="微软雅黑" panose="020B0503020204020204" pitchFamily="34" charset="-122"/>
                <a:ea typeface="微软雅黑" panose="020B0503020204020204" pitchFamily="34" charset="-122"/>
                <a:cs typeface="+mn-ea"/>
              </a:rPr>
              <a:t>类</a:t>
            </a:r>
            <a:r>
              <a:rPr lang="zh-CN" altLang="en-US" sz="2000" dirty="0">
                <a:solidFill>
                  <a:srgbClr val="595959"/>
                </a:solidFill>
                <a:latin typeface="微软雅黑" panose="020B0503020204020204" pitchFamily="34" charset="-122"/>
                <a:ea typeface="微软雅黑" panose="020B0503020204020204" pitchFamily="34" charset="-122"/>
                <a:cs typeface="+mn-ea"/>
              </a:rPr>
              <a:t>：表示需要进行表单验证</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500" dirty="0">
              <a:solidFill>
                <a:srgbClr val="595959"/>
              </a:solidFill>
              <a:latin typeface="微软雅黑" panose="020B0503020204020204" pitchFamily="34" charset="-122"/>
              <a:ea typeface="微软雅黑" panose="020B0503020204020204" pitchFamily="34" charset="-122"/>
              <a:cs typeface="+mn-ea"/>
            </a:endParaRPr>
          </a:p>
          <a:p>
            <a:pPr marL="342900" indent="-342900">
              <a:lnSpc>
                <a:spcPct val="150000"/>
              </a:lnSpc>
              <a:buFont typeface="Wingdings" panose="05000000000000000000" pitchFamily="2" charset="2"/>
              <a:buChar char="l"/>
            </a:pPr>
            <a:r>
              <a:rPr lang="en-US" altLang="zh-CN" sz="2000" dirty="0">
                <a:solidFill>
                  <a:srgbClr val="1369B2"/>
                </a:solidFill>
                <a:latin typeface="微软雅黑" panose="020B0503020204020204" pitchFamily="34" charset="-122"/>
                <a:ea typeface="微软雅黑" panose="020B0503020204020204" pitchFamily="34" charset="-122"/>
                <a:cs typeface="+mn-ea"/>
              </a:rPr>
              <a:t>.invalid-feedback</a:t>
            </a:r>
            <a:r>
              <a:rPr lang="zh-CN" altLang="en-US" sz="2000" dirty="0">
                <a:solidFill>
                  <a:srgbClr val="1369B2"/>
                </a:solidFill>
                <a:latin typeface="微软雅黑" panose="020B0503020204020204" pitchFamily="34" charset="-122"/>
                <a:ea typeface="微软雅黑" panose="020B0503020204020204" pitchFamily="34" charset="-122"/>
                <a:cs typeface="+mn-ea"/>
              </a:rPr>
              <a:t>类</a:t>
            </a:r>
            <a:r>
              <a:rPr lang="zh-CN" altLang="en-US" sz="2000" dirty="0">
                <a:solidFill>
                  <a:srgbClr val="595959"/>
                </a:solidFill>
                <a:latin typeface="微软雅黑" panose="020B0503020204020204" pitchFamily="34" charset="-122"/>
                <a:ea typeface="微软雅黑" panose="020B0503020204020204" pitchFamily="34" charset="-122"/>
                <a:cs typeface="+mn-ea"/>
              </a:rPr>
              <a:t>：表示验证后的反馈结果</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18879805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5A373F7-A187-42B9-9017-12CE5611263B}"/>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6.3.3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表单验证</a:t>
            </a:r>
          </a:p>
        </p:txBody>
      </p:sp>
      <p:pic>
        <p:nvPicPr>
          <p:cNvPr id="1026" name="图片 1">
            <a:extLst>
              <a:ext uri="{FF2B5EF4-FFF2-40B4-BE49-F238E27FC236}">
                <a16:creationId xmlns:a16="http://schemas.microsoft.com/office/drawing/2014/main" id="{5945CFB2-559C-4C8D-9474-65127B32AB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8982" y="2133650"/>
            <a:ext cx="3898693" cy="289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42376876-2F5F-4123-855A-2260C5830F65}"/>
              </a:ext>
            </a:extLst>
          </p:cNvPr>
          <p:cNvSpPr txBox="1"/>
          <p:nvPr/>
        </p:nvSpPr>
        <p:spPr>
          <a:xfrm>
            <a:off x="1198662" y="1197546"/>
            <a:ext cx="9577064" cy="553998"/>
          </a:xfrm>
          <a:prstGeom prst="rect">
            <a:avLst/>
          </a:prstGeom>
          <a:noFill/>
        </p:spPr>
        <p:txBody>
          <a:bodyPr wrap="square" rtlCol="0">
            <a:spAutoFit/>
          </a:body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实现</a:t>
            </a:r>
            <a:r>
              <a:rPr lang="zh-CN" altLang="en-US" sz="2000" dirty="0">
                <a:solidFill>
                  <a:srgbClr val="1369B2"/>
                </a:solidFill>
                <a:latin typeface="微软雅黑" panose="020B0503020204020204" pitchFamily="34" charset="-122"/>
                <a:ea typeface="微软雅黑" panose="020B0503020204020204" pitchFamily="34" charset="-122"/>
                <a:cs typeface="+mn-ea"/>
                <a:sym typeface="Arial" panose="020B0604020202020204" pitchFamily="34" charset="0"/>
              </a:rPr>
              <a:t>表单验证</a:t>
            </a:r>
            <a:r>
              <a:rPr lang="zh-CN" altLang="en-US" sz="20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的页面，效果如图：</a:t>
            </a:r>
          </a:p>
        </p:txBody>
      </p:sp>
    </p:spTree>
    <p:extLst>
      <p:ext uri="{BB962C8B-B14F-4D97-AF65-F5344CB8AC3E}">
        <p14:creationId xmlns:p14="http://schemas.microsoft.com/office/powerpoint/2010/main" val="9045212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A22F1E4-39AE-424B-B19B-3301952C7205}"/>
              </a:ext>
            </a:extLst>
          </p:cNvPr>
          <p:cNvSpPr txBox="1"/>
          <p:nvPr/>
        </p:nvSpPr>
        <p:spPr>
          <a:xfrm>
            <a:off x="3059949" y="2277666"/>
            <a:ext cx="7787785" cy="4111510"/>
          </a:xfrm>
          <a:prstGeom prst="rect">
            <a:avLst/>
          </a:prstGeom>
          <a:solidFill>
            <a:srgbClr val="F2F2F2"/>
          </a:solidFill>
        </p:spPr>
        <p:txBody>
          <a:bodyPr wrap="square">
            <a:spAutoFit/>
          </a:bodyPr>
          <a:lstStyle/>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&lt;!DOCTYPE html&gt;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&lt;html&gt;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&lt;head&gt;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&lt;meta charset="UTF-8"&gt;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&lt;meta name="viewport" content="width=device-width, initial-scale=1.0"&gt;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&lt;title&gt;Document&lt;/title&gt;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&lt;link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="bootstrap-4.6.0-dist/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css</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/bootstrap.min.css"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rel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="stylesheet"&gt;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&lt;/head&gt;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&lt;body class="m-3"&gt;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&lt;/body&gt;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&lt;/html&gt;</a:t>
            </a:r>
          </a:p>
        </p:txBody>
      </p:sp>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01</a:t>
              </a: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053530"/>
            <a:ext cx="8722842" cy="1107996"/>
          </a:xfrm>
          <a:prstGeom prst="rect">
            <a:avLst/>
          </a:prstGeom>
          <a:noFill/>
          <a:ln>
            <a:noFill/>
          </a:ln>
        </p:spPr>
        <p:txBody>
          <a:bodyPr wrap="square" rtlCol="0">
            <a:spAutoFit/>
          </a:bodyPr>
          <a:lstStyle/>
          <a:p>
            <a:pPr lvl="0" defTabSz="457200">
              <a:lnSpc>
                <a:spcPct val="150000"/>
              </a:lnSpc>
              <a:defRPr/>
            </a:pPr>
            <a:r>
              <a:rPr lang="zh-CN" altLang="en-US" b="1" kern="0" dirty="0">
                <a:solidFill>
                  <a:srgbClr val="595959"/>
                </a:solidFill>
                <a:latin typeface="微软雅黑" panose="020B0503020204020204" pitchFamily="34" charset="-122"/>
                <a:ea typeface="微软雅黑" panose="020B0503020204020204" pitchFamily="34" charset="-122"/>
                <a:cs typeface="+mn-ea"/>
                <a:sym typeface="+mn-lt"/>
              </a:rPr>
              <a:t>实现表单验证的页面</a:t>
            </a:r>
            <a:endParaRPr lang="en-US" altLang="zh-CN" b="1" kern="0" dirty="0">
              <a:solidFill>
                <a:srgbClr val="595959"/>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创建</a:t>
            </a:r>
            <a:r>
              <a:rPr lang="en-US" altLang="zh-CN" sz="2000" dirty="0">
                <a:solidFill>
                  <a:srgbClr val="595959"/>
                </a:solidFill>
                <a:latin typeface="微软雅黑" panose="020B0503020204020204" pitchFamily="34" charset="-122"/>
                <a:ea typeface="微软雅黑" panose="020B0503020204020204" pitchFamily="34" charset="-122"/>
              </a:rPr>
              <a:t>C:\code\chapter06\demo09.html</a:t>
            </a:r>
            <a:r>
              <a:rPr lang="zh-CN" altLang="en-US" sz="2000" dirty="0">
                <a:solidFill>
                  <a:srgbClr val="595959"/>
                </a:solidFill>
                <a:latin typeface="微软雅黑" panose="020B0503020204020204" pitchFamily="34" charset="-122"/>
                <a:ea typeface="微软雅黑" panose="020B0503020204020204" pitchFamily="34" charset="-122"/>
              </a:rPr>
              <a:t>，实现填写</a:t>
            </a:r>
            <a:r>
              <a:rPr lang="zh-CN" altLang="en-US" sz="2000" dirty="0">
                <a:solidFill>
                  <a:srgbClr val="1369B2"/>
                </a:solidFill>
                <a:latin typeface="微软雅黑" panose="020B0503020204020204" pitchFamily="34" charset="-122"/>
                <a:ea typeface="微软雅黑" panose="020B0503020204020204" pitchFamily="34" charset="-122"/>
              </a:rPr>
              <a:t>邮箱地址</a:t>
            </a:r>
            <a:r>
              <a:rPr lang="zh-CN" altLang="en-US" sz="2000" dirty="0">
                <a:solidFill>
                  <a:srgbClr val="595959"/>
                </a:solidFill>
                <a:latin typeface="微软雅黑" panose="020B0503020204020204" pitchFamily="34" charset="-122"/>
                <a:ea typeface="微软雅黑" panose="020B0503020204020204" pitchFamily="34" charset="-122"/>
              </a:rPr>
              <a:t>和</a:t>
            </a:r>
            <a:r>
              <a:rPr lang="zh-CN" altLang="en-US" sz="2000" dirty="0">
                <a:solidFill>
                  <a:srgbClr val="1369B2"/>
                </a:solidFill>
                <a:latin typeface="微软雅黑" panose="020B0503020204020204" pitchFamily="34" charset="-122"/>
                <a:ea typeface="微软雅黑" panose="020B0503020204020204" pitchFamily="34" charset="-122"/>
              </a:rPr>
              <a:t>密码</a:t>
            </a:r>
            <a:r>
              <a:rPr lang="zh-CN" altLang="en-US" sz="2000" dirty="0">
                <a:solidFill>
                  <a:srgbClr val="595959"/>
                </a:solidFill>
                <a:latin typeface="微软雅黑" panose="020B0503020204020204" pitchFamily="34" charset="-122"/>
                <a:ea typeface="微软雅黑" panose="020B0503020204020204" pitchFamily="34" charset="-122"/>
              </a:rPr>
              <a:t>的表单。</a:t>
            </a:r>
          </a:p>
        </p:txBody>
      </p:sp>
      <p:sp>
        <p:nvSpPr>
          <p:cNvPr id="12" name="Title 1">
            <a:extLst>
              <a:ext uri="{FF2B5EF4-FFF2-40B4-BE49-F238E27FC236}">
                <a16:creationId xmlns:a16="http://schemas.microsoft.com/office/drawing/2014/main" id="{38C5AC8A-6B79-4D80-A880-1E0994CA54E2}"/>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6.3.3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表单验证</a:t>
            </a:r>
          </a:p>
        </p:txBody>
      </p:sp>
    </p:spTree>
    <p:extLst>
      <p:ext uri="{BB962C8B-B14F-4D97-AF65-F5344CB8AC3E}">
        <p14:creationId xmlns:p14="http://schemas.microsoft.com/office/powerpoint/2010/main" val="28505838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A22F1E4-39AE-424B-B19B-3301952C7205}"/>
              </a:ext>
            </a:extLst>
          </p:cNvPr>
          <p:cNvSpPr txBox="1"/>
          <p:nvPr/>
        </p:nvSpPr>
        <p:spPr>
          <a:xfrm>
            <a:off x="3059949" y="2349674"/>
            <a:ext cx="7787785" cy="3742178"/>
          </a:xfrm>
          <a:prstGeom prst="rect">
            <a:avLst/>
          </a:prstGeom>
          <a:solidFill>
            <a:srgbClr val="F2F2F2"/>
          </a:solidFill>
        </p:spPr>
        <p:txBody>
          <a:bodyPr wrap="square">
            <a:spAutoFit/>
          </a:bodyPr>
          <a:lstStyle/>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&lt;form class="needs-validation"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novalidate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实现文本输入框页面效果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class="form-group"&gt;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&lt;label for="email"&gt;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邮箱地址</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&lt;/label&gt;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&lt;input type="email" class="form-control" id="email" required&gt;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class="invalid-feedback"&gt;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请输入邮箱地址！</a:t>
            </a:r>
          </a:p>
          <a:p>
            <a:pPr lvl="0">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&lt;/div&gt;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&lt;/form&gt;</a:t>
            </a:r>
          </a:p>
        </p:txBody>
      </p:sp>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02</a:t>
              </a: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053530"/>
            <a:ext cx="8722842" cy="1107996"/>
          </a:xfrm>
          <a:prstGeom prst="rect">
            <a:avLst/>
          </a:prstGeom>
          <a:noFill/>
          <a:ln>
            <a:noFill/>
          </a:ln>
        </p:spPr>
        <p:txBody>
          <a:bodyPr wrap="square" rtlCol="0">
            <a:spAutoFit/>
          </a:bodyPr>
          <a:lstStyle/>
          <a:p>
            <a:pPr lvl="0" defTabSz="457200">
              <a:lnSpc>
                <a:spcPct val="150000"/>
              </a:lnSpc>
              <a:defRPr/>
            </a:pPr>
            <a:r>
              <a:rPr lang="zh-CN" altLang="en-US" b="1" kern="0" dirty="0">
                <a:solidFill>
                  <a:srgbClr val="595959"/>
                </a:solidFill>
                <a:latin typeface="微软雅黑" panose="020B0503020204020204" pitchFamily="34" charset="-122"/>
                <a:ea typeface="微软雅黑" panose="020B0503020204020204" pitchFamily="34" charset="-122"/>
                <a:cs typeface="+mn-ea"/>
                <a:sym typeface="+mn-lt"/>
              </a:rPr>
              <a:t>实现表单验证的页面</a:t>
            </a: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修改</a:t>
            </a:r>
            <a:r>
              <a:rPr lang="en-US" altLang="zh-CN" sz="2000" dirty="0">
                <a:solidFill>
                  <a:srgbClr val="595959"/>
                </a:solidFill>
                <a:latin typeface="微软雅黑" panose="020B0503020204020204" pitchFamily="34" charset="-122"/>
                <a:ea typeface="微软雅黑" panose="020B0503020204020204" pitchFamily="34" charset="-122"/>
              </a:rPr>
              <a:t>demo09.html</a:t>
            </a:r>
            <a:r>
              <a:rPr lang="zh-CN" altLang="en-US" sz="2000" dirty="0">
                <a:solidFill>
                  <a:srgbClr val="595959"/>
                </a:solidFill>
                <a:latin typeface="微软雅黑" panose="020B0503020204020204" pitchFamily="34" charset="-122"/>
                <a:ea typeface="微软雅黑" panose="020B0503020204020204" pitchFamily="34" charset="-122"/>
              </a:rPr>
              <a:t>，在</a:t>
            </a:r>
            <a:r>
              <a:rPr lang="en-US" altLang="zh-CN" sz="2000" dirty="0">
                <a:solidFill>
                  <a:srgbClr val="1369B2"/>
                </a:solidFill>
                <a:latin typeface="微软雅黑" panose="020B0503020204020204" pitchFamily="34" charset="-122"/>
                <a:ea typeface="微软雅黑" panose="020B0503020204020204" pitchFamily="34" charset="-122"/>
              </a:rPr>
              <a:t>&lt;/body&gt;</a:t>
            </a:r>
            <a:r>
              <a:rPr lang="zh-CN" altLang="en-US" sz="2000" dirty="0">
                <a:solidFill>
                  <a:srgbClr val="595959"/>
                </a:solidFill>
                <a:latin typeface="微软雅黑" panose="020B0503020204020204" pitchFamily="34" charset="-122"/>
                <a:ea typeface="微软雅黑" panose="020B0503020204020204" pitchFamily="34" charset="-122"/>
              </a:rPr>
              <a:t>标签结束之前添加以下代码。</a:t>
            </a:r>
          </a:p>
        </p:txBody>
      </p:sp>
      <p:sp>
        <p:nvSpPr>
          <p:cNvPr id="12" name="Title 1">
            <a:extLst>
              <a:ext uri="{FF2B5EF4-FFF2-40B4-BE49-F238E27FC236}">
                <a16:creationId xmlns:a16="http://schemas.microsoft.com/office/drawing/2014/main" id="{1203159A-9637-40A0-BC63-591B07FC63C0}"/>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6.3.3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表单验证</a:t>
            </a:r>
          </a:p>
        </p:txBody>
      </p:sp>
    </p:spTree>
    <p:extLst>
      <p:ext uri="{BB962C8B-B14F-4D97-AF65-F5344CB8AC3E}">
        <p14:creationId xmlns:p14="http://schemas.microsoft.com/office/powerpoint/2010/main" val="33911840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A22F1E4-39AE-424B-B19B-3301952C7205}"/>
              </a:ext>
            </a:extLst>
          </p:cNvPr>
          <p:cNvSpPr txBox="1"/>
          <p:nvPr/>
        </p:nvSpPr>
        <p:spPr>
          <a:xfrm>
            <a:off x="3059949" y="2349674"/>
            <a:ext cx="7787785" cy="3372846"/>
          </a:xfrm>
          <a:prstGeom prst="rect">
            <a:avLst/>
          </a:prstGeom>
          <a:solidFill>
            <a:srgbClr val="F2F2F2"/>
          </a:solidFill>
        </p:spPr>
        <p:txBody>
          <a:bodyPr wrap="square">
            <a:spAutoFit/>
          </a:bodyPr>
          <a:lstStyle/>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&lt;div class="form-group"&gt;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&lt;label for="password"&gt;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密码</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&lt;/label&gt;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&lt;input type="password" class="form-control" id="</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pssword</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required&gt;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class="invalid-feedback"&gt;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请输入密码！</a:t>
            </a:r>
          </a:p>
          <a:p>
            <a:pPr lvl="0">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&lt;/div&gt;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&lt;button type="submit"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-primary"&gt;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提交</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&lt;/button&gt;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&lt;/div&gt;</a:t>
            </a:r>
          </a:p>
        </p:txBody>
      </p:sp>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02</a:t>
              </a: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053530"/>
            <a:ext cx="8722842" cy="1107996"/>
          </a:xfrm>
          <a:prstGeom prst="rect">
            <a:avLst/>
          </a:prstGeom>
          <a:noFill/>
          <a:ln>
            <a:noFill/>
          </a:ln>
        </p:spPr>
        <p:txBody>
          <a:bodyPr wrap="square" rtlCol="0">
            <a:spAutoFit/>
          </a:bodyPr>
          <a:lstStyle/>
          <a:p>
            <a:pPr lvl="0" defTabSz="457200">
              <a:lnSpc>
                <a:spcPct val="150000"/>
              </a:lnSpc>
              <a:defRPr/>
            </a:pPr>
            <a:r>
              <a:rPr lang="zh-CN" altLang="en-US" b="1" kern="0" dirty="0">
                <a:solidFill>
                  <a:srgbClr val="595959"/>
                </a:solidFill>
                <a:latin typeface="微软雅黑" panose="020B0503020204020204" pitchFamily="34" charset="-122"/>
                <a:ea typeface="微软雅黑" panose="020B0503020204020204" pitchFamily="34" charset="-122"/>
                <a:cs typeface="+mn-ea"/>
                <a:sym typeface="+mn-lt"/>
              </a:rPr>
              <a:t>实现表单验证的页面</a:t>
            </a: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修改</a:t>
            </a:r>
            <a:r>
              <a:rPr lang="en-US" altLang="zh-CN" sz="2000" dirty="0">
                <a:solidFill>
                  <a:srgbClr val="595959"/>
                </a:solidFill>
                <a:latin typeface="微软雅黑" panose="020B0503020204020204" pitchFamily="34" charset="-122"/>
                <a:ea typeface="微软雅黑" panose="020B0503020204020204" pitchFamily="34" charset="-122"/>
              </a:rPr>
              <a:t>demo09.html</a:t>
            </a:r>
            <a:r>
              <a:rPr lang="zh-CN" altLang="en-US" sz="2000" dirty="0">
                <a:solidFill>
                  <a:srgbClr val="595959"/>
                </a:solidFill>
                <a:latin typeface="微软雅黑" panose="020B0503020204020204" pitchFamily="34" charset="-122"/>
                <a:ea typeface="微软雅黑" panose="020B0503020204020204" pitchFamily="34" charset="-122"/>
              </a:rPr>
              <a:t>，在</a:t>
            </a:r>
            <a:r>
              <a:rPr lang="en-US" altLang="zh-CN" sz="2000" dirty="0">
                <a:solidFill>
                  <a:srgbClr val="1369B2"/>
                </a:solidFill>
                <a:latin typeface="微软雅黑" panose="020B0503020204020204" pitchFamily="34" charset="-122"/>
                <a:ea typeface="微软雅黑" panose="020B0503020204020204" pitchFamily="34" charset="-122"/>
              </a:rPr>
              <a:t>&lt;/form&gt;</a:t>
            </a:r>
            <a:r>
              <a:rPr lang="zh-CN" altLang="en-US" sz="2000" dirty="0">
                <a:solidFill>
                  <a:srgbClr val="595959"/>
                </a:solidFill>
                <a:latin typeface="微软雅黑" panose="020B0503020204020204" pitchFamily="34" charset="-122"/>
                <a:ea typeface="微软雅黑" panose="020B0503020204020204" pitchFamily="34" charset="-122"/>
              </a:rPr>
              <a:t>标签结束之前添加以下代码。</a:t>
            </a:r>
          </a:p>
        </p:txBody>
      </p:sp>
      <p:sp>
        <p:nvSpPr>
          <p:cNvPr id="12" name="Title 1">
            <a:extLst>
              <a:ext uri="{FF2B5EF4-FFF2-40B4-BE49-F238E27FC236}">
                <a16:creationId xmlns:a16="http://schemas.microsoft.com/office/drawing/2014/main" id="{175F3625-BE41-4187-8D98-4347F25CF7E2}"/>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6.3.3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表单验证</a:t>
            </a:r>
          </a:p>
        </p:txBody>
      </p:sp>
    </p:spTree>
    <p:extLst>
      <p:ext uri="{BB962C8B-B14F-4D97-AF65-F5344CB8AC3E}">
        <p14:creationId xmlns:p14="http://schemas.microsoft.com/office/powerpoint/2010/main" val="10463842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A22F1E4-39AE-424B-B19B-3301952C7205}"/>
              </a:ext>
            </a:extLst>
          </p:cNvPr>
          <p:cNvSpPr txBox="1"/>
          <p:nvPr/>
        </p:nvSpPr>
        <p:spPr>
          <a:xfrm>
            <a:off x="2771917" y="2136351"/>
            <a:ext cx="7787785" cy="4533803"/>
          </a:xfrm>
          <a:prstGeom prst="rect">
            <a:avLst/>
          </a:prstGeom>
          <a:solidFill>
            <a:srgbClr val="F2F2F2"/>
          </a:solidFill>
        </p:spPr>
        <p:txBody>
          <a:bodyPr wrap="square">
            <a:noAutofit/>
          </a:bodyPr>
          <a:lstStyle/>
          <a:p>
            <a:pPr>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&lt;script&gt;</a:t>
            </a:r>
          </a:p>
          <a:p>
            <a:pPr>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(function () {</a:t>
            </a:r>
          </a:p>
          <a:p>
            <a:pPr>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'use strict';</a:t>
            </a:r>
          </a:p>
          <a:p>
            <a:pPr>
              <a:lnSpc>
                <a:spcPct val="11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window.addEventListener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('load', function () {</a:t>
            </a:r>
          </a:p>
          <a:p>
            <a:pPr>
              <a:lnSpc>
                <a:spcPct val="11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var forms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document.getElementsByClassName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('needs-validation');</a:t>
            </a:r>
          </a:p>
          <a:p>
            <a:pPr>
              <a:lnSpc>
                <a:spcPct val="11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var validation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Array.prototype.filter.call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(forms, function (form) {</a:t>
            </a:r>
          </a:p>
          <a:p>
            <a:pPr>
              <a:lnSpc>
                <a:spcPct val="11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form.addEventListener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('submit', function (event) {</a:t>
            </a:r>
          </a:p>
          <a:p>
            <a:pPr>
              <a:lnSpc>
                <a:spcPct val="11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if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form.checkValidity</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false) {</a:t>
            </a:r>
          </a:p>
          <a:p>
            <a:pPr>
              <a:lnSpc>
                <a:spcPct val="11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event.preventDefault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1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event.stopPropagation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1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p>
          <a:p>
            <a:pPr>
              <a:lnSpc>
                <a:spcPct val="11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form.classList.add</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('was-validated');</a:t>
            </a:r>
          </a:p>
          <a:p>
            <a:pPr>
              <a:lnSpc>
                <a:spcPct val="11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false);</a:t>
            </a:r>
          </a:p>
          <a:p>
            <a:pPr>
              <a:lnSpc>
                <a:spcPct val="11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p>
          <a:p>
            <a:pPr>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false);</a:t>
            </a:r>
          </a:p>
          <a:p>
            <a:pPr>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p>
          <a:p>
            <a:pPr>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&lt;/script&gt;</a:t>
            </a:r>
          </a:p>
        </p:txBody>
      </p:sp>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03</a:t>
              </a: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60996" y="1053530"/>
            <a:ext cx="8722842" cy="1107996"/>
          </a:xfrm>
          <a:prstGeom prst="rect">
            <a:avLst/>
          </a:prstGeom>
          <a:noFill/>
          <a:ln>
            <a:noFill/>
          </a:ln>
        </p:spPr>
        <p:txBody>
          <a:bodyPr wrap="square" rtlCol="0">
            <a:spAutoFit/>
          </a:bodyPr>
          <a:lstStyle/>
          <a:p>
            <a:pPr lvl="0" defTabSz="457200">
              <a:lnSpc>
                <a:spcPct val="150000"/>
              </a:lnSpc>
              <a:defRPr/>
            </a:pPr>
            <a:r>
              <a:rPr lang="zh-CN" altLang="en-US" b="1" kern="0" dirty="0">
                <a:solidFill>
                  <a:srgbClr val="595959"/>
                </a:solidFill>
                <a:latin typeface="微软雅黑" panose="020B0503020204020204" pitchFamily="34" charset="-122"/>
                <a:ea typeface="微软雅黑" panose="020B0503020204020204" pitchFamily="34" charset="-122"/>
                <a:cs typeface="+mn-ea"/>
                <a:sym typeface="+mn-lt"/>
              </a:rPr>
              <a:t>实现表单验证的页面</a:t>
            </a: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修改</a:t>
            </a:r>
            <a:r>
              <a:rPr lang="en-US" altLang="zh-CN" sz="2000" dirty="0">
                <a:solidFill>
                  <a:srgbClr val="595959"/>
                </a:solidFill>
                <a:latin typeface="微软雅黑" panose="020B0503020204020204" pitchFamily="34" charset="-122"/>
                <a:ea typeface="微软雅黑" panose="020B0503020204020204" pitchFamily="34" charset="-122"/>
              </a:rPr>
              <a:t>demo09.html</a:t>
            </a:r>
            <a:r>
              <a:rPr lang="zh-CN" altLang="en-US" sz="2000" dirty="0">
                <a:solidFill>
                  <a:srgbClr val="595959"/>
                </a:solidFill>
                <a:latin typeface="微软雅黑" panose="020B0503020204020204" pitchFamily="34" charset="-122"/>
                <a:ea typeface="微软雅黑" panose="020B0503020204020204" pitchFamily="34" charset="-122"/>
              </a:rPr>
              <a:t>，在</a:t>
            </a:r>
            <a:r>
              <a:rPr lang="en-US" altLang="zh-CN" sz="2000" dirty="0">
                <a:solidFill>
                  <a:srgbClr val="1369B2"/>
                </a:solidFill>
                <a:latin typeface="微软雅黑" panose="020B0503020204020204" pitchFamily="34" charset="-122"/>
                <a:ea typeface="微软雅黑" panose="020B0503020204020204" pitchFamily="34" charset="-122"/>
              </a:rPr>
              <a:t>&lt;/body&gt;</a:t>
            </a:r>
            <a:r>
              <a:rPr lang="zh-CN" altLang="en-US" sz="2000" dirty="0">
                <a:solidFill>
                  <a:srgbClr val="595959"/>
                </a:solidFill>
                <a:latin typeface="微软雅黑" panose="020B0503020204020204" pitchFamily="34" charset="-122"/>
                <a:ea typeface="微软雅黑" panose="020B0503020204020204" pitchFamily="34" charset="-122"/>
              </a:rPr>
              <a:t>结束标签前添加表单验证的</a:t>
            </a:r>
            <a:r>
              <a:rPr lang="en-US" altLang="zh-CN" sz="2000" dirty="0">
                <a:solidFill>
                  <a:srgbClr val="595959"/>
                </a:solidFill>
                <a:latin typeface="微软雅黑" panose="020B0503020204020204" pitchFamily="34" charset="-122"/>
                <a:ea typeface="微软雅黑" panose="020B0503020204020204" pitchFamily="34" charset="-122"/>
              </a:rPr>
              <a:t>JavaScript</a:t>
            </a:r>
            <a:r>
              <a:rPr lang="zh-CN" altLang="en-US" sz="2000" dirty="0">
                <a:solidFill>
                  <a:srgbClr val="595959"/>
                </a:solidFill>
                <a:latin typeface="微软雅黑" panose="020B0503020204020204" pitchFamily="34" charset="-122"/>
                <a:ea typeface="微软雅黑" panose="020B0503020204020204" pitchFamily="34" charset="-122"/>
              </a:rPr>
              <a:t>代码。</a:t>
            </a:r>
          </a:p>
        </p:txBody>
      </p:sp>
      <p:sp>
        <p:nvSpPr>
          <p:cNvPr id="12" name="Title 1">
            <a:extLst>
              <a:ext uri="{FF2B5EF4-FFF2-40B4-BE49-F238E27FC236}">
                <a16:creationId xmlns:a16="http://schemas.microsoft.com/office/drawing/2014/main" id="{F96DA31F-BACA-484E-A394-03CB70C81EF7}"/>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6.3.3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表单验证</a:t>
            </a:r>
          </a:p>
        </p:txBody>
      </p:sp>
    </p:spTree>
    <p:extLst>
      <p:ext uri="{BB962C8B-B14F-4D97-AF65-F5344CB8AC3E}">
        <p14:creationId xmlns:p14="http://schemas.microsoft.com/office/powerpoint/2010/main" val="3126970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04</a:t>
              </a: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053530"/>
            <a:ext cx="8722842" cy="1107996"/>
          </a:xfrm>
          <a:prstGeom prst="rect">
            <a:avLst/>
          </a:prstGeom>
          <a:noFill/>
          <a:ln>
            <a:noFill/>
          </a:ln>
        </p:spPr>
        <p:txBody>
          <a:bodyPr wrap="square" rtlCol="0">
            <a:spAutoFit/>
          </a:bodyPr>
          <a:lstStyle/>
          <a:p>
            <a:pPr lvl="0" defTabSz="457200">
              <a:lnSpc>
                <a:spcPct val="150000"/>
              </a:lnSpc>
              <a:defRPr/>
            </a:pPr>
            <a:r>
              <a:rPr lang="zh-CN" altLang="en-US" b="1" kern="0" dirty="0">
                <a:solidFill>
                  <a:srgbClr val="595959"/>
                </a:solidFill>
                <a:latin typeface="微软雅黑" panose="020B0503020204020204" pitchFamily="34" charset="-122"/>
                <a:ea typeface="微软雅黑" panose="020B0503020204020204" pitchFamily="34" charset="-122"/>
                <a:cs typeface="+mn-ea"/>
                <a:sym typeface="+mn-lt"/>
              </a:rPr>
              <a:t>在浏览器中访问</a:t>
            </a:r>
            <a:r>
              <a:rPr lang="en-US" altLang="zh-CN" b="1" kern="0" dirty="0">
                <a:solidFill>
                  <a:srgbClr val="595959"/>
                </a:solidFill>
                <a:latin typeface="微软雅黑" panose="020B0503020204020204" pitchFamily="34" charset="-122"/>
                <a:ea typeface="微软雅黑" panose="020B0503020204020204" pitchFamily="34" charset="-122"/>
                <a:cs typeface="+mn-ea"/>
                <a:sym typeface="+mn-lt"/>
              </a:rPr>
              <a:t>demo09.html</a:t>
            </a:r>
          </a:p>
          <a:p>
            <a:pPr lvl="0" defTabSz="457200">
              <a:lnSpc>
                <a:spcPct val="150000"/>
              </a:lnSpc>
              <a:defRPr/>
            </a:pPr>
            <a:r>
              <a:rPr lang="zh-CN" altLang="en-US" sz="2000" dirty="0">
                <a:solidFill>
                  <a:srgbClr val="1369B2"/>
                </a:solidFill>
                <a:latin typeface="微软雅黑" panose="020B0503020204020204" pitchFamily="34" charset="-122"/>
                <a:ea typeface="微软雅黑" panose="020B0503020204020204" pitchFamily="34" charset="-122"/>
              </a:rPr>
              <a:t>表单验证</a:t>
            </a:r>
            <a:r>
              <a:rPr lang="zh-CN" altLang="en-US" sz="2000" dirty="0">
                <a:solidFill>
                  <a:srgbClr val="595959"/>
                </a:solidFill>
                <a:latin typeface="微软雅黑" panose="020B0503020204020204" pitchFamily="34" charset="-122"/>
                <a:ea typeface="微软雅黑" panose="020B0503020204020204" pitchFamily="34" charset="-122"/>
              </a:rPr>
              <a:t>的页面效果如图。</a:t>
            </a:r>
          </a:p>
        </p:txBody>
      </p:sp>
      <p:pic>
        <p:nvPicPr>
          <p:cNvPr id="12" name="图片 1">
            <a:extLst>
              <a:ext uri="{FF2B5EF4-FFF2-40B4-BE49-F238E27FC236}">
                <a16:creationId xmlns:a16="http://schemas.microsoft.com/office/drawing/2014/main" id="{5A624980-FF5B-4CFA-8FC7-A8BA370A8F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0950" y="2277666"/>
            <a:ext cx="4072677" cy="3024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itle 1">
            <a:extLst>
              <a:ext uri="{FF2B5EF4-FFF2-40B4-BE49-F238E27FC236}">
                <a16:creationId xmlns:a16="http://schemas.microsoft.com/office/drawing/2014/main" id="{893BB175-59D4-488F-9759-25FB7690D0C5}"/>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6.3.3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表单验证</a:t>
            </a:r>
          </a:p>
        </p:txBody>
      </p:sp>
    </p:spTree>
    <p:extLst>
      <p:ext uri="{BB962C8B-B14F-4D97-AF65-F5344CB8AC3E}">
        <p14:creationId xmlns:p14="http://schemas.microsoft.com/office/powerpoint/2010/main" val="21838563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30997"/>
          </a:xfrm>
          <a:prstGeom prst="rect">
            <a:avLst/>
          </a:prstGeom>
          <a:noFill/>
        </p:spPr>
        <p:txBody>
          <a:bodyPr wrap="square" lIns="91443" tIns="45720" rIns="91443" bIns="45720" rtlCol="0">
            <a:spAutoFit/>
          </a:bodyPr>
          <a:lstStyle/>
          <a:p>
            <a:r>
              <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按钮组件</a:t>
            </a: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6.4</a:t>
            </a:r>
          </a:p>
        </p:txBody>
      </p:sp>
    </p:spTree>
    <p:extLst>
      <p:ext uri="{BB962C8B-B14F-4D97-AF65-F5344CB8AC3E}">
        <p14:creationId xmlns:p14="http://schemas.microsoft.com/office/powerpoint/2010/main" val="34779412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5A373F7-A187-42B9-9017-12CE5611263B}"/>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按钮组件</a:t>
            </a:r>
          </a:p>
        </p:txBody>
      </p:sp>
      <p:sp>
        <p:nvSpPr>
          <p:cNvPr id="10" name="文本框 9">
            <a:extLst>
              <a:ext uri="{FF2B5EF4-FFF2-40B4-BE49-F238E27FC236}">
                <a16:creationId xmlns:a16="http://schemas.microsoft.com/office/drawing/2014/main" id="{B8F9C5C8-FA0A-445C-8D5F-7A4DF0B6E01C}"/>
              </a:ext>
            </a:extLst>
          </p:cNvPr>
          <p:cNvSpPr txBox="1"/>
          <p:nvPr/>
        </p:nvSpPr>
        <p:spPr>
          <a:xfrm>
            <a:off x="1198662" y="1592426"/>
            <a:ext cx="10225136" cy="1477328"/>
          </a:xfrm>
          <a:prstGeom prst="rect">
            <a:avLst/>
          </a:prstGeom>
          <a:noFill/>
        </p:spPr>
        <p:txBody>
          <a:bodyPr wrap="square" rtlCol="0">
            <a:spAutoFit/>
          </a:bodyPr>
          <a:lstStyle/>
          <a:p>
            <a:pPr>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cs typeface="+mn-ea"/>
              </a:rPr>
              <a:t>按钮</a:t>
            </a:r>
            <a:r>
              <a:rPr lang="zh-CN" altLang="en-US" sz="2000" dirty="0">
                <a:solidFill>
                  <a:srgbClr val="595959"/>
                </a:solidFill>
                <a:latin typeface="微软雅黑" panose="020B0503020204020204" pitchFamily="34" charset="-122"/>
                <a:ea typeface="微软雅黑" panose="020B0503020204020204" pitchFamily="34" charset="-122"/>
                <a:cs typeface="+mn-ea"/>
              </a:rPr>
              <a:t>是页面中常用的组成部分，当用户单击了页面中的按钮后，可以根据不同的按钮实现不同的功能。网页中常见的功能如</a:t>
            </a:r>
            <a:r>
              <a:rPr lang="zh-CN" altLang="en-US" sz="2000" dirty="0">
                <a:solidFill>
                  <a:srgbClr val="1369B2"/>
                </a:solidFill>
                <a:latin typeface="微软雅黑" panose="020B0503020204020204" pitchFamily="34" charset="-122"/>
                <a:ea typeface="微软雅黑" panose="020B0503020204020204" pitchFamily="34" charset="-122"/>
                <a:cs typeface="+mn-ea"/>
              </a:rPr>
              <a:t>用户登录</a:t>
            </a:r>
            <a:r>
              <a:rPr lang="zh-CN" altLang="en-US" sz="2000" dirty="0">
                <a:solidFill>
                  <a:srgbClr val="595959"/>
                </a:solidFill>
                <a:latin typeface="微软雅黑" panose="020B0503020204020204" pitchFamily="34" charset="-122"/>
                <a:ea typeface="微软雅黑" panose="020B0503020204020204" pitchFamily="34" charset="-122"/>
                <a:cs typeface="+mn-ea"/>
              </a:rPr>
              <a:t>、</a:t>
            </a:r>
            <a:r>
              <a:rPr lang="zh-CN" altLang="en-US" sz="2000" dirty="0">
                <a:solidFill>
                  <a:srgbClr val="1369B2"/>
                </a:solidFill>
                <a:latin typeface="微软雅黑" panose="020B0503020204020204" pitchFamily="34" charset="-122"/>
                <a:ea typeface="微软雅黑" panose="020B0503020204020204" pitchFamily="34" charset="-122"/>
                <a:cs typeface="+mn-ea"/>
              </a:rPr>
              <a:t>视频播放</a:t>
            </a:r>
            <a:r>
              <a:rPr lang="zh-CN" altLang="en-US" sz="2000" dirty="0">
                <a:solidFill>
                  <a:srgbClr val="595959"/>
                </a:solidFill>
                <a:latin typeface="微软雅黑" panose="020B0503020204020204" pitchFamily="34" charset="-122"/>
                <a:ea typeface="微软雅黑" panose="020B0503020204020204" pitchFamily="34" charset="-122"/>
                <a:cs typeface="+mn-ea"/>
              </a:rPr>
              <a:t>、</a:t>
            </a:r>
            <a:r>
              <a:rPr lang="zh-CN" altLang="en-US" sz="2000" dirty="0">
                <a:solidFill>
                  <a:srgbClr val="1369B2"/>
                </a:solidFill>
                <a:latin typeface="微软雅黑" panose="020B0503020204020204" pitchFamily="34" charset="-122"/>
                <a:ea typeface="微软雅黑" panose="020B0503020204020204" pitchFamily="34" charset="-122"/>
                <a:cs typeface="+mn-ea"/>
              </a:rPr>
              <a:t>文件上传</a:t>
            </a:r>
            <a:r>
              <a:rPr lang="zh-CN" altLang="en-US" sz="2000" dirty="0">
                <a:solidFill>
                  <a:srgbClr val="595959"/>
                </a:solidFill>
                <a:latin typeface="微软雅黑" panose="020B0503020204020204" pitchFamily="34" charset="-122"/>
                <a:ea typeface="微软雅黑" panose="020B0503020204020204" pitchFamily="34" charset="-122"/>
                <a:cs typeface="+mn-ea"/>
              </a:rPr>
              <a:t>等，都需要通过</a:t>
            </a:r>
            <a:r>
              <a:rPr lang="zh-CN" altLang="en-US" sz="2000" dirty="0">
                <a:solidFill>
                  <a:srgbClr val="1369B2"/>
                </a:solidFill>
                <a:latin typeface="微软雅黑" panose="020B0503020204020204" pitchFamily="34" charset="-122"/>
                <a:ea typeface="微软雅黑" panose="020B0503020204020204" pitchFamily="34" charset="-122"/>
                <a:cs typeface="+mn-ea"/>
              </a:rPr>
              <a:t>按钮</a:t>
            </a:r>
            <a:r>
              <a:rPr lang="zh-CN" altLang="en-US" sz="2000" dirty="0">
                <a:solidFill>
                  <a:srgbClr val="595959"/>
                </a:solidFill>
                <a:latin typeface="微软雅黑" panose="020B0503020204020204" pitchFamily="34" charset="-122"/>
                <a:ea typeface="微软雅黑" panose="020B0503020204020204" pitchFamily="34" charset="-122"/>
                <a:cs typeface="+mn-ea"/>
              </a:rPr>
              <a:t>来触发。</a:t>
            </a:r>
            <a:r>
              <a:rPr lang="en-US" altLang="zh-CN" sz="2000" dirty="0">
                <a:solidFill>
                  <a:srgbClr val="1369B2"/>
                </a:solidFill>
                <a:latin typeface="微软雅黑" panose="020B0503020204020204" pitchFamily="34" charset="-122"/>
                <a:ea typeface="微软雅黑" panose="020B0503020204020204" pitchFamily="34" charset="-122"/>
                <a:cs typeface="+mn-ea"/>
              </a:rPr>
              <a:t>Bootstrap</a:t>
            </a:r>
            <a:r>
              <a:rPr lang="zh-CN" altLang="en-US" sz="2000" dirty="0">
                <a:solidFill>
                  <a:srgbClr val="1369B2"/>
                </a:solidFill>
                <a:latin typeface="微软雅黑" panose="020B0503020204020204" pitchFamily="34" charset="-122"/>
                <a:ea typeface="微软雅黑" panose="020B0503020204020204" pitchFamily="34" charset="-122"/>
                <a:cs typeface="+mn-ea"/>
              </a:rPr>
              <a:t>按钮组件</a:t>
            </a:r>
            <a:r>
              <a:rPr lang="zh-CN" altLang="en-US" sz="2000" dirty="0">
                <a:solidFill>
                  <a:srgbClr val="595959"/>
                </a:solidFill>
                <a:latin typeface="微软雅黑" panose="020B0503020204020204" pitchFamily="34" charset="-122"/>
                <a:ea typeface="微软雅黑" panose="020B0503020204020204" pitchFamily="34" charset="-122"/>
                <a:cs typeface="+mn-ea"/>
              </a:rPr>
              <a:t>提供了一些</a:t>
            </a:r>
            <a:r>
              <a:rPr lang="zh-CN" altLang="en-US" sz="2000" dirty="0">
                <a:solidFill>
                  <a:srgbClr val="1369B2"/>
                </a:solidFill>
                <a:latin typeface="微软雅黑" panose="020B0503020204020204" pitchFamily="34" charset="-122"/>
                <a:ea typeface="微软雅黑" panose="020B0503020204020204" pitchFamily="34" charset="-122"/>
                <a:cs typeface="+mn-ea"/>
              </a:rPr>
              <a:t>样式类</a:t>
            </a:r>
            <a:r>
              <a:rPr lang="zh-CN" altLang="en-US" sz="2000" dirty="0">
                <a:solidFill>
                  <a:srgbClr val="595959"/>
                </a:solidFill>
                <a:latin typeface="微软雅黑" panose="020B0503020204020204" pitchFamily="34" charset="-122"/>
                <a:ea typeface="微软雅黑" panose="020B0503020204020204" pitchFamily="34" charset="-122"/>
                <a:cs typeface="+mn-ea"/>
              </a:rPr>
              <a:t>，用来制作</a:t>
            </a:r>
            <a:r>
              <a:rPr lang="zh-CN" altLang="en-US" sz="2000" dirty="0">
                <a:solidFill>
                  <a:srgbClr val="1369B2"/>
                </a:solidFill>
                <a:latin typeface="微软雅黑" panose="020B0503020204020204" pitchFamily="34" charset="-122"/>
                <a:ea typeface="微软雅黑" panose="020B0503020204020204" pitchFamily="34" charset="-122"/>
                <a:cs typeface="+mn-ea"/>
              </a:rPr>
              <a:t>各式各样</a:t>
            </a:r>
            <a:r>
              <a:rPr lang="zh-CN" altLang="en-US" sz="2000" dirty="0">
                <a:solidFill>
                  <a:srgbClr val="595959"/>
                </a:solidFill>
                <a:latin typeface="微软雅黑" panose="020B0503020204020204" pitchFamily="34" charset="-122"/>
                <a:ea typeface="微软雅黑" panose="020B0503020204020204" pitchFamily="34" charset="-122"/>
                <a:cs typeface="+mn-ea"/>
              </a:rPr>
              <a:t>的按钮。</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22140999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7"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815965" y="3576722"/>
            <a:ext cx="5247794" cy="1231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dirty="0" smtClean="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按钮</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样式</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，能够实现网页中不同样式的按钮</a:t>
            </a:r>
            <a:r>
              <a:rPr lang="zh-CN" altLang="en-US"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效果</a:t>
            </a:r>
            <a:endParaRPr lang="zh-CN" altLang="en-US" dirty="0">
              <a:solidFill>
                <a:srgbClr val="595959"/>
              </a:solidFill>
              <a:latin typeface="微软雅黑" panose="020B0503020204020204" pitchFamily="34" charset="-122"/>
              <a:ea typeface="微软雅黑" panose="020B0503020204020204" pitchFamily="34" charset="-122"/>
              <a:cs typeface="+mn-ea"/>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Title 1">
            <a:extLst>
              <a:ext uri="{FF2B5EF4-FFF2-40B4-BE49-F238E27FC236}">
                <a16:creationId xmlns:a16="http://schemas.microsoft.com/office/drawing/2014/main" id="{A5A373F7-A187-42B9-9017-12CE5611263B}"/>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6.4.1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按钮样式</a:t>
            </a:r>
          </a:p>
        </p:txBody>
      </p:sp>
    </p:spTree>
    <p:extLst>
      <p:ext uri="{BB962C8B-B14F-4D97-AF65-F5344CB8AC3E}">
        <p14:creationId xmlns:p14="http://schemas.microsoft.com/office/powerpoint/2010/main" val="10308423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5A373F7-A187-42B9-9017-12CE5611263B}"/>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6.4.1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按钮样式</a:t>
            </a:r>
          </a:p>
        </p:txBody>
      </p:sp>
      <p:sp>
        <p:nvSpPr>
          <p:cNvPr id="10" name="文本框 9">
            <a:extLst>
              <a:ext uri="{FF2B5EF4-FFF2-40B4-BE49-F238E27FC236}">
                <a16:creationId xmlns:a16="http://schemas.microsoft.com/office/drawing/2014/main" id="{559A90B5-ADF3-4EB3-8534-C53F3BC14347}"/>
              </a:ext>
            </a:extLst>
          </p:cNvPr>
          <p:cNvSpPr txBox="1"/>
          <p:nvPr/>
        </p:nvSpPr>
        <p:spPr>
          <a:xfrm>
            <a:off x="1198662" y="1125538"/>
            <a:ext cx="9577064" cy="1015663"/>
          </a:xfrm>
          <a:prstGeom prst="rect">
            <a:avLst/>
          </a:prstGeom>
          <a:noFill/>
        </p:spPr>
        <p:txBody>
          <a:bodyPr wrap="square" rtlCol="0">
            <a:spAutoFit/>
          </a:bodyPr>
          <a:lstStyle/>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Bootstrap</a:t>
            </a:r>
            <a:r>
              <a:rPr lang="zh-CN" altLang="en-US" sz="2000" dirty="0">
                <a:solidFill>
                  <a:srgbClr val="595959"/>
                </a:solidFill>
                <a:latin typeface="微软雅黑" panose="020B0503020204020204" pitchFamily="34" charset="-122"/>
                <a:ea typeface="微软雅黑" panose="020B0503020204020204" pitchFamily="34" charset="-122"/>
                <a:cs typeface="+mn-ea"/>
              </a:rPr>
              <a:t>中的基础按钮使用</a:t>
            </a:r>
            <a:r>
              <a:rPr lang="en-US" altLang="zh-CN" sz="2000" dirty="0">
                <a:solidFill>
                  <a:srgbClr val="1369B2"/>
                </a:solidFill>
                <a:latin typeface="微软雅黑" panose="020B0503020204020204" pitchFamily="34" charset="-122"/>
                <a:ea typeface="微软雅黑" panose="020B0503020204020204" pitchFamily="34" charset="-122"/>
                <a:cs typeface="+mn-ea"/>
              </a:rPr>
              <a:t>&lt;a&gt;</a:t>
            </a:r>
            <a:r>
              <a:rPr lang="zh-CN" altLang="en-US" sz="2000" dirty="0">
                <a:solidFill>
                  <a:srgbClr val="1369B2"/>
                </a:solidFill>
                <a:latin typeface="微软雅黑" panose="020B0503020204020204" pitchFamily="34" charset="-122"/>
                <a:ea typeface="微软雅黑" panose="020B0503020204020204" pitchFamily="34" charset="-122"/>
                <a:cs typeface="+mn-ea"/>
              </a:rPr>
              <a:t>标签</a:t>
            </a:r>
            <a:r>
              <a:rPr lang="zh-CN" altLang="en-US"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&lt;button&gt;</a:t>
            </a:r>
            <a:r>
              <a:rPr lang="zh-CN" altLang="en-US" sz="2000" dirty="0">
                <a:solidFill>
                  <a:srgbClr val="1369B2"/>
                </a:solidFill>
                <a:latin typeface="微软雅黑" panose="020B0503020204020204" pitchFamily="34" charset="-122"/>
                <a:ea typeface="微软雅黑" panose="020B0503020204020204" pitchFamily="34" charset="-122"/>
                <a:cs typeface="+mn-ea"/>
              </a:rPr>
              <a:t>标签</a:t>
            </a:r>
            <a:r>
              <a:rPr lang="zh-CN" altLang="en-US" sz="2000" dirty="0">
                <a:solidFill>
                  <a:srgbClr val="595959"/>
                </a:solidFill>
                <a:latin typeface="微软雅黑" panose="020B0503020204020204" pitchFamily="34" charset="-122"/>
                <a:ea typeface="微软雅黑" panose="020B0503020204020204" pitchFamily="34" charset="-122"/>
                <a:cs typeface="+mn-ea"/>
              </a:rPr>
              <a:t>或</a:t>
            </a:r>
            <a:r>
              <a:rPr lang="en-US" altLang="zh-CN" sz="2000" dirty="0">
                <a:solidFill>
                  <a:srgbClr val="1369B2"/>
                </a:solidFill>
                <a:latin typeface="微软雅黑" panose="020B0503020204020204" pitchFamily="34" charset="-122"/>
                <a:ea typeface="微软雅黑" panose="020B0503020204020204" pitchFamily="34" charset="-122"/>
                <a:cs typeface="+mn-ea"/>
              </a:rPr>
              <a:t>&lt;input&gt;</a:t>
            </a:r>
            <a:r>
              <a:rPr lang="zh-CN" altLang="en-US" sz="2000" dirty="0">
                <a:solidFill>
                  <a:srgbClr val="1369B2"/>
                </a:solidFill>
                <a:latin typeface="微软雅黑" panose="020B0503020204020204" pitchFamily="34" charset="-122"/>
                <a:ea typeface="微软雅黑" panose="020B0503020204020204" pitchFamily="34" charset="-122"/>
                <a:cs typeface="+mn-ea"/>
              </a:rPr>
              <a:t>标签</a:t>
            </a:r>
            <a:r>
              <a:rPr lang="zh-CN" altLang="en-US" sz="2000" dirty="0">
                <a:solidFill>
                  <a:srgbClr val="595959"/>
                </a:solidFill>
                <a:latin typeface="微软雅黑" panose="020B0503020204020204" pitchFamily="34" charset="-122"/>
                <a:ea typeface="微软雅黑" panose="020B0503020204020204" pitchFamily="34" charset="-122"/>
                <a:cs typeface="+mn-ea"/>
              </a:rPr>
              <a:t>定义，给这</a:t>
            </a:r>
            <a:r>
              <a:rPr lang="en-US" altLang="zh-CN" sz="2000" dirty="0">
                <a:solidFill>
                  <a:srgbClr val="595959"/>
                </a:solidFill>
                <a:latin typeface="微软雅黑" panose="020B0503020204020204" pitchFamily="34" charset="-122"/>
                <a:ea typeface="微软雅黑" panose="020B0503020204020204" pitchFamily="34" charset="-122"/>
                <a:cs typeface="+mn-ea"/>
              </a:rPr>
              <a:t>3</a:t>
            </a:r>
            <a:r>
              <a:rPr lang="zh-CN" altLang="en-US" sz="2000" dirty="0">
                <a:solidFill>
                  <a:srgbClr val="595959"/>
                </a:solidFill>
                <a:latin typeface="微软雅黑" panose="020B0503020204020204" pitchFamily="34" charset="-122"/>
                <a:ea typeface="微软雅黑" panose="020B0503020204020204" pitchFamily="34" charset="-122"/>
                <a:cs typeface="+mn-ea"/>
              </a:rPr>
              <a:t>种标签添加</a:t>
            </a:r>
            <a:r>
              <a:rPr lang="zh-CN" altLang="en-US" sz="2000" dirty="0">
                <a:solidFill>
                  <a:srgbClr val="1369B2"/>
                </a:solidFill>
                <a:latin typeface="微软雅黑" panose="020B0503020204020204" pitchFamily="34" charset="-122"/>
                <a:ea typeface="微软雅黑" panose="020B0503020204020204" pitchFamily="34" charset="-122"/>
                <a:cs typeface="+mn-ea"/>
              </a:rPr>
              <a:t>按钮样式类</a:t>
            </a:r>
            <a:r>
              <a:rPr lang="zh-CN" altLang="en-US" sz="2000" dirty="0">
                <a:solidFill>
                  <a:srgbClr val="595959"/>
                </a:solidFill>
                <a:latin typeface="微软雅黑" panose="020B0503020204020204" pitchFamily="34" charset="-122"/>
                <a:ea typeface="微软雅黑" panose="020B0503020204020204" pitchFamily="34" charset="-122"/>
                <a:cs typeface="+mn-ea"/>
              </a:rPr>
              <a:t>即可设置成</a:t>
            </a:r>
            <a:r>
              <a:rPr lang="en-US" altLang="zh-CN" sz="2000" dirty="0">
                <a:solidFill>
                  <a:srgbClr val="595959"/>
                </a:solidFill>
                <a:latin typeface="微软雅黑" panose="020B0503020204020204" pitchFamily="34" charset="-122"/>
                <a:ea typeface="微软雅黑" panose="020B0503020204020204" pitchFamily="34" charset="-122"/>
                <a:cs typeface="+mn-ea"/>
              </a:rPr>
              <a:t>Bootstrap</a:t>
            </a:r>
            <a:r>
              <a:rPr lang="zh-CN" altLang="en-US" sz="2000" dirty="0">
                <a:solidFill>
                  <a:srgbClr val="595959"/>
                </a:solidFill>
                <a:latin typeface="微软雅黑" panose="020B0503020204020204" pitchFamily="34" charset="-122"/>
                <a:ea typeface="微软雅黑" panose="020B0503020204020204" pitchFamily="34" charset="-122"/>
                <a:cs typeface="+mn-ea"/>
              </a:rPr>
              <a:t>提供的按钮效果</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p:txBody>
      </p:sp>
      <p:graphicFrame>
        <p:nvGraphicFramePr>
          <p:cNvPr id="4" name="表格 3">
            <a:extLst>
              <a:ext uri="{FF2B5EF4-FFF2-40B4-BE49-F238E27FC236}">
                <a16:creationId xmlns:a16="http://schemas.microsoft.com/office/drawing/2014/main" id="{DF15EE63-1A0D-4EDD-BB0E-6CE8A6CE3C42}"/>
              </a:ext>
            </a:extLst>
          </p:cNvPr>
          <p:cNvGraphicFramePr>
            <a:graphicFrameLocks noGrp="1"/>
          </p:cNvGraphicFramePr>
          <p:nvPr>
            <p:extLst>
              <p:ext uri="{D42A27DB-BD31-4B8C-83A1-F6EECF244321}">
                <p14:modId xmlns:p14="http://schemas.microsoft.com/office/powerpoint/2010/main" val="2527494190"/>
              </p:ext>
            </p:extLst>
          </p:nvPr>
        </p:nvGraphicFramePr>
        <p:xfrm>
          <a:off x="1342677" y="2637706"/>
          <a:ext cx="9289033" cy="3052214"/>
        </p:xfrm>
        <a:graphic>
          <a:graphicData uri="http://schemas.openxmlformats.org/drawingml/2006/table">
            <a:tbl>
              <a:tblPr>
                <a:tableStyleId>{7DF18680-E054-41AD-8BC1-D1AEF772440D}</a:tableStyleId>
              </a:tblPr>
              <a:tblGrid>
                <a:gridCol w="2304257">
                  <a:extLst>
                    <a:ext uri="{9D8B030D-6E8A-4147-A177-3AD203B41FA5}">
                      <a16:colId xmlns:a16="http://schemas.microsoft.com/office/drawing/2014/main" val="20000"/>
                    </a:ext>
                  </a:extLst>
                </a:gridCol>
                <a:gridCol w="2520280">
                  <a:extLst>
                    <a:ext uri="{9D8B030D-6E8A-4147-A177-3AD203B41FA5}">
                      <a16:colId xmlns:a16="http://schemas.microsoft.com/office/drawing/2014/main" val="4045703550"/>
                    </a:ext>
                  </a:extLst>
                </a:gridCol>
                <a:gridCol w="1990786">
                  <a:extLst>
                    <a:ext uri="{9D8B030D-6E8A-4147-A177-3AD203B41FA5}">
                      <a16:colId xmlns:a16="http://schemas.microsoft.com/office/drawing/2014/main" val="3136847963"/>
                    </a:ext>
                  </a:extLst>
                </a:gridCol>
                <a:gridCol w="2473710">
                  <a:extLst>
                    <a:ext uri="{9D8B030D-6E8A-4147-A177-3AD203B41FA5}">
                      <a16:colId xmlns:a16="http://schemas.microsoft.com/office/drawing/2014/main" val="4036093295"/>
                    </a:ext>
                  </a:extLst>
                </a:gridCol>
              </a:tblGrid>
              <a:tr h="593377">
                <a:tc>
                  <a:txBody>
                    <a:bodyPr/>
                    <a:lstStyle/>
                    <a:p>
                      <a:pPr marL="0" indent="266700" algn="ctr" defTabSz="1219200" rtl="0" eaLnBrk="1" latinLnBrk="0" hangingPunct="1">
                        <a:spcAft>
                          <a:spcPts val="0"/>
                        </a:spcAft>
                      </a:pPr>
                      <a:r>
                        <a:rPr lang="zh-CN" altLang="en-US" sz="2000" b="1" kern="100" dirty="0">
                          <a:solidFill>
                            <a:srgbClr val="595959"/>
                          </a:solidFill>
                          <a:effectLst/>
                          <a:latin typeface="微软雅黑" panose="020B0503020204020204" pitchFamily="34" charset="-122"/>
                          <a:ea typeface="微软雅黑" panose="020B0503020204020204" pitchFamily="34" charset="-122"/>
                          <a:cs typeface="+mn-cs"/>
                        </a:rPr>
                        <a:t>类</a:t>
                      </a:r>
                    </a:p>
                  </a:txBody>
                  <a:tcPr marL="68580" marR="68580" marT="0" marB="0" anchor="ctr">
                    <a:solidFill>
                      <a:srgbClr val="F2F2F2"/>
                    </a:solidFill>
                  </a:tcPr>
                </a:tc>
                <a:tc>
                  <a:txBody>
                    <a:bodyPr/>
                    <a:lstStyle/>
                    <a:p>
                      <a:pPr marL="0" indent="266700" algn="ctr" defTabSz="1219200" rtl="0" eaLnBrk="1" latinLnBrk="0" hangingPunct="1">
                        <a:spcAft>
                          <a:spcPts val="0"/>
                        </a:spcAft>
                      </a:pPr>
                      <a:r>
                        <a:rPr lang="zh-CN" altLang="en-US" sz="2000" b="1" kern="100" dirty="0">
                          <a:solidFill>
                            <a:srgbClr val="595959"/>
                          </a:solidFill>
                          <a:effectLst/>
                          <a:latin typeface="微软雅黑" panose="020B0503020204020204" pitchFamily="34" charset="-122"/>
                          <a:ea typeface="微软雅黑" panose="020B0503020204020204" pitchFamily="34" charset="-122"/>
                          <a:cs typeface="+mn-cs"/>
                        </a:rPr>
                        <a:t>描述</a:t>
                      </a:r>
                    </a:p>
                  </a:txBody>
                  <a:tcPr marL="68580" marR="68580" marT="0" marB="0" anchor="ctr">
                    <a:solidFill>
                      <a:srgbClr val="F2F2F2"/>
                    </a:solidFill>
                  </a:tcPr>
                </a:tc>
                <a:tc>
                  <a:txBody>
                    <a:bodyPr/>
                    <a:lstStyle/>
                    <a:p>
                      <a:pPr marL="0" indent="266700" algn="ctr" defTabSz="1219200" rtl="0" eaLnBrk="1" latinLnBrk="0" hangingPunct="1">
                        <a:spcAft>
                          <a:spcPts val="0"/>
                        </a:spcAft>
                      </a:pPr>
                      <a:r>
                        <a:rPr lang="zh-CN" altLang="en-US" sz="2000" b="1" kern="100" dirty="0">
                          <a:solidFill>
                            <a:srgbClr val="595959"/>
                          </a:solidFill>
                          <a:effectLst/>
                          <a:latin typeface="微软雅黑" panose="020B0503020204020204" pitchFamily="34" charset="-122"/>
                          <a:ea typeface="微软雅黑" panose="020B0503020204020204" pitchFamily="34" charset="-122"/>
                          <a:cs typeface="+mn-cs"/>
                        </a:rPr>
                        <a:t>类</a:t>
                      </a:r>
                    </a:p>
                  </a:txBody>
                  <a:tcPr marL="68580" marR="68580" marT="0" marB="0" anchor="ctr">
                    <a:solidFill>
                      <a:srgbClr val="F2F2F2"/>
                    </a:solidFill>
                  </a:tcPr>
                </a:tc>
                <a:tc>
                  <a:txBody>
                    <a:bodyPr/>
                    <a:lstStyle/>
                    <a:p>
                      <a:pPr marL="0" indent="266700" algn="ctr" defTabSz="1219200" rtl="0" eaLnBrk="1" latinLnBrk="0" hangingPunct="1">
                        <a:spcAft>
                          <a:spcPts val="0"/>
                        </a:spcAft>
                      </a:pPr>
                      <a:r>
                        <a:rPr lang="zh-CN" altLang="en-US" sz="2000" b="1" kern="100" dirty="0">
                          <a:solidFill>
                            <a:srgbClr val="595959"/>
                          </a:solidFill>
                          <a:effectLst/>
                          <a:latin typeface="微软雅黑" panose="020B0503020204020204" pitchFamily="34" charset="-122"/>
                          <a:ea typeface="微软雅黑" panose="020B0503020204020204" pitchFamily="34" charset="-122"/>
                          <a:cs typeface="+mn-cs"/>
                        </a:rPr>
                        <a:t>描述</a:t>
                      </a:r>
                    </a:p>
                  </a:txBody>
                  <a:tcPr marL="68580" marR="68580" marT="0" marB="0" anchor="ctr">
                    <a:solidFill>
                      <a:srgbClr val="F2F2F2"/>
                    </a:solidFill>
                  </a:tcPr>
                </a:tc>
                <a:extLst>
                  <a:ext uri="{0D108BD9-81ED-4DB2-BD59-A6C34878D82A}">
                    <a16:rowId xmlns:a16="http://schemas.microsoft.com/office/drawing/2014/main" val="10000"/>
                  </a:ext>
                </a:extLst>
              </a:tr>
              <a:tr h="389282">
                <a:tc>
                  <a:txBody>
                    <a:bodyPr/>
                    <a:lstStyle/>
                    <a:p>
                      <a:pPr marL="0" indent="266700" algn="l" defTabSz="1219200" rtl="0" eaLnBrk="1" latinLnBrk="0" hangingPunct="1">
                        <a:spcAft>
                          <a:spcPts val="0"/>
                        </a:spcAft>
                      </a:pPr>
                      <a:r>
                        <a:rPr lang="en-US" altLang="zh-CN" sz="2000" b="0" kern="100" dirty="0">
                          <a:solidFill>
                            <a:srgbClr val="595959"/>
                          </a:solidFill>
                          <a:effectLst/>
                          <a:latin typeface="微软雅黑" panose="020B0503020204020204" pitchFamily="34" charset="-122"/>
                          <a:ea typeface="微软雅黑" panose="020B0503020204020204" pitchFamily="34" charset="-122"/>
                          <a:cs typeface="+mn-cs"/>
                        </a:rPr>
                        <a:t>.</a:t>
                      </a:r>
                      <a:r>
                        <a:rPr lang="en-US" altLang="zh-CN" sz="2000" b="0" kern="100" dirty="0" err="1">
                          <a:solidFill>
                            <a:srgbClr val="595959"/>
                          </a:solidFill>
                          <a:effectLst/>
                          <a:latin typeface="微软雅黑" panose="020B0503020204020204" pitchFamily="34" charset="-122"/>
                          <a:ea typeface="微软雅黑" panose="020B0503020204020204" pitchFamily="34" charset="-122"/>
                          <a:cs typeface="+mn-cs"/>
                        </a:rPr>
                        <a:t>btn</a:t>
                      </a:r>
                      <a:endParaRPr lang="zh-CN" altLang="en-US" sz="2000" b="0" kern="100" dirty="0">
                        <a:solidFill>
                          <a:srgbClr val="595959"/>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tc>
                  <a:txBody>
                    <a:bodyPr/>
                    <a:lstStyle/>
                    <a:p>
                      <a:pPr marL="0" indent="266700" algn="ctr" defTabSz="1219200" rtl="0" eaLnBrk="1" latinLnBrk="0" hangingPunct="1">
                        <a:spcAft>
                          <a:spcPts val="0"/>
                        </a:spcAft>
                      </a:pPr>
                      <a:r>
                        <a:rPr lang="zh-CN" altLang="en-US" sz="2000" b="0" kern="100" dirty="0">
                          <a:solidFill>
                            <a:srgbClr val="595959"/>
                          </a:solidFill>
                          <a:effectLst/>
                          <a:latin typeface="微软雅黑" panose="020B0503020204020204" pitchFamily="34" charset="-122"/>
                          <a:ea typeface="微软雅黑" panose="020B0503020204020204" pitchFamily="34" charset="-122"/>
                          <a:cs typeface="+mn-cs"/>
                        </a:rPr>
                        <a:t>按钮的基础样式类</a:t>
                      </a:r>
                    </a:p>
                  </a:txBody>
                  <a:tcPr marL="68580" marR="68580" marT="0" marB="0" anchor="ctr">
                    <a:solidFill>
                      <a:srgbClr val="F2F2F2"/>
                    </a:solidFill>
                  </a:tcPr>
                </a:tc>
                <a:tc>
                  <a:txBody>
                    <a:bodyPr/>
                    <a:lstStyle/>
                    <a:p>
                      <a:pPr marL="0" indent="266700" algn="ctr" defTabSz="1219200" rtl="0" eaLnBrk="1" latinLnBrk="0" hangingPunct="1">
                        <a:spcAft>
                          <a:spcPts val="0"/>
                        </a:spcAft>
                      </a:pPr>
                      <a:r>
                        <a:rPr lang="en-US" altLang="zh-CN" sz="2000" b="0" kern="100" dirty="0">
                          <a:solidFill>
                            <a:srgbClr val="595959"/>
                          </a:solidFill>
                          <a:effectLst/>
                          <a:latin typeface="微软雅黑" panose="020B0503020204020204" pitchFamily="34" charset="-122"/>
                          <a:ea typeface="微软雅黑" panose="020B0503020204020204" pitchFamily="34" charset="-122"/>
                          <a:cs typeface="+mn-cs"/>
                        </a:rPr>
                        <a:t>.</a:t>
                      </a:r>
                      <a:r>
                        <a:rPr lang="en-US" altLang="zh-CN" sz="2000" b="0" kern="100" dirty="0" err="1">
                          <a:solidFill>
                            <a:srgbClr val="595959"/>
                          </a:solidFill>
                          <a:effectLst/>
                          <a:latin typeface="微软雅黑" panose="020B0503020204020204" pitchFamily="34" charset="-122"/>
                          <a:ea typeface="微软雅黑" panose="020B0503020204020204" pitchFamily="34" charset="-122"/>
                          <a:cs typeface="+mn-cs"/>
                        </a:rPr>
                        <a:t>btn</a:t>
                      </a:r>
                      <a:r>
                        <a:rPr lang="en-US" altLang="zh-CN" sz="2000" b="0" kern="100" dirty="0">
                          <a:solidFill>
                            <a:srgbClr val="595959"/>
                          </a:solidFill>
                          <a:effectLst/>
                          <a:latin typeface="微软雅黑" panose="020B0503020204020204" pitchFamily="34" charset="-122"/>
                          <a:ea typeface="微软雅黑" panose="020B0503020204020204" pitchFamily="34" charset="-122"/>
                          <a:cs typeface="+mn-cs"/>
                        </a:rPr>
                        <a:t>-danger</a:t>
                      </a:r>
                      <a:endParaRPr lang="zh-CN" altLang="en-US" sz="2000" b="0" kern="100" dirty="0">
                        <a:solidFill>
                          <a:srgbClr val="595959"/>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tc>
                  <a:txBody>
                    <a:bodyPr/>
                    <a:lstStyle/>
                    <a:p>
                      <a:pPr marL="0" indent="266700" algn="ctr" defTabSz="1219200" rtl="0" eaLnBrk="1" latinLnBrk="0" hangingPunct="1">
                        <a:spcAft>
                          <a:spcPts val="0"/>
                        </a:spcAft>
                      </a:pPr>
                      <a:r>
                        <a:rPr lang="zh-CN" altLang="en-US" sz="2000" b="0" kern="100" dirty="0">
                          <a:solidFill>
                            <a:srgbClr val="595959"/>
                          </a:solidFill>
                          <a:effectLst/>
                          <a:latin typeface="微软雅黑" panose="020B0503020204020204" pitchFamily="34" charset="-122"/>
                          <a:ea typeface="微软雅黑" panose="020B0503020204020204" pitchFamily="34" charset="-122"/>
                          <a:cs typeface="+mn-cs"/>
                        </a:rPr>
                        <a:t>危险按钮</a:t>
                      </a:r>
                    </a:p>
                  </a:txBody>
                  <a:tcPr marL="68580" marR="68580" marT="0" marB="0" anchor="ctr">
                    <a:solidFill>
                      <a:srgbClr val="F2F2F2"/>
                    </a:solidFill>
                  </a:tcPr>
                </a:tc>
                <a:extLst>
                  <a:ext uri="{0D108BD9-81ED-4DB2-BD59-A6C34878D82A}">
                    <a16:rowId xmlns:a16="http://schemas.microsoft.com/office/drawing/2014/main" val="10001"/>
                  </a:ext>
                </a:extLst>
              </a:tr>
              <a:tr h="390717">
                <a:tc>
                  <a:txBody>
                    <a:bodyPr/>
                    <a:lstStyle/>
                    <a:p>
                      <a:pPr marL="0" indent="266700" algn="l" defTabSz="1219200" rtl="0" eaLnBrk="1" latinLnBrk="0" hangingPunct="1">
                        <a:spcAft>
                          <a:spcPts val="0"/>
                        </a:spcAft>
                      </a:pPr>
                      <a:r>
                        <a:rPr lang="en-US" altLang="zh-CN" sz="2000" b="0" kern="100" dirty="0">
                          <a:solidFill>
                            <a:srgbClr val="595959"/>
                          </a:solidFill>
                          <a:effectLst/>
                          <a:latin typeface="微软雅黑" panose="020B0503020204020204" pitchFamily="34" charset="-122"/>
                          <a:ea typeface="微软雅黑" panose="020B0503020204020204" pitchFamily="34" charset="-122"/>
                          <a:cs typeface="+mn-cs"/>
                        </a:rPr>
                        <a:t>.</a:t>
                      </a:r>
                      <a:r>
                        <a:rPr lang="en-US" altLang="zh-CN" sz="2000" b="0" kern="100" dirty="0" err="1">
                          <a:solidFill>
                            <a:srgbClr val="595959"/>
                          </a:solidFill>
                          <a:effectLst/>
                          <a:latin typeface="微软雅黑" panose="020B0503020204020204" pitchFamily="34" charset="-122"/>
                          <a:ea typeface="微软雅黑" panose="020B0503020204020204" pitchFamily="34" charset="-122"/>
                          <a:cs typeface="+mn-cs"/>
                        </a:rPr>
                        <a:t>btn</a:t>
                      </a:r>
                      <a:r>
                        <a:rPr lang="en-US" altLang="zh-CN" sz="2000" b="0" kern="100" dirty="0">
                          <a:solidFill>
                            <a:srgbClr val="595959"/>
                          </a:solidFill>
                          <a:effectLst/>
                          <a:latin typeface="微软雅黑" panose="020B0503020204020204" pitchFamily="34" charset="-122"/>
                          <a:ea typeface="微软雅黑" panose="020B0503020204020204" pitchFamily="34" charset="-122"/>
                          <a:cs typeface="+mn-cs"/>
                        </a:rPr>
                        <a:t>-lg</a:t>
                      </a:r>
                      <a:endParaRPr lang="zh-CN" altLang="en-US" sz="2000" b="0" kern="100" dirty="0">
                        <a:solidFill>
                          <a:srgbClr val="595959"/>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tc>
                  <a:txBody>
                    <a:bodyPr/>
                    <a:lstStyle/>
                    <a:p>
                      <a:pPr marL="0" indent="266700" algn="ctr" defTabSz="1219200" rtl="0" eaLnBrk="1" latinLnBrk="0" hangingPunct="1">
                        <a:spcAft>
                          <a:spcPts val="0"/>
                        </a:spcAft>
                      </a:pPr>
                      <a:r>
                        <a:rPr lang="zh-CN" altLang="en-US" sz="2000" b="0" kern="100" dirty="0">
                          <a:solidFill>
                            <a:srgbClr val="595959"/>
                          </a:solidFill>
                          <a:effectLst/>
                          <a:latin typeface="微软雅黑" panose="020B0503020204020204" pitchFamily="34" charset="-122"/>
                          <a:ea typeface="微软雅黑" panose="020B0503020204020204" pitchFamily="34" charset="-122"/>
                          <a:cs typeface="+mn-cs"/>
                        </a:rPr>
                        <a:t>大号按钮</a:t>
                      </a:r>
                    </a:p>
                  </a:txBody>
                  <a:tcPr marL="68580" marR="68580" marT="0" marB="0" anchor="ctr">
                    <a:solidFill>
                      <a:srgbClr val="F2F2F2"/>
                    </a:solidFill>
                  </a:tcPr>
                </a:tc>
                <a:tc>
                  <a:txBody>
                    <a:bodyPr/>
                    <a:lstStyle/>
                    <a:p>
                      <a:pPr marL="0" indent="266700" algn="ctr" defTabSz="1219200" rtl="0" eaLnBrk="1" latinLnBrk="0" hangingPunct="1">
                        <a:spcAft>
                          <a:spcPts val="0"/>
                        </a:spcAft>
                      </a:pPr>
                      <a:r>
                        <a:rPr lang="en-US" altLang="zh-CN" sz="2000" b="0" kern="100" dirty="0">
                          <a:solidFill>
                            <a:srgbClr val="595959"/>
                          </a:solidFill>
                          <a:effectLst/>
                          <a:latin typeface="微软雅黑" panose="020B0503020204020204" pitchFamily="34" charset="-122"/>
                          <a:ea typeface="微软雅黑" panose="020B0503020204020204" pitchFamily="34" charset="-122"/>
                          <a:cs typeface="+mn-cs"/>
                        </a:rPr>
                        <a:t>.</a:t>
                      </a:r>
                      <a:r>
                        <a:rPr lang="en-US" altLang="zh-CN" sz="2000" b="0" kern="100" dirty="0" err="1">
                          <a:solidFill>
                            <a:srgbClr val="595959"/>
                          </a:solidFill>
                          <a:effectLst/>
                          <a:latin typeface="微软雅黑" panose="020B0503020204020204" pitchFamily="34" charset="-122"/>
                          <a:ea typeface="微软雅黑" panose="020B0503020204020204" pitchFamily="34" charset="-122"/>
                          <a:cs typeface="+mn-cs"/>
                        </a:rPr>
                        <a:t>btn</a:t>
                      </a:r>
                      <a:r>
                        <a:rPr lang="en-US" altLang="zh-CN" sz="2000" b="0" kern="100" dirty="0">
                          <a:solidFill>
                            <a:srgbClr val="595959"/>
                          </a:solidFill>
                          <a:effectLst/>
                          <a:latin typeface="微软雅黑" panose="020B0503020204020204" pitchFamily="34" charset="-122"/>
                          <a:ea typeface="微软雅黑" panose="020B0503020204020204" pitchFamily="34" charset="-122"/>
                          <a:cs typeface="+mn-cs"/>
                        </a:rPr>
                        <a:t>-warning</a:t>
                      </a:r>
                      <a:endParaRPr lang="zh-CN" altLang="en-US" sz="2000" b="0" kern="100" dirty="0">
                        <a:solidFill>
                          <a:srgbClr val="595959"/>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tc>
                  <a:txBody>
                    <a:bodyPr/>
                    <a:lstStyle/>
                    <a:p>
                      <a:pPr marL="0" indent="266700" algn="ctr" defTabSz="1219200" rtl="0" eaLnBrk="1" latinLnBrk="0" hangingPunct="1">
                        <a:spcAft>
                          <a:spcPts val="0"/>
                        </a:spcAft>
                      </a:pPr>
                      <a:r>
                        <a:rPr lang="zh-CN" altLang="en-US" sz="2000" b="0" kern="100" dirty="0">
                          <a:solidFill>
                            <a:srgbClr val="595959"/>
                          </a:solidFill>
                          <a:effectLst/>
                          <a:latin typeface="微软雅黑" panose="020B0503020204020204" pitchFamily="34" charset="-122"/>
                          <a:ea typeface="微软雅黑" panose="020B0503020204020204" pitchFamily="34" charset="-122"/>
                          <a:cs typeface="+mn-cs"/>
                        </a:rPr>
                        <a:t>警示按钮</a:t>
                      </a:r>
                    </a:p>
                  </a:txBody>
                  <a:tcPr marL="68580" marR="68580" marT="0" marB="0" anchor="ctr">
                    <a:solidFill>
                      <a:srgbClr val="F2F2F2"/>
                    </a:solidFill>
                  </a:tcPr>
                </a:tc>
                <a:extLst>
                  <a:ext uri="{0D108BD9-81ED-4DB2-BD59-A6C34878D82A}">
                    <a16:rowId xmlns:a16="http://schemas.microsoft.com/office/drawing/2014/main" val="10002"/>
                  </a:ext>
                </a:extLst>
              </a:tr>
              <a:tr h="390717">
                <a:tc>
                  <a:txBody>
                    <a:bodyPr/>
                    <a:lstStyle/>
                    <a:p>
                      <a:pPr marL="0" indent="266700" algn="l" defTabSz="1219200" rtl="0" eaLnBrk="1" latinLnBrk="0" hangingPunct="1">
                        <a:spcAft>
                          <a:spcPts val="0"/>
                        </a:spcAft>
                      </a:pPr>
                      <a:r>
                        <a:rPr lang="en-US" altLang="zh-CN" sz="2000" b="0" kern="100" dirty="0">
                          <a:solidFill>
                            <a:srgbClr val="595959"/>
                          </a:solidFill>
                          <a:effectLst/>
                          <a:latin typeface="微软雅黑" panose="020B0503020204020204" pitchFamily="34" charset="-122"/>
                          <a:ea typeface="微软雅黑" panose="020B0503020204020204" pitchFamily="34" charset="-122"/>
                          <a:cs typeface="+mn-cs"/>
                        </a:rPr>
                        <a:t>.</a:t>
                      </a:r>
                      <a:r>
                        <a:rPr lang="en-US" altLang="zh-CN" sz="2000" b="0" kern="100" dirty="0" err="1">
                          <a:solidFill>
                            <a:srgbClr val="595959"/>
                          </a:solidFill>
                          <a:effectLst/>
                          <a:latin typeface="微软雅黑" panose="020B0503020204020204" pitchFamily="34" charset="-122"/>
                          <a:ea typeface="微软雅黑" panose="020B0503020204020204" pitchFamily="34" charset="-122"/>
                          <a:cs typeface="+mn-cs"/>
                        </a:rPr>
                        <a:t>btn-sm</a:t>
                      </a:r>
                      <a:endParaRPr lang="zh-CN" altLang="en-US" sz="2000" b="0" kern="100" dirty="0">
                        <a:solidFill>
                          <a:srgbClr val="595959"/>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tc>
                  <a:txBody>
                    <a:bodyPr/>
                    <a:lstStyle/>
                    <a:p>
                      <a:pPr marL="0" indent="266700" algn="ctr" defTabSz="1219200" rtl="0" eaLnBrk="1" latinLnBrk="0" hangingPunct="1">
                        <a:spcAft>
                          <a:spcPts val="0"/>
                        </a:spcAft>
                      </a:pPr>
                      <a:r>
                        <a:rPr lang="zh-CN" altLang="en-US" sz="2000" b="0" kern="100" dirty="0">
                          <a:solidFill>
                            <a:srgbClr val="595959"/>
                          </a:solidFill>
                          <a:effectLst/>
                          <a:latin typeface="微软雅黑" panose="020B0503020204020204" pitchFamily="34" charset="-122"/>
                          <a:ea typeface="微软雅黑" panose="020B0503020204020204" pitchFamily="34" charset="-122"/>
                          <a:cs typeface="+mn-cs"/>
                        </a:rPr>
                        <a:t>小号按钮</a:t>
                      </a:r>
                    </a:p>
                  </a:txBody>
                  <a:tcPr marL="68580" marR="68580" marT="0" marB="0" anchor="ctr">
                    <a:solidFill>
                      <a:srgbClr val="F2F2F2"/>
                    </a:solidFill>
                  </a:tcPr>
                </a:tc>
                <a:tc>
                  <a:txBody>
                    <a:bodyPr/>
                    <a:lstStyle/>
                    <a:p>
                      <a:pPr marL="0" indent="266700" algn="ctr" defTabSz="1219200" rtl="0" eaLnBrk="1" latinLnBrk="0" hangingPunct="1">
                        <a:spcAft>
                          <a:spcPts val="0"/>
                        </a:spcAft>
                      </a:pPr>
                      <a:r>
                        <a:rPr lang="en-US" altLang="zh-CN" sz="2000" b="0" kern="100" dirty="0">
                          <a:solidFill>
                            <a:srgbClr val="595959"/>
                          </a:solidFill>
                          <a:effectLst/>
                          <a:latin typeface="微软雅黑" panose="020B0503020204020204" pitchFamily="34" charset="-122"/>
                          <a:ea typeface="微软雅黑" panose="020B0503020204020204" pitchFamily="34" charset="-122"/>
                          <a:cs typeface="+mn-cs"/>
                        </a:rPr>
                        <a:t>.</a:t>
                      </a:r>
                      <a:r>
                        <a:rPr lang="en-US" altLang="zh-CN" sz="2000" b="0" kern="100" dirty="0" err="1">
                          <a:solidFill>
                            <a:srgbClr val="595959"/>
                          </a:solidFill>
                          <a:effectLst/>
                          <a:latin typeface="微软雅黑" panose="020B0503020204020204" pitchFamily="34" charset="-122"/>
                          <a:ea typeface="微软雅黑" panose="020B0503020204020204" pitchFamily="34" charset="-122"/>
                          <a:cs typeface="+mn-cs"/>
                        </a:rPr>
                        <a:t>btn</a:t>
                      </a:r>
                      <a:r>
                        <a:rPr lang="en-US" altLang="zh-CN" sz="2000" b="0" kern="100" dirty="0">
                          <a:solidFill>
                            <a:srgbClr val="595959"/>
                          </a:solidFill>
                          <a:effectLst/>
                          <a:latin typeface="微软雅黑" panose="020B0503020204020204" pitchFamily="34" charset="-122"/>
                          <a:ea typeface="微软雅黑" panose="020B0503020204020204" pitchFamily="34" charset="-122"/>
                          <a:cs typeface="+mn-cs"/>
                        </a:rPr>
                        <a:t>-info</a:t>
                      </a:r>
                      <a:endParaRPr lang="zh-CN" altLang="en-US" sz="2000" b="0" kern="100" dirty="0">
                        <a:solidFill>
                          <a:srgbClr val="595959"/>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tc>
                  <a:txBody>
                    <a:bodyPr/>
                    <a:lstStyle/>
                    <a:p>
                      <a:pPr marL="0" indent="266700" algn="ctr" defTabSz="1219200" rtl="0" eaLnBrk="1" latinLnBrk="0" hangingPunct="1">
                        <a:spcAft>
                          <a:spcPts val="0"/>
                        </a:spcAft>
                      </a:pPr>
                      <a:r>
                        <a:rPr lang="zh-CN" altLang="en-US" sz="2000" b="0" kern="100" dirty="0">
                          <a:solidFill>
                            <a:srgbClr val="595959"/>
                          </a:solidFill>
                          <a:effectLst/>
                          <a:latin typeface="微软雅黑" panose="020B0503020204020204" pitchFamily="34" charset="-122"/>
                          <a:ea typeface="微软雅黑" panose="020B0503020204020204" pitchFamily="34" charset="-122"/>
                          <a:cs typeface="+mn-cs"/>
                        </a:rPr>
                        <a:t>信息按钮</a:t>
                      </a:r>
                    </a:p>
                  </a:txBody>
                  <a:tcPr marL="68580" marR="68580" marT="0" marB="0" anchor="ctr">
                    <a:solidFill>
                      <a:srgbClr val="F2F2F2"/>
                    </a:solidFill>
                  </a:tcPr>
                </a:tc>
                <a:extLst>
                  <a:ext uri="{0D108BD9-81ED-4DB2-BD59-A6C34878D82A}">
                    <a16:rowId xmlns:a16="http://schemas.microsoft.com/office/drawing/2014/main" val="1202222124"/>
                  </a:ext>
                </a:extLst>
              </a:tr>
              <a:tr h="390717">
                <a:tc>
                  <a:txBody>
                    <a:bodyPr/>
                    <a:lstStyle/>
                    <a:p>
                      <a:pPr marL="0" indent="266700" algn="l" defTabSz="1219200" rtl="0" eaLnBrk="1" latinLnBrk="0" hangingPunct="1">
                        <a:spcAft>
                          <a:spcPts val="0"/>
                        </a:spcAft>
                      </a:pPr>
                      <a:r>
                        <a:rPr lang="en-US" altLang="zh-CN" sz="2000" b="0" kern="100" dirty="0">
                          <a:solidFill>
                            <a:srgbClr val="595959"/>
                          </a:solidFill>
                          <a:effectLst/>
                          <a:latin typeface="微软雅黑" panose="020B0503020204020204" pitchFamily="34" charset="-122"/>
                          <a:ea typeface="微软雅黑" panose="020B0503020204020204" pitchFamily="34" charset="-122"/>
                          <a:cs typeface="+mn-cs"/>
                        </a:rPr>
                        <a:t>.</a:t>
                      </a:r>
                      <a:r>
                        <a:rPr lang="en-US" altLang="zh-CN" sz="2000" b="0" kern="100" dirty="0" err="1">
                          <a:solidFill>
                            <a:srgbClr val="595959"/>
                          </a:solidFill>
                          <a:effectLst/>
                          <a:latin typeface="微软雅黑" panose="020B0503020204020204" pitchFamily="34" charset="-122"/>
                          <a:ea typeface="微软雅黑" panose="020B0503020204020204" pitchFamily="34" charset="-122"/>
                          <a:cs typeface="+mn-cs"/>
                        </a:rPr>
                        <a:t>btn</a:t>
                      </a:r>
                      <a:r>
                        <a:rPr lang="en-US" altLang="zh-CN" sz="2000" b="0" kern="100" dirty="0">
                          <a:solidFill>
                            <a:srgbClr val="595959"/>
                          </a:solidFill>
                          <a:effectLst/>
                          <a:latin typeface="微软雅黑" panose="020B0503020204020204" pitchFamily="34" charset="-122"/>
                          <a:ea typeface="微软雅黑" panose="020B0503020204020204" pitchFamily="34" charset="-122"/>
                          <a:cs typeface="+mn-cs"/>
                        </a:rPr>
                        <a:t>-primary</a:t>
                      </a:r>
                      <a:endParaRPr lang="zh-CN" altLang="en-US" sz="2000" b="0" kern="100" dirty="0">
                        <a:solidFill>
                          <a:srgbClr val="595959"/>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tc>
                  <a:txBody>
                    <a:bodyPr/>
                    <a:lstStyle/>
                    <a:p>
                      <a:pPr marL="0" indent="266700" algn="ctr" defTabSz="1219200" rtl="0" eaLnBrk="1" latinLnBrk="0" hangingPunct="1">
                        <a:spcAft>
                          <a:spcPts val="0"/>
                        </a:spcAft>
                      </a:pPr>
                      <a:r>
                        <a:rPr lang="zh-CN" altLang="en-US" sz="2000" b="0" kern="100" dirty="0">
                          <a:solidFill>
                            <a:srgbClr val="595959"/>
                          </a:solidFill>
                          <a:effectLst/>
                          <a:latin typeface="微软雅黑" panose="020B0503020204020204" pitchFamily="34" charset="-122"/>
                          <a:ea typeface="微软雅黑" panose="020B0503020204020204" pitchFamily="34" charset="-122"/>
                          <a:cs typeface="+mn-cs"/>
                        </a:rPr>
                        <a:t>主要按钮</a:t>
                      </a:r>
                    </a:p>
                  </a:txBody>
                  <a:tcPr marL="68580" marR="68580" marT="0" marB="0" anchor="ctr">
                    <a:solidFill>
                      <a:srgbClr val="F2F2F2"/>
                    </a:solidFill>
                  </a:tcPr>
                </a:tc>
                <a:tc>
                  <a:txBody>
                    <a:bodyPr/>
                    <a:lstStyle/>
                    <a:p>
                      <a:pPr marL="0" indent="266700" algn="ctr" defTabSz="1219200" rtl="0" eaLnBrk="1" latinLnBrk="0" hangingPunct="1">
                        <a:spcAft>
                          <a:spcPts val="0"/>
                        </a:spcAft>
                      </a:pPr>
                      <a:r>
                        <a:rPr lang="en-US" altLang="zh-CN" sz="2000" b="0" kern="100" dirty="0">
                          <a:solidFill>
                            <a:srgbClr val="595959"/>
                          </a:solidFill>
                          <a:effectLst/>
                          <a:latin typeface="微软雅黑" panose="020B0503020204020204" pitchFamily="34" charset="-122"/>
                          <a:ea typeface="微软雅黑" panose="020B0503020204020204" pitchFamily="34" charset="-122"/>
                          <a:cs typeface="+mn-cs"/>
                        </a:rPr>
                        <a:t>.</a:t>
                      </a:r>
                      <a:r>
                        <a:rPr lang="en-US" altLang="zh-CN" sz="2000" b="0" kern="100" dirty="0" err="1">
                          <a:solidFill>
                            <a:srgbClr val="595959"/>
                          </a:solidFill>
                          <a:effectLst/>
                          <a:latin typeface="微软雅黑" panose="020B0503020204020204" pitchFamily="34" charset="-122"/>
                          <a:ea typeface="微软雅黑" panose="020B0503020204020204" pitchFamily="34" charset="-122"/>
                          <a:cs typeface="+mn-cs"/>
                        </a:rPr>
                        <a:t>btn</a:t>
                      </a:r>
                      <a:r>
                        <a:rPr lang="en-US" altLang="zh-CN" sz="2000" b="0" kern="100" dirty="0">
                          <a:solidFill>
                            <a:srgbClr val="595959"/>
                          </a:solidFill>
                          <a:effectLst/>
                          <a:latin typeface="微软雅黑" panose="020B0503020204020204" pitchFamily="34" charset="-122"/>
                          <a:ea typeface="微软雅黑" panose="020B0503020204020204" pitchFamily="34" charset="-122"/>
                          <a:cs typeface="+mn-cs"/>
                        </a:rPr>
                        <a:t>-light</a:t>
                      </a:r>
                      <a:endParaRPr lang="zh-CN" altLang="en-US" sz="2000" b="0" kern="100" dirty="0">
                        <a:solidFill>
                          <a:srgbClr val="595959"/>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tc>
                  <a:txBody>
                    <a:bodyPr/>
                    <a:lstStyle/>
                    <a:p>
                      <a:pPr marL="0" indent="266700" algn="ctr" defTabSz="1219200" rtl="0" eaLnBrk="1" latinLnBrk="0" hangingPunct="1">
                        <a:spcAft>
                          <a:spcPts val="0"/>
                        </a:spcAft>
                      </a:pPr>
                      <a:r>
                        <a:rPr lang="zh-CN" altLang="en-US" sz="2000" b="0" kern="100" dirty="0">
                          <a:solidFill>
                            <a:srgbClr val="595959"/>
                          </a:solidFill>
                          <a:effectLst/>
                          <a:latin typeface="微软雅黑" panose="020B0503020204020204" pitchFamily="34" charset="-122"/>
                          <a:ea typeface="微软雅黑" panose="020B0503020204020204" pitchFamily="34" charset="-122"/>
                          <a:cs typeface="+mn-cs"/>
                        </a:rPr>
                        <a:t>亮色按钮</a:t>
                      </a:r>
                    </a:p>
                  </a:txBody>
                  <a:tcPr marL="68580" marR="68580" marT="0" marB="0" anchor="ctr">
                    <a:solidFill>
                      <a:srgbClr val="F2F2F2"/>
                    </a:solidFill>
                  </a:tcPr>
                </a:tc>
                <a:extLst>
                  <a:ext uri="{0D108BD9-81ED-4DB2-BD59-A6C34878D82A}">
                    <a16:rowId xmlns:a16="http://schemas.microsoft.com/office/drawing/2014/main" val="2574163230"/>
                  </a:ext>
                </a:extLst>
              </a:tr>
              <a:tr h="506687">
                <a:tc>
                  <a:txBody>
                    <a:bodyPr/>
                    <a:lstStyle/>
                    <a:p>
                      <a:pPr marL="0" indent="266700" algn="l" defTabSz="1219200" rtl="0" eaLnBrk="1" latinLnBrk="0" hangingPunct="1">
                        <a:spcAft>
                          <a:spcPts val="0"/>
                        </a:spcAft>
                      </a:pPr>
                      <a:r>
                        <a:rPr lang="en-US" altLang="zh-CN" sz="2000" b="0" kern="100" dirty="0">
                          <a:solidFill>
                            <a:srgbClr val="595959"/>
                          </a:solidFill>
                          <a:effectLst/>
                          <a:latin typeface="微软雅黑" panose="020B0503020204020204" pitchFamily="34" charset="-122"/>
                          <a:ea typeface="微软雅黑" panose="020B0503020204020204" pitchFamily="34" charset="-122"/>
                          <a:cs typeface="+mn-cs"/>
                        </a:rPr>
                        <a:t>.</a:t>
                      </a:r>
                      <a:r>
                        <a:rPr lang="en-US" altLang="zh-CN" sz="2000" b="0" kern="100" dirty="0" err="1">
                          <a:solidFill>
                            <a:srgbClr val="595959"/>
                          </a:solidFill>
                          <a:effectLst/>
                          <a:latin typeface="微软雅黑" panose="020B0503020204020204" pitchFamily="34" charset="-122"/>
                          <a:ea typeface="微软雅黑" panose="020B0503020204020204" pitchFamily="34" charset="-122"/>
                          <a:cs typeface="+mn-cs"/>
                        </a:rPr>
                        <a:t>btn</a:t>
                      </a:r>
                      <a:r>
                        <a:rPr lang="en-US" altLang="zh-CN" sz="2000" b="0" kern="100" dirty="0">
                          <a:solidFill>
                            <a:srgbClr val="595959"/>
                          </a:solidFill>
                          <a:effectLst/>
                          <a:latin typeface="微软雅黑" panose="020B0503020204020204" pitchFamily="34" charset="-122"/>
                          <a:ea typeface="微软雅黑" panose="020B0503020204020204" pitchFamily="34" charset="-122"/>
                          <a:cs typeface="+mn-cs"/>
                        </a:rPr>
                        <a:t>-secondary</a:t>
                      </a:r>
                      <a:endParaRPr lang="zh-CN" altLang="en-US" sz="2000" b="0" kern="100" dirty="0">
                        <a:solidFill>
                          <a:srgbClr val="595959"/>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tc>
                  <a:txBody>
                    <a:bodyPr/>
                    <a:lstStyle/>
                    <a:p>
                      <a:pPr marL="0" indent="266700" algn="ctr" defTabSz="1219200" rtl="0" eaLnBrk="1" latinLnBrk="0" hangingPunct="1">
                        <a:spcAft>
                          <a:spcPts val="0"/>
                        </a:spcAft>
                      </a:pPr>
                      <a:r>
                        <a:rPr lang="zh-CN" altLang="en-US" sz="2000" b="0" kern="100" dirty="0">
                          <a:solidFill>
                            <a:srgbClr val="595959"/>
                          </a:solidFill>
                          <a:effectLst/>
                          <a:latin typeface="微软雅黑" panose="020B0503020204020204" pitchFamily="34" charset="-122"/>
                          <a:ea typeface="微软雅黑" panose="020B0503020204020204" pitchFamily="34" charset="-122"/>
                          <a:cs typeface="+mn-cs"/>
                        </a:rPr>
                        <a:t>次要按钮</a:t>
                      </a:r>
                    </a:p>
                  </a:txBody>
                  <a:tcPr marL="68580" marR="68580" marT="0" marB="0" anchor="ctr">
                    <a:solidFill>
                      <a:srgbClr val="F2F2F2"/>
                    </a:solidFill>
                  </a:tcPr>
                </a:tc>
                <a:tc>
                  <a:txBody>
                    <a:bodyPr/>
                    <a:lstStyle/>
                    <a:p>
                      <a:pPr marL="0" indent="266700" algn="ctr" defTabSz="1219200" rtl="0" eaLnBrk="1" latinLnBrk="0" hangingPunct="1">
                        <a:spcAft>
                          <a:spcPts val="0"/>
                        </a:spcAft>
                      </a:pPr>
                      <a:r>
                        <a:rPr lang="en-US" altLang="zh-CN" sz="2000" b="0" kern="100" dirty="0">
                          <a:solidFill>
                            <a:srgbClr val="595959"/>
                          </a:solidFill>
                          <a:effectLst/>
                          <a:latin typeface="微软雅黑" panose="020B0503020204020204" pitchFamily="34" charset="-122"/>
                          <a:ea typeface="微软雅黑" panose="020B0503020204020204" pitchFamily="34" charset="-122"/>
                          <a:cs typeface="+mn-cs"/>
                        </a:rPr>
                        <a:t>.</a:t>
                      </a:r>
                      <a:r>
                        <a:rPr lang="en-US" altLang="zh-CN" sz="2000" b="0" kern="100" dirty="0" err="1">
                          <a:solidFill>
                            <a:srgbClr val="595959"/>
                          </a:solidFill>
                          <a:effectLst/>
                          <a:latin typeface="微软雅黑" panose="020B0503020204020204" pitchFamily="34" charset="-122"/>
                          <a:ea typeface="微软雅黑" panose="020B0503020204020204" pitchFamily="34" charset="-122"/>
                          <a:cs typeface="+mn-cs"/>
                        </a:rPr>
                        <a:t>btn</a:t>
                      </a:r>
                      <a:r>
                        <a:rPr lang="en-US" altLang="zh-CN" sz="2000" b="0" kern="100" dirty="0">
                          <a:solidFill>
                            <a:srgbClr val="595959"/>
                          </a:solidFill>
                          <a:effectLst/>
                          <a:latin typeface="微软雅黑" panose="020B0503020204020204" pitchFamily="34" charset="-122"/>
                          <a:ea typeface="微软雅黑" panose="020B0503020204020204" pitchFamily="34" charset="-122"/>
                          <a:cs typeface="+mn-cs"/>
                        </a:rPr>
                        <a:t>-dark</a:t>
                      </a:r>
                      <a:endParaRPr lang="zh-CN" altLang="en-US" sz="2000" b="0" kern="100" dirty="0">
                        <a:solidFill>
                          <a:srgbClr val="595959"/>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tc>
                  <a:txBody>
                    <a:bodyPr/>
                    <a:lstStyle/>
                    <a:p>
                      <a:pPr marL="0" indent="266700" algn="ctr" defTabSz="1219200" rtl="0" eaLnBrk="1" latinLnBrk="0" hangingPunct="1">
                        <a:spcAft>
                          <a:spcPts val="0"/>
                        </a:spcAft>
                      </a:pPr>
                      <a:r>
                        <a:rPr lang="zh-CN" altLang="en-US" sz="2000" b="0" kern="100" dirty="0">
                          <a:solidFill>
                            <a:srgbClr val="595959"/>
                          </a:solidFill>
                          <a:effectLst/>
                          <a:latin typeface="微软雅黑" panose="020B0503020204020204" pitchFamily="34" charset="-122"/>
                          <a:ea typeface="微软雅黑" panose="020B0503020204020204" pitchFamily="34" charset="-122"/>
                          <a:cs typeface="+mn-cs"/>
                        </a:rPr>
                        <a:t>暗色按钮</a:t>
                      </a:r>
                    </a:p>
                  </a:txBody>
                  <a:tcPr marL="68580" marR="68580" marT="0" marB="0" anchor="ctr">
                    <a:solidFill>
                      <a:srgbClr val="F2F2F2"/>
                    </a:solidFill>
                  </a:tcPr>
                </a:tc>
                <a:extLst>
                  <a:ext uri="{0D108BD9-81ED-4DB2-BD59-A6C34878D82A}">
                    <a16:rowId xmlns:a16="http://schemas.microsoft.com/office/drawing/2014/main" val="1333941889"/>
                  </a:ext>
                </a:extLst>
              </a:tr>
              <a:tr h="390717">
                <a:tc>
                  <a:txBody>
                    <a:bodyPr/>
                    <a:lstStyle/>
                    <a:p>
                      <a:pPr marL="0" indent="266700" algn="l" defTabSz="1219200" rtl="0" eaLnBrk="1" latinLnBrk="0" hangingPunct="1">
                        <a:spcAft>
                          <a:spcPts val="0"/>
                        </a:spcAft>
                      </a:pPr>
                      <a:r>
                        <a:rPr lang="en-US" altLang="zh-CN" sz="2000" b="0" kern="100" dirty="0">
                          <a:solidFill>
                            <a:srgbClr val="595959"/>
                          </a:solidFill>
                          <a:effectLst/>
                          <a:latin typeface="微软雅黑" panose="020B0503020204020204" pitchFamily="34" charset="-122"/>
                          <a:ea typeface="微软雅黑" panose="020B0503020204020204" pitchFamily="34" charset="-122"/>
                          <a:cs typeface="+mn-cs"/>
                        </a:rPr>
                        <a:t>.</a:t>
                      </a:r>
                      <a:r>
                        <a:rPr lang="en-US" altLang="zh-CN" sz="2000" b="0" kern="100" dirty="0" err="1">
                          <a:solidFill>
                            <a:srgbClr val="595959"/>
                          </a:solidFill>
                          <a:effectLst/>
                          <a:latin typeface="微软雅黑" panose="020B0503020204020204" pitchFamily="34" charset="-122"/>
                          <a:ea typeface="微软雅黑" panose="020B0503020204020204" pitchFamily="34" charset="-122"/>
                          <a:cs typeface="+mn-cs"/>
                        </a:rPr>
                        <a:t>btn</a:t>
                      </a:r>
                      <a:r>
                        <a:rPr lang="en-US" altLang="zh-CN" sz="2000" b="0" kern="100" dirty="0">
                          <a:solidFill>
                            <a:srgbClr val="595959"/>
                          </a:solidFill>
                          <a:effectLst/>
                          <a:latin typeface="微软雅黑" panose="020B0503020204020204" pitchFamily="34" charset="-122"/>
                          <a:ea typeface="微软雅黑" panose="020B0503020204020204" pitchFamily="34" charset="-122"/>
                          <a:cs typeface="+mn-cs"/>
                        </a:rPr>
                        <a:t>-success</a:t>
                      </a:r>
                      <a:endParaRPr lang="zh-CN" altLang="en-US" sz="2000" b="0" kern="100" dirty="0">
                        <a:solidFill>
                          <a:srgbClr val="595959"/>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tc>
                  <a:txBody>
                    <a:bodyPr/>
                    <a:lstStyle/>
                    <a:p>
                      <a:pPr marL="0" indent="266700" algn="ctr" defTabSz="1219200" rtl="0" eaLnBrk="1" latinLnBrk="0" hangingPunct="1">
                        <a:spcAft>
                          <a:spcPts val="0"/>
                        </a:spcAft>
                      </a:pPr>
                      <a:r>
                        <a:rPr lang="zh-CN" altLang="en-US" sz="2000" b="0" kern="100" dirty="0">
                          <a:solidFill>
                            <a:srgbClr val="595959"/>
                          </a:solidFill>
                          <a:effectLst/>
                          <a:latin typeface="微软雅黑" panose="020B0503020204020204" pitchFamily="34" charset="-122"/>
                          <a:ea typeface="微软雅黑" panose="020B0503020204020204" pitchFamily="34" charset="-122"/>
                          <a:cs typeface="+mn-cs"/>
                        </a:rPr>
                        <a:t>成功按钮</a:t>
                      </a:r>
                    </a:p>
                  </a:txBody>
                  <a:tcPr marL="68580" marR="68580" marT="0" marB="0" anchor="ctr">
                    <a:solidFill>
                      <a:srgbClr val="F2F2F2"/>
                    </a:solidFill>
                  </a:tcPr>
                </a:tc>
                <a:tc>
                  <a:txBody>
                    <a:bodyPr/>
                    <a:lstStyle/>
                    <a:p>
                      <a:pPr marL="0" indent="266700" algn="ctr" defTabSz="1219200" rtl="0" eaLnBrk="1" latinLnBrk="0" hangingPunct="1">
                        <a:spcAft>
                          <a:spcPts val="0"/>
                        </a:spcAft>
                      </a:pPr>
                      <a:r>
                        <a:rPr lang="en-US" altLang="zh-CN" sz="2000" b="0" kern="100" dirty="0">
                          <a:solidFill>
                            <a:srgbClr val="595959"/>
                          </a:solidFill>
                          <a:effectLst/>
                          <a:latin typeface="微软雅黑" panose="020B0503020204020204" pitchFamily="34" charset="-122"/>
                          <a:ea typeface="微软雅黑" panose="020B0503020204020204" pitchFamily="34" charset="-122"/>
                          <a:cs typeface="+mn-cs"/>
                        </a:rPr>
                        <a:t>.</a:t>
                      </a:r>
                      <a:r>
                        <a:rPr lang="en-US" altLang="zh-CN" sz="2000" b="0" kern="100" dirty="0" err="1">
                          <a:solidFill>
                            <a:srgbClr val="595959"/>
                          </a:solidFill>
                          <a:effectLst/>
                          <a:latin typeface="微软雅黑" panose="020B0503020204020204" pitchFamily="34" charset="-122"/>
                          <a:ea typeface="微软雅黑" panose="020B0503020204020204" pitchFamily="34" charset="-122"/>
                          <a:cs typeface="+mn-cs"/>
                        </a:rPr>
                        <a:t>btn</a:t>
                      </a:r>
                      <a:r>
                        <a:rPr lang="en-US" altLang="zh-CN" sz="2000" b="0" kern="100" dirty="0">
                          <a:solidFill>
                            <a:srgbClr val="595959"/>
                          </a:solidFill>
                          <a:effectLst/>
                          <a:latin typeface="微软雅黑" panose="020B0503020204020204" pitchFamily="34" charset="-122"/>
                          <a:ea typeface="微软雅黑" panose="020B0503020204020204" pitchFamily="34" charset="-122"/>
                          <a:cs typeface="+mn-cs"/>
                        </a:rPr>
                        <a:t>-link</a:t>
                      </a:r>
                      <a:endParaRPr lang="zh-CN" altLang="en-US" sz="2000" b="0" kern="100" dirty="0">
                        <a:solidFill>
                          <a:srgbClr val="595959"/>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tc>
                  <a:txBody>
                    <a:bodyPr/>
                    <a:lstStyle/>
                    <a:p>
                      <a:pPr marL="0" indent="266700" algn="ctr" defTabSz="1219200" rtl="0" eaLnBrk="1" latinLnBrk="0" hangingPunct="1">
                        <a:spcAft>
                          <a:spcPts val="0"/>
                        </a:spcAft>
                      </a:pPr>
                      <a:r>
                        <a:rPr lang="zh-CN" altLang="en-US" sz="2000" b="0" kern="100" dirty="0">
                          <a:solidFill>
                            <a:srgbClr val="595959"/>
                          </a:solidFill>
                          <a:effectLst/>
                          <a:latin typeface="微软雅黑" panose="020B0503020204020204" pitchFamily="34" charset="-122"/>
                          <a:ea typeface="微软雅黑" panose="020B0503020204020204" pitchFamily="34" charset="-122"/>
                          <a:cs typeface="+mn-cs"/>
                        </a:rPr>
                        <a:t>链接按钮</a:t>
                      </a:r>
                    </a:p>
                  </a:txBody>
                  <a:tcPr marL="68580" marR="68580" marT="0" marB="0" anchor="ctr">
                    <a:solidFill>
                      <a:srgbClr val="F2F2F2"/>
                    </a:solidFill>
                  </a:tcPr>
                </a:tc>
                <a:extLst>
                  <a:ext uri="{0D108BD9-81ED-4DB2-BD59-A6C34878D82A}">
                    <a16:rowId xmlns:a16="http://schemas.microsoft.com/office/drawing/2014/main" val="2157122937"/>
                  </a:ext>
                </a:extLst>
              </a:tr>
            </a:tbl>
          </a:graphicData>
        </a:graphic>
      </p:graphicFrame>
    </p:spTree>
    <p:extLst>
      <p:ext uri="{BB962C8B-B14F-4D97-AF65-F5344CB8AC3E}">
        <p14:creationId xmlns:p14="http://schemas.microsoft.com/office/powerpoint/2010/main" val="21266529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5A373F7-A187-42B9-9017-12CE5611263B}"/>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6.4.1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按钮样式</a:t>
            </a:r>
          </a:p>
        </p:txBody>
      </p:sp>
      <p:sp>
        <p:nvSpPr>
          <p:cNvPr id="10" name="文本框 9">
            <a:extLst>
              <a:ext uri="{FF2B5EF4-FFF2-40B4-BE49-F238E27FC236}">
                <a16:creationId xmlns:a16="http://schemas.microsoft.com/office/drawing/2014/main" id="{559A90B5-ADF3-4EB3-8534-C53F3BC14347}"/>
              </a:ext>
            </a:extLst>
          </p:cNvPr>
          <p:cNvSpPr txBox="1"/>
          <p:nvPr/>
        </p:nvSpPr>
        <p:spPr>
          <a:xfrm>
            <a:off x="1198662" y="1219612"/>
            <a:ext cx="9577064" cy="553998"/>
          </a:xfrm>
          <a:prstGeom prst="rect">
            <a:avLst/>
          </a:prstGeom>
          <a:noFill/>
        </p:spPr>
        <p:txBody>
          <a:bodyPr wrap="square" rtlCol="0">
            <a:spAutoFit/>
          </a:body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cs typeface="+mn-ea"/>
              </a:rPr>
              <a:t>实现</a:t>
            </a:r>
            <a:r>
              <a:rPr lang="zh-CN" altLang="en-US" sz="2000" dirty="0">
                <a:solidFill>
                  <a:srgbClr val="1369B2"/>
                </a:solidFill>
                <a:latin typeface="微软雅黑" panose="020B0503020204020204" pitchFamily="34" charset="-122"/>
                <a:ea typeface="微软雅黑" panose="020B0503020204020204" pitchFamily="34" charset="-122"/>
                <a:cs typeface="+mn-ea"/>
              </a:rPr>
              <a:t>不同种类按钮</a:t>
            </a:r>
            <a:r>
              <a:rPr lang="zh-CN" altLang="en-US" sz="2000" dirty="0">
                <a:solidFill>
                  <a:srgbClr val="595959"/>
                </a:solidFill>
                <a:latin typeface="微软雅黑" panose="020B0503020204020204" pitchFamily="34" charset="-122"/>
                <a:ea typeface="微软雅黑" panose="020B0503020204020204" pitchFamily="34" charset="-122"/>
                <a:cs typeface="+mn-ea"/>
              </a:rPr>
              <a:t>页面，效果如图：</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026" name="图片 1">
            <a:extLst>
              <a:ext uri="{FF2B5EF4-FFF2-40B4-BE49-F238E27FC236}">
                <a16:creationId xmlns:a16="http://schemas.microsoft.com/office/drawing/2014/main" id="{A0D6C343-F581-4E51-A4DB-1E452623D5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4946" y="2277666"/>
            <a:ext cx="4752528" cy="202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195563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A22F1E4-39AE-424B-B19B-3301952C7205}"/>
              </a:ext>
            </a:extLst>
          </p:cNvPr>
          <p:cNvSpPr txBox="1"/>
          <p:nvPr/>
        </p:nvSpPr>
        <p:spPr>
          <a:xfrm>
            <a:off x="3059949" y="2349674"/>
            <a:ext cx="7787785" cy="4111510"/>
          </a:xfrm>
          <a:prstGeom prst="rect">
            <a:avLst/>
          </a:prstGeom>
          <a:solidFill>
            <a:srgbClr val="F2F2F2"/>
          </a:solidFill>
        </p:spPr>
        <p:txBody>
          <a:bodyPr wrap="square">
            <a:spAutoFit/>
          </a:bodyPr>
          <a:lstStyle/>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&lt;!DOCTYPE html&gt;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&lt;html&gt;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&lt;head&gt;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&lt;meta charset="UTF-8"&gt;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&lt;meta name="viewport" content="width=device-width, initial-scale=1.0"&gt;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&lt;title&gt;Document&lt;/title&gt;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&lt;link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rel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="stylesheet"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="bootstrap-4.6.0-dist/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css</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/bootstrap.min.css"&gt;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&lt;/head&gt;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&lt;body&gt;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&lt;/body&gt;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&lt;/html&gt;</a:t>
            </a:r>
          </a:p>
        </p:txBody>
      </p:sp>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01</a:t>
              </a: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053530"/>
            <a:ext cx="8722842" cy="1107996"/>
          </a:xfrm>
          <a:prstGeom prst="rect">
            <a:avLst/>
          </a:prstGeom>
          <a:noFill/>
          <a:ln>
            <a:noFill/>
          </a:ln>
        </p:spPr>
        <p:txBody>
          <a:bodyPr wrap="square" rtlCol="0">
            <a:spAutoFit/>
          </a:bodyPr>
          <a:lstStyle/>
          <a:p>
            <a:pPr lvl="0" defTabSz="457200">
              <a:lnSpc>
                <a:spcPct val="150000"/>
              </a:lnSpc>
              <a:defRPr/>
            </a:pPr>
            <a:r>
              <a:rPr lang="zh-CN" altLang="en-US" b="1" kern="0" dirty="0">
                <a:solidFill>
                  <a:srgbClr val="595959"/>
                </a:solidFill>
                <a:latin typeface="微软雅黑" panose="020B0503020204020204" pitchFamily="34" charset="-122"/>
                <a:ea typeface="微软雅黑" panose="020B0503020204020204" pitchFamily="34" charset="-122"/>
                <a:cs typeface="+mn-ea"/>
                <a:sym typeface="+mn-lt"/>
              </a:rPr>
              <a:t>实现不同种类按钮的页面</a:t>
            </a:r>
            <a:endParaRPr lang="en-US" altLang="zh-CN" b="1" kern="0" dirty="0">
              <a:solidFill>
                <a:srgbClr val="595959"/>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创建</a:t>
            </a:r>
            <a:r>
              <a:rPr lang="en-US" altLang="zh-CN" sz="2000" dirty="0">
                <a:solidFill>
                  <a:srgbClr val="595959"/>
                </a:solidFill>
                <a:latin typeface="微软雅黑" panose="020B0503020204020204" pitchFamily="34" charset="-122"/>
                <a:ea typeface="微软雅黑" panose="020B0503020204020204" pitchFamily="34" charset="-122"/>
              </a:rPr>
              <a:t>C:\code\chapter06\demo10.html</a:t>
            </a:r>
            <a:r>
              <a:rPr lang="zh-CN" altLang="en-US" sz="2000" dirty="0">
                <a:solidFill>
                  <a:srgbClr val="595959"/>
                </a:solidFill>
                <a:latin typeface="微软雅黑" panose="020B0503020204020204" pitchFamily="34" charset="-122"/>
                <a:ea typeface="微软雅黑" panose="020B0503020204020204" pitchFamily="34" charset="-122"/>
              </a:rPr>
              <a:t>，配置</a:t>
            </a:r>
            <a:r>
              <a:rPr lang="zh-CN" altLang="en-US" sz="2000" dirty="0">
                <a:solidFill>
                  <a:srgbClr val="1369B2"/>
                </a:solidFill>
                <a:latin typeface="微软雅黑" panose="020B0503020204020204" pitchFamily="34" charset="-122"/>
                <a:ea typeface="微软雅黑" panose="020B0503020204020204" pitchFamily="34" charset="-122"/>
              </a:rPr>
              <a:t>视口</a:t>
            </a:r>
            <a:r>
              <a:rPr lang="zh-CN" altLang="en-US" sz="2000" dirty="0">
                <a:solidFill>
                  <a:srgbClr val="595959"/>
                </a:solidFill>
                <a:latin typeface="微软雅黑" panose="020B0503020204020204" pitchFamily="34" charset="-122"/>
                <a:ea typeface="微软雅黑" panose="020B0503020204020204" pitchFamily="34" charset="-122"/>
              </a:rPr>
              <a:t>并</a:t>
            </a:r>
            <a:r>
              <a:rPr lang="zh-CN" altLang="en-US" sz="2000" dirty="0">
                <a:solidFill>
                  <a:srgbClr val="1369B2"/>
                </a:solidFill>
                <a:latin typeface="微软雅黑" panose="020B0503020204020204" pitchFamily="34" charset="-122"/>
                <a:ea typeface="微软雅黑" panose="020B0503020204020204" pitchFamily="34" charset="-122"/>
              </a:rPr>
              <a:t>引入</a:t>
            </a:r>
            <a:r>
              <a:rPr lang="zh-CN" altLang="en-US" sz="2000" dirty="0">
                <a:solidFill>
                  <a:srgbClr val="595959"/>
                </a:solidFill>
                <a:latin typeface="微软雅黑" panose="020B0503020204020204" pitchFamily="34" charset="-122"/>
                <a:ea typeface="微软雅黑" panose="020B0503020204020204" pitchFamily="34" charset="-122"/>
              </a:rPr>
              <a:t>依赖文件。</a:t>
            </a:r>
          </a:p>
        </p:txBody>
      </p:sp>
      <p:sp>
        <p:nvSpPr>
          <p:cNvPr id="11" name="Title 1">
            <a:extLst>
              <a:ext uri="{FF2B5EF4-FFF2-40B4-BE49-F238E27FC236}">
                <a16:creationId xmlns:a16="http://schemas.microsoft.com/office/drawing/2014/main" id="{714E31BB-9E2F-4FC1-8EC7-F72930651575}"/>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6.4.1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按钮样式</a:t>
            </a:r>
          </a:p>
        </p:txBody>
      </p:sp>
    </p:spTree>
    <p:extLst>
      <p:ext uri="{BB962C8B-B14F-4D97-AF65-F5344CB8AC3E}">
        <p14:creationId xmlns:p14="http://schemas.microsoft.com/office/powerpoint/2010/main" val="12633728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A22F1E4-39AE-424B-B19B-3301952C7205}"/>
              </a:ext>
            </a:extLst>
          </p:cNvPr>
          <p:cNvSpPr txBox="1"/>
          <p:nvPr/>
        </p:nvSpPr>
        <p:spPr>
          <a:xfrm>
            <a:off x="3059949" y="2485025"/>
            <a:ext cx="7787785" cy="1895519"/>
          </a:xfrm>
          <a:prstGeom prst="rect">
            <a:avLst/>
          </a:prstGeom>
          <a:solidFill>
            <a:srgbClr val="F2F2F2"/>
          </a:solidFill>
        </p:spPr>
        <p:txBody>
          <a:bodyPr wrap="square">
            <a:spAutoFit/>
          </a:bodyPr>
          <a:lstStyle/>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&lt;button type="button"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-primary"&gt;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主要按钮</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&lt;/button&gt;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&lt;button type="button"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-secondary"&gt;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次要按钮</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&lt;/button&gt;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&lt;button type="button"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-success"&gt;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成功按钮</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&lt;/button&gt;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&lt;button type="button"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-danger"&gt;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危险按钮</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&lt;/button&gt;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&lt;button type="button"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-warning"&gt;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警示按钮</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&lt;/button&gt;</a:t>
            </a:r>
          </a:p>
        </p:txBody>
      </p:sp>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02</a:t>
              </a: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053530"/>
            <a:ext cx="8722842" cy="1107996"/>
          </a:xfrm>
          <a:prstGeom prst="rect">
            <a:avLst/>
          </a:prstGeom>
          <a:noFill/>
          <a:ln>
            <a:noFill/>
          </a:ln>
        </p:spPr>
        <p:txBody>
          <a:bodyPr wrap="square" rtlCol="0">
            <a:spAutoFit/>
          </a:bodyPr>
          <a:lstStyle/>
          <a:p>
            <a:pPr lvl="0" defTabSz="457200">
              <a:lnSpc>
                <a:spcPct val="150000"/>
              </a:lnSpc>
              <a:defRPr/>
            </a:pPr>
            <a:r>
              <a:rPr lang="zh-CN" altLang="en-US" b="1" kern="0" dirty="0">
                <a:solidFill>
                  <a:srgbClr val="595959"/>
                </a:solidFill>
                <a:latin typeface="微软雅黑" panose="020B0503020204020204" pitchFamily="34" charset="-122"/>
                <a:ea typeface="微软雅黑" panose="020B0503020204020204" pitchFamily="34" charset="-122"/>
                <a:cs typeface="+mn-ea"/>
                <a:sym typeface="+mn-lt"/>
              </a:rPr>
              <a:t>实现不同种类按钮的页面</a:t>
            </a:r>
            <a:endParaRPr lang="en-US" altLang="zh-CN" b="1" kern="0" dirty="0">
              <a:solidFill>
                <a:srgbClr val="595959"/>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修改</a:t>
            </a:r>
            <a:r>
              <a:rPr lang="en-US" altLang="zh-CN" sz="2000" dirty="0">
                <a:solidFill>
                  <a:srgbClr val="595959"/>
                </a:solidFill>
                <a:latin typeface="微软雅黑" panose="020B0503020204020204" pitchFamily="34" charset="-122"/>
                <a:ea typeface="微软雅黑" panose="020B0503020204020204" pitchFamily="34" charset="-122"/>
              </a:rPr>
              <a:t>demo10.html</a:t>
            </a:r>
            <a:r>
              <a:rPr lang="zh-CN" altLang="en-US" sz="2000" dirty="0">
                <a:solidFill>
                  <a:srgbClr val="595959"/>
                </a:solidFill>
                <a:latin typeface="微软雅黑" panose="020B0503020204020204" pitchFamily="34" charset="-122"/>
                <a:ea typeface="微软雅黑" panose="020B0503020204020204" pitchFamily="34" charset="-122"/>
              </a:rPr>
              <a:t>，在</a:t>
            </a:r>
            <a:r>
              <a:rPr lang="en-US" altLang="zh-CN" sz="2000" dirty="0">
                <a:solidFill>
                  <a:srgbClr val="1369B2"/>
                </a:solidFill>
                <a:latin typeface="微软雅黑" panose="020B0503020204020204" pitchFamily="34" charset="-122"/>
                <a:ea typeface="微软雅黑" panose="020B0503020204020204" pitchFamily="34" charset="-122"/>
              </a:rPr>
              <a:t>&lt;/body&gt;</a:t>
            </a:r>
            <a:r>
              <a:rPr lang="zh-CN" altLang="en-US" sz="2000" dirty="0">
                <a:solidFill>
                  <a:srgbClr val="595959"/>
                </a:solidFill>
                <a:latin typeface="微软雅黑" panose="020B0503020204020204" pitchFamily="34" charset="-122"/>
                <a:ea typeface="微软雅黑" panose="020B0503020204020204" pitchFamily="34" charset="-122"/>
              </a:rPr>
              <a:t>标签结束前，添加以下代码。</a:t>
            </a:r>
          </a:p>
        </p:txBody>
      </p:sp>
      <p:sp>
        <p:nvSpPr>
          <p:cNvPr id="11" name="Title 1">
            <a:extLst>
              <a:ext uri="{FF2B5EF4-FFF2-40B4-BE49-F238E27FC236}">
                <a16:creationId xmlns:a16="http://schemas.microsoft.com/office/drawing/2014/main" id="{57E4DAD9-4B92-414A-9DEF-788D0465F4DD}"/>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6.4.1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按钮样式</a:t>
            </a:r>
          </a:p>
        </p:txBody>
      </p:sp>
    </p:spTree>
    <p:extLst>
      <p:ext uri="{BB962C8B-B14F-4D97-AF65-F5344CB8AC3E}">
        <p14:creationId xmlns:p14="http://schemas.microsoft.com/office/powerpoint/2010/main" val="3066902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A22F1E4-39AE-424B-B19B-3301952C7205}"/>
              </a:ext>
            </a:extLst>
          </p:cNvPr>
          <p:cNvSpPr txBox="1"/>
          <p:nvPr/>
        </p:nvSpPr>
        <p:spPr>
          <a:xfrm>
            <a:off x="3059949" y="2485025"/>
            <a:ext cx="7787785" cy="2634183"/>
          </a:xfrm>
          <a:prstGeom prst="rect">
            <a:avLst/>
          </a:prstGeom>
          <a:solidFill>
            <a:srgbClr val="F2F2F2"/>
          </a:solidFill>
        </p:spPr>
        <p:txBody>
          <a:bodyPr wrap="square">
            <a:spAutoFit/>
          </a:bodyPr>
          <a:lstStyle/>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&lt;button type="button"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-info"&gt;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信息按钮</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&lt;/button&gt;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&lt;button type="button"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-light"&gt;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亮色按钮</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&lt;/button&gt;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&lt;button type="button"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-dark"&gt;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暗色按钮</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&lt;/button&gt;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&lt;button type="button"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-link"&gt;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链接按钮</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&lt;/button&gt;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&lt;button type="button"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-primary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-lg"&gt;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大号按钮</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&lt;/button&gt;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&lt;button type="button"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-primary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btn-sm</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小号按钮</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&lt;/button&gt;</a:t>
            </a:r>
          </a:p>
        </p:txBody>
      </p:sp>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03</a:t>
              </a: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053530"/>
            <a:ext cx="8722842" cy="1107996"/>
          </a:xfrm>
          <a:prstGeom prst="rect">
            <a:avLst/>
          </a:prstGeom>
          <a:noFill/>
          <a:ln>
            <a:noFill/>
          </a:ln>
        </p:spPr>
        <p:txBody>
          <a:bodyPr wrap="square" rtlCol="0">
            <a:spAutoFit/>
          </a:bodyPr>
          <a:lstStyle/>
          <a:p>
            <a:pPr lvl="0" defTabSz="457200">
              <a:lnSpc>
                <a:spcPct val="150000"/>
              </a:lnSpc>
              <a:defRPr/>
            </a:pPr>
            <a:r>
              <a:rPr lang="zh-CN" altLang="en-US" b="1" kern="0" dirty="0">
                <a:solidFill>
                  <a:srgbClr val="595959"/>
                </a:solidFill>
                <a:latin typeface="微软雅黑" panose="020B0503020204020204" pitchFamily="34" charset="-122"/>
                <a:ea typeface="微软雅黑" panose="020B0503020204020204" pitchFamily="34" charset="-122"/>
                <a:cs typeface="+mn-ea"/>
                <a:sym typeface="+mn-lt"/>
              </a:rPr>
              <a:t>实现不同种类按钮的页面</a:t>
            </a:r>
            <a:endParaRPr lang="en-US" altLang="zh-CN" b="1" kern="0" dirty="0">
              <a:solidFill>
                <a:srgbClr val="595959"/>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修改</a:t>
            </a:r>
            <a:r>
              <a:rPr lang="en-US" altLang="zh-CN" sz="2000" dirty="0">
                <a:solidFill>
                  <a:srgbClr val="595959"/>
                </a:solidFill>
                <a:latin typeface="微软雅黑" panose="020B0503020204020204" pitchFamily="34" charset="-122"/>
                <a:ea typeface="微软雅黑" panose="020B0503020204020204" pitchFamily="34" charset="-122"/>
              </a:rPr>
              <a:t>demo10.html</a:t>
            </a:r>
            <a:r>
              <a:rPr lang="zh-CN" altLang="en-US" sz="2000" dirty="0">
                <a:solidFill>
                  <a:srgbClr val="595959"/>
                </a:solidFill>
                <a:latin typeface="微软雅黑" panose="020B0503020204020204" pitchFamily="34" charset="-122"/>
                <a:ea typeface="微软雅黑" panose="020B0503020204020204" pitchFamily="34" charset="-122"/>
              </a:rPr>
              <a:t>，在</a:t>
            </a:r>
            <a:r>
              <a:rPr lang="en-US" altLang="zh-CN" sz="2000" dirty="0">
                <a:solidFill>
                  <a:srgbClr val="1369B2"/>
                </a:solidFill>
                <a:latin typeface="微软雅黑" panose="020B0503020204020204" pitchFamily="34" charset="-122"/>
                <a:ea typeface="微软雅黑" panose="020B0503020204020204" pitchFamily="34" charset="-122"/>
              </a:rPr>
              <a:t>&lt;/body&gt;</a:t>
            </a:r>
            <a:r>
              <a:rPr lang="zh-CN" altLang="en-US" sz="2000" dirty="0">
                <a:solidFill>
                  <a:srgbClr val="595959"/>
                </a:solidFill>
                <a:latin typeface="微软雅黑" panose="020B0503020204020204" pitchFamily="34" charset="-122"/>
                <a:ea typeface="微软雅黑" panose="020B0503020204020204" pitchFamily="34" charset="-122"/>
              </a:rPr>
              <a:t>标签结束前，继续添加以下代码。</a:t>
            </a:r>
          </a:p>
        </p:txBody>
      </p:sp>
      <p:sp>
        <p:nvSpPr>
          <p:cNvPr id="11" name="Title 1">
            <a:extLst>
              <a:ext uri="{FF2B5EF4-FFF2-40B4-BE49-F238E27FC236}">
                <a16:creationId xmlns:a16="http://schemas.microsoft.com/office/drawing/2014/main" id="{57E4DAD9-4B92-414A-9DEF-788D0465F4DD}"/>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6.4.1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按钮样式</a:t>
            </a:r>
          </a:p>
        </p:txBody>
      </p:sp>
    </p:spTree>
    <p:extLst>
      <p:ext uri="{BB962C8B-B14F-4D97-AF65-F5344CB8AC3E}">
        <p14:creationId xmlns:p14="http://schemas.microsoft.com/office/powerpoint/2010/main" val="7490882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03</a:t>
              </a: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053530"/>
            <a:ext cx="8722842" cy="1107996"/>
          </a:xfrm>
          <a:prstGeom prst="rect">
            <a:avLst/>
          </a:prstGeom>
          <a:noFill/>
          <a:ln>
            <a:noFill/>
          </a:ln>
        </p:spPr>
        <p:txBody>
          <a:bodyPr wrap="square" rtlCol="0">
            <a:spAutoFit/>
          </a:bodyPr>
          <a:lstStyle/>
          <a:p>
            <a:pPr lvl="0" defTabSz="457200">
              <a:lnSpc>
                <a:spcPct val="150000"/>
              </a:lnSpc>
              <a:defRPr/>
            </a:pPr>
            <a:r>
              <a:rPr lang="zh-CN" altLang="en-US" b="1" kern="0" dirty="0">
                <a:solidFill>
                  <a:srgbClr val="595959"/>
                </a:solidFill>
                <a:latin typeface="微软雅黑" panose="020B0503020204020204" pitchFamily="34" charset="-122"/>
                <a:ea typeface="微软雅黑" panose="020B0503020204020204" pitchFamily="34" charset="-122"/>
                <a:cs typeface="+mn-ea"/>
                <a:sym typeface="+mn-lt"/>
              </a:rPr>
              <a:t>在浏览器中访问</a:t>
            </a:r>
            <a:r>
              <a:rPr lang="en-US" altLang="zh-CN" b="1" kern="0" dirty="0">
                <a:solidFill>
                  <a:srgbClr val="595959"/>
                </a:solidFill>
                <a:latin typeface="微软雅黑" panose="020B0503020204020204" pitchFamily="34" charset="-122"/>
                <a:ea typeface="微软雅黑" panose="020B0503020204020204" pitchFamily="34" charset="-122"/>
                <a:cs typeface="+mn-ea"/>
                <a:sym typeface="+mn-lt"/>
              </a:rPr>
              <a:t>demo10.html</a:t>
            </a:r>
          </a:p>
          <a:p>
            <a:pPr lvl="0" defTabSz="457200">
              <a:lnSpc>
                <a:spcPct val="150000"/>
              </a:lnSpc>
              <a:defRPr/>
            </a:pPr>
            <a:r>
              <a:rPr lang="zh-CN" altLang="en-US" sz="2000" dirty="0">
                <a:solidFill>
                  <a:srgbClr val="1369B2"/>
                </a:solidFill>
                <a:latin typeface="微软雅黑" panose="020B0503020204020204" pitchFamily="34" charset="-122"/>
                <a:ea typeface="微软雅黑" panose="020B0503020204020204" pitchFamily="34" charset="-122"/>
              </a:rPr>
              <a:t>不同种类</a:t>
            </a:r>
            <a:r>
              <a:rPr lang="zh-CN" altLang="en-US" sz="2000" dirty="0">
                <a:solidFill>
                  <a:srgbClr val="595959"/>
                </a:solidFill>
                <a:latin typeface="微软雅黑" panose="020B0503020204020204" pitchFamily="34" charset="-122"/>
                <a:ea typeface="微软雅黑" panose="020B0503020204020204" pitchFamily="34" charset="-122"/>
              </a:rPr>
              <a:t>按钮页面效果如图。</a:t>
            </a:r>
          </a:p>
        </p:txBody>
      </p:sp>
      <p:pic>
        <p:nvPicPr>
          <p:cNvPr id="11" name="图片 1">
            <a:extLst>
              <a:ext uri="{FF2B5EF4-FFF2-40B4-BE49-F238E27FC236}">
                <a16:creationId xmlns:a16="http://schemas.microsoft.com/office/drawing/2014/main" id="{CFEAD9DB-44BE-4E56-9F58-1FD87AD638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2918" y="2387601"/>
            <a:ext cx="4752528" cy="202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itle 1">
            <a:extLst>
              <a:ext uri="{FF2B5EF4-FFF2-40B4-BE49-F238E27FC236}">
                <a16:creationId xmlns:a16="http://schemas.microsoft.com/office/drawing/2014/main" id="{566B3375-AAF8-4957-8522-C9BB650C9B12}"/>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6.4.1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按钮样式</a:t>
            </a:r>
          </a:p>
        </p:txBody>
      </p:sp>
    </p:spTree>
    <p:extLst>
      <p:ext uri="{BB962C8B-B14F-4D97-AF65-F5344CB8AC3E}">
        <p14:creationId xmlns:p14="http://schemas.microsoft.com/office/powerpoint/2010/main" val="15975351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7"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815964" y="3576722"/>
            <a:ext cx="5175785" cy="1231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按钮</a:t>
            </a:r>
            <a:r>
              <a:rPr lang="zh-CN" altLang="en-US" dirty="0" smtClean="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组</a:t>
            </a:r>
            <a:r>
              <a:rPr lang="zh-CN" altLang="en-US"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的使用，</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能够实现按钮组页面</a:t>
            </a:r>
            <a:r>
              <a:rPr lang="zh-CN" altLang="en-US"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效果</a:t>
            </a:r>
            <a:endParaRPr lang="zh-CN" altLang="en-US" dirty="0">
              <a:solidFill>
                <a:srgbClr val="595959"/>
              </a:solidFill>
              <a:latin typeface="微软雅黑" panose="020B0503020204020204" pitchFamily="34" charset="-122"/>
              <a:ea typeface="微软雅黑" panose="020B0503020204020204" pitchFamily="34" charset="-122"/>
              <a:cs typeface="+mn-ea"/>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Title 1">
            <a:extLst>
              <a:ext uri="{FF2B5EF4-FFF2-40B4-BE49-F238E27FC236}">
                <a16:creationId xmlns:a16="http://schemas.microsoft.com/office/drawing/2014/main" id="{A5A373F7-A187-42B9-9017-12CE5611263B}"/>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6.4.2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按钮组</a:t>
            </a:r>
          </a:p>
        </p:txBody>
      </p:sp>
    </p:spTree>
    <p:extLst>
      <p:ext uri="{BB962C8B-B14F-4D97-AF65-F5344CB8AC3E}">
        <p14:creationId xmlns:p14="http://schemas.microsoft.com/office/powerpoint/2010/main" val="1249214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559A90B5-ADF3-4EB3-8534-C53F3BC14347}"/>
              </a:ext>
            </a:extLst>
          </p:cNvPr>
          <p:cNvSpPr txBox="1"/>
          <p:nvPr/>
        </p:nvSpPr>
        <p:spPr>
          <a:xfrm>
            <a:off x="1198662" y="1341562"/>
            <a:ext cx="9577064" cy="2862322"/>
          </a:xfrm>
          <a:prstGeom prst="rect">
            <a:avLst/>
          </a:prstGeom>
          <a:noFill/>
        </p:spPr>
        <p:txBody>
          <a:bodyPr wrap="square" rtlCol="0">
            <a:spAutoFit/>
          </a:bodyPr>
          <a:lstStyle/>
          <a:p>
            <a:pPr>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cs typeface="+mn-ea"/>
              </a:rPr>
              <a:t>什么是按钮组？</a:t>
            </a:r>
            <a:endParaRPr lang="en-US" altLang="zh-CN" sz="2000" dirty="0">
              <a:solidFill>
                <a:srgbClr val="1369B2"/>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1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cs typeface="+mn-ea"/>
              </a:rPr>
              <a:t>按钮</a:t>
            </a:r>
            <a:r>
              <a:rPr lang="zh-CN" altLang="en-US" sz="2000" dirty="0" smtClean="0">
                <a:solidFill>
                  <a:srgbClr val="1369B2"/>
                </a:solidFill>
                <a:latin typeface="微软雅黑" panose="020B0503020204020204" pitchFamily="34" charset="-122"/>
                <a:ea typeface="微软雅黑" panose="020B0503020204020204" pitchFamily="34" charset="-122"/>
                <a:cs typeface="+mn-ea"/>
              </a:rPr>
              <a:t>组：</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是</a:t>
            </a:r>
            <a:r>
              <a:rPr lang="zh-CN" altLang="en-US" sz="2000" dirty="0">
                <a:solidFill>
                  <a:srgbClr val="595959"/>
                </a:solidFill>
                <a:latin typeface="微软雅黑" panose="020B0503020204020204" pitchFamily="34" charset="-122"/>
                <a:ea typeface="微软雅黑" panose="020B0503020204020204" pitchFamily="34" charset="-122"/>
                <a:cs typeface="+mn-ea"/>
              </a:rPr>
              <a:t>将</a:t>
            </a:r>
            <a:r>
              <a:rPr lang="zh-CN" altLang="en-US" sz="2000" dirty="0">
                <a:solidFill>
                  <a:srgbClr val="1369B2"/>
                </a:solidFill>
                <a:latin typeface="微软雅黑" panose="020B0503020204020204" pitchFamily="34" charset="-122"/>
                <a:ea typeface="微软雅黑" panose="020B0503020204020204" pitchFamily="34" charset="-122"/>
                <a:cs typeface="+mn-ea"/>
              </a:rPr>
              <a:t>同一类</a:t>
            </a:r>
            <a:r>
              <a:rPr lang="zh-CN" altLang="en-US" sz="2000" dirty="0">
                <a:solidFill>
                  <a:srgbClr val="595959"/>
                </a:solidFill>
                <a:latin typeface="微软雅黑" panose="020B0503020204020204" pitchFamily="34" charset="-122"/>
                <a:ea typeface="微软雅黑" panose="020B0503020204020204" pitchFamily="34" charset="-122"/>
                <a:cs typeface="+mn-ea"/>
              </a:rPr>
              <a:t>功能的</a:t>
            </a:r>
            <a:r>
              <a:rPr lang="zh-CN" altLang="en-US" sz="2000" dirty="0">
                <a:solidFill>
                  <a:srgbClr val="1369B2"/>
                </a:solidFill>
                <a:latin typeface="微软雅黑" panose="020B0503020204020204" pitchFamily="34" charset="-122"/>
                <a:ea typeface="微软雅黑" panose="020B0503020204020204" pitchFamily="34" charset="-122"/>
                <a:cs typeface="+mn-ea"/>
              </a:rPr>
              <a:t>按钮</a:t>
            </a:r>
            <a:r>
              <a:rPr lang="zh-CN" altLang="en-US" sz="2000" dirty="0">
                <a:solidFill>
                  <a:srgbClr val="595959"/>
                </a:solidFill>
                <a:latin typeface="微软雅黑" panose="020B0503020204020204" pitchFamily="34" charset="-122"/>
                <a:ea typeface="微软雅黑" panose="020B0503020204020204" pitchFamily="34" charset="-122"/>
                <a:cs typeface="+mn-ea"/>
              </a:rPr>
              <a:t>组合在</a:t>
            </a:r>
            <a:r>
              <a:rPr lang="zh-CN" altLang="en-US" sz="2000" dirty="0">
                <a:solidFill>
                  <a:srgbClr val="1369B2"/>
                </a:solidFill>
                <a:latin typeface="微软雅黑" panose="020B0503020204020204" pitchFamily="34" charset="-122"/>
                <a:ea typeface="微软雅黑" panose="020B0503020204020204" pitchFamily="34" charset="-122"/>
                <a:cs typeface="+mn-ea"/>
              </a:rPr>
              <a:t>一行</a:t>
            </a:r>
            <a:r>
              <a:rPr lang="zh-CN" altLang="en-US" sz="2000" dirty="0">
                <a:solidFill>
                  <a:srgbClr val="595959"/>
                </a:solidFill>
                <a:latin typeface="微软雅黑" panose="020B0503020204020204" pitchFamily="34" charset="-122"/>
                <a:ea typeface="微软雅黑" panose="020B0503020204020204" pitchFamily="34" charset="-122"/>
                <a:cs typeface="+mn-ea"/>
              </a:rPr>
              <a:t>上进行展示，不同种类功能的按钮则分开单独展示，</a:t>
            </a:r>
            <a:r>
              <a:rPr lang="zh-CN" altLang="en-US" sz="2000" dirty="0">
                <a:solidFill>
                  <a:srgbClr val="1369B2"/>
                </a:solidFill>
                <a:latin typeface="微软雅黑" panose="020B0503020204020204" pitchFamily="34" charset="-122"/>
                <a:ea typeface="微软雅黑" panose="020B0503020204020204" pitchFamily="34" charset="-122"/>
                <a:cs typeface="+mn-ea"/>
              </a:rPr>
              <a:t>方便</a:t>
            </a:r>
            <a:r>
              <a:rPr lang="zh-CN" altLang="en-US" sz="2000" dirty="0">
                <a:solidFill>
                  <a:srgbClr val="595959"/>
                </a:solidFill>
                <a:latin typeface="微软雅黑" panose="020B0503020204020204" pitchFamily="34" charset="-122"/>
                <a:ea typeface="微软雅黑" panose="020B0503020204020204" pitchFamily="34" charset="-122"/>
                <a:cs typeface="+mn-ea"/>
              </a:rPr>
              <a:t>按钮的</a:t>
            </a:r>
            <a:r>
              <a:rPr lang="zh-CN" altLang="en-US" sz="2000" dirty="0">
                <a:solidFill>
                  <a:srgbClr val="1369B2"/>
                </a:solidFill>
                <a:latin typeface="微软雅黑" panose="020B0503020204020204" pitchFamily="34" charset="-122"/>
                <a:ea typeface="微软雅黑" panose="020B0503020204020204" pitchFamily="34" charset="-122"/>
                <a:cs typeface="+mn-ea"/>
              </a:rPr>
              <a:t>管理</a:t>
            </a:r>
            <a:r>
              <a:rPr lang="zh-CN" altLang="en-US" sz="2000" dirty="0">
                <a:solidFill>
                  <a:srgbClr val="595959"/>
                </a:solidFill>
                <a:latin typeface="微软雅黑" panose="020B0503020204020204" pitchFamily="34" charset="-122"/>
                <a:ea typeface="微软雅黑" panose="020B0503020204020204" pitchFamily="34" charset="-122"/>
                <a:cs typeface="+mn-ea"/>
              </a:rPr>
              <a:t>。</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cs typeface="+mn-ea"/>
              </a:rPr>
              <a:t>按钮组的实现</a:t>
            </a:r>
            <a:r>
              <a:rPr lang="zh-CN" altLang="en-US"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595959"/>
                </a:solidFill>
                <a:latin typeface="微软雅黑" panose="020B0503020204020204" pitchFamily="34" charset="-122"/>
                <a:ea typeface="微软雅黑" panose="020B0503020204020204" pitchFamily="34" charset="-122"/>
                <a:cs typeface="+mn-ea"/>
              </a:rPr>
              <a:t>Bootstrap</a:t>
            </a:r>
            <a:r>
              <a:rPr lang="zh-CN" altLang="en-US" sz="2000" dirty="0">
                <a:solidFill>
                  <a:srgbClr val="595959"/>
                </a:solidFill>
                <a:latin typeface="微软雅黑" panose="020B0503020204020204" pitchFamily="34" charset="-122"/>
                <a:ea typeface="微软雅黑" panose="020B0503020204020204" pitchFamily="34" charset="-122"/>
                <a:cs typeface="+mn-ea"/>
              </a:rPr>
              <a:t>提供了</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err="1">
                <a:solidFill>
                  <a:srgbClr val="1369B2"/>
                </a:solidFill>
                <a:latin typeface="微软雅黑" panose="020B0503020204020204" pitchFamily="34" charset="-122"/>
                <a:ea typeface="微软雅黑" panose="020B0503020204020204" pitchFamily="34" charset="-122"/>
                <a:cs typeface="+mn-ea"/>
              </a:rPr>
              <a:t>btn</a:t>
            </a:r>
            <a:r>
              <a:rPr lang="en-US" altLang="zh-CN" sz="2000" dirty="0">
                <a:solidFill>
                  <a:srgbClr val="1369B2"/>
                </a:solidFill>
                <a:latin typeface="微软雅黑" panose="020B0503020204020204" pitchFamily="34" charset="-122"/>
                <a:ea typeface="微软雅黑" panose="020B0503020204020204" pitchFamily="34" charset="-122"/>
                <a:cs typeface="+mn-ea"/>
              </a:rPr>
              <a:t>-group</a:t>
            </a:r>
            <a:r>
              <a:rPr lang="zh-CN" altLang="en-US" sz="2000" dirty="0">
                <a:solidFill>
                  <a:srgbClr val="1369B2"/>
                </a:solidFill>
                <a:latin typeface="微软雅黑" panose="020B0503020204020204" pitchFamily="34" charset="-122"/>
                <a:ea typeface="微软雅黑" panose="020B0503020204020204" pitchFamily="34" charset="-122"/>
                <a:cs typeface="+mn-ea"/>
              </a:rPr>
              <a:t>类</a:t>
            </a:r>
            <a:r>
              <a:rPr lang="zh-CN" altLang="en-US" sz="2000" dirty="0">
                <a:solidFill>
                  <a:srgbClr val="595959"/>
                </a:solidFill>
                <a:latin typeface="微软雅黑" panose="020B0503020204020204" pitchFamily="34" charset="-122"/>
                <a:ea typeface="微软雅黑" panose="020B0503020204020204" pitchFamily="34" charset="-122"/>
                <a:cs typeface="+mn-ea"/>
              </a:rPr>
              <a:t>，可以</a:t>
            </a:r>
            <a:r>
              <a:rPr lang="zh-CN" altLang="en-US" sz="2000" dirty="0">
                <a:solidFill>
                  <a:srgbClr val="1369B2"/>
                </a:solidFill>
                <a:latin typeface="微软雅黑" panose="020B0503020204020204" pitchFamily="34" charset="-122"/>
                <a:ea typeface="微软雅黑" panose="020B0503020204020204" pitchFamily="34" charset="-122"/>
                <a:cs typeface="+mn-ea"/>
              </a:rPr>
              <a:t>快速实现</a:t>
            </a:r>
            <a:r>
              <a:rPr lang="zh-CN" altLang="en-US" sz="2000" dirty="0">
                <a:solidFill>
                  <a:srgbClr val="595959"/>
                </a:solidFill>
                <a:latin typeface="微软雅黑" panose="020B0503020204020204" pitchFamily="34" charset="-122"/>
                <a:ea typeface="微软雅黑" panose="020B0503020204020204" pitchFamily="34" charset="-122"/>
                <a:cs typeface="+mn-ea"/>
              </a:rPr>
              <a:t>按钮组页面效果。</a:t>
            </a:r>
          </a:p>
          <a:p>
            <a:pPr>
              <a:lnSpc>
                <a:spcPct val="150000"/>
              </a:lnSpc>
            </a:pPr>
            <a:endParaRPr lang="en-US"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5" name="Title 1">
            <a:extLst>
              <a:ext uri="{FF2B5EF4-FFF2-40B4-BE49-F238E27FC236}">
                <a16:creationId xmlns:a16="http://schemas.microsoft.com/office/drawing/2014/main" id="{A1094074-1312-44CE-9C50-281FE5E164FC}"/>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6.4.2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按钮组</a:t>
            </a:r>
          </a:p>
        </p:txBody>
      </p:sp>
    </p:spTree>
    <p:extLst>
      <p:ext uri="{BB962C8B-B14F-4D97-AF65-F5344CB8AC3E}">
        <p14:creationId xmlns:p14="http://schemas.microsoft.com/office/powerpoint/2010/main" val="40693052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559A90B5-ADF3-4EB3-8534-C53F3BC14347}"/>
              </a:ext>
            </a:extLst>
          </p:cNvPr>
          <p:cNvSpPr txBox="1"/>
          <p:nvPr/>
        </p:nvSpPr>
        <p:spPr>
          <a:xfrm>
            <a:off x="1198662" y="1341562"/>
            <a:ext cx="9577064" cy="553998"/>
          </a:xfrm>
          <a:prstGeom prst="rect">
            <a:avLst/>
          </a:prstGeom>
          <a:noFill/>
        </p:spPr>
        <p:txBody>
          <a:bodyPr wrap="square" rtlCol="0">
            <a:spAutoFit/>
          </a:body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cs typeface="+mn-ea"/>
              </a:rPr>
              <a:t>实现</a:t>
            </a:r>
            <a:r>
              <a:rPr lang="zh-CN" altLang="en-US" sz="2000" dirty="0">
                <a:solidFill>
                  <a:srgbClr val="1369B2"/>
                </a:solidFill>
                <a:latin typeface="微软雅黑" panose="020B0503020204020204" pitchFamily="34" charset="-122"/>
                <a:ea typeface="微软雅黑" panose="020B0503020204020204" pitchFamily="34" charset="-122"/>
                <a:cs typeface="+mn-ea"/>
              </a:rPr>
              <a:t>按钮组</a:t>
            </a:r>
            <a:r>
              <a:rPr lang="zh-CN" altLang="en-US" sz="2000" dirty="0">
                <a:solidFill>
                  <a:srgbClr val="595959"/>
                </a:solidFill>
                <a:latin typeface="微软雅黑" panose="020B0503020204020204" pitchFamily="34" charset="-122"/>
                <a:ea typeface="微软雅黑" panose="020B0503020204020204" pitchFamily="34" charset="-122"/>
                <a:cs typeface="+mn-ea"/>
              </a:rPr>
              <a:t>页面，效果如图：</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6" name="Title 1">
            <a:extLst>
              <a:ext uri="{FF2B5EF4-FFF2-40B4-BE49-F238E27FC236}">
                <a16:creationId xmlns:a16="http://schemas.microsoft.com/office/drawing/2014/main" id="{A5225166-5C92-45FA-9514-53EFFDA9A747}"/>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6.4.2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按钮组</a:t>
            </a:r>
          </a:p>
        </p:txBody>
      </p:sp>
      <p:pic>
        <p:nvPicPr>
          <p:cNvPr id="2050" name="图片 1">
            <a:extLst>
              <a:ext uri="{FF2B5EF4-FFF2-40B4-BE49-F238E27FC236}">
                <a16:creationId xmlns:a16="http://schemas.microsoft.com/office/drawing/2014/main" id="{61CEF829-0AC0-4F7B-9049-EFE97C9B13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2878" y="2507457"/>
            <a:ext cx="5538631" cy="1426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371959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A22F1E4-39AE-424B-B19B-3301952C7205}"/>
              </a:ext>
            </a:extLst>
          </p:cNvPr>
          <p:cNvSpPr txBox="1"/>
          <p:nvPr/>
        </p:nvSpPr>
        <p:spPr>
          <a:xfrm>
            <a:off x="3043265" y="2182904"/>
            <a:ext cx="7787785" cy="4499309"/>
          </a:xfrm>
          <a:prstGeom prst="rect">
            <a:avLst/>
          </a:prstGeom>
          <a:solidFill>
            <a:srgbClr val="F2F2F2"/>
          </a:solidFill>
        </p:spPr>
        <p:txBody>
          <a:bodyPr wrap="square">
            <a:spAutoFit/>
          </a:bodyPr>
          <a:lstStyle/>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&lt;!DOCTYPE html&gt;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&lt;html&gt;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&lt;head&gt;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&lt;meta charset="UTF-8"&gt;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&lt;meta name="viewport" content="width=device-width, initial-scale=1.0"&gt;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&lt;title&gt;Document&lt;/title&gt;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&lt;link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="bootstrap-4.6.0-dist/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css</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/bootstrap.min.css"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rel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="stylesheet"&gt;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&lt;/head&gt;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&lt;body&gt;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-group"&gt;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&lt;button type="button"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-primary"&gt;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主要按钮</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&lt;/button&gt;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&lt;button type="button"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-secondary"&gt;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次要按钮</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&lt;/button&gt;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&lt;/body&gt;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&lt;/html&gt;</a:t>
            </a:r>
          </a:p>
        </p:txBody>
      </p:sp>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01</a:t>
              </a: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053530"/>
            <a:ext cx="8722842" cy="1107996"/>
          </a:xfrm>
          <a:prstGeom prst="rect">
            <a:avLst/>
          </a:prstGeom>
          <a:noFill/>
          <a:ln>
            <a:noFill/>
          </a:ln>
        </p:spPr>
        <p:txBody>
          <a:bodyPr wrap="square" rtlCol="0">
            <a:spAutoFit/>
          </a:bodyPr>
          <a:lstStyle/>
          <a:p>
            <a:pPr lvl="0" defTabSz="457200">
              <a:lnSpc>
                <a:spcPct val="150000"/>
              </a:lnSpc>
              <a:defRPr/>
            </a:pPr>
            <a:r>
              <a:rPr lang="zh-CN" altLang="en-US" b="1" kern="0" dirty="0">
                <a:solidFill>
                  <a:srgbClr val="595959"/>
                </a:solidFill>
                <a:latin typeface="微软雅黑" panose="020B0503020204020204" pitchFamily="34" charset="-122"/>
                <a:ea typeface="微软雅黑" panose="020B0503020204020204" pitchFamily="34" charset="-122"/>
                <a:cs typeface="+mn-ea"/>
                <a:sym typeface="+mn-lt"/>
              </a:rPr>
              <a:t>实现按钮组页面</a:t>
            </a:r>
            <a:endParaRPr lang="en-US" altLang="zh-CN" b="1" kern="0" dirty="0">
              <a:solidFill>
                <a:srgbClr val="595959"/>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创建</a:t>
            </a:r>
            <a:r>
              <a:rPr lang="en-US" altLang="zh-CN" sz="2000" dirty="0">
                <a:solidFill>
                  <a:srgbClr val="595959"/>
                </a:solidFill>
                <a:latin typeface="微软雅黑" panose="020B0503020204020204" pitchFamily="34" charset="-122"/>
                <a:ea typeface="微软雅黑" panose="020B0503020204020204" pitchFamily="34" charset="-122"/>
              </a:rPr>
              <a:t>C:\code\chapter04\demo11.html</a:t>
            </a:r>
            <a:r>
              <a:rPr lang="zh-CN" altLang="en-US" sz="2000" dirty="0">
                <a:solidFill>
                  <a:srgbClr val="595959"/>
                </a:solidFill>
                <a:latin typeface="微软雅黑" panose="020B0503020204020204" pitchFamily="34" charset="-122"/>
                <a:ea typeface="微软雅黑" panose="020B0503020204020204" pitchFamily="34" charset="-122"/>
              </a:rPr>
              <a:t>，将</a:t>
            </a:r>
            <a:r>
              <a:rPr lang="zh-CN" altLang="en-US" sz="2000" dirty="0">
                <a:solidFill>
                  <a:srgbClr val="1369B2"/>
                </a:solidFill>
                <a:latin typeface="微软雅黑" panose="020B0503020204020204" pitchFamily="34" charset="-122"/>
                <a:ea typeface="微软雅黑" panose="020B0503020204020204" pitchFamily="34" charset="-122"/>
              </a:rPr>
              <a:t>主要按钮</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1369B2"/>
                </a:solidFill>
                <a:latin typeface="微软雅黑" panose="020B0503020204020204" pitchFamily="34" charset="-122"/>
                <a:ea typeface="微软雅黑" panose="020B0503020204020204" pitchFamily="34" charset="-122"/>
              </a:rPr>
              <a:t>次要按钮</a:t>
            </a:r>
            <a:r>
              <a:rPr lang="zh-CN" altLang="en-US" sz="2000" dirty="0" smtClean="0">
                <a:solidFill>
                  <a:srgbClr val="595959"/>
                </a:solidFill>
                <a:latin typeface="微软雅黑" panose="020B0503020204020204" pitchFamily="34" charset="-122"/>
                <a:ea typeface="微软雅黑" panose="020B0503020204020204" pitchFamily="34" charset="-122"/>
              </a:rPr>
              <a:t>组合。</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12" name="Title 1">
            <a:extLst>
              <a:ext uri="{FF2B5EF4-FFF2-40B4-BE49-F238E27FC236}">
                <a16:creationId xmlns:a16="http://schemas.microsoft.com/office/drawing/2014/main" id="{A63C6BFF-855D-4BB3-A447-36B9878F9304}"/>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6.4.2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按钮组</a:t>
            </a:r>
          </a:p>
        </p:txBody>
      </p:sp>
    </p:spTree>
    <p:extLst>
      <p:ext uri="{BB962C8B-B14F-4D97-AF65-F5344CB8AC3E}">
        <p14:creationId xmlns:p14="http://schemas.microsoft.com/office/powerpoint/2010/main" val="16634758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02</a:t>
              </a: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053530"/>
            <a:ext cx="8722842" cy="1107996"/>
          </a:xfrm>
          <a:prstGeom prst="rect">
            <a:avLst/>
          </a:prstGeom>
          <a:noFill/>
          <a:ln>
            <a:noFill/>
          </a:ln>
        </p:spPr>
        <p:txBody>
          <a:bodyPr wrap="square" rtlCol="0">
            <a:spAutoFit/>
          </a:bodyPr>
          <a:lstStyle/>
          <a:p>
            <a:pPr lvl="0" defTabSz="457200">
              <a:lnSpc>
                <a:spcPct val="150000"/>
              </a:lnSpc>
              <a:defRPr/>
            </a:pPr>
            <a:r>
              <a:rPr lang="zh-CN" altLang="en-US" b="1" kern="0" dirty="0">
                <a:solidFill>
                  <a:srgbClr val="595959"/>
                </a:solidFill>
                <a:latin typeface="微软雅黑" panose="020B0503020204020204" pitchFamily="34" charset="-122"/>
                <a:ea typeface="微软雅黑" panose="020B0503020204020204" pitchFamily="34" charset="-122"/>
                <a:cs typeface="+mn-ea"/>
                <a:sym typeface="+mn-lt"/>
              </a:rPr>
              <a:t>在浏览器中访问</a:t>
            </a:r>
            <a:r>
              <a:rPr lang="en-US" altLang="zh-CN" b="1" kern="0" dirty="0">
                <a:solidFill>
                  <a:srgbClr val="595959"/>
                </a:solidFill>
                <a:latin typeface="微软雅黑" panose="020B0503020204020204" pitchFamily="34" charset="-122"/>
                <a:ea typeface="微软雅黑" panose="020B0503020204020204" pitchFamily="34" charset="-122"/>
                <a:cs typeface="+mn-ea"/>
                <a:sym typeface="+mn-lt"/>
              </a:rPr>
              <a:t>demo11.html</a:t>
            </a:r>
          </a:p>
          <a:p>
            <a:pPr lvl="0" defTabSz="457200">
              <a:lnSpc>
                <a:spcPct val="150000"/>
              </a:lnSpc>
              <a:defRPr/>
            </a:pPr>
            <a:r>
              <a:rPr lang="zh-CN" altLang="en-US" sz="2000" dirty="0">
                <a:solidFill>
                  <a:srgbClr val="1369B2"/>
                </a:solidFill>
                <a:latin typeface="微软雅黑" panose="020B0503020204020204" pitchFamily="34" charset="-122"/>
                <a:ea typeface="微软雅黑" panose="020B0503020204020204" pitchFamily="34" charset="-122"/>
              </a:rPr>
              <a:t>按钮组</a:t>
            </a:r>
            <a:r>
              <a:rPr lang="zh-CN" altLang="en-US" sz="2000" dirty="0">
                <a:solidFill>
                  <a:srgbClr val="595959"/>
                </a:solidFill>
                <a:latin typeface="微软雅黑" panose="020B0503020204020204" pitchFamily="34" charset="-122"/>
                <a:ea typeface="微软雅黑" panose="020B0503020204020204" pitchFamily="34" charset="-122"/>
              </a:rPr>
              <a:t>页面效果如图。</a:t>
            </a:r>
          </a:p>
        </p:txBody>
      </p:sp>
      <p:pic>
        <p:nvPicPr>
          <p:cNvPr id="13" name="图片 1">
            <a:extLst>
              <a:ext uri="{FF2B5EF4-FFF2-40B4-BE49-F238E27FC236}">
                <a16:creationId xmlns:a16="http://schemas.microsoft.com/office/drawing/2014/main" id="{3BCD3CAF-D5C5-4375-A4C4-E0098070A8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4886" y="2493690"/>
            <a:ext cx="5538631" cy="1426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itle 1">
            <a:extLst>
              <a:ext uri="{FF2B5EF4-FFF2-40B4-BE49-F238E27FC236}">
                <a16:creationId xmlns:a16="http://schemas.microsoft.com/office/drawing/2014/main" id="{BC0156EB-089B-48C8-9103-657CB9DF9D86}"/>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6.4.2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按钮组</a:t>
            </a:r>
          </a:p>
        </p:txBody>
      </p:sp>
    </p:spTree>
    <p:extLst>
      <p:ext uri="{BB962C8B-B14F-4D97-AF65-F5344CB8AC3E}">
        <p14:creationId xmlns:p14="http://schemas.microsoft.com/office/powerpoint/2010/main" val="2332384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7"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815965" y="3576722"/>
            <a:ext cx="4983480" cy="1231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dirty="0" smtClean="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按钮</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工具</a:t>
            </a:r>
            <a:r>
              <a:rPr lang="zh-CN" altLang="en-US" dirty="0" smtClean="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条</a:t>
            </a:r>
            <a:r>
              <a:rPr lang="zh-CN" altLang="en-US"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的使用，</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能够实现按钮工具条页面</a:t>
            </a:r>
            <a:r>
              <a:rPr lang="zh-CN" altLang="en-US"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效果</a:t>
            </a:r>
            <a:endParaRPr lang="zh-CN" altLang="en-US" dirty="0">
              <a:solidFill>
                <a:srgbClr val="595959"/>
              </a:solidFill>
              <a:latin typeface="微软雅黑" panose="020B0503020204020204" pitchFamily="34" charset="-122"/>
              <a:ea typeface="微软雅黑" panose="020B0503020204020204" pitchFamily="34" charset="-122"/>
              <a:cs typeface="+mn-ea"/>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Title 1">
            <a:extLst>
              <a:ext uri="{FF2B5EF4-FFF2-40B4-BE49-F238E27FC236}">
                <a16:creationId xmlns:a16="http://schemas.microsoft.com/office/drawing/2014/main" id="{A5A373F7-A187-42B9-9017-12CE5611263B}"/>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6.4.3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按钮工具条</a:t>
            </a:r>
          </a:p>
        </p:txBody>
      </p:sp>
    </p:spTree>
    <p:extLst>
      <p:ext uri="{BB962C8B-B14F-4D97-AF65-F5344CB8AC3E}">
        <p14:creationId xmlns:p14="http://schemas.microsoft.com/office/powerpoint/2010/main" val="29207277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5A373F7-A187-42B9-9017-12CE5611263B}"/>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6.4.3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按钮工具条</a:t>
            </a:r>
          </a:p>
        </p:txBody>
      </p:sp>
      <p:sp>
        <p:nvSpPr>
          <p:cNvPr id="10" name="文本框 9">
            <a:extLst>
              <a:ext uri="{FF2B5EF4-FFF2-40B4-BE49-F238E27FC236}">
                <a16:creationId xmlns:a16="http://schemas.microsoft.com/office/drawing/2014/main" id="{A2BDD994-A250-4701-92EF-73614BFCCCE3}"/>
              </a:ext>
            </a:extLst>
          </p:cNvPr>
          <p:cNvSpPr txBox="1"/>
          <p:nvPr/>
        </p:nvSpPr>
        <p:spPr>
          <a:xfrm>
            <a:off x="1198662" y="1125538"/>
            <a:ext cx="9577064" cy="2285241"/>
          </a:xfrm>
          <a:prstGeom prst="rect">
            <a:avLst/>
          </a:prstGeom>
          <a:noFill/>
        </p:spPr>
        <p:txBody>
          <a:bodyPr wrap="square" rtlCol="0">
            <a:spAutoFit/>
          </a:bodyPr>
          <a:lstStyle/>
          <a:p>
            <a:pPr>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cs typeface="+mn-ea"/>
              </a:rPr>
              <a:t>什么是按钮工具条？</a:t>
            </a:r>
            <a:endParaRPr lang="en-US" altLang="zh-CN" sz="2000" dirty="0">
              <a:solidFill>
                <a:srgbClr val="1369B2"/>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1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zh-CN" altLang="en-US" sz="2000" dirty="0" smtClean="0">
                <a:solidFill>
                  <a:srgbClr val="1369B2"/>
                </a:solidFill>
                <a:latin typeface="微软雅黑" panose="020B0503020204020204" pitchFamily="34" charset="-122"/>
                <a:ea typeface="微软雅黑" panose="020B0503020204020204" pitchFamily="34" charset="-122"/>
                <a:cs typeface="+mn-ea"/>
              </a:rPr>
              <a:t>按钮</a:t>
            </a:r>
            <a:r>
              <a:rPr lang="zh-CN" altLang="en-US" sz="2000" dirty="0">
                <a:solidFill>
                  <a:srgbClr val="1369B2"/>
                </a:solidFill>
                <a:latin typeface="微软雅黑" panose="020B0503020204020204" pitchFamily="34" charset="-122"/>
                <a:ea typeface="微软雅黑" panose="020B0503020204020204" pitchFamily="34" charset="-122"/>
                <a:cs typeface="+mn-ea"/>
              </a:rPr>
              <a:t>工具</a:t>
            </a:r>
            <a:r>
              <a:rPr lang="zh-CN" altLang="en-US" sz="2000" dirty="0" smtClean="0">
                <a:solidFill>
                  <a:srgbClr val="1369B2"/>
                </a:solidFill>
                <a:latin typeface="微软雅黑" panose="020B0503020204020204" pitchFamily="34" charset="-122"/>
                <a:ea typeface="微软雅黑" panose="020B0503020204020204" pitchFamily="34" charset="-122"/>
                <a:cs typeface="+mn-ea"/>
              </a:rPr>
              <a:t>条</a:t>
            </a:r>
            <a:r>
              <a:rPr lang="zh-CN" altLang="en-US" sz="2000" dirty="0">
                <a:solidFill>
                  <a:srgbClr val="595959"/>
                </a:solidFill>
                <a:latin typeface="微软雅黑" panose="020B0503020204020204" pitchFamily="34" charset="-122"/>
                <a:ea typeface="微软雅黑" panose="020B0503020204020204" pitchFamily="34" charset="-122"/>
                <a:cs typeface="+mn-ea"/>
              </a:rPr>
              <a:t>：</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是</a:t>
            </a:r>
            <a:r>
              <a:rPr lang="zh-CN" altLang="en-US" sz="2000" dirty="0">
                <a:solidFill>
                  <a:srgbClr val="595959"/>
                </a:solidFill>
                <a:latin typeface="微软雅黑" panose="020B0503020204020204" pitchFamily="34" charset="-122"/>
                <a:ea typeface="微软雅黑" panose="020B0503020204020204" pitchFamily="34" charset="-122"/>
                <a:cs typeface="+mn-ea"/>
              </a:rPr>
              <a:t>将</a:t>
            </a:r>
            <a:r>
              <a:rPr lang="zh-CN" altLang="en-US" sz="2000" dirty="0">
                <a:solidFill>
                  <a:srgbClr val="1369B2"/>
                </a:solidFill>
                <a:latin typeface="微软雅黑" panose="020B0503020204020204" pitchFamily="34" charset="-122"/>
                <a:ea typeface="微软雅黑" panose="020B0503020204020204" pitchFamily="34" charset="-122"/>
                <a:cs typeface="+mn-ea"/>
              </a:rPr>
              <a:t>多个</a:t>
            </a:r>
            <a:r>
              <a:rPr lang="zh-CN" altLang="en-US" sz="2000" dirty="0">
                <a:solidFill>
                  <a:srgbClr val="595959"/>
                </a:solidFill>
                <a:latin typeface="微软雅黑" panose="020B0503020204020204" pitchFamily="34" charset="-122"/>
                <a:ea typeface="微软雅黑" panose="020B0503020204020204" pitchFamily="34" charset="-122"/>
                <a:cs typeface="+mn-ea"/>
              </a:rPr>
              <a:t>不同的</a:t>
            </a:r>
            <a:r>
              <a:rPr lang="zh-CN" altLang="en-US" sz="2000" dirty="0">
                <a:solidFill>
                  <a:srgbClr val="1369B2"/>
                </a:solidFill>
                <a:latin typeface="微软雅黑" panose="020B0503020204020204" pitchFamily="34" charset="-122"/>
                <a:ea typeface="微软雅黑" panose="020B0503020204020204" pitchFamily="34" charset="-122"/>
                <a:cs typeface="+mn-ea"/>
              </a:rPr>
              <a:t>按钮组</a:t>
            </a:r>
            <a:r>
              <a:rPr lang="zh-CN" altLang="en-US" sz="2000" dirty="0">
                <a:solidFill>
                  <a:srgbClr val="595959"/>
                </a:solidFill>
                <a:latin typeface="微软雅黑" panose="020B0503020204020204" pitchFamily="34" charset="-122"/>
                <a:ea typeface="微软雅黑" panose="020B0503020204020204" pitchFamily="34" charset="-122"/>
                <a:cs typeface="+mn-ea"/>
              </a:rPr>
              <a:t>分开</a:t>
            </a:r>
            <a:r>
              <a:rPr lang="zh-CN" altLang="en-US" sz="2000" dirty="0">
                <a:solidFill>
                  <a:srgbClr val="1369B2"/>
                </a:solidFill>
                <a:latin typeface="微软雅黑" panose="020B0503020204020204" pitchFamily="34" charset="-122"/>
                <a:ea typeface="微软雅黑" panose="020B0503020204020204" pitchFamily="34" charset="-122"/>
                <a:cs typeface="+mn-ea"/>
              </a:rPr>
              <a:t>展示</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a:t>
            </a:r>
            <a:endParaRPr lang="en-US" altLang="zh-CN" sz="2000" dirty="0" smtClean="0">
              <a:solidFill>
                <a:srgbClr val="595959"/>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5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en-US" altLang="zh-CN" sz="2000" dirty="0" smtClean="0">
                <a:solidFill>
                  <a:srgbClr val="595959"/>
                </a:solidFill>
                <a:latin typeface="微软雅黑" panose="020B0503020204020204" pitchFamily="34" charset="-122"/>
                <a:ea typeface="微软雅黑" panose="020B0503020204020204" pitchFamily="34" charset="-122"/>
                <a:cs typeface="+mn-ea"/>
              </a:rPr>
              <a:t>Bootstrap</a:t>
            </a:r>
            <a:r>
              <a:rPr lang="zh-CN" altLang="en-US" sz="2000" dirty="0">
                <a:solidFill>
                  <a:srgbClr val="595959"/>
                </a:solidFill>
                <a:latin typeface="微软雅黑" panose="020B0503020204020204" pitchFamily="34" charset="-122"/>
                <a:ea typeface="微软雅黑" panose="020B0503020204020204" pitchFamily="34" charset="-122"/>
                <a:cs typeface="+mn-ea"/>
              </a:rPr>
              <a:t>提供了</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err="1">
                <a:solidFill>
                  <a:srgbClr val="1369B2"/>
                </a:solidFill>
                <a:latin typeface="微软雅黑" panose="020B0503020204020204" pitchFamily="34" charset="-122"/>
                <a:ea typeface="微软雅黑" panose="020B0503020204020204" pitchFamily="34" charset="-122"/>
                <a:cs typeface="+mn-ea"/>
              </a:rPr>
              <a:t>btn</a:t>
            </a:r>
            <a:r>
              <a:rPr lang="en-US" altLang="zh-CN" sz="2000" dirty="0">
                <a:solidFill>
                  <a:srgbClr val="1369B2"/>
                </a:solidFill>
                <a:latin typeface="微软雅黑" panose="020B0503020204020204" pitchFamily="34" charset="-122"/>
                <a:ea typeface="微软雅黑" panose="020B0503020204020204" pitchFamily="34" charset="-122"/>
                <a:cs typeface="+mn-ea"/>
              </a:rPr>
              <a:t>-toolbar</a:t>
            </a:r>
            <a:r>
              <a:rPr lang="zh-CN" altLang="en-US" sz="2000" dirty="0">
                <a:solidFill>
                  <a:srgbClr val="1369B2"/>
                </a:solidFill>
                <a:latin typeface="微软雅黑" panose="020B0503020204020204" pitchFamily="34" charset="-122"/>
                <a:ea typeface="微软雅黑" panose="020B0503020204020204" pitchFamily="34" charset="-122"/>
                <a:cs typeface="+mn-ea"/>
              </a:rPr>
              <a:t>类</a:t>
            </a:r>
            <a:r>
              <a:rPr lang="zh-CN" altLang="en-US" sz="2000" dirty="0">
                <a:solidFill>
                  <a:srgbClr val="595959"/>
                </a:solidFill>
                <a:latin typeface="微软雅黑" panose="020B0503020204020204" pitchFamily="34" charset="-122"/>
                <a:ea typeface="微软雅黑" panose="020B0503020204020204" pitchFamily="34" charset="-122"/>
                <a:cs typeface="+mn-ea"/>
              </a:rPr>
              <a:t>，可以快速实现按钮工具条页面效果。</a:t>
            </a:r>
            <a:endParaRPr lang="zh-CN" altLang="en-US" sz="18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4" name="文本框 3">
            <a:extLst>
              <a:ext uri="{FF2B5EF4-FFF2-40B4-BE49-F238E27FC236}">
                <a16:creationId xmlns:a16="http://schemas.microsoft.com/office/drawing/2014/main" id="{559A90B5-ADF3-4EB3-8534-C53F3BC14347}"/>
              </a:ext>
            </a:extLst>
          </p:cNvPr>
          <p:cNvSpPr txBox="1"/>
          <p:nvPr/>
        </p:nvSpPr>
        <p:spPr>
          <a:xfrm>
            <a:off x="1198662" y="3213770"/>
            <a:ext cx="9577064" cy="499624"/>
          </a:xfrm>
          <a:prstGeom prst="rect">
            <a:avLst/>
          </a:prstGeom>
          <a:noFill/>
        </p:spPr>
        <p:txBody>
          <a:bodyPr wrap="square" rtlCol="0">
            <a:spAutoFit/>
          </a:body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cs typeface="+mn-ea"/>
              </a:rPr>
              <a:t>实现按钮工具条页面，效果如图：</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6" name="图片 1">
            <a:extLst>
              <a:ext uri="{FF2B5EF4-FFF2-40B4-BE49-F238E27FC236}">
                <a16:creationId xmlns:a16="http://schemas.microsoft.com/office/drawing/2014/main" id="{EE0347A9-75AF-4835-85D8-3783B893EC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8902" y="3933850"/>
            <a:ext cx="5538631" cy="1426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230725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A22F1E4-39AE-424B-B19B-3301952C7205}"/>
              </a:ext>
            </a:extLst>
          </p:cNvPr>
          <p:cNvSpPr txBox="1"/>
          <p:nvPr/>
        </p:nvSpPr>
        <p:spPr>
          <a:xfrm>
            <a:off x="3022705" y="2349674"/>
            <a:ext cx="7787785" cy="4111510"/>
          </a:xfrm>
          <a:prstGeom prst="rect">
            <a:avLst/>
          </a:prstGeom>
          <a:solidFill>
            <a:srgbClr val="F2F2F2"/>
          </a:solidFill>
        </p:spPr>
        <p:txBody>
          <a:bodyPr wrap="square">
            <a:spAutoFit/>
          </a:bodyPr>
          <a:lstStyle/>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&lt;!DOCTYPE html&gt;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&lt;html&gt;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&lt;head&gt;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&lt;meta charset="UTF-8"&gt;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&lt;meta name="viewport" content="width=device-width, initial-scale=1.0"&gt;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&lt;title&gt;Document&lt;/title&gt;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&lt;link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="bootstrap-4.6.0-dist/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css</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/bootstrap.min.css"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rel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="stylesheet"&gt;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&lt;/head&gt;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&lt;body&gt;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&lt;/body&gt;</a:t>
            </a:r>
          </a:p>
          <a:p>
            <a:pPr lvl="0">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&lt;/html&gt;</a:t>
            </a:r>
          </a:p>
        </p:txBody>
      </p:sp>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01</a:t>
              </a: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053530"/>
            <a:ext cx="8722842" cy="1107996"/>
          </a:xfrm>
          <a:prstGeom prst="rect">
            <a:avLst/>
          </a:prstGeom>
          <a:noFill/>
          <a:ln>
            <a:noFill/>
          </a:ln>
        </p:spPr>
        <p:txBody>
          <a:bodyPr wrap="square" rtlCol="0">
            <a:spAutoFit/>
          </a:bodyPr>
          <a:lstStyle/>
          <a:p>
            <a:pPr lvl="0" defTabSz="457200">
              <a:lnSpc>
                <a:spcPct val="150000"/>
              </a:lnSpc>
              <a:defRPr/>
            </a:pPr>
            <a:r>
              <a:rPr lang="zh-CN" altLang="en-US" b="1" kern="0" dirty="0">
                <a:solidFill>
                  <a:srgbClr val="595959"/>
                </a:solidFill>
                <a:latin typeface="微软雅黑" panose="020B0503020204020204" pitchFamily="34" charset="-122"/>
                <a:ea typeface="微软雅黑" panose="020B0503020204020204" pitchFamily="34" charset="-122"/>
                <a:cs typeface="+mn-ea"/>
                <a:sym typeface="+mn-lt"/>
              </a:rPr>
              <a:t>实现按钮工具条页面</a:t>
            </a:r>
            <a:endParaRPr lang="en-US" altLang="zh-CN" b="1" kern="0" dirty="0">
              <a:solidFill>
                <a:srgbClr val="595959"/>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创建</a:t>
            </a:r>
            <a:r>
              <a:rPr lang="en-US" altLang="zh-CN" sz="2000" dirty="0">
                <a:solidFill>
                  <a:srgbClr val="595959"/>
                </a:solidFill>
                <a:latin typeface="微软雅黑" panose="020B0503020204020204" pitchFamily="34" charset="-122"/>
                <a:ea typeface="微软雅黑" panose="020B0503020204020204" pitchFamily="34" charset="-122"/>
              </a:rPr>
              <a:t>C:\code\chapter04\demo12.html</a:t>
            </a:r>
            <a:r>
              <a:rPr lang="zh-CN" altLang="en-US" sz="2000" dirty="0">
                <a:solidFill>
                  <a:srgbClr val="595959"/>
                </a:solidFill>
                <a:latin typeface="微软雅黑" panose="020B0503020204020204" pitchFamily="34" charset="-122"/>
                <a:ea typeface="微软雅黑" panose="020B0503020204020204" pitchFamily="34" charset="-122"/>
              </a:rPr>
              <a:t>，配置</a:t>
            </a:r>
            <a:r>
              <a:rPr lang="zh-CN" altLang="en-US" sz="2000" dirty="0">
                <a:solidFill>
                  <a:srgbClr val="1369B2"/>
                </a:solidFill>
                <a:latin typeface="微软雅黑" panose="020B0503020204020204" pitchFamily="34" charset="-122"/>
                <a:ea typeface="微软雅黑" panose="020B0503020204020204" pitchFamily="34" charset="-122"/>
              </a:rPr>
              <a:t>视口</a:t>
            </a:r>
            <a:r>
              <a:rPr lang="zh-CN" altLang="en-US" sz="2000" dirty="0">
                <a:solidFill>
                  <a:srgbClr val="595959"/>
                </a:solidFill>
                <a:latin typeface="微软雅黑" panose="020B0503020204020204" pitchFamily="34" charset="-122"/>
                <a:ea typeface="微软雅黑" panose="020B0503020204020204" pitchFamily="34" charset="-122"/>
              </a:rPr>
              <a:t>并</a:t>
            </a:r>
            <a:r>
              <a:rPr lang="zh-CN" altLang="en-US" sz="2000" dirty="0">
                <a:solidFill>
                  <a:srgbClr val="1369B2"/>
                </a:solidFill>
                <a:latin typeface="微软雅黑" panose="020B0503020204020204" pitchFamily="34" charset="-122"/>
                <a:ea typeface="微软雅黑" panose="020B0503020204020204" pitchFamily="34" charset="-122"/>
              </a:rPr>
              <a:t>引入</a:t>
            </a:r>
            <a:r>
              <a:rPr lang="zh-CN" altLang="en-US" sz="2000" dirty="0">
                <a:solidFill>
                  <a:srgbClr val="595959"/>
                </a:solidFill>
                <a:latin typeface="微软雅黑" panose="020B0503020204020204" pitchFamily="34" charset="-122"/>
                <a:ea typeface="微软雅黑" panose="020B0503020204020204" pitchFamily="34" charset="-122"/>
              </a:rPr>
              <a:t>依赖文件。</a:t>
            </a:r>
          </a:p>
        </p:txBody>
      </p:sp>
      <p:sp>
        <p:nvSpPr>
          <p:cNvPr id="12" name="Title 1">
            <a:extLst>
              <a:ext uri="{FF2B5EF4-FFF2-40B4-BE49-F238E27FC236}">
                <a16:creationId xmlns:a16="http://schemas.microsoft.com/office/drawing/2014/main" id="{A63C6BFF-855D-4BB3-A447-36B9878F9304}"/>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6.4.2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按钮组</a:t>
            </a:r>
          </a:p>
        </p:txBody>
      </p:sp>
    </p:spTree>
    <p:extLst>
      <p:ext uri="{BB962C8B-B14F-4D97-AF65-F5344CB8AC3E}">
        <p14:creationId xmlns:p14="http://schemas.microsoft.com/office/powerpoint/2010/main" val="3886631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A22F1E4-39AE-424B-B19B-3301952C7205}"/>
              </a:ext>
            </a:extLst>
          </p:cNvPr>
          <p:cNvSpPr txBox="1"/>
          <p:nvPr/>
        </p:nvSpPr>
        <p:spPr>
          <a:xfrm>
            <a:off x="2843669" y="2244963"/>
            <a:ext cx="7787785" cy="4425191"/>
          </a:xfrm>
          <a:prstGeom prst="rect">
            <a:avLst/>
          </a:prstGeom>
          <a:solidFill>
            <a:srgbClr val="F2F2F2"/>
          </a:solidFill>
        </p:spPr>
        <p:txBody>
          <a:bodyPr wrap="square">
            <a:noAutofit/>
          </a:bodyPr>
          <a:lstStyle/>
          <a:p>
            <a:pPr lvl="0">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&lt;div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-toolbar"&gt;</a:t>
            </a:r>
          </a:p>
          <a:p>
            <a:pPr lvl="0">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-group mr-2"&gt;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&lt;button type="button"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-secondary"&gt;1&lt;/button&gt;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&lt;button type="button"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-secondary"&gt;2&lt;/button&gt;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&lt;button type="button"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-secondary"&gt;3&lt;/button&gt;</a:t>
            </a:r>
          </a:p>
          <a:p>
            <a:pPr lvl="0">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&lt;button type="button"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-secondary"&gt;4&lt;/button&gt;</a:t>
            </a:r>
          </a:p>
          <a:p>
            <a:pPr lvl="0">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&lt;/div&gt;</a:t>
            </a:r>
          </a:p>
          <a:p>
            <a:pPr lvl="0">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-group mr-2"&gt;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&lt;button type="button"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-secondary"&gt;5&lt;/button&gt;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&lt;button type="button"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-secondary"&gt;6&lt;/button&gt;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&lt;button type="button"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-secondary"&gt;7&lt;/button&gt;</a:t>
            </a:r>
          </a:p>
          <a:p>
            <a:pPr lvl="0">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&lt;/div&gt;</a:t>
            </a:r>
          </a:p>
          <a:p>
            <a:pPr lvl="0">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-group"&gt;</a:t>
            </a:r>
          </a:p>
          <a:p>
            <a:pPr lvl="0">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&lt;button type="button"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btn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-secondary"&gt;8&lt;/button&gt;</a:t>
            </a:r>
          </a:p>
          <a:p>
            <a:pPr lvl="0">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&lt;/div&gt;</a:t>
            </a:r>
          </a:p>
          <a:p>
            <a:pPr lvl="0">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&lt;/div&gt;</a:t>
            </a:r>
          </a:p>
        </p:txBody>
      </p:sp>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02</a:t>
              </a: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053530"/>
            <a:ext cx="8722842" cy="1107996"/>
          </a:xfrm>
          <a:prstGeom prst="rect">
            <a:avLst/>
          </a:prstGeom>
          <a:noFill/>
          <a:ln>
            <a:noFill/>
          </a:ln>
        </p:spPr>
        <p:txBody>
          <a:bodyPr wrap="square" rtlCol="0">
            <a:spAutoFit/>
          </a:bodyPr>
          <a:lstStyle/>
          <a:p>
            <a:pPr lvl="0" defTabSz="457200">
              <a:lnSpc>
                <a:spcPct val="150000"/>
              </a:lnSpc>
              <a:defRPr/>
            </a:pPr>
            <a:r>
              <a:rPr lang="zh-CN" altLang="en-US" b="1" kern="0" dirty="0">
                <a:solidFill>
                  <a:srgbClr val="595959"/>
                </a:solidFill>
                <a:latin typeface="微软雅黑" panose="020B0503020204020204" pitchFamily="34" charset="-122"/>
                <a:ea typeface="微软雅黑" panose="020B0503020204020204" pitchFamily="34" charset="-122"/>
                <a:cs typeface="+mn-ea"/>
                <a:sym typeface="+mn-lt"/>
              </a:rPr>
              <a:t>实现按钮工具条页面</a:t>
            </a:r>
            <a:endParaRPr lang="en-US" altLang="zh-CN" b="1" kern="0" dirty="0">
              <a:solidFill>
                <a:srgbClr val="595959"/>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修改</a:t>
            </a:r>
            <a:r>
              <a:rPr lang="en-US" altLang="zh-CN" sz="2000" dirty="0">
                <a:solidFill>
                  <a:srgbClr val="595959"/>
                </a:solidFill>
                <a:latin typeface="微软雅黑" panose="020B0503020204020204" pitchFamily="34" charset="-122"/>
                <a:ea typeface="微软雅黑" panose="020B0503020204020204" pitchFamily="34" charset="-122"/>
              </a:rPr>
              <a:t>demo12.html</a:t>
            </a:r>
            <a:r>
              <a:rPr lang="zh-CN" altLang="en-US" sz="2000" dirty="0">
                <a:solidFill>
                  <a:srgbClr val="595959"/>
                </a:solidFill>
                <a:latin typeface="微软雅黑" panose="020B0503020204020204" pitchFamily="34" charset="-122"/>
                <a:ea typeface="微软雅黑" panose="020B0503020204020204" pitchFamily="34" charset="-122"/>
              </a:rPr>
              <a:t>，使用</a:t>
            </a:r>
            <a:r>
              <a:rPr lang="en-US" altLang="zh-CN" sz="2000" dirty="0">
                <a:solidFill>
                  <a:srgbClr val="1369B2"/>
                </a:solidFill>
                <a:latin typeface="微软雅黑" panose="020B0503020204020204" pitchFamily="34" charset="-122"/>
                <a:ea typeface="微软雅黑" panose="020B0503020204020204" pitchFamily="34" charset="-122"/>
              </a:rPr>
              <a:t>.</a:t>
            </a:r>
            <a:r>
              <a:rPr lang="en-US" altLang="zh-CN" sz="2000" dirty="0" err="1">
                <a:solidFill>
                  <a:srgbClr val="1369B2"/>
                </a:solidFill>
                <a:latin typeface="微软雅黑" panose="020B0503020204020204" pitchFamily="34" charset="-122"/>
                <a:ea typeface="微软雅黑" panose="020B0503020204020204" pitchFamily="34" charset="-122"/>
              </a:rPr>
              <a:t>btn</a:t>
            </a:r>
            <a:r>
              <a:rPr lang="en-US" altLang="zh-CN" sz="2000" dirty="0">
                <a:solidFill>
                  <a:srgbClr val="1369B2"/>
                </a:solidFill>
                <a:latin typeface="微软雅黑" panose="020B0503020204020204" pitchFamily="34" charset="-122"/>
                <a:ea typeface="微软雅黑" panose="020B0503020204020204" pitchFamily="34" charset="-122"/>
              </a:rPr>
              <a:t>-toolbar</a:t>
            </a:r>
            <a:r>
              <a:rPr lang="zh-CN" altLang="en-US" sz="2000" dirty="0">
                <a:solidFill>
                  <a:srgbClr val="595959"/>
                </a:solidFill>
                <a:latin typeface="微软雅黑" panose="020B0503020204020204" pitchFamily="34" charset="-122"/>
                <a:ea typeface="微软雅黑" panose="020B0503020204020204" pitchFamily="34" charset="-122"/>
              </a:rPr>
              <a:t>类实现按钮工具条页面效果。</a:t>
            </a:r>
          </a:p>
        </p:txBody>
      </p:sp>
      <p:sp>
        <p:nvSpPr>
          <p:cNvPr id="12" name="Title 1">
            <a:extLst>
              <a:ext uri="{FF2B5EF4-FFF2-40B4-BE49-F238E27FC236}">
                <a16:creationId xmlns:a16="http://schemas.microsoft.com/office/drawing/2014/main" id="{A63C6BFF-855D-4BB3-A447-36B9878F9304}"/>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6.4.2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按钮组</a:t>
            </a:r>
          </a:p>
        </p:txBody>
      </p:sp>
    </p:spTree>
    <p:extLst>
      <p:ext uri="{BB962C8B-B14F-4D97-AF65-F5344CB8AC3E}">
        <p14:creationId xmlns:p14="http://schemas.microsoft.com/office/powerpoint/2010/main" val="31805049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03</a:t>
              </a: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053530"/>
            <a:ext cx="8722842" cy="1107996"/>
          </a:xfrm>
          <a:prstGeom prst="rect">
            <a:avLst/>
          </a:prstGeom>
          <a:noFill/>
          <a:ln>
            <a:noFill/>
          </a:ln>
        </p:spPr>
        <p:txBody>
          <a:bodyPr wrap="square" rtlCol="0">
            <a:spAutoFit/>
          </a:bodyPr>
          <a:lstStyle/>
          <a:p>
            <a:pPr lvl="0" defTabSz="457200">
              <a:lnSpc>
                <a:spcPct val="150000"/>
              </a:lnSpc>
              <a:defRPr/>
            </a:pPr>
            <a:r>
              <a:rPr lang="zh-CN" altLang="en-US" b="1" kern="0" dirty="0">
                <a:solidFill>
                  <a:srgbClr val="595959"/>
                </a:solidFill>
                <a:latin typeface="微软雅黑" panose="020B0503020204020204" pitchFamily="34" charset="-122"/>
                <a:ea typeface="微软雅黑" panose="020B0503020204020204" pitchFamily="34" charset="-122"/>
                <a:cs typeface="+mn-ea"/>
                <a:sym typeface="+mn-lt"/>
              </a:rPr>
              <a:t>在浏览器中访问</a:t>
            </a:r>
            <a:r>
              <a:rPr lang="en-US" altLang="zh-CN" b="1" kern="0" dirty="0">
                <a:solidFill>
                  <a:srgbClr val="595959"/>
                </a:solidFill>
                <a:latin typeface="微软雅黑" panose="020B0503020204020204" pitchFamily="34" charset="-122"/>
                <a:ea typeface="微软雅黑" panose="020B0503020204020204" pitchFamily="34" charset="-122"/>
                <a:cs typeface="+mn-ea"/>
                <a:sym typeface="+mn-lt"/>
              </a:rPr>
              <a:t>demo12.html</a:t>
            </a:r>
          </a:p>
          <a:p>
            <a:pPr lvl="0" defTabSz="457200">
              <a:lnSpc>
                <a:spcPct val="150000"/>
              </a:lnSpc>
              <a:defRPr/>
            </a:pPr>
            <a:r>
              <a:rPr lang="zh-CN" altLang="en-US" sz="2000" dirty="0">
                <a:solidFill>
                  <a:srgbClr val="1369B2"/>
                </a:solidFill>
                <a:latin typeface="微软雅黑" panose="020B0503020204020204" pitchFamily="34" charset="-122"/>
                <a:ea typeface="微软雅黑" panose="020B0503020204020204" pitchFamily="34" charset="-122"/>
              </a:rPr>
              <a:t>按钮工具条</a:t>
            </a:r>
            <a:r>
              <a:rPr lang="zh-CN" altLang="en-US" sz="2000" dirty="0">
                <a:solidFill>
                  <a:srgbClr val="595959"/>
                </a:solidFill>
                <a:latin typeface="微软雅黑" panose="020B0503020204020204" pitchFamily="34" charset="-122"/>
                <a:ea typeface="微软雅黑" panose="020B0503020204020204" pitchFamily="34" charset="-122"/>
              </a:rPr>
              <a:t>页面如图。</a:t>
            </a:r>
          </a:p>
        </p:txBody>
      </p:sp>
      <p:sp>
        <p:nvSpPr>
          <p:cNvPr id="12" name="Title 1">
            <a:extLst>
              <a:ext uri="{FF2B5EF4-FFF2-40B4-BE49-F238E27FC236}">
                <a16:creationId xmlns:a16="http://schemas.microsoft.com/office/drawing/2014/main" id="{A63C6BFF-855D-4BB3-A447-36B9878F9304}"/>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6.4.2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按钮组</a:t>
            </a:r>
          </a:p>
        </p:txBody>
      </p:sp>
      <p:pic>
        <p:nvPicPr>
          <p:cNvPr id="13" name="图片 1">
            <a:extLst>
              <a:ext uri="{FF2B5EF4-FFF2-40B4-BE49-F238E27FC236}">
                <a16:creationId xmlns:a16="http://schemas.microsoft.com/office/drawing/2014/main" id="{067F3E92-6781-4188-B77D-E79F423F00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3902" y="2493690"/>
            <a:ext cx="5538631" cy="1426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370124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30997"/>
          </a:xfrm>
          <a:prstGeom prst="rect">
            <a:avLst/>
          </a:prstGeom>
          <a:noFill/>
        </p:spPr>
        <p:txBody>
          <a:bodyPr wrap="square" lIns="91443" tIns="45720" rIns="91443" bIns="45720" rtlCol="0">
            <a:spAutoFit/>
          </a:bodyPr>
          <a:lstStyle/>
          <a:p>
            <a:r>
              <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轮播图组件</a:t>
            </a: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6.5</a:t>
            </a:r>
          </a:p>
        </p:txBody>
      </p:sp>
    </p:spTree>
    <p:extLst>
      <p:ext uri="{BB962C8B-B14F-4D97-AF65-F5344CB8AC3E}">
        <p14:creationId xmlns:p14="http://schemas.microsoft.com/office/powerpoint/2010/main" val="14470558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5A373F7-A187-42B9-9017-12CE5611263B}"/>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轮播图组件</a:t>
            </a:r>
          </a:p>
        </p:txBody>
      </p:sp>
      <p:sp>
        <p:nvSpPr>
          <p:cNvPr id="10" name="文本框 9">
            <a:extLst>
              <a:ext uri="{FF2B5EF4-FFF2-40B4-BE49-F238E27FC236}">
                <a16:creationId xmlns:a16="http://schemas.microsoft.com/office/drawing/2014/main" id="{54DF6EA0-097B-445B-B9C1-0374543E9DB1}"/>
              </a:ext>
            </a:extLst>
          </p:cNvPr>
          <p:cNvSpPr txBox="1"/>
          <p:nvPr/>
        </p:nvSpPr>
        <p:spPr>
          <a:xfrm>
            <a:off x="1198662" y="1341562"/>
            <a:ext cx="9793088" cy="2169825"/>
          </a:xfrm>
          <a:prstGeom prst="rect">
            <a:avLst/>
          </a:prstGeom>
          <a:noFill/>
        </p:spPr>
        <p:txBody>
          <a:bodyPr wrap="square" rtlCol="0">
            <a:spAutoFit/>
          </a:bodyPr>
          <a:lstStyle/>
          <a:p>
            <a:pPr>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cs typeface="+mn-ea"/>
              </a:rPr>
              <a:t>电商网站</a:t>
            </a:r>
            <a:r>
              <a:rPr lang="zh-CN" altLang="en-US" sz="2000" dirty="0">
                <a:solidFill>
                  <a:srgbClr val="595959"/>
                </a:solidFill>
                <a:latin typeface="微软雅黑" panose="020B0503020204020204" pitchFamily="34" charset="-122"/>
                <a:ea typeface="微软雅黑" panose="020B0503020204020204" pitchFamily="34" charset="-122"/>
                <a:cs typeface="+mn-ea"/>
              </a:rPr>
              <a:t>中的</a:t>
            </a:r>
            <a:r>
              <a:rPr lang="zh-CN" altLang="en-US" sz="2000" dirty="0">
                <a:solidFill>
                  <a:srgbClr val="1369B2"/>
                </a:solidFill>
                <a:latin typeface="微软雅黑" panose="020B0503020204020204" pitchFamily="34" charset="-122"/>
                <a:ea typeface="微软雅黑" panose="020B0503020204020204" pitchFamily="34" charset="-122"/>
                <a:cs typeface="+mn-ea"/>
              </a:rPr>
              <a:t>页面</a:t>
            </a:r>
            <a:r>
              <a:rPr lang="zh-CN" altLang="en-US" sz="2000" dirty="0">
                <a:solidFill>
                  <a:srgbClr val="595959"/>
                </a:solidFill>
                <a:latin typeface="微软雅黑" panose="020B0503020204020204" pitchFamily="34" charset="-122"/>
                <a:ea typeface="微软雅黑" panose="020B0503020204020204" pitchFamily="34" charset="-122"/>
                <a:cs typeface="+mn-ea"/>
              </a:rPr>
              <a:t>包括</a:t>
            </a:r>
            <a:r>
              <a:rPr lang="zh-CN" altLang="en-US" sz="2000" dirty="0">
                <a:solidFill>
                  <a:srgbClr val="1369B2"/>
                </a:solidFill>
                <a:latin typeface="微软雅黑" panose="020B0503020204020204" pitchFamily="34" charset="-122"/>
                <a:ea typeface="微软雅黑" panose="020B0503020204020204" pitchFamily="34" charset="-122"/>
                <a:cs typeface="+mn-ea"/>
              </a:rPr>
              <a:t>商城首页</a:t>
            </a:r>
            <a:r>
              <a:rPr lang="zh-CN" altLang="en-US" sz="2000" dirty="0">
                <a:solidFill>
                  <a:srgbClr val="595959"/>
                </a:solidFill>
                <a:latin typeface="微软雅黑" panose="020B0503020204020204" pitchFamily="34" charset="-122"/>
                <a:ea typeface="微软雅黑" panose="020B0503020204020204" pitchFamily="34" charset="-122"/>
                <a:cs typeface="+mn-ea"/>
              </a:rPr>
              <a:t>、</a:t>
            </a:r>
            <a:r>
              <a:rPr lang="zh-CN" altLang="en-US" sz="2000" dirty="0">
                <a:solidFill>
                  <a:srgbClr val="1369B2"/>
                </a:solidFill>
                <a:latin typeface="微软雅黑" panose="020B0503020204020204" pitchFamily="34" charset="-122"/>
                <a:ea typeface="微软雅黑" panose="020B0503020204020204" pitchFamily="34" charset="-122"/>
                <a:cs typeface="+mn-ea"/>
              </a:rPr>
              <a:t>商品列表页面</a:t>
            </a:r>
            <a:r>
              <a:rPr lang="zh-CN" altLang="en-US" sz="2000" dirty="0">
                <a:solidFill>
                  <a:srgbClr val="595959"/>
                </a:solidFill>
                <a:latin typeface="微软雅黑" panose="020B0503020204020204" pitchFamily="34" charset="-122"/>
                <a:ea typeface="微软雅黑" panose="020B0503020204020204" pitchFamily="34" charset="-122"/>
                <a:cs typeface="+mn-ea"/>
              </a:rPr>
              <a:t>等。</a:t>
            </a:r>
            <a:r>
              <a:rPr lang="zh-CN" altLang="en-US" sz="2000" dirty="0">
                <a:solidFill>
                  <a:srgbClr val="1369B2"/>
                </a:solidFill>
                <a:latin typeface="微软雅黑" panose="020B0503020204020204" pitchFamily="34" charset="-122"/>
                <a:ea typeface="微软雅黑" panose="020B0503020204020204" pitchFamily="34" charset="-122"/>
                <a:cs typeface="+mn-ea"/>
              </a:rPr>
              <a:t>商品列表页面</a:t>
            </a:r>
            <a:r>
              <a:rPr lang="zh-CN" altLang="en-US" sz="2000" dirty="0">
                <a:solidFill>
                  <a:srgbClr val="595959"/>
                </a:solidFill>
                <a:latin typeface="微软雅黑" panose="020B0503020204020204" pitchFamily="34" charset="-122"/>
                <a:ea typeface="微软雅黑" panose="020B0503020204020204" pitchFamily="34" charset="-122"/>
                <a:cs typeface="+mn-ea"/>
              </a:rPr>
              <a:t>展示了</a:t>
            </a:r>
            <a:r>
              <a:rPr lang="zh-CN" altLang="en-US" sz="2000" dirty="0">
                <a:solidFill>
                  <a:srgbClr val="1369B2"/>
                </a:solidFill>
                <a:latin typeface="微软雅黑" panose="020B0503020204020204" pitchFamily="34" charset="-122"/>
                <a:ea typeface="微软雅黑" panose="020B0503020204020204" pitchFamily="34" charset="-122"/>
                <a:cs typeface="+mn-ea"/>
              </a:rPr>
              <a:t>不同商品</a:t>
            </a:r>
            <a:r>
              <a:rPr lang="zh-CN" altLang="en-US" sz="2000" dirty="0">
                <a:solidFill>
                  <a:srgbClr val="595959"/>
                </a:solidFill>
                <a:latin typeface="微软雅黑" panose="020B0503020204020204" pitchFamily="34" charset="-122"/>
                <a:ea typeface="微软雅黑" panose="020B0503020204020204" pitchFamily="34" charset="-122"/>
                <a:cs typeface="+mn-ea"/>
              </a:rPr>
              <a:t>图片的信息，如手机、家电等，用户可以很容易地找到自己喜欢的商品图片进行查看。</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1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cs typeface="+mn-ea"/>
              </a:rPr>
              <a:t>当商城中的商品有</a:t>
            </a:r>
            <a:r>
              <a:rPr lang="zh-CN" altLang="en-US" sz="2000" dirty="0">
                <a:solidFill>
                  <a:srgbClr val="1369B2"/>
                </a:solidFill>
                <a:latin typeface="微软雅黑" panose="020B0503020204020204" pitchFamily="34" charset="-122"/>
                <a:ea typeface="微软雅黑" panose="020B0503020204020204" pitchFamily="34" charset="-122"/>
                <a:cs typeface="+mn-ea"/>
              </a:rPr>
              <a:t>大型促销活动</a:t>
            </a:r>
            <a:r>
              <a:rPr lang="zh-CN" altLang="en-US" sz="2000" dirty="0">
                <a:solidFill>
                  <a:srgbClr val="595959"/>
                </a:solidFill>
                <a:latin typeface="微软雅黑" panose="020B0503020204020204" pitchFamily="34" charset="-122"/>
                <a:ea typeface="微软雅黑" panose="020B0503020204020204" pitchFamily="34" charset="-122"/>
                <a:cs typeface="+mn-ea"/>
              </a:rPr>
              <a:t>、</a:t>
            </a:r>
            <a:r>
              <a:rPr lang="zh-CN" altLang="en-US" sz="2000" dirty="0">
                <a:solidFill>
                  <a:srgbClr val="1369B2"/>
                </a:solidFill>
                <a:latin typeface="微软雅黑" panose="020B0503020204020204" pitchFamily="34" charset="-122"/>
                <a:ea typeface="微软雅黑" panose="020B0503020204020204" pitchFamily="34" charset="-122"/>
                <a:cs typeface="+mn-ea"/>
              </a:rPr>
              <a:t>商城优惠券活动时</a:t>
            </a:r>
            <a:r>
              <a:rPr lang="zh-CN" altLang="en-US" sz="2000" dirty="0">
                <a:solidFill>
                  <a:srgbClr val="595959"/>
                </a:solidFill>
                <a:latin typeface="微软雅黑" panose="020B0503020204020204" pitchFamily="34" charset="-122"/>
                <a:ea typeface="微软雅黑" panose="020B0503020204020204" pitchFamily="34" charset="-122"/>
                <a:cs typeface="+mn-ea"/>
              </a:rPr>
              <a:t>，</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我们使用</a:t>
            </a:r>
            <a:r>
              <a:rPr lang="zh-CN" altLang="en-US" sz="2000" dirty="0">
                <a:solidFill>
                  <a:srgbClr val="1369B2"/>
                </a:solidFill>
                <a:latin typeface="微软雅黑" panose="020B0503020204020204" pitchFamily="34" charset="-122"/>
                <a:ea typeface="微软雅黑" panose="020B0503020204020204" pitchFamily="34" charset="-122"/>
                <a:cs typeface="+mn-ea"/>
              </a:rPr>
              <a:t>轮播图</a:t>
            </a:r>
            <a:r>
              <a:rPr lang="zh-CN" altLang="en-US" sz="2000" dirty="0">
                <a:solidFill>
                  <a:srgbClr val="595959"/>
                </a:solidFill>
                <a:latin typeface="微软雅黑" panose="020B0503020204020204" pitchFamily="34" charset="-122"/>
                <a:ea typeface="微软雅黑" panose="020B0503020204020204" pitchFamily="34" charset="-122"/>
                <a:cs typeface="+mn-ea"/>
              </a:rPr>
              <a:t>来展示相关活动的图片信息，它能够</a:t>
            </a:r>
            <a:r>
              <a:rPr lang="zh-CN" altLang="en-US" sz="2000" dirty="0">
                <a:solidFill>
                  <a:srgbClr val="1369B2"/>
                </a:solidFill>
                <a:latin typeface="微软雅黑" panose="020B0503020204020204" pitchFamily="34" charset="-122"/>
                <a:ea typeface="微软雅黑" panose="020B0503020204020204" pitchFamily="34" charset="-122"/>
                <a:cs typeface="+mn-ea"/>
              </a:rPr>
              <a:t>引起</a:t>
            </a:r>
            <a:r>
              <a:rPr lang="zh-CN" altLang="en-US" sz="2000" dirty="0">
                <a:solidFill>
                  <a:srgbClr val="595959"/>
                </a:solidFill>
                <a:latin typeface="微软雅黑" panose="020B0503020204020204" pitchFamily="34" charset="-122"/>
                <a:ea typeface="微软雅黑" panose="020B0503020204020204" pitchFamily="34" charset="-122"/>
                <a:cs typeface="+mn-ea"/>
              </a:rPr>
              <a:t>用户的</a:t>
            </a:r>
            <a:r>
              <a:rPr lang="zh-CN" altLang="en-US" sz="2000" dirty="0">
                <a:solidFill>
                  <a:srgbClr val="1369B2"/>
                </a:solidFill>
                <a:latin typeface="微软雅黑" panose="020B0503020204020204" pitchFamily="34" charset="-122"/>
                <a:ea typeface="微软雅黑" panose="020B0503020204020204" pitchFamily="34" charset="-122"/>
                <a:cs typeface="+mn-ea"/>
              </a:rPr>
              <a:t>注意</a:t>
            </a:r>
            <a:r>
              <a:rPr lang="zh-CN" altLang="en-US" sz="2000" dirty="0">
                <a:solidFill>
                  <a:srgbClr val="595959"/>
                </a:solidFill>
                <a:latin typeface="微软雅黑" panose="020B0503020204020204" pitchFamily="34" charset="-122"/>
                <a:ea typeface="微软雅黑" panose="020B0503020204020204" pitchFamily="34" charset="-122"/>
                <a:cs typeface="+mn-ea"/>
              </a:rPr>
              <a:t>，帮助用户了解活动等信息。</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19777903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7"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815965" y="3576722"/>
            <a:ext cx="4983480" cy="1231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轮播图页面结构</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，能够实现网页中的轮播图页面</a:t>
            </a:r>
            <a:r>
              <a:rPr lang="zh-CN" altLang="en-US"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结构</a:t>
            </a:r>
            <a:endParaRPr lang="zh-CN" altLang="en-US" dirty="0">
              <a:solidFill>
                <a:srgbClr val="595959"/>
              </a:solidFill>
              <a:latin typeface="微软雅黑" panose="020B0503020204020204" pitchFamily="34" charset="-122"/>
              <a:ea typeface="微软雅黑" panose="020B0503020204020204" pitchFamily="34" charset="-122"/>
              <a:cs typeface="+mn-ea"/>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Title 1">
            <a:extLst>
              <a:ext uri="{FF2B5EF4-FFF2-40B4-BE49-F238E27FC236}">
                <a16:creationId xmlns:a16="http://schemas.microsoft.com/office/drawing/2014/main" id="{A5A373F7-A187-42B9-9017-12CE5611263B}"/>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6.5.1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轮播图页面结构</a:t>
            </a:r>
          </a:p>
        </p:txBody>
      </p:sp>
    </p:spTree>
    <p:extLst>
      <p:ext uri="{BB962C8B-B14F-4D97-AF65-F5344CB8AC3E}">
        <p14:creationId xmlns:p14="http://schemas.microsoft.com/office/powerpoint/2010/main" val="27603342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5A373F7-A187-42B9-9017-12CE5611263B}"/>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6.5.1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轮播图页面结构</a:t>
            </a:r>
          </a:p>
        </p:txBody>
      </p:sp>
      <p:sp>
        <p:nvSpPr>
          <p:cNvPr id="10" name="文本框 9">
            <a:extLst>
              <a:ext uri="{FF2B5EF4-FFF2-40B4-BE49-F238E27FC236}">
                <a16:creationId xmlns:a16="http://schemas.microsoft.com/office/drawing/2014/main" id="{E9847246-3D69-45A0-B54E-62233799CDE1}"/>
              </a:ext>
            </a:extLst>
          </p:cNvPr>
          <p:cNvSpPr txBox="1"/>
          <p:nvPr/>
        </p:nvSpPr>
        <p:spPr>
          <a:xfrm>
            <a:off x="928713" y="1053530"/>
            <a:ext cx="10225136" cy="1477328"/>
          </a:xfrm>
          <a:prstGeom prst="rect">
            <a:avLst/>
          </a:prstGeom>
          <a:noFill/>
        </p:spPr>
        <p:txBody>
          <a:bodyPr wrap="square" rtlCol="0">
            <a:spAutoFit/>
          </a:bodyPr>
          <a:lstStyle/>
          <a:p>
            <a:pPr>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cs typeface="+mn-ea"/>
              </a:rPr>
              <a:t>轮播图组件的作用</a:t>
            </a:r>
            <a:r>
              <a:rPr lang="zh-CN" altLang="en-US" sz="2000" dirty="0" smtClean="0">
                <a:solidFill>
                  <a:srgbClr val="1369B2"/>
                </a:solidFill>
                <a:latin typeface="微软雅黑" panose="020B0503020204020204" pitchFamily="34" charset="-122"/>
                <a:ea typeface="微软雅黑" panose="020B0503020204020204" pitchFamily="34" charset="-122"/>
                <a:cs typeface="+mn-ea"/>
              </a:rPr>
              <a:t>：</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可以</a:t>
            </a:r>
            <a:r>
              <a:rPr lang="zh-CN" altLang="zh-CN" sz="2000" dirty="0">
                <a:solidFill>
                  <a:srgbClr val="595959"/>
                </a:solidFill>
                <a:latin typeface="微软雅黑" panose="020B0503020204020204" pitchFamily="34" charset="-122"/>
                <a:ea typeface="微软雅黑" panose="020B0503020204020204" pitchFamily="34" charset="-122"/>
                <a:cs typeface="+mn-ea"/>
              </a:rPr>
              <a:t>让图像、内嵌框架、视频或者其他想要放置的</a:t>
            </a:r>
            <a:r>
              <a:rPr lang="zh-CN" altLang="zh-CN" sz="2000" dirty="0">
                <a:solidFill>
                  <a:srgbClr val="1369B2"/>
                </a:solidFill>
                <a:latin typeface="微软雅黑" panose="020B0503020204020204" pitchFamily="34" charset="-122"/>
                <a:ea typeface="微软雅黑" panose="020B0503020204020204" pitchFamily="34" charset="-122"/>
                <a:cs typeface="+mn-ea"/>
              </a:rPr>
              <a:t>任何类型</a:t>
            </a:r>
            <a:r>
              <a:rPr lang="zh-CN" altLang="zh-CN" sz="2000" dirty="0">
                <a:solidFill>
                  <a:srgbClr val="595959"/>
                </a:solidFill>
                <a:latin typeface="微软雅黑" panose="020B0503020204020204" pitchFamily="34" charset="-122"/>
                <a:ea typeface="微软雅黑" panose="020B0503020204020204" pitchFamily="34" charset="-122"/>
                <a:cs typeface="+mn-ea"/>
              </a:rPr>
              <a:t>的</a:t>
            </a:r>
            <a:r>
              <a:rPr lang="zh-CN" altLang="zh-CN" sz="2000" dirty="0">
                <a:solidFill>
                  <a:srgbClr val="1369B2"/>
                </a:solidFill>
                <a:latin typeface="微软雅黑" panose="020B0503020204020204" pitchFamily="34" charset="-122"/>
                <a:ea typeface="微软雅黑" panose="020B0503020204020204" pitchFamily="34" charset="-122"/>
                <a:cs typeface="+mn-ea"/>
              </a:rPr>
              <a:t>内容</a:t>
            </a:r>
            <a:r>
              <a:rPr lang="zh-CN" altLang="zh-CN" sz="2000" dirty="0">
                <a:solidFill>
                  <a:srgbClr val="595959"/>
                </a:solidFill>
                <a:latin typeface="微软雅黑" panose="020B0503020204020204" pitchFamily="34" charset="-122"/>
                <a:ea typeface="微软雅黑" panose="020B0503020204020204" pitchFamily="34" charset="-122"/>
                <a:cs typeface="+mn-ea"/>
              </a:rPr>
              <a:t>之间进行</a:t>
            </a:r>
            <a:r>
              <a:rPr lang="zh-CN" altLang="zh-CN" sz="2000" dirty="0">
                <a:solidFill>
                  <a:srgbClr val="1369B2"/>
                </a:solidFill>
                <a:latin typeface="微软雅黑" panose="020B0503020204020204" pitchFamily="34" charset="-122"/>
                <a:ea typeface="微软雅黑" panose="020B0503020204020204" pitchFamily="34" charset="-122"/>
                <a:cs typeface="+mn-ea"/>
              </a:rPr>
              <a:t>自动循环播放</a:t>
            </a:r>
            <a:r>
              <a:rPr lang="zh-CN" altLang="zh-CN" sz="2000" dirty="0">
                <a:solidFill>
                  <a:srgbClr val="595959"/>
                </a:solidFill>
                <a:latin typeface="微软雅黑" panose="020B0503020204020204" pitchFamily="34" charset="-122"/>
                <a:ea typeface="微软雅黑" panose="020B0503020204020204" pitchFamily="34" charset="-122"/>
                <a:cs typeface="+mn-ea"/>
              </a:rPr>
              <a:t>，也可以</a:t>
            </a:r>
            <a:r>
              <a:rPr lang="zh-CN" altLang="zh-CN" sz="2000" dirty="0">
                <a:solidFill>
                  <a:srgbClr val="1369B2"/>
                </a:solidFill>
                <a:latin typeface="微软雅黑" panose="020B0503020204020204" pitchFamily="34" charset="-122"/>
                <a:ea typeface="微软雅黑" panose="020B0503020204020204" pitchFamily="34" charset="-122"/>
                <a:cs typeface="+mn-ea"/>
              </a:rPr>
              <a:t>手动切换</a:t>
            </a:r>
            <a:r>
              <a:rPr lang="zh-CN" altLang="zh-CN" sz="2000" dirty="0">
                <a:solidFill>
                  <a:srgbClr val="595959"/>
                </a:solidFill>
                <a:latin typeface="微软雅黑" panose="020B0503020204020204" pitchFamily="34" charset="-122"/>
                <a:ea typeface="微软雅黑" panose="020B0503020204020204" pitchFamily="34" charset="-122"/>
                <a:cs typeface="+mn-ea"/>
              </a:rPr>
              <a:t>下一张或上一张图片，还可以</a:t>
            </a:r>
            <a:r>
              <a:rPr lang="zh-CN" altLang="zh-CN" sz="2000" dirty="0">
                <a:solidFill>
                  <a:srgbClr val="1369B2"/>
                </a:solidFill>
                <a:latin typeface="微软雅黑" panose="020B0503020204020204" pitchFamily="34" charset="-122"/>
                <a:ea typeface="微软雅黑" panose="020B0503020204020204" pitchFamily="34" charset="-122"/>
                <a:cs typeface="+mn-ea"/>
              </a:rPr>
              <a:t>查看</a:t>
            </a:r>
            <a:r>
              <a:rPr lang="zh-CN" altLang="zh-CN" sz="2000" dirty="0">
                <a:solidFill>
                  <a:srgbClr val="595959"/>
                </a:solidFill>
                <a:latin typeface="微软雅黑" panose="020B0503020204020204" pitchFamily="34" charset="-122"/>
                <a:ea typeface="微软雅黑" panose="020B0503020204020204" pitchFamily="34" charset="-122"/>
                <a:cs typeface="+mn-ea"/>
              </a:rPr>
              <a:t>当前图片的</a:t>
            </a:r>
            <a:r>
              <a:rPr lang="zh-CN" altLang="zh-CN" sz="2000" dirty="0">
                <a:solidFill>
                  <a:srgbClr val="1369B2"/>
                </a:solidFill>
                <a:latin typeface="微软雅黑" panose="020B0503020204020204" pitchFamily="34" charset="-122"/>
                <a:ea typeface="微软雅黑" panose="020B0503020204020204" pitchFamily="34" charset="-122"/>
                <a:cs typeface="+mn-ea"/>
              </a:rPr>
              <a:t>位置</a:t>
            </a:r>
            <a:r>
              <a:rPr lang="zh-CN" altLang="zh-CN" sz="2000" dirty="0">
                <a:solidFill>
                  <a:srgbClr val="595959"/>
                </a:solidFill>
                <a:latin typeface="微软雅黑" panose="020B0503020204020204" pitchFamily="34" charset="-122"/>
                <a:ea typeface="微软雅黑" panose="020B0503020204020204" pitchFamily="34" charset="-122"/>
                <a:cs typeface="+mn-ea"/>
              </a:rPr>
              <a:t>，即轮播图指示器功能</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4" name="文本框 3">
            <a:extLst>
              <a:ext uri="{FF2B5EF4-FFF2-40B4-BE49-F238E27FC236}">
                <a16:creationId xmlns:a16="http://schemas.microsoft.com/office/drawing/2014/main" id="{E9847246-3D69-45A0-B54E-62233799CDE1}"/>
              </a:ext>
            </a:extLst>
          </p:cNvPr>
          <p:cNvSpPr txBox="1"/>
          <p:nvPr/>
        </p:nvSpPr>
        <p:spPr>
          <a:xfrm>
            <a:off x="928713" y="2781722"/>
            <a:ext cx="9577064" cy="2977738"/>
          </a:xfrm>
          <a:prstGeom prst="rect">
            <a:avLst/>
          </a:prstGeom>
          <a:noFill/>
        </p:spPr>
        <p:txBody>
          <a:bodyPr wrap="square" rtlCol="0">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cs typeface="+mn-ea"/>
              </a:rPr>
              <a:t>实现轮播图页面样式的类</a:t>
            </a:r>
            <a:r>
              <a:rPr lang="zh-CN" altLang="en-US" sz="2000" dirty="0">
                <a:solidFill>
                  <a:srgbClr val="1369B2"/>
                </a:solidFill>
                <a:latin typeface="微软雅黑" panose="020B0503020204020204" pitchFamily="34" charset="-122"/>
                <a:ea typeface="微软雅黑" panose="020B0503020204020204" pitchFamily="34" charset="-122"/>
                <a:cs typeface="+mn-ea"/>
              </a:rPr>
              <a:t>：</a:t>
            </a:r>
            <a:endParaRPr lang="en-US" altLang="zh-CN" sz="2000" dirty="0">
              <a:solidFill>
                <a:srgbClr val="1369B2"/>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500" dirty="0">
              <a:solidFill>
                <a:srgbClr val="1369B2"/>
              </a:solidFill>
              <a:latin typeface="微软雅黑" panose="020B0503020204020204" pitchFamily="34" charset="-122"/>
              <a:ea typeface="微软雅黑" panose="020B0503020204020204" pitchFamily="34" charset="-122"/>
              <a:cs typeface="+mn-ea"/>
            </a:endParaRPr>
          </a:p>
          <a:p>
            <a:pPr marL="342900" indent="-342900">
              <a:lnSpc>
                <a:spcPct val="150000"/>
              </a:lnSpc>
              <a:buFont typeface="Wingdings" panose="05000000000000000000" pitchFamily="2" charset="2"/>
              <a:buChar char="l"/>
            </a:pPr>
            <a:r>
              <a:rPr lang="en-US" altLang="zh-CN" sz="2000" dirty="0">
                <a:solidFill>
                  <a:srgbClr val="1369B2"/>
                </a:solidFill>
                <a:latin typeface="微软雅黑" panose="020B0503020204020204" pitchFamily="34" charset="-122"/>
                <a:ea typeface="微软雅黑" panose="020B0503020204020204" pitchFamily="34" charset="-122"/>
                <a:cs typeface="+mn-ea"/>
              </a:rPr>
              <a:t>.carousel</a:t>
            </a:r>
            <a:r>
              <a:rPr lang="zh-CN" altLang="en-US" sz="2000" dirty="0">
                <a:solidFill>
                  <a:srgbClr val="1369B2"/>
                </a:solidFill>
                <a:latin typeface="微软雅黑" panose="020B0503020204020204" pitchFamily="34" charset="-122"/>
                <a:ea typeface="微软雅黑" panose="020B0503020204020204" pitchFamily="34" charset="-122"/>
                <a:cs typeface="+mn-ea"/>
              </a:rPr>
              <a:t>类：</a:t>
            </a:r>
            <a:r>
              <a:rPr lang="zh-CN" altLang="en-US" sz="2000" dirty="0">
                <a:solidFill>
                  <a:srgbClr val="595959"/>
                </a:solidFill>
                <a:latin typeface="微软雅黑" panose="020B0503020204020204" pitchFamily="34" charset="-122"/>
                <a:ea typeface="微软雅黑" panose="020B0503020204020204" pitchFamily="34" charset="-122"/>
                <a:cs typeface="+mn-ea"/>
              </a:rPr>
              <a:t>定义轮播图页面的最外层容器</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marL="342900" indent="-342900">
              <a:lnSpc>
                <a:spcPct val="150000"/>
              </a:lnSpc>
              <a:buFont typeface="Wingdings" panose="05000000000000000000" pitchFamily="2" charset="2"/>
              <a:buChar char="l"/>
            </a:pPr>
            <a:r>
              <a:rPr lang="en-US" altLang="zh-CN" sz="2000" dirty="0">
                <a:solidFill>
                  <a:srgbClr val="1369B2"/>
                </a:solidFill>
                <a:latin typeface="微软雅黑" panose="020B0503020204020204" pitchFamily="34" charset="-122"/>
                <a:ea typeface="微软雅黑" panose="020B0503020204020204" pitchFamily="34" charset="-122"/>
                <a:cs typeface="+mn-ea"/>
              </a:rPr>
              <a:t>.slide</a:t>
            </a:r>
            <a:r>
              <a:rPr lang="zh-CN" altLang="en-US" sz="2000" dirty="0">
                <a:solidFill>
                  <a:srgbClr val="1369B2"/>
                </a:solidFill>
                <a:latin typeface="微软雅黑" panose="020B0503020204020204" pitchFamily="34" charset="-122"/>
                <a:ea typeface="微软雅黑" panose="020B0503020204020204" pitchFamily="34" charset="-122"/>
                <a:cs typeface="+mn-ea"/>
              </a:rPr>
              <a:t>类：</a:t>
            </a:r>
            <a:r>
              <a:rPr lang="zh-CN" altLang="en-US" sz="2000" dirty="0">
                <a:solidFill>
                  <a:srgbClr val="595959"/>
                </a:solidFill>
                <a:latin typeface="微软雅黑" panose="020B0503020204020204" pitchFamily="34" charset="-122"/>
                <a:ea typeface="微软雅黑" panose="020B0503020204020204" pitchFamily="34" charset="-122"/>
                <a:cs typeface="+mn-ea"/>
              </a:rPr>
              <a:t>实现轮播图滑动的过渡效果</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marL="342900" indent="-342900">
              <a:lnSpc>
                <a:spcPct val="150000"/>
              </a:lnSpc>
              <a:buFont typeface="Wingdings" panose="05000000000000000000" pitchFamily="2" charset="2"/>
              <a:buChar char="l"/>
            </a:pPr>
            <a:r>
              <a:rPr lang="en-US" altLang="zh-CN" sz="2000" dirty="0">
                <a:solidFill>
                  <a:srgbClr val="1369B2"/>
                </a:solidFill>
                <a:latin typeface="微软雅黑" panose="020B0503020204020204" pitchFamily="34" charset="-122"/>
                <a:ea typeface="微软雅黑" panose="020B0503020204020204" pitchFamily="34" charset="-122"/>
                <a:cs typeface="+mn-ea"/>
              </a:rPr>
              <a:t>.carousel-inner</a:t>
            </a:r>
            <a:r>
              <a:rPr lang="zh-CN" altLang="en-US" sz="2000" dirty="0">
                <a:solidFill>
                  <a:srgbClr val="1369B2"/>
                </a:solidFill>
                <a:latin typeface="微软雅黑" panose="020B0503020204020204" pitchFamily="34" charset="-122"/>
                <a:ea typeface="微软雅黑" panose="020B0503020204020204" pitchFamily="34" charset="-122"/>
                <a:cs typeface="+mn-ea"/>
              </a:rPr>
              <a:t>类：</a:t>
            </a:r>
            <a:r>
              <a:rPr lang="zh-CN" altLang="en-US" sz="2000" dirty="0">
                <a:solidFill>
                  <a:srgbClr val="595959"/>
                </a:solidFill>
                <a:latin typeface="微软雅黑" panose="020B0503020204020204" pitchFamily="34" charset="-122"/>
                <a:ea typeface="微软雅黑" panose="020B0503020204020204" pitchFamily="34" charset="-122"/>
                <a:cs typeface="+mn-ea"/>
              </a:rPr>
              <a:t>定义轮播图页面中每一项内容的外层结构</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marL="342900" indent="-342900">
              <a:lnSpc>
                <a:spcPct val="150000"/>
              </a:lnSpc>
              <a:buFont typeface="Wingdings" panose="05000000000000000000" pitchFamily="2" charset="2"/>
              <a:buChar char="l"/>
            </a:pPr>
            <a:r>
              <a:rPr lang="en-US" altLang="zh-CN" sz="2000" dirty="0">
                <a:solidFill>
                  <a:srgbClr val="1369B2"/>
                </a:solidFill>
                <a:latin typeface="微软雅黑" panose="020B0503020204020204" pitchFamily="34" charset="-122"/>
                <a:ea typeface="微软雅黑" panose="020B0503020204020204" pitchFamily="34" charset="-122"/>
                <a:cs typeface="+mn-ea"/>
              </a:rPr>
              <a:t>.carousel-item</a:t>
            </a:r>
            <a:r>
              <a:rPr lang="zh-CN" altLang="en-US" sz="2000" dirty="0">
                <a:solidFill>
                  <a:srgbClr val="1369B2"/>
                </a:solidFill>
                <a:latin typeface="微软雅黑" panose="020B0503020204020204" pitchFamily="34" charset="-122"/>
                <a:ea typeface="微软雅黑" panose="020B0503020204020204" pitchFamily="34" charset="-122"/>
                <a:cs typeface="+mn-ea"/>
              </a:rPr>
              <a:t>类</a:t>
            </a:r>
            <a:r>
              <a:rPr lang="zh-CN" altLang="en-US" sz="2000" dirty="0">
                <a:solidFill>
                  <a:srgbClr val="595959"/>
                </a:solidFill>
                <a:latin typeface="微软雅黑" panose="020B0503020204020204" pitchFamily="34" charset="-122"/>
                <a:ea typeface="微软雅黑" panose="020B0503020204020204" pitchFamily="34" charset="-122"/>
                <a:cs typeface="+mn-ea"/>
              </a:rPr>
              <a:t>：定义轮播图页面中的每一项内容</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marL="342900" indent="-342900">
              <a:lnSpc>
                <a:spcPct val="150000"/>
              </a:lnSpc>
              <a:buFont typeface="Wingdings" panose="05000000000000000000" pitchFamily="2" charset="2"/>
              <a:buChar char="l"/>
            </a:pPr>
            <a:r>
              <a:rPr lang="en-US" altLang="zh-CN" sz="2000" dirty="0">
                <a:solidFill>
                  <a:srgbClr val="1369B2"/>
                </a:solidFill>
                <a:latin typeface="微软雅黑" panose="020B0503020204020204" pitchFamily="34" charset="-122"/>
                <a:ea typeface="微软雅黑" panose="020B0503020204020204" pitchFamily="34" charset="-122"/>
                <a:cs typeface="+mn-ea"/>
              </a:rPr>
              <a:t>.active</a:t>
            </a:r>
            <a:r>
              <a:rPr lang="zh-CN" altLang="zh-CN" sz="2000" dirty="0">
                <a:solidFill>
                  <a:srgbClr val="1369B2"/>
                </a:solidFill>
                <a:latin typeface="微软雅黑" panose="020B0503020204020204" pitchFamily="34" charset="-122"/>
                <a:ea typeface="微软雅黑" panose="020B0503020204020204" pitchFamily="34" charset="-122"/>
                <a:cs typeface="+mn-ea"/>
              </a:rPr>
              <a:t>类</a:t>
            </a:r>
            <a:r>
              <a:rPr lang="zh-CN" altLang="en-US" sz="2000" dirty="0">
                <a:solidFill>
                  <a:srgbClr val="1369B2"/>
                </a:solidFill>
                <a:latin typeface="微软雅黑" panose="020B0503020204020204" pitchFamily="34" charset="-122"/>
                <a:ea typeface="微软雅黑" panose="020B0503020204020204" pitchFamily="34" charset="-122"/>
                <a:cs typeface="+mn-ea"/>
              </a:rPr>
              <a:t>：</a:t>
            </a:r>
            <a:r>
              <a:rPr lang="zh-CN" altLang="en-US" sz="2000" dirty="0">
                <a:solidFill>
                  <a:srgbClr val="595959"/>
                </a:solidFill>
                <a:latin typeface="微软雅黑" panose="020B0503020204020204" pitchFamily="34" charset="-122"/>
                <a:ea typeface="微软雅黑" panose="020B0503020204020204" pitchFamily="34" charset="-122"/>
                <a:cs typeface="+mn-ea"/>
              </a:rPr>
              <a:t>表示活动状态</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39146771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5A373F7-A187-42B9-9017-12CE5611263B}"/>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6.5.1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轮播图页面结构</a:t>
            </a:r>
          </a:p>
        </p:txBody>
      </p:sp>
      <p:sp>
        <p:nvSpPr>
          <p:cNvPr id="4" name="文本框 3">
            <a:extLst>
              <a:ext uri="{FF2B5EF4-FFF2-40B4-BE49-F238E27FC236}">
                <a16:creationId xmlns:a16="http://schemas.microsoft.com/office/drawing/2014/main" id="{689F309E-4386-4AA2-823A-3A6A20AA9FA2}"/>
              </a:ext>
            </a:extLst>
          </p:cNvPr>
          <p:cNvSpPr txBox="1"/>
          <p:nvPr/>
        </p:nvSpPr>
        <p:spPr>
          <a:xfrm>
            <a:off x="1198662" y="1341562"/>
            <a:ext cx="9577064" cy="553998"/>
          </a:xfrm>
          <a:prstGeom prst="rect">
            <a:avLst/>
          </a:prstGeom>
          <a:noFill/>
        </p:spPr>
        <p:txBody>
          <a:bodyPr wrap="square" rtlCol="0">
            <a:spAutoFit/>
          </a:body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cs typeface="+mn-ea"/>
              </a:rPr>
              <a:t>实现</a:t>
            </a:r>
            <a:r>
              <a:rPr lang="zh-CN" altLang="en-US" sz="2000" dirty="0">
                <a:solidFill>
                  <a:srgbClr val="1369B2"/>
                </a:solidFill>
                <a:latin typeface="微软雅黑" panose="020B0503020204020204" pitchFamily="34" charset="-122"/>
                <a:ea typeface="微软雅黑" panose="020B0503020204020204" pitchFamily="34" charset="-122"/>
                <a:cs typeface="+mn-ea"/>
              </a:rPr>
              <a:t>轮播图页面</a:t>
            </a:r>
            <a:r>
              <a:rPr lang="zh-CN" altLang="en-US" sz="2000" dirty="0">
                <a:solidFill>
                  <a:srgbClr val="595959"/>
                </a:solidFill>
                <a:latin typeface="微软雅黑" panose="020B0503020204020204" pitchFamily="34" charset="-122"/>
                <a:ea typeface="微软雅黑" panose="020B0503020204020204" pitchFamily="34" charset="-122"/>
                <a:cs typeface="+mn-ea"/>
              </a:rPr>
              <a:t>，效果如图：</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4098" name="Picture 2">
            <a:extLst>
              <a:ext uri="{FF2B5EF4-FFF2-40B4-BE49-F238E27FC236}">
                <a16:creationId xmlns:a16="http://schemas.microsoft.com/office/drawing/2014/main" id="{9F545BAD-E09F-48AE-9836-9A9EA36FBC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6814" y="2277666"/>
            <a:ext cx="7381241" cy="2664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178304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A22F1E4-39AE-424B-B19B-3301952C7205}"/>
              </a:ext>
            </a:extLst>
          </p:cNvPr>
          <p:cNvSpPr txBox="1"/>
          <p:nvPr/>
        </p:nvSpPr>
        <p:spPr>
          <a:xfrm>
            <a:off x="2933795" y="2205658"/>
            <a:ext cx="7913939" cy="4226992"/>
          </a:xfrm>
          <a:prstGeom prst="rect">
            <a:avLst/>
          </a:prstGeom>
          <a:solidFill>
            <a:srgbClr val="F2F2F2"/>
          </a:solidFill>
        </p:spPr>
        <p:txBody>
          <a:bodyPr wrap="square">
            <a:noAutofit/>
          </a:bodyPr>
          <a:lstStyle/>
          <a:p>
            <a:pPr lvl="1">
              <a:lnSpc>
                <a:spcPct val="150000"/>
              </a:lnSpc>
              <a:defRPr/>
            </a:pPr>
            <a:endParaRPr lang="en-US" altLang="zh-CN" sz="14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lvl="1">
              <a:lnSpc>
                <a:spcPct val="150000"/>
              </a:lnSpc>
              <a:defRPr/>
            </a:pPr>
            <a:endParaRPr lang="en-US" altLang="zh-CN" sz="14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lvl="1">
              <a:lnSpc>
                <a:spcPct val="150000"/>
              </a:lnSpc>
              <a:defRPr/>
            </a:pPr>
            <a:endParaRPr lang="en-US" altLang="zh-CN" sz="14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lvl="1">
              <a:lnSpc>
                <a:spcPct val="150000"/>
              </a:lnSpc>
              <a:defRPr/>
            </a:pPr>
            <a:endParaRPr lang="en-US" altLang="zh-CN" sz="14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lvl="1">
              <a:lnSpc>
                <a:spcPct val="150000"/>
              </a:lnSpc>
              <a:defRPr/>
            </a:pPr>
            <a:endParaRPr lang="en-US" altLang="zh-CN" sz="14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lvl="1">
              <a:lnSpc>
                <a:spcPct val="150000"/>
              </a:lnSpc>
              <a:defRPr/>
            </a:pPr>
            <a:endParaRPr lang="en-US" altLang="zh-CN" sz="14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lvl="1">
              <a:lnSpc>
                <a:spcPct val="150000"/>
              </a:lnSpc>
              <a:defRPr/>
            </a:pPr>
            <a:endParaRPr lang="en-US" altLang="zh-CN" sz="14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lvl="1">
              <a:lnSpc>
                <a:spcPct val="150000"/>
              </a:lnSpc>
              <a:defRPr/>
            </a:pPr>
            <a:endParaRPr lang="en-US" altLang="zh-CN" sz="14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lvl="1">
              <a:lnSpc>
                <a:spcPct val="150000"/>
              </a:lnSpc>
              <a:defRPr/>
            </a:pPr>
            <a:endParaRPr lang="en-US" altLang="zh-CN" sz="14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lvl="1">
              <a:lnSpc>
                <a:spcPct val="150000"/>
              </a:lnSpc>
              <a:defRPr/>
            </a:pPr>
            <a:endParaRPr lang="en-US" altLang="zh-CN" sz="14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p:txBody>
      </p:sp>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01</a:t>
              </a: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053530"/>
            <a:ext cx="8722842" cy="1053622"/>
          </a:xfrm>
          <a:prstGeom prst="rect">
            <a:avLst/>
          </a:prstGeom>
          <a:noFill/>
          <a:ln>
            <a:noFill/>
          </a:ln>
        </p:spPr>
        <p:txBody>
          <a:bodyPr wrap="square" rtlCol="0">
            <a:spAutoFit/>
          </a:bodyPr>
          <a:lstStyle/>
          <a:p>
            <a:pPr lvl="0" defTabSz="457200">
              <a:lnSpc>
                <a:spcPct val="150000"/>
              </a:lnSpc>
              <a:defRPr/>
            </a:pPr>
            <a:r>
              <a:rPr lang="zh-CN" altLang="en-US" b="1" kern="0" dirty="0">
                <a:solidFill>
                  <a:srgbClr val="595959"/>
                </a:solidFill>
                <a:latin typeface="微软雅黑" panose="020B0503020204020204" pitchFamily="34" charset="-122"/>
                <a:ea typeface="微软雅黑" panose="020B0503020204020204" pitchFamily="34" charset="-122"/>
                <a:cs typeface="+mn-ea"/>
                <a:sym typeface="+mn-lt"/>
              </a:rPr>
              <a:t>实现轮播图页面</a:t>
            </a:r>
            <a:endParaRPr lang="en-US" altLang="zh-CN" b="1" kern="0" dirty="0">
              <a:solidFill>
                <a:srgbClr val="595959"/>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创建</a:t>
            </a:r>
            <a:r>
              <a:rPr lang="en-US" altLang="zh-CN" sz="2000" dirty="0">
                <a:solidFill>
                  <a:srgbClr val="595959"/>
                </a:solidFill>
                <a:latin typeface="微软雅黑" panose="020B0503020204020204" pitchFamily="34" charset="-122"/>
                <a:ea typeface="微软雅黑" panose="020B0503020204020204" pitchFamily="34" charset="-122"/>
              </a:rPr>
              <a:t>C:\code\chapter06\demo13.html</a:t>
            </a:r>
            <a:r>
              <a:rPr lang="zh-CN" altLang="en-US" sz="2000" dirty="0">
                <a:solidFill>
                  <a:srgbClr val="595959"/>
                </a:solidFill>
                <a:latin typeface="微软雅黑" panose="020B0503020204020204" pitchFamily="34" charset="-122"/>
                <a:ea typeface="微软雅黑" panose="020B0503020204020204" pitchFamily="34" charset="-122"/>
              </a:rPr>
              <a:t>，具体代码如下。</a:t>
            </a:r>
          </a:p>
        </p:txBody>
      </p:sp>
      <p:sp>
        <p:nvSpPr>
          <p:cNvPr id="11" name="Title 1">
            <a:extLst>
              <a:ext uri="{FF2B5EF4-FFF2-40B4-BE49-F238E27FC236}">
                <a16:creationId xmlns:a16="http://schemas.microsoft.com/office/drawing/2014/main" id="{DB5F30EB-7301-41CC-A670-48C12E65F524}"/>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6.5.1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轮播图页面结构</a:t>
            </a:r>
          </a:p>
        </p:txBody>
      </p:sp>
      <p:sp>
        <p:nvSpPr>
          <p:cNvPr id="2" name="矩形 1"/>
          <p:cNvSpPr/>
          <p:nvPr/>
        </p:nvSpPr>
        <p:spPr>
          <a:xfrm>
            <a:off x="2494806" y="2277666"/>
            <a:ext cx="8879854" cy="4154984"/>
          </a:xfrm>
          <a:prstGeom prst="rect">
            <a:avLst/>
          </a:prstGeom>
        </p:spPr>
        <p:txBody>
          <a:bodyPr wrap="square">
            <a:spAutoFit/>
          </a:bodyPr>
          <a:lstStyle/>
          <a:p>
            <a:pPr lvl="1">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&lt;!DOCTYPE html&gt;</a:t>
            </a:r>
          </a:p>
          <a:p>
            <a:pPr lvl="1">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&lt;html&gt;</a:t>
            </a:r>
          </a:p>
          <a:p>
            <a:pPr lvl="1">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&lt;head&gt;</a:t>
            </a:r>
          </a:p>
          <a:p>
            <a:pPr lvl="1">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&lt;meta charset="UTF-8"&gt;</a:t>
            </a:r>
          </a:p>
          <a:p>
            <a:pPr lvl="1">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&lt;meta name="viewport" content="width=device-width, initial-scale=1.0"&gt;</a:t>
            </a:r>
          </a:p>
          <a:p>
            <a:pPr lvl="1">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&lt;title&gt;Document&lt;/title&gt;</a:t>
            </a:r>
          </a:p>
          <a:p>
            <a:pPr lvl="1">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&lt;link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="bootstrap-4.6.0-dist/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css</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/bootstrap.min.css"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rel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="stylesheet"&gt;</a:t>
            </a:r>
          </a:p>
          <a:p>
            <a:pPr lvl="1">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&lt;/head&gt;</a:t>
            </a:r>
          </a:p>
          <a:p>
            <a:pPr lvl="1">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&lt;body&gt;</a:t>
            </a:r>
          </a:p>
          <a:p>
            <a:pPr lvl="1">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&lt;/body&gt;</a:t>
            </a:r>
          </a:p>
          <a:p>
            <a:pPr lvl="1">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&lt;/html&gt;</a:t>
            </a:r>
          </a:p>
        </p:txBody>
      </p:sp>
    </p:spTree>
    <p:extLst>
      <p:ext uri="{BB962C8B-B14F-4D97-AF65-F5344CB8AC3E}">
        <p14:creationId xmlns:p14="http://schemas.microsoft.com/office/powerpoint/2010/main" val="16185698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02</a:t>
              </a: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053530"/>
            <a:ext cx="8722842" cy="1107996"/>
          </a:xfrm>
          <a:prstGeom prst="rect">
            <a:avLst/>
          </a:prstGeom>
          <a:noFill/>
          <a:ln>
            <a:noFill/>
          </a:ln>
        </p:spPr>
        <p:txBody>
          <a:bodyPr wrap="square" rtlCol="0">
            <a:spAutoFit/>
          </a:bodyPr>
          <a:lstStyle/>
          <a:p>
            <a:pPr lvl="0" defTabSz="457200">
              <a:lnSpc>
                <a:spcPct val="150000"/>
              </a:lnSpc>
              <a:defRPr/>
            </a:pPr>
            <a:r>
              <a:rPr lang="zh-CN" altLang="en-US" b="1" kern="0" dirty="0">
                <a:solidFill>
                  <a:srgbClr val="595959"/>
                </a:solidFill>
                <a:latin typeface="微软雅黑" panose="020B0503020204020204" pitchFamily="34" charset="-122"/>
                <a:ea typeface="微软雅黑" panose="020B0503020204020204" pitchFamily="34" charset="-122"/>
                <a:cs typeface="+mn-ea"/>
                <a:sym typeface="+mn-lt"/>
              </a:rPr>
              <a:t>实现轮播图页面</a:t>
            </a:r>
            <a:endParaRPr lang="en-US" altLang="zh-CN" b="1" kern="0" dirty="0">
              <a:solidFill>
                <a:srgbClr val="595959"/>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修改</a:t>
            </a:r>
            <a:r>
              <a:rPr lang="en-US" altLang="zh-CN" sz="2000" dirty="0">
                <a:solidFill>
                  <a:srgbClr val="595959"/>
                </a:solidFill>
                <a:latin typeface="微软雅黑" panose="020B0503020204020204" pitchFamily="34" charset="-122"/>
                <a:ea typeface="微软雅黑" panose="020B0503020204020204" pitchFamily="34" charset="-122"/>
              </a:rPr>
              <a:t>demo13.html</a:t>
            </a:r>
            <a:r>
              <a:rPr lang="zh-CN" altLang="en-US" sz="2000" dirty="0">
                <a:solidFill>
                  <a:srgbClr val="595959"/>
                </a:solidFill>
                <a:latin typeface="微软雅黑" panose="020B0503020204020204" pitchFamily="34" charset="-122"/>
                <a:ea typeface="微软雅黑" panose="020B0503020204020204" pitchFamily="34" charset="-122"/>
              </a:rPr>
              <a:t>，在</a:t>
            </a:r>
            <a:r>
              <a:rPr lang="en-US" altLang="zh-CN" sz="2000" dirty="0">
                <a:solidFill>
                  <a:srgbClr val="1369B2"/>
                </a:solidFill>
                <a:latin typeface="微软雅黑" panose="020B0503020204020204" pitchFamily="34" charset="-122"/>
                <a:ea typeface="微软雅黑" panose="020B0503020204020204" pitchFamily="34" charset="-122"/>
              </a:rPr>
              <a:t>&lt;/body&gt;</a:t>
            </a:r>
            <a:r>
              <a:rPr lang="zh-CN" altLang="en-US" sz="2000" dirty="0">
                <a:solidFill>
                  <a:srgbClr val="595959"/>
                </a:solidFill>
                <a:latin typeface="微软雅黑" panose="020B0503020204020204" pitchFamily="34" charset="-122"/>
                <a:ea typeface="微软雅黑" panose="020B0503020204020204" pitchFamily="34" charset="-122"/>
              </a:rPr>
              <a:t>标签结束之前，添加以下代码。</a:t>
            </a:r>
          </a:p>
        </p:txBody>
      </p:sp>
      <p:sp>
        <p:nvSpPr>
          <p:cNvPr id="11" name="Title 1">
            <a:extLst>
              <a:ext uri="{FF2B5EF4-FFF2-40B4-BE49-F238E27FC236}">
                <a16:creationId xmlns:a16="http://schemas.microsoft.com/office/drawing/2014/main" id="{DB5F30EB-7301-41CC-A670-48C12E65F524}"/>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6.5.1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轮播图页面结构</a:t>
            </a:r>
          </a:p>
        </p:txBody>
      </p:sp>
      <p:sp>
        <p:nvSpPr>
          <p:cNvPr id="12" name="文本框 11">
            <a:extLst>
              <a:ext uri="{FF2B5EF4-FFF2-40B4-BE49-F238E27FC236}">
                <a16:creationId xmlns:a16="http://schemas.microsoft.com/office/drawing/2014/main" id="{7DCD49BD-0087-4023-BB9D-5D4682A84B71}"/>
              </a:ext>
            </a:extLst>
          </p:cNvPr>
          <p:cNvSpPr txBox="1"/>
          <p:nvPr/>
        </p:nvSpPr>
        <p:spPr>
          <a:xfrm>
            <a:off x="3059949" y="2493690"/>
            <a:ext cx="7139713" cy="1938992"/>
          </a:xfrm>
          <a:prstGeom prst="rect">
            <a:avLst/>
          </a:prstGeom>
          <a:solidFill>
            <a:srgbClr val="F2F2F2"/>
          </a:solidFill>
        </p:spPr>
        <p:txBody>
          <a:bodyPr wrap="square">
            <a:spAutoFit/>
          </a:bodyPr>
          <a:lstStyle/>
          <a:p>
            <a:pPr lvl="1">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轮播图页面结构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lvl="1">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id="carouselExampleSlidesOnly" class="carousel slide"&gt;</a:t>
            </a:r>
          </a:p>
          <a:p>
            <a:pPr lvl="1">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class="carousel-inner"&gt;</a:t>
            </a:r>
          </a:p>
          <a:p>
            <a:pPr lvl="1">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&lt;/div&gt;</a:t>
            </a:r>
          </a:p>
          <a:p>
            <a:pPr lvl="1">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&lt;/div&gt;</a:t>
            </a:r>
          </a:p>
        </p:txBody>
      </p:sp>
    </p:spTree>
    <p:extLst>
      <p:ext uri="{BB962C8B-B14F-4D97-AF65-F5344CB8AC3E}">
        <p14:creationId xmlns:p14="http://schemas.microsoft.com/office/powerpoint/2010/main" val="38953341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A22F1E4-39AE-424B-B19B-3301952C7205}"/>
              </a:ext>
            </a:extLst>
          </p:cNvPr>
          <p:cNvSpPr txBox="1"/>
          <p:nvPr/>
        </p:nvSpPr>
        <p:spPr>
          <a:xfrm>
            <a:off x="2278782" y="2277666"/>
            <a:ext cx="8867905" cy="4191532"/>
          </a:xfrm>
          <a:prstGeom prst="rect">
            <a:avLst/>
          </a:prstGeom>
          <a:solidFill>
            <a:srgbClr val="F2F2F2"/>
          </a:solidFill>
        </p:spPr>
        <p:txBody>
          <a:bodyPr wrap="square">
            <a:spAutoFit/>
          </a:bodyPr>
          <a:lstStyle/>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class="carousel-item active"&gt;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src</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="images/slide_01_2000x410.jpg" class="d-block w-100" alt="..."&gt;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class="carousel-item"&gt;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src</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="images/slide_02_2000x410.jpg" class="d-block w-100" alt="..."&gt;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class="carousel-item"&gt;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src</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="images/slide_03_2000x410.jpg" class="d-block w-100" alt="..."&gt;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class="carousel-item"&gt;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src</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="images/slide_04_2000x410.jpg" class="d-block w-100" alt="..."&gt;</a:t>
            </a:r>
          </a:p>
          <a:p>
            <a:pPr lvl="0">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&lt;/div&gt;</a:t>
            </a:r>
          </a:p>
        </p:txBody>
      </p:sp>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03</a:t>
              </a: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053530"/>
            <a:ext cx="8722842" cy="1107996"/>
          </a:xfrm>
          <a:prstGeom prst="rect">
            <a:avLst/>
          </a:prstGeom>
          <a:noFill/>
          <a:ln>
            <a:noFill/>
          </a:ln>
        </p:spPr>
        <p:txBody>
          <a:bodyPr wrap="square" rtlCol="0">
            <a:spAutoFit/>
          </a:bodyPr>
          <a:lstStyle/>
          <a:p>
            <a:pPr lvl="0" defTabSz="457200">
              <a:lnSpc>
                <a:spcPct val="150000"/>
              </a:lnSpc>
              <a:defRPr/>
            </a:pPr>
            <a:r>
              <a:rPr lang="zh-CN" altLang="en-US" b="1" kern="0" dirty="0">
                <a:solidFill>
                  <a:srgbClr val="595959"/>
                </a:solidFill>
                <a:latin typeface="微软雅黑" panose="020B0503020204020204" pitchFamily="34" charset="-122"/>
                <a:ea typeface="微软雅黑" panose="020B0503020204020204" pitchFamily="34" charset="-122"/>
                <a:cs typeface="+mn-ea"/>
                <a:sym typeface="+mn-lt"/>
              </a:rPr>
              <a:t>实现轮播图页面</a:t>
            </a:r>
            <a:endParaRPr lang="en-US" altLang="zh-CN" b="1" kern="0" dirty="0">
              <a:solidFill>
                <a:srgbClr val="595959"/>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修改</a:t>
            </a:r>
            <a:r>
              <a:rPr lang="en-US" altLang="zh-CN" sz="2000" dirty="0">
                <a:solidFill>
                  <a:srgbClr val="595959"/>
                </a:solidFill>
                <a:latin typeface="微软雅黑" panose="020B0503020204020204" pitchFamily="34" charset="-122"/>
                <a:ea typeface="微软雅黑" panose="020B0503020204020204" pitchFamily="34" charset="-122"/>
              </a:rPr>
              <a:t>demo13.html</a:t>
            </a:r>
            <a:r>
              <a:rPr lang="zh-CN" altLang="en-US" sz="2000" dirty="0">
                <a:solidFill>
                  <a:srgbClr val="595959"/>
                </a:solidFill>
                <a:latin typeface="微软雅黑" panose="020B0503020204020204" pitchFamily="34" charset="-122"/>
                <a:ea typeface="微软雅黑" panose="020B0503020204020204" pitchFamily="34" charset="-122"/>
              </a:rPr>
              <a:t>，在类名</a:t>
            </a:r>
            <a:r>
              <a:rPr lang="zh-CN" altLang="en-US" sz="2000" dirty="0" smtClean="0">
                <a:solidFill>
                  <a:srgbClr val="595959"/>
                </a:solidFill>
                <a:latin typeface="微软雅黑" panose="020B0503020204020204" pitchFamily="34" charset="-122"/>
                <a:ea typeface="微软雅黑" panose="020B0503020204020204" pitchFamily="34" charset="-122"/>
              </a:rPr>
              <a:t>为</a:t>
            </a:r>
            <a:r>
              <a:rPr lang="en-US" altLang="zh-CN" sz="2000" dirty="0" smtClean="0">
                <a:solidFill>
                  <a:srgbClr val="1369B2"/>
                </a:solidFill>
                <a:latin typeface="微软雅黑" panose="020B0503020204020204" pitchFamily="34" charset="-122"/>
                <a:ea typeface="微软雅黑" panose="020B0503020204020204" pitchFamily="34" charset="-122"/>
                <a:cs typeface="Courier New" panose="02070609020205090404" pitchFamily="49" charset="0"/>
              </a:rPr>
              <a:t>carousel-inner</a:t>
            </a:r>
            <a:r>
              <a:rPr lang="zh-CN" altLang="en-US" sz="20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的</a:t>
            </a:r>
            <a:r>
              <a:rPr lang="en-US" altLang="zh-CN" sz="2000" dirty="0">
                <a:solidFill>
                  <a:srgbClr val="1369B2"/>
                </a:solidFill>
                <a:latin typeface="微软雅黑" panose="020B0503020204020204" pitchFamily="34" charset="-122"/>
                <a:ea typeface="微软雅黑" panose="020B0503020204020204" pitchFamily="34" charset="-122"/>
                <a:cs typeface="Courier New" panose="02070609020205090404" pitchFamily="49" charset="0"/>
              </a:rPr>
              <a:t>&lt;div&gt;</a:t>
            </a:r>
            <a:r>
              <a:rPr lang="zh-CN" altLang="en-US" sz="2000" dirty="0">
                <a:solidFill>
                  <a:srgbClr val="1369B2"/>
                </a:solidFill>
                <a:latin typeface="微软雅黑" panose="020B0503020204020204" pitchFamily="34" charset="-122"/>
                <a:ea typeface="微软雅黑" panose="020B0503020204020204" pitchFamily="34" charset="-122"/>
              </a:rPr>
              <a:t>标签</a:t>
            </a:r>
            <a:r>
              <a:rPr lang="zh-CN" altLang="en-US" sz="2000" dirty="0" smtClean="0">
                <a:solidFill>
                  <a:srgbClr val="595959"/>
                </a:solidFill>
                <a:latin typeface="微软雅黑" panose="020B0503020204020204" pitchFamily="34" charset="-122"/>
                <a:ea typeface="微软雅黑" panose="020B0503020204020204" pitchFamily="34" charset="-122"/>
              </a:rPr>
              <a:t>下方添加代码</a:t>
            </a:r>
            <a:r>
              <a:rPr lang="zh-CN" altLang="en-US" sz="2000" dirty="0">
                <a:solidFill>
                  <a:srgbClr val="595959"/>
                </a:solidFill>
                <a:latin typeface="微软雅黑" panose="020B0503020204020204" pitchFamily="34" charset="-122"/>
                <a:ea typeface="微软雅黑" panose="020B0503020204020204" pitchFamily="34" charset="-122"/>
              </a:rPr>
              <a:t>。</a:t>
            </a:r>
          </a:p>
        </p:txBody>
      </p:sp>
      <p:sp>
        <p:nvSpPr>
          <p:cNvPr id="11" name="Title 1">
            <a:extLst>
              <a:ext uri="{FF2B5EF4-FFF2-40B4-BE49-F238E27FC236}">
                <a16:creationId xmlns:a16="http://schemas.microsoft.com/office/drawing/2014/main" id="{DB5F30EB-7301-41CC-A670-48C12E65F524}"/>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6.5.1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轮播图页面结构</a:t>
            </a:r>
          </a:p>
        </p:txBody>
      </p:sp>
    </p:spTree>
    <p:extLst>
      <p:ext uri="{BB962C8B-B14F-4D97-AF65-F5344CB8AC3E}">
        <p14:creationId xmlns:p14="http://schemas.microsoft.com/office/powerpoint/2010/main" val="15143156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04</a:t>
              </a: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053530"/>
            <a:ext cx="8722842" cy="1107996"/>
          </a:xfrm>
          <a:prstGeom prst="rect">
            <a:avLst/>
          </a:prstGeom>
          <a:noFill/>
          <a:ln>
            <a:noFill/>
          </a:ln>
        </p:spPr>
        <p:txBody>
          <a:bodyPr wrap="square" rtlCol="0">
            <a:spAutoFit/>
          </a:bodyPr>
          <a:lstStyle/>
          <a:p>
            <a:pPr lvl="0" defTabSz="457200">
              <a:lnSpc>
                <a:spcPct val="150000"/>
              </a:lnSpc>
              <a:defRPr/>
            </a:pPr>
            <a:r>
              <a:rPr lang="zh-CN" altLang="en-US" b="1" kern="0" dirty="0">
                <a:solidFill>
                  <a:srgbClr val="595959"/>
                </a:solidFill>
                <a:latin typeface="微软雅黑" panose="020B0503020204020204" pitchFamily="34" charset="-122"/>
                <a:ea typeface="微软雅黑" panose="020B0503020204020204" pitchFamily="34" charset="-122"/>
                <a:cs typeface="+mn-ea"/>
                <a:sym typeface="+mn-lt"/>
              </a:rPr>
              <a:t>在浏览器中访问</a:t>
            </a:r>
            <a:r>
              <a:rPr lang="en-US" altLang="zh-CN" b="1" kern="0" dirty="0">
                <a:solidFill>
                  <a:srgbClr val="595959"/>
                </a:solidFill>
                <a:latin typeface="微软雅黑" panose="020B0503020204020204" pitchFamily="34" charset="-122"/>
                <a:ea typeface="微软雅黑" panose="020B0503020204020204" pitchFamily="34" charset="-122"/>
                <a:cs typeface="+mn-ea"/>
                <a:sym typeface="+mn-lt"/>
              </a:rPr>
              <a:t>demo13.html</a:t>
            </a:r>
          </a:p>
          <a:p>
            <a:pPr lvl="0" defTabSz="457200">
              <a:lnSpc>
                <a:spcPct val="150000"/>
              </a:lnSpc>
              <a:defRPr/>
            </a:pPr>
            <a:r>
              <a:rPr lang="zh-CN" altLang="en-US" sz="2000" dirty="0">
                <a:solidFill>
                  <a:srgbClr val="1369B2"/>
                </a:solidFill>
                <a:latin typeface="微软雅黑" panose="020B0503020204020204" pitchFamily="34" charset="-122"/>
                <a:ea typeface="微软雅黑" panose="020B0503020204020204" pitchFamily="34" charset="-122"/>
              </a:rPr>
              <a:t>轮播图</a:t>
            </a:r>
            <a:r>
              <a:rPr lang="zh-CN" altLang="en-US" sz="2000" dirty="0">
                <a:solidFill>
                  <a:srgbClr val="595959"/>
                </a:solidFill>
                <a:latin typeface="微软雅黑" panose="020B0503020204020204" pitchFamily="34" charset="-122"/>
                <a:ea typeface="微软雅黑" panose="020B0503020204020204" pitchFamily="34" charset="-122"/>
              </a:rPr>
              <a:t>页面效果如图。</a:t>
            </a:r>
          </a:p>
        </p:txBody>
      </p:sp>
      <p:sp>
        <p:nvSpPr>
          <p:cNvPr id="11" name="Title 1">
            <a:extLst>
              <a:ext uri="{FF2B5EF4-FFF2-40B4-BE49-F238E27FC236}">
                <a16:creationId xmlns:a16="http://schemas.microsoft.com/office/drawing/2014/main" id="{DB5F30EB-7301-41CC-A670-48C12E65F524}"/>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6.5.1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轮播图页面结构</a:t>
            </a:r>
          </a:p>
        </p:txBody>
      </p:sp>
      <p:pic>
        <p:nvPicPr>
          <p:cNvPr id="12" name="Picture 2">
            <a:extLst>
              <a:ext uri="{FF2B5EF4-FFF2-40B4-BE49-F238E27FC236}">
                <a16:creationId xmlns:a16="http://schemas.microsoft.com/office/drawing/2014/main" id="{55B2F901-7B45-49E6-865F-903690963B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2934" y="2441974"/>
            <a:ext cx="6527047" cy="2355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937434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7"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815965" y="3576722"/>
            <a:ext cx="4983480" cy="1231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轮播图切换的实现方法</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，能够实现轮播图的</a:t>
            </a:r>
            <a:r>
              <a:rPr lang="zh-CN" altLang="en-US"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切换效果</a:t>
            </a:r>
            <a:endParaRPr lang="zh-CN" altLang="en-US" dirty="0">
              <a:solidFill>
                <a:srgbClr val="595959"/>
              </a:solidFill>
              <a:latin typeface="微软雅黑" panose="020B0503020204020204" pitchFamily="34" charset="-122"/>
              <a:ea typeface="微软雅黑" panose="020B0503020204020204" pitchFamily="34" charset="-122"/>
              <a:cs typeface="+mn-ea"/>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Title 1">
            <a:extLst>
              <a:ext uri="{FF2B5EF4-FFF2-40B4-BE49-F238E27FC236}">
                <a16:creationId xmlns:a16="http://schemas.microsoft.com/office/drawing/2014/main" id="{A5A373F7-A187-42B9-9017-12CE5611263B}"/>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6.5.2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实现轮播图切换效果</a:t>
            </a:r>
          </a:p>
        </p:txBody>
      </p:sp>
    </p:spTree>
    <p:extLst>
      <p:ext uri="{BB962C8B-B14F-4D97-AF65-F5344CB8AC3E}">
        <p14:creationId xmlns:p14="http://schemas.microsoft.com/office/powerpoint/2010/main" val="31066694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5A373F7-A187-42B9-9017-12CE5611263B}"/>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6.5.2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实现轮播图切换效果</a:t>
            </a:r>
          </a:p>
        </p:txBody>
      </p:sp>
      <p:sp>
        <p:nvSpPr>
          <p:cNvPr id="10" name="文本框 9">
            <a:extLst>
              <a:ext uri="{FF2B5EF4-FFF2-40B4-BE49-F238E27FC236}">
                <a16:creationId xmlns:a16="http://schemas.microsoft.com/office/drawing/2014/main" id="{2BC8C417-7C81-4643-823A-0E3F141A37B7}"/>
              </a:ext>
            </a:extLst>
          </p:cNvPr>
          <p:cNvSpPr txBox="1"/>
          <p:nvPr/>
        </p:nvSpPr>
        <p:spPr>
          <a:xfrm>
            <a:off x="1198662" y="1535227"/>
            <a:ext cx="10369152" cy="1246495"/>
          </a:xfrm>
          <a:prstGeom prst="rect">
            <a:avLst/>
          </a:prstGeom>
          <a:noFill/>
        </p:spPr>
        <p:txBody>
          <a:bodyPr wrap="square" rtlCol="0">
            <a:spAutoFit/>
          </a:bodyPr>
          <a:lstStyle/>
          <a:p>
            <a:pPr>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cs typeface="+mn-ea"/>
              </a:rPr>
              <a:t>轮播图切换效果的</a:t>
            </a:r>
            <a:r>
              <a:rPr lang="zh-CN" altLang="en-US" sz="2000" dirty="0" smtClean="0">
                <a:solidFill>
                  <a:srgbClr val="1369B2"/>
                </a:solidFill>
                <a:latin typeface="微软雅黑" panose="020B0503020204020204" pitchFamily="34" charset="-122"/>
                <a:ea typeface="微软雅黑" panose="020B0503020204020204" pitchFamily="34" charset="-122"/>
                <a:cs typeface="+mn-ea"/>
              </a:rPr>
              <a:t>实现</a:t>
            </a:r>
            <a:endParaRPr lang="en-US" altLang="zh-CN" sz="2000" dirty="0" smtClean="0">
              <a:solidFill>
                <a:srgbClr val="1369B2"/>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1000" dirty="0">
              <a:solidFill>
                <a:srgbClr val="1369B2"/>
              </a:solidFill>
              <a:latin typeface="微软雅黑" panose="020B0503020204020204" pitchFamily="34" charset="-122"/>
              <a:ea typeface="微软雅黑" panose="020B0503020204020204" pitchFamily="34" charset="-122"/>
              <a:cs typeface="+mn-ea"/>
            </a:endParaRPr>
          </a:p>
          <a:p>
            <a:pPr>
              <a:lnSpc>
                <a:spcPct val="150000"/>
              </a:lnSpc>
            </a:pPr>
            <a:r>
              <a:rPr lang="en-US" altLang="zh-CN" sz="2000" dirty="0" smtClean="0">
                <a:solidFill>
                  <a:srgbClr val="595959"/>
                </a:solidFill>
                <a:latin typeface="微软雅黑" panose="020B0503020204020204" pitchFamily="34" charset="-122"/>
                <a:ea typeface="微软雅黑" panose="020B0503020204020204" pitchFamily="34" charset="-122"/>
                <a:cs typeface="+mn-ea"/>
              </a:rPr>
              <a:t>Bootstrap</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提供了</a:t>
            </a:r>
            <a:r>
              <a:rPr lang="en-US" altLang="zh-CN" sz="2000" dirty="0" smtClean="0">
                <a:solidFill>
                  <a:srgbClr val="1369B2"/>
                </a:solidFill>
                <a:latin typeface="微软雅黑" panose="020B0503020204020204" pitchFamily="34" charset="-122"/>
                <a:ea typeface="微软雅黑" panose="020B0503020204020204" pitchFamily="34" charset="-122"/>
                <a:cs typeface="+mn-ea"/>
              </a:rPr>
              <a:t>data-ride="carousel"</a:t>
            </a:r>
            <a:r>
              <a:rPr lang="zh-CN" altLang="en-US" sz="2000" dirty="0" smtClean="0">
                <a:solidFill>
                  <a:srgbClr val="1369B2"/>
                </a:solidFill>
                <a:latin typeface="微软雅黑" panose="020B0503020204020204" pitchFamily="34" charset="-122"/>
                <a:ea typeface="微软雅黑" panose="020B0503020204020204" pitchFamily="34" charset="-122"/>
                <a:cs typeface="+mn-ea"/>
              </a:rPr>
              <a:t>属性</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，用于</a:t>
            </a:r>
            <a:r>
              <a:rPr lang="zh-CN" altLang="en-US" sz="2000" dirty="0">
                <a:solidFill>
                  <a:srgbClr val="595959"/>
                </a:solidFill>
                <a:latin typeface="微软雅黑" panose="020B0503020204020204" pitchFamily="34" charset="-122"/>
                <a:ea typeface="微软雅黑" panose="020B0503020204020204" pitchFamily="34" charset="-122"/>
                <a:cs typeface="+mn-ea"/>
              </a:rPr>
              <a:t>在页面加载时实现轮播图的切换效果</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4" name="文本框 3">
            <a:extLst>
              <a:ext uri="{FF2B5EF4-FFF2-40B4-BE49-F238E27FC236}">
                <a16:creationId xmlns:a16="http://schemas.microsoft.com/office/drawing/2014/main" id="{6F50A5FC-EF7B-42D2-86B4-B769A325ACB0}"/>
              </a:ext>
            </a:extLst>
          </p:cNvPr>
          <p:cNvSpPr txBox="1"/>
          <p:nvPr/>
        </p:nvSpPr>
        <p:spPr>
          <a:xfrm>
            <a:off x="1738721" y="3982922"/>
            <a:ext cx="9289033" cy="961289"/>
          </a:xfrm>
          <a:prstGeom prst="rect">
            <a:avLst/>
          </a:prstGeom>
          <a:noFill/>
        </p:spPr>
        <p:txBody>
          <a:bodyPr wrap="square">
            <a:spAutoFit/>
          </a:bodyPr>
          <a:lstStyle/>
          <a:p>
            <a:pPr>
              <a:lnSpc>
                <a:spcPct val="150000"/>
              </a:lnSpc>
            </a:pPr>
            <a:r>
              <a:rPr lang="zh-CN" altLang="en-US" sz="2000" dirty="0" smtClean="0">
                <a:solidFill>
                  <a:srgbClr val="FF0000"/>
                </a:solidFill>
                <a:latin typeface="微软雅黑" panose="020B0503020204020204" pitchFamily="34" charset="-122"/>
                <a:ea typeface="微软雅黑" panose="020B0503020204020204" pitchFamily="34" charset="-122"/>
              </a:rPr>
              <a:t>需要注意的是，如果</a:t>
            </a:r>
            <a:r>
              <a:rPr lang="zh-CN" altLang="en-US" sz="2000" dirty="0">
                <a:solidFill>
                  <a:srgbClr val="FF0000"/>
                </a:solidFill>
                <a:latin typeface="微软雅黑" panose="020B0503020204020204" pitchFamily="34" charset="-122"/>
                <a:ea typeface="微软雅黑" panose="020B0503020204020204" pitchFamily="34" charset="-122"/>
              </a:rPr>
              <a:t>不使用</a:t>
            </a:r>
            <a:r>
              <a:rPr lang="en-US" altLang="zh-CN" sz="2000" dirty="0">
                <a:solidFill>
                  <a:srgbClr val="FF0000"/>
                </a:solidFill>
                <a:latin typeface="微软雅黑" panose="020B0503020204020204" pitchFamily="34" charset="-122"/>
                <a:ea typeface="微软雅黑" panose="020B0503020204020204" pitchFamily="34" charset="-122"/>
              </a:rPr>
              <a:t>data-ride="carousel"</a:t>
            </a:r>
            <a:r>
              <a:rPr lang="zh-CN" altLang="en-US" sz="2000" dirty="0">
                <a:solidFill>
                  <a:srgbClr val="FF0000"/>
                </a:solidFill>
                <a:latin typeface="微软雅黑" panose="020B0503020204020204" pitchFamily="34" charset="-122"/>
                <a:ea typeface="微软雅黑" panose="020B0503020204020204" pitchFamily="34" charset="-122"/>
              </a:rPr>
              <a:t>来初始化</a:t>
            </a:r>
            <a:r>
              <a:rPr lang="en-US" altLang="zh-CN" sz="2000" dirty="0">
                <a:solidFill>
                  <a:srgbClr val="FF0000"/>
                </a:solidFill>
                <a:latin typeface="微软雅黑" panose="020B0503020204020204" pitchFamily="34" charset="-122"/>
                <a:ea typeface="微软雅黑" panose="020B0503020204020204" pitchFamily="34" charset="-122"/>
              </a:rPr>
              <a:t>carousel</a:t>
            </a:r>
            <a:r>
              <a:rPr lang="zh-CN" altLang="en-US" sz="2000" dirty="0">
                <a:solidFill>
                  <a:srgbClr val="FF0000"/>
                </a:solidFill>
                <a:latin typeface="微软雅黑" panose="020B0503020204020204" pitchFamily="34" charset="-122"/>
                <a:ea typeface="微软雅黑" panose="020B0503020204020204" pitchFamily="34" charset="-122"/>
              </a:rPr>
              <a:t>，则需要使用</a:t>
            </a:r>
            <a:r>
              <a:rPr lang="en-US" altLang="zh-CN" sz="2000" dirty="0">
                <a:solidFill>
                  <a:srgbClr val="FF0000"/>
                </a:solidFill>
                <a:latin typeface="微软雅黑" panose="020B0503020204020204" pitchFamily="34" charset="-122"/>
                <a:ea typeface="微软雅黑" panose="020B0503020204020204" pitchFamily="34" charset="-122"/>
              </a:rPr>
              <a:t>$('.carousel').carousel()</a:t>
            </a:r>
            <a:r>
              <a:rPr lang="zh-CN" altLang="en-US" sz="2000" dirty="0">
                <a:solidFill>
                  <a:srgbClr val="FF0000"/>
                </a:solidFill>
                <a:latin typeface="微软雅黑" panose="020B0503020204020204" pitchFamily="34" charset="-122"/>
                <a:ea typeface="微软雅黑" panose="020B0503020204020204" pitchFamily="34" charset="-122"/>
              </a:rPr>
              <a:t>方法进行初始化。</a:t>
            </a:r>
          </a:p>
        </p:txBody>
      </p:sp>
      <p:sp>
        <p:nvSpPr>
          <p:cNvPr id="5" name="矩形: 圆角 1">
            <a:extLst>
              <a:ext uri="{FF2B5EF4-FFF2-40B4-BE49-F238E27FC236}">
                <a16:creationId xmlns:a16="http://schemas.microsoft.com/office/drawing/2014/main" id="{C16976FD-133A-4B29-873B-D43174BA2570}"/>
              </a:ext>
            </a:extLst>
          </p:cNvPr>
          <p:cNvSpPr/>
          <p:nvPr/>
        </p:nvSpPr>
        <p:spPr>
          <a:xfrm>
            <a:off x="1135378" y="4005858"/>
            <a:ext cx="10009112" cy="1004113"/>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595959"/>
              </a:solidFill>
            </a:endParaRPr>
          </a:p>
        </p:txBody>
      </p:sp>
      <p:sp>
        <p:nvSpPr>
          <p:cNvPr id="6" name="流程图: 资料带 5">
            <a:extLst>
              <a:ext uri="{FF2B5EF4-FFF2-40B4-BE49-F238E27FC236}">
                <a16:creationId xmlns:a16="http://schemas.microsoft.com/office/drawing/2014/main" id="{1279245D-C2B0-409E-B36F-08E7547D0952}"/>
              </a:ext>
            </a:extLst>
          </p:cNvPr>
          <p:cNvSpPr/>
          <p:nvPr/>
        </p:nvSpPr>
        <p:spPr>
          <a:xfrm>
            <a:off x="936390" y="3789834"/>
            <a:ext cx="775053" cy="504056"/>
          </a:xfrm>
          <a:prstGeom prst="flowChartPunchedTape">
            <a:avLst/>
          </a:prstGeom>
          <a:solidFill>
            <a:srgbClr val="1369B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微软雅黑" panose="020B0503020204020204" pitchFamily="34" charset="-122"/>
                <a:ea typeface="微软雅黑" panose="020B0503020204020204" pitchFamily="34" charset="-122"/>
              </a:rPr>
              <a:t>Tip</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281254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A22F1E4-39AE-424B-B19B-3301952C7205}"/>
              </a:ext>
            </a:extLst>
          </p:cNvPr>
          <p:cNvSpPr txBox="1"/>
          <p:nvPr/>
        </p:nvSpPr>
        <p:spPr>
          <a:xfrm>
            <a:off x="2638822" y="3285778"/>
            <a:ext cx="7859793" cy="984437"/>
          </a:xfrm>
          <a:prstGeom prst="rect">
            <a:avLst/>
          </a:prstGeom>
          <a:solidFill>
            <a:srgbClr val="F2F2F2"/>
          </a:solidFill>
        </p:spPr>
        <p:txBody>
          <a:bodyPr wrap="square">
            <a:spAutoFit/>
          </a:bodyPr>
          <a:lstStyle/>
          <a:p>
            <a:pPr lvl="1">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&lt;script </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src</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js</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/jquery.min.js"&gt;&lt;/script&gt;</a:t>
            </a:r>
          </a:p>
          <a:p>
            <a:pPr lvl="1">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&lt;script </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src</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="bootstrap-4.6.0-dist/</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js</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/bootstrap.js"&gt;&lt;/script&gt;</a:t>
            </a:r>
          </a:p>
          <a:p>
            <a:pPr lvl="1">
              <a:lnSpc>
                <a:spcPct val="150000"/>
              </a:lnSpc>
              <a:defRPr/>
            </a:pPr>
            <a:endParaRPr lang="en-US" altLang="zh-CN" sz="3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p:txBody>
      </p:sp>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01</a:t>
              </a: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143481"/>
            <a:ext cx="7758355" cy="1569660"/>
          </a:xfrm>
          <a:prstGeom prst="rect">
            <a:avLst/>
          </a:prstGeom>
          <a:noFill/>
          <a:ln>
            <a:noFill/>
          </a:ln>
        </p:spPr>
        <p:txBody>
          <a:bodyPr wrap="square" rtlCol="0">
            <a:spAutoFit/>
          </a:bodyPr>
          <a:lstStyle/>
          <a:p>
            <a:pPr lvl="0" defTabSz="457200">
              <a:lnSpc>
                <a:spcPct val="150000"/>
              </a:lnSpc>
              <a:defRPr/>
            </a:pPr>
            <a:r>
              <a:rPr lang="zh-CN" altLang="en-US" b="1" kern="0" dirty="0">
                <a:solidFill>
                  <a:srgbClr val="595959"/>
                </a:solidFill>
                <a:latin typeface="微软雅黑" panose="020B0503020204020204" pitchFamily="34" charset="-122"/>
                <a:ea typeface="微软雅黑" panose="020B0503020204020204" pitchFamily="34" charset="-122"/>
                <a:cs typeface="+mn-ea"/>
                <a:sym typeface="+mn-lt"/>
              </a:rPr>
              <a:t>实现轮播图切换页面</a:t>
            </a:r>
            <a:endParaRPr lang="en-US" altLang="zh-CN" b="1" kern="0" dirty="0">
              <a:solidFill>
                <a:srgbClr val="595959"/>
              </a:solidFill>
              <a:latin typeface="微软雅黑" panose="020B0503020204020204" pitchFamily="34" charset="-122"/>
              <a:ea typeface="微软雅黑" panose="020B0503020204020204" pitchFamily="34" charset="-122"/>
              <a:cs typeface="+mn-ea"/>
              <a:sym typeface="+mn-lt"/>
            </a:endParaRPr>
          </a:p>
          <a:p>
            <a:pPr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修改</a:t>
            </a:r>
            <a:r>
              <a:rPr lang="en-US" altLang="zh-CN" sz="2000" dirty="0">
                <a:solidFill>
                  <a:srgbClr val="595959"/>
                </a:solidFill>
                <a:latin typeface="微软雅黑" panose="020B0503020204020204" pitchFamily="34" charset="-122"/>
                <a:ea typeface="微软雅黑" panose="020B0503020204020204" pitchFamily="34" charset="-122"/>
              </a:rPr>
              <a:t>demo13.html</a:t>
            </a:r>
            <a:r>
              <a:rPr lang="zh-CN" altLang="en-US" sz="2000" dirty="0">
                <a:solidFill>
                  <a:srgbClr val="595959"/>
                </a:solidFill>
                <a:latin typeface="微软雅黑" panose="020B0503020204020204" pitchFamily="34" charset="-122"/>
                <a:ea typeface="微软雅黑" panose="020B0503020204020204" pitchFamily="34" charset="-122"/>
              </a:rPr>
              <a:t>文件，在</a:t>
            </a:r>
            <a:r>
              <a:rPr lang="en-US" altLang="zh-CN" sz="2000" dirty="0">
                <a:solidFill>
                  <a:srgbClr val="595959"/>
                </a:solidFill>
                <a:latin typeface="微软雅黑" panose="020B0503020204020204" pitchFamily="34" charset="-122"/>
                <a:ea typeface="微软雅黑" panose="020B0503020204020204" pitchFamily="34" charset="-122"/>
              </a:rPr>
              <a:t>6.5.1</a:t>
            </a:r>
            <a:r>
              <a:rPr lang="zh-CN" altLang="en-US" sz="2000" dirty="0">
                <a:solidFill>
                  <a:srgbClr val="595959"/>
                </a:solidFill>
                <a:latin typeface="微软雅黑" panose="020B0503020204020204" pitchFamily="34" charset="-122"/>
                <a:ea typeface="微软雅黑" panose="020B0503020204020204" pitchFamily="34" charset="-122"/>
              </a:rPr>
              <a:t>小节的</a:t>
            </a:r>
            <a:r>
              <a:rPr lang="en-US" altLang="zh-CN" sz="2000" dirty="0">
                <a:solidFill>
                  <a:srgbClr val="595959"/>
                </a:solidFill>
                <a:latin typeface="微软雅黑" panose="020B0503020204020204" pitchFamily="34" charset="-122"/>
                <a:ea typeface="微软雅黑" panose="020B0503020204020204" pitchFamily="34" charset="-122"/>
              </a:rPr>
              <a:t>STEP 01</a:t>
            </a:r>
            <a:r>
              <a:rPr lang="zh-CN" altLang="en-US" sz="2000" dirty="0">
                <a:solidFill>
                  <a:srgbClr val="595959"/>
                </a:solidFill>
                <a:latin typeface="微软雅黑" panose="020B0503020204020204" pitchFamily="34" charset="-122"/>
                <a:ea typeface="微软雅黑" panose="020B0503020204020204" pitchFamily="34" charset="-122"/>
              </a:rPr>
              <a:t>中</a:t>
            </a:r>
            <a:r>
              <a:rPr lang="en-US" altLang="zh-CN" sz="2000" dirty="0">
                <a:solidFill>
                  <a:srgbClr val="1369B2"/>
                </a:solidFill>
                <a:latin typeface="微软雅黑" panose="020B0503020204020204" pitchFamily="34" charset="-122"/>
                <a:ea typeface="微软雅黑" panose="020B0503020204020204" pitchFamily="34" charset="-122"/>
                <a:cs typeface="Courier New" panose="02070609020205090404" pitchFamily="49" charset="0"/>
              </a:rPr>
              <a:t>&lt;/head&gt;</a:t>
            </a:r>
            <a:r>
              <a:rPr lang="zh-CN" altLang="en-US"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标签结束前，引入实现</a:t>
            </a:r>
            <a:r>
              <a:rPr lang="zh-CN" altLang="en-US" sz="2000" dirty="0">
                <a:solidFill>
                  <a:srgbClr val="1369B2"/>
                </a:solidFill>
                <a:latin typeface="微软雅黑" panose="020B0503020204020204" pitchFamily="34" charset="-122"/>
                <a:ea typeface="微软雅黑" panose="020B0503020204020204" pitchFamily="34" charset="-122"/>
                <a:cs typeface="Courier New" panose="02070609020205090404" pitchFamily="49" charset="0"/>
              </a:rPr>
              <a:t>轮播图</a:t>
            </a:r>
            <a:r>
              <a:rPr lang="zh-CN" altLang="en-US"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的依赖文件。</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p:txBody>
      </p:sp>
      <p:sp>
        <p:nvSpPr>
          <p:cNvPr id="12" name="Title 1">
            <a:extLst>
              <a:ext uri="{FF2B5EF4-FFF2-40B4-BE49-F238E27FC236}">
                <a16:creationId xmlns:a16="http://schemas.microsoft.com/office/drawing/2014/main" id="{F53D73D9-CC03-4D8E-8137-F33141724DDE}"/>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6.5.2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实现轮播图切换效果</a:t>
            </a:r>
          </a:p>
        </p:txBody>
      </p:sp>
    </p:spTree>
    <p:extLst>
      <p:ext uri="{BB962C8B-B14F-4D97-AF65-F5344CB8AC3E}">
        <p14:creationId xmlns:p14="http://schemas.microsoft.com/office/powerpoint/2010/main" val="36492644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A22F1E4-39AE-424B-B19B-3301952C7205}"/>
              </a:ext>
            </a:extLst>
          </p:cNvPr>
          <p:cNvSpPr txBox="1"/>
          <p:nvPr/>
        </p:nvSpPr>
        <p:spPr>
          <a:xfrm>
            <a:off x="1247474" y="2997746"/>
            <a:ext cx="10441160" cy="1477328"/>
          </a:xfrm>
          <a:prstGeom prst="rect">
            <a:avLst/>
          </a:prstGeom>
          <a:solidFill>
            <a:srgbClr val="F2F2F2"/>
          </a:solidFill>
        </p:spPr>
        <p:txBody>
          <a:bodyPr wrap="square">
            <a:spAutoFit/>
          </a:bodyPr>
          <a:lstStyle/>
          <a:p>
            <a:pPr>
              <a:lnSpc>
                <a:spcPct val="150000"/>
              </a:lnSpc>
              <a:defRPr/>
            </a:pPr>
            <a:r>
              <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&lt;div id="carouselExampleSlidesOnly" class="carousel slide" </a:t>
            </a:r>
            <a:r>
              <a:rPr lang="en-US" altLang="zh-CN" sz="2000" dirty="0">
                <a:solidFill>
                  <a:srgbClr val="1369B2"/>
                </a:solidFill>
                <a:latin typeface="微软雅黑" panose="020B0503020204020204" pitchFamily="34" charset="-122"/>
                <a:ea typeface="微软雅黑" panose="020B0503020204020204" pitchFamily="34" charset="-122"/>
                <a:cs typeface="Courier New" panose="02070609020205090404" pitchFamily="49" charset="0"/>
              </a:rPr>
              <a:t>data-ride="carousel"</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 </a:t>
            </a:r>
            <a:r>
              <a:rPr lang="zh-CN" altLang="en-US"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源代码 </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&lt;/div&gt;</a:t>
            </a:r>
          </a:p>
        </p:txBody>
      </p:sp>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02</a:t>
              </a: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143481"/>
            <a:ext cx="8622451" cy="1569660"/>
          </a:xfrm>
          <a:prstGeom prst="rect">
            <a:avLst/>
          </a:prstGeom>
          <a:noFill/>
          <a:ln>
            <a:noFill/>
          </a:ln>
        </p:spPr>
        <p:txBody>
          <a:bodyPr wrap="square" rtlCol="0">
            <a:spAutoFit/>
          </a:bodyPr>
          <a:lstStyle/>
          <a:p>
            <a:pPr lvl="0" defTabSz="457200">
              <a:lnSpc>
                <a:spcPct val="150000"/>
              </a:lnSpc>
              <a:defRPr/>
            </a:pPr>
            <a:r>
              <a:rPr lang="zh-CN" altLang="en-US" b="1" kern="0" dirty="0">
                <a:solidFill>
                  <a:srgbClr val="595959"/>
                </a:solidFill>
                <a:latin typeface="微软雅黑" panose="020B0503020204020204" pitchFamily="34" charset="-122"/>
                <a:ea typeface="微软雅黑" panose="020B0503020204020204" pitchFamily="34" charset="-122"/>
                <a:cs typeface="+mn-ea"/>
                <a:sym typeface="+mn-lt"/>
              </a:rPr>
              <a:t>实现轮播图切换页面</a:t>
            </a:r>
            <a:endParaRPr lang="en-US" altLang="zh-CN" b="1" kern="0" dirty="0">
              <a:solidFill>
                <a:srgbClr val="595959"/>
              </a:solidFill>
              <a:latin typeface="微软雅黑" panose="020B0503020204020204" pitchFamily="34" charset="-122"/>
              <a:ea typeface="微软雅黑" panose="020B0503020204020204" pitchFamily="34" charset="-122"/>
              <a:cs typeface="+mn-ea"/>
              <a:sym typeface="+mn-lt"/>
            </a:endParaRPr>
          </a:p>
          <a:p>
            <a:pPr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修改</a:t>
            </a:r>
            <a:r>
              <a:rPr lang="en-US" altLang="zh-CN" sz="2000" dirty="0">
                <a:solidFill>
                  <a:srgbClr val="595959"/>
                </a:solidFill>
                <a:latin typeface="微软雅黑" panose="020B0503020204020204" pitchFamily="34" charset="-122"/>
                <a:ea typeface="微软雅黑" panose="020B0503020204020204" pitchFamily="34" charset="-122"/>
              </a:rPr>
              <a:t>demo13.html</a:t>
            </a:r>
            <a:r>
              <a:rPr lang="zh-CN" altLang="en-US" sz="2000" dirty="0">
                <a:solidFill>
                  <a:srgbClr val="595959"/>
                </a:solidFill>
                <a:latin typeface="微软雅黑" panose="020B0503020204020204" pitchFamily="34" charset="-122"/>
                <a:ea typeface="微软雅黑" panose="020B0503020204020204" pitchFamily="34" charset="-122"/>
              </a:rPr>
              <a:t>文件，为</a:t>
            </a:r>
            <a:r>
              <a:rPr lang="en-US" altLang="zh-CN" sz="2000" dirty="0">
                <a:solidFill>
                  <a:srgbClr val="595959"/>
                </a:solidFill>
                <a:latin typeface="微软雅黑" panose="020B0503020204020204" pitchFamily="34" charset="-122"/>
                <a:ea typeface="微软雅黑" panose="020B0503020204020204" pitchFamily="34" charset="-122"/>
              </a:rPr>
              <a:t>6.5.1</a:t>
            </a:r>
            <a:r>
              <a:rPr lang="zh-CN" altLang="en-US" sz="2000" dirty="0">
                <a:solidFill>
                  <a:srgbClr val="595959"/>
                </a:solidFill>
                <a:latin typeface="微软雅黑" panose="020B0503020204020204" pitchFamily="34" charset="-122"/>
                <a:ea typeface="微软雅黑" panose="020B0503020204020204" pitchFamily="34" charset="-122"/>
              </a:rPr>
              <a:t>小节的</a:t>
            </a:r>
            <a:r>
              <a:rPr lang="en-US" altLang="zh-CN" sz="2000" dirty="0">
                <a:solidFill>
                  <a:srgbClr val="595959"/>
                </a:solidFill>
                <a:latin typeface="微软雅黑" panose="020B0503020204020204" pitchFamily="34" charset="-122"/>
                <a:ea typeface="微软雅黑" panose="020B0503020204020204" pitchFamily="34" charset="-122"/>
              </a:rPr>
              <a:t>STEP 02</a:t>
            </a:r>
            <a:r>
              <a:rPr lang="zh-CN" altLang="en-US" sz="2000" dirty="0">
                <a:solidFill>
                  <a:srgbClr val="595959"/>
                </a:solidFill>
                <a:latin typeface="微软雅黑" panose="020B0503020204020204" pitchFamily="34" charset="-122"/>
                <a:ea typeface="微软雅黑" panose="020B0503020204020204" pitchFamily="34" charset="-122"/>
              </a:rPr>
              <a:t>中，</a:t>
            </a:r>
            <a:r>
              <a:rPr lang="en-US" altLang="zh-CN" sz="2000" dirty="0">
                <a:solidFill>
                  <a:srgbClr val="1369B2"/>
                </a:solidFill>
                <a:latin typeface="微软雅黑" panose="020B0503020204020204" pitchFamily="34" charset="-122"/>
                <a:ea typeface="微软雅黑" panose="020B0503020204020204" pitchFamily="34" charset="-122"/>
              </a:rPr>
              <a:t>class</a:t>
            </a:r>
            <a:r>
              <a:rPr lang="zh-CN" altLang="en-US" sz="2000" dirty="0" smtClean="0">
                <a:solidFill>
                  <a:srgbClr val="595959"/>
                </a:solidFill>
                <a:latin typeface="微软雅黑" panose="020B0503020204020204" pitchFamily="34" charset="-122"/>
                <a:ea typeface="微软雅黑" panose="020B0503020204020204" pitchFamily="34" charset="-122"/>
              </a:rPr>
              <a:t>为</a:t>
            </a:r>
            <a:r>
              <a:rPr lang="en-US"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smtClean="0">
                <a:solidFill>
                  <a:srgbClr val="1369B2"/>
                </a:solidFill>
                <a:latin typeface="微软雅黑" panose="020B0503020204020204" pitchFamily="34" charset="-122"/>
                <a:ea typeface="微软雅黑" panose="020B0503020204020204" pitchFamily="34" charset="-122"/>
              </a:rPr>
              <a:t>carousel </a:t>
            </a:r>
            <a:r>
              <a:rPr lang="en-US" altLang="zh-CN" sz="2000" dirty="0">
                <a:solidFill>
                  <a:srgbClr val="1369B2"/>
                </a:solidFill>
                <a:latin typeface="微软雅黑" panose="020B0503020204020204" pitchFamily="34" charset="-122"/>
                <a:ea typeface="微软雅黑" panose="020B0503020204020204" pitchFamily="34" charset="-122"/>
              </a:rPr>
              <a:t>slide</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en-US" sz="2000" dirty="0" smtClean="0">
                <a:solidFill>
                  <a:srgbClr val="595959"/>
                </a:solidFill>
                <a:latin typeface="微软雅黑" panose="020B0503020204020204" pitchFamily="34" charset="-122"/>
                <a:ea typeface="微软雅黑" panose="020B0503020204020204" pitchFamily="34" charset="-122"/>
              </a:rPr>
              <a:t>的</a:t>
            </a:r>
            <a:r>
              <a:rPr lang="zh-CN" altLang="en-US" sz="2000" dirty="0">
                <a:solidFill>
                  <a:srgbClr val="595959"/>
                </a:solidFill>
                <a:latin typeface="微软雅黑" panose="020B0503020204020204" pitchFamily="34" charset="-122"/>
                <a:ea typeface="微软雅黑" panose="020B0503020204020204" pitchFamily="34" charset="-122"/>
              </a:rPr>
              <a:t>标签，添加</a:t>
            </a:r>
            <a:r>
              <a:rPr lang="en-US" altLang="zh-CN" sz="2000" dirty="0" smtClean="0">
                <a:solidFill>
                  <a:srgbClr val="1369B2"/>
                </a:solidFill>
                <a:latin typeface="微软雅黑" panose="020B0503020204020204" pitchFamily="34" charset="-122"/>
                <a:ea typeface="微软雅黑" panose="020B0503020204020204" pitchFamily="34" charset="-122"/>
              </a:rPr>
              <a:t>data-ride=</a:t>
            </a:r>
            <a:r>
              <a:rPr lang="en-US" altLang="zh-CN" sz="2000" dirty="0">
                <a:solidFill>
                  <a:srgbClr val="1369B2"/>
                </a:solidFill>
                <a:latin typeface="微软雅黑" panose="020B0503020204020204" pitchFamily="34" charset="-122"/>
                <a:ea typeface="微软雅黑" panose="020B0503020204020204" pitchFamily="34" charset="-122"/>
              </a:rPr>
              <a:t>"carousel"</a:t>
            </a:r>
            <a:r>
              <a:rPr lang="zh-CN" altLang="en-US" sz="2000" dirty="0" smtClean="0">
                <a:solidFill>
                  <a:srgbClr val="595959"/>
                </a:solidFill>
                <a:latin typeface="微软雅黑" panose="020B0503020204020204" pitchFamily="34" charset="-122"/>
                <a:ea typeface="微软雅黑" panose="020B0503020204020204" pitchFamily="34" charset="-122"/>
              </a:rPr>
              <a:t>属性</a:t>
            </a:r>
            <a:r>
              <a:rPr lang="zh-CN" altLang="en-US" sz="2000" dirty="0">
                <a:solidFill>
                  <a:srgbClr val="595959"/>
                </a:solidFill>
                <a:latin typeface="微软雅黑" panose="020B0503020204020204" pitchFamily="34" charset="-122"/>
                <a:ea typeface="微软雅黑" panose="020B0503020204020204" pitchFamily="34" charset="-122"/>
              </a:rPr>
              <a:t>。</a:t>
            </a:r>
          </a:p>
        </p:txBody>
      </p:sp>
      <p:sp>
        <p:nvSpPr>
          <p:cNvPr id="12" name="Title 1">
            <a:extLst>
              <a:ext uri="{FF2B5EF4-FFF2-40B4-BE49-F238E27FC236}">
                <a16:creationId xmlns:a16="http://schemas.microsoft.com/office/drawing/2014/main" id="{F53D73D9-CC03-4D8E-8137-F33141724DDE}"/>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6.5.2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实现轮播图切换效果</a:t>
            </a:r>
          </a:p>
        </p:txBody>
      </p:sp>
    </p:spTree>
    <p:extLst>
      <p:ext uri="{BB962C8B-B14F-4D97-AF65-F5344CB8AC3E}">
        <p14:creationId xmlns:p14="http://schemas.microsoft.com/office/powerpoint/2010/main" val="38254614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03</a:t>
              </a: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143481"/>
            <a:ext cx="8622451" cy="1107996"/>
          </a:xfrm>
          <a:prstGeom prst="rect">
            <a:avLst/>
          </a:prstGeom>
          <a:noFill/>
          <a:ln>
            <a:noFill/>
          </a:ln>
        </p:spPr>
        <p:txBody>
          <a:bodyPr wrap="square" rtlCol="0">
            <a:spAutoFit/>
          </a:bodyPr>
          <a:lstStyle/>
          <a:p>
            <a:pPr lvl="0" defTabSz="457200">
              <a:lnSpc>
                <a:spcPct val="150000"/>
              </a:lnSpc>
              <a:defRPr/>
            </a:pPr>
            <a:r>
              <a:rPr lang="zh-CN" altLang="en-US" b="1" kern="0" dirty="0">
                <a:solidFill>
                  <a:srgbClr val="595959"/>
                </a:solidFill>
                <a:latin typeface="微软雅黑" panose="020B0503020204020204" pitchFamily="34" charset="-122"/>
                <a:ea typeface="微软雅黑" panose="020B0503020204020204" pitchFamily="34" charset="-122"/>
                <a:cs typeface="+mn-ea"/>
                <a:sym typeface="+mn-lt"/>
              </a:rPr>
              <a:t>在浏览器中访问</a:t>
            </a:r>
            <a:r>
              <a:rPr lang="en-US" altLang="zh-CN" b="1" kern="0" dirty="0">
                <a:solidFill>
                  <a:srgbClr val="595959"/>
                </a:solidFill>
                <a:latin typeface="微软雅黑" panose="020B0503020204020204" pitchFamily="34" charset="-122"/>
                <a:ea typeface="微软雅黑" panose="020B0503020204020204" pitchFamily="34" charset="-122"/>
                <a:cs typeface="+mn-ea"/>
                <a:sym typeface="+mn-lt"/>
              </a:rPr>
              <a:t>demo13.html</a:t>
            </a:r>
          </a:p>
          <a:p>
            <a:pPr lvl="0" defTabSz="457200">
              <a:lnSpc>
                <a:spcPct val="150000"/>
              </a:lnSpc>
              <a:defRPr/>
            </a:pPr>
            <a:r>
              <a:rPr lang="zh-CN" altLang="en-US" sz="2000" dirty="0">
                <a:solidFill>
                  <a:srgbClr val="1369B2"/>
                </a:solidFill>
                <a:latin typeface="微软雅黑" panose="020B0503020204020204" pitchFamily="34" charset="-122"/>
                <a:ea typeface="微软雅黑" panose="020B0503020204020204" pitchFamily="34" charset="-122"/>
              </a:rPr>
              <a:t>轮播图切换</a:t>
            </a:r>
            <a:r>
              <a:rPr lang="zh-CN" altLang="en-US" sz="2000" dirty="0">
                <a:solidFill>
                  <a:srgbClr val="595959"/>
                </a:solidFill>
                <a:latin typeface="微软雅黑" panose="020B0503020204020204" pitchFamily="34" charset="-122"/>
                <a:ea typeface="微软雅黑" panose="020B0503020204020204" pitchFamily="34" charset="-122"/>
              </a:rPr>
              <a:t>页面效果如图。</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p:txBody>
      </p:sp>
      <p:sp>
        <p:nvSpPr>
          <p:cNvPr id="12" name="Title 1">
            <a:extLst>
              <a:ext uri="{FF2B5EF4-FFF2-40B4-BE49-F238E27FC236}">
                <a16:creationId xmlns:a16="http://schemas.microsoft.com/office/drawing/2014/main" id="{F53D73D9-CC03-4D8E-8137-F33141724DDE}"/>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6.5.2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实现轮播图切换效果</a:t>
            </a:r>
          </a:p>
        </p:txBody>
      </p:sp>
      <p:pic>
        <p:nvPicPr>
          <p:cNvPr id="11" name="Picture 2">
            <a:extLst>
              <a:ext uri="{FF2B5EF4-FFF2-40B4-BE49-F238E27FC236}">
                <a16:creationId xmlns:a16="http://schemas.microsoft.com/office/drawing/2014/main" id="{8E7672F3-9856-42F2-8D82-2DF1711632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4886" y="2493689"/>
            <a:ext cx="5785298" cy="2088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52009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04</a:t>
              </a: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143481"/>
            <a:ext cx="8622451" cy="1107996"/>
          </a:xfrm>
          <a:prstGeom prst="rect">
            <a:avLst/>
          </a:prstGeom>
          <a:noFill/>
          <a:ln>
            <a:noFill/>
          </a:ln>
        </p:spPr>
        <p:txBody>
          <a:bodyPr wrap="square" rtlCol="0">
            <a:spAutoFit/>
          </a:bodyPr>
          <a:lstStyle/>
          <a:p>
            <a:pPr defTabSz="457200">
              <a:lnSpc>
                <a:spcPct val="150000"/>
              </a:lnSpc>
              <a:defRPr/>
            </a:pPr>
            <a:r>
              <a:rPr lang="zh-CN" altLang="en-US" b="1" kern="0" dirty="0">
                <a:solidFill>
                  <a:srgbClr val="595959"/>
                </a:solidFill>
                <a:latin typeface="微软雅黑" panose="020B0503020204020204" pitchFamily="34" charset="-122"/>
                <a:ea typeface="微软雅黑" panose="020B0503020204020204" pitchFamily="34" charset="-122"/>
                <a:cs typeface="+mn-ea"/>
              </a:rPr>
              <a:t>修改轮播图切换默认延迟时间</a:t>
            </a:r>
            <a:endParaRPr lang="en-US" altLang="zh-CN" b="1" kern="0" dirty="0">
              <a:solidFill>
                <a:srgbClr val="595959"/>
              </a:solidFill>
              <a:latin typeface="微软雅黑" panose="020B0503020204020204" pitchFamily="34" charset="-122"/>
              <a:ea typeface="微软雅黑" panose="020B0503020204020204" pitchFamily="34" charset="-122"/>
              <a:cs typeface="+mn-ea"/>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修改</a:t>
            </a:r>
            <a:r>
              <a:rPr lang="en-US" altLang="zh-CN" sz="2000" dirty="0">
                <a:solidFill>
                  <a:srgbClr val="595959"/>
                </a:solidFill>
                <a:latin typeface="微软雅黑" panose="020B0503020204020204" pitchFamily="34" charset="-122"/>
                <a:ea typeface="微软雅黑" panose="020B0503020204020204" pitchFamily="34" charset="-122"/>
              </a:rPr>
              <a:t>demo13.html</a:t>
            </a:r>
            <a:r>
              <a:rPr lang="zh-CN" altLang="en-US" sz="2000" dirty="0">
                <a:solidFill>
                  <a:srgbClr val="595959"/>
                </a:solidFill>
                <a:latin typeface="微软雅黑" panose="020B0503020204020204" pitchFamily="34" charset="-122"/>
                <a:ea typeface="微软雅黑" panose="020B0503020204020204" pitchFamily="34" charset="-122"/>
              </a:rPr>
              <a:t>文件，</a:t>
            </a:r>
            <a:r>
              <a:rPr lang="zh-CN" altLang="en-US" sz="20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具体</a:t>
            </a:r>
            <a:r>
              <a:rPr lang="zh-CN" altLang="en-US"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代码如下。</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p:txBody>
      </p:sp>
      <p:sp>
        <p:nvSpPr>
          <p:cNvPr id="12" name="Title 1">
            <a:extLst>
              <a:ext uri="{FF2B5EF4-FFF2-40B4-BE49-F238E27FC236}">
                <a16:creationId xmlns:a16="http://schemas.microsoft.com/office/drawing/2014/main" id="{F53D73D9-CC03-4D8E-8137-F33141724DDE}"/>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6.5.2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实现轮播图切换效果</a:t>
            </a:r>
          </a:p>
        </p:txBody>
      </p:sp>
      <p:sp>
        <p:nvSpPr>
          <p:cNvPr id="14" name="文本框 13">
            <a:extLst>
              <a:ext uri="{FF2B5EF4-FFF2-40B4-BE49-F238E27FC236}">
                <a16:creationId xmlns:a16="http://schemas.microsoft.com/office/drawing/2014/main" id="{A5B2B648-CC4F-4FFA-AD22-9EE82D59889C}"/>
              </a:ext>
            </a:extLst>
          </p:cNvPr>
          <p:cNvSpPr txBox="1"/>
          <p:nvPr/>
        </p:nvSpPr>
        <p:spPr>
          <a:xfrm>
            <a:off x="1126654" y="2445489"/>
            <a:ext cx="10640148" cy="1200329"/>
          </a:xfrm>
          <a:prstGeom prst="rect">
            <a:avLst/>
          </a:prstGeom>
          <a:solidFill>
            <a:srgbClr val="F2F2F2"/>
          </a:solidFill>
        </p:spPr>
        <p:txBody>
          <a:bodyPr wrap="square">
            <a:spAutoFit/>
          </a:bodyPr>
          <a:lstStyle/>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&lt;div id="carouselExampleSlidesOnly" class="carousel slide" data-ride="carousel" </a:t>
            </a:r>
            <a:r>
              <a:rPr lang="en-US" altLang="zh-CN" sz="1600" dirty="0">
                <a:solidFill>
                  <a:srgbClr val="1369B2"/>
                </a:solidFill>
                <a:latin typeface="微软雅黑" panose="020B0503020204020204" pitchFamily="34" charset="-122"/>
                <a:ea typeface="微软雅黑" panose="020B0503020204020204" pitchFamily="34" charset="-122"/>
                <a:cs typeface="Courier New" panose="02070609020205090404" pitchFamily="49" charset="0"/>
              </a:rPr>
              <a:t>data-interval="2000"</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源代码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&lt;/div&gt;</a:t>
            </a:r>
          </a:p>
        </p:txBody>
      </p:sp>
      <p:sp>
        <p:nvSpPr>
          <p:cNvPr id="11" name="文本框 10">
            <a:extLst>
              <a:ext uri="{FF2B5EF4-FFF2-40B4-BE49-F238E27FC236}">
                <a16:creationId xmlns:a16="http://schemas.microsoft.com/office/drawing/2014/main" id="{6F50A5FC-EF7B-42D2-86B4-B769A325ACB0}"/>
              </a:ext>
            </a:extLst>
          </p:cNvPr>
          <p:cNvSpPr txBox="1"/>
          <p:nvPr/>
        </p:nvSpPr>
        <p:spPr>
          <a:xfrm>
            <a:off x="1946021" y="4523554"/>
            <a:ext cx="9289033" cy="961289"/>
          </a:xfrm>
          <a:prstGeom prst="rect">
            <a:avLst/>
          </a:prstGeom>
          <a:noFill/>
        </p:spPr>
        <p:txBody>
          <a:bodyPr wrap="square">
            <a:spAutoFit/>
          </a:bodyPr>
          <a:lstStyle/>
          <a:p>
            <a:pPr>
              <a:lnSpc>
                <a:spcPct val="150000"/>
              </a:lnSpc>
            </a:pPr>
            <a:r>
              <a:rPr lang="zh-CN" altLang="en-US" sz="2000" dirty="0">
                <a:solidFill>
                  <a:srgbClr val="FF0000"/>
                </a:solidFill>
                <a:latin typeface="微软雅黑" panose="020B0503020204020204" pitchFamily="34" charset="-122"/>
                <a:ea typeface="微软雅黑" panose="020B0503020204020204" pitchFamily="34" charset="-122"/>
              </a:rPr>
              <a:t>需要注意的是，如果设置</a:t>
            </a:r>
            <a:r>
              <a:rPr lang="en-US" altLang="zh-CN" sz="2000" dirty="0">
                <a:solidFill>
                  <a:srgbClr val="FF0000"/>
                </a:solidFill>
                <a:latin typeface="微软雅黑" panose="020B0503020204020204" pitchFamily="34" charset="-122"/>
                <a:ea typeface="微软雅黑" panose="020B0503020204020204" pitchFamily="34" charset="-122"/>
              </a:rPr>
              <a:t>data-interval</a:t>
            </a:r>
            <a:r>
              <a:rPr lang="zh-CN" altLang="en-US" sz="2000" dirty="0">
                <a:solidFill>
                  <a:srgbClr val="FF0000"/>
                </a:solidFill>
                <a:latin typeface="微软雅黑" panose="020B0503020204020204" pitchFamily="34" charset="-122"/>
                <a:ea typeface="微软雅黑" panose="020B0503020204020204" pitchFamily="34" charset="-122"/>
              </a:rPr>
              <a:t>属性的值为</a:t>
            </a:r>
            <a:r>
              <a:rPr lang="en-US" altLang="zh-CN" sz="2000" dirty="0">
                <a:solidFill>
                  <a:srgbClr val="FF0000"/>
                </a:solidFill>
                <a:latin typeface="微软雅黑" panose="020B0503020204020204" pitchFamily="34" charset="-122"/>
                <a:ea typeface="微软雅黑" panose="020B0503020204020204" pitchFamily="34" charset="-122"/>
              </a:rPr>
              <a:t>false</a:t>
            </a:r>
            <a:r>
              <a:rPr lang="zh-CN" altLang="en-US" sz="2000" dirty="0">
                <a:solidFill>
                  <a:srgbClr val="FF0000"/>
                </a:solidFill>
                <a:latin typeface="微软雅黑" panose="020B0503020204020204" pitchFamily="34" charset="-122"/>
                <a:ea typeface="微软雅黑" panose="020B0503020204020204" pitchFamily="34" charset="-122"/>
              </a:rPr>
              <a:t>，轮播图</a:t>
            </a:r>
            <a:r>
              <a:rPr lang="en-US" altLang="zh-CN" sz="2000" dirty="0">
                <a:solidFill>
                  <a:srgbClr val="FF0000"/>
                </a:solidFill>
                <a:latin typeface="微软雅黑" panose="020B0503020204020204" pitchFamily="34" charset="-122"/>
                <a:ea typeface="微软雅黑" panose="020B0503020204020204" pitchFamily="34" charset="-122"/>
              </a:rPr>
              <a:t>carousel</a:t>
            </a:r>
            <a:r>
              <a:rPr lang="zh-CN" altLang="en-US" sz="2000" dirty="0">
                <a:solidFill>
                  <a:srgbClr val="FF0000"/>
                </a:solidFill>
                <a:latin typeface="微软雅黑" panose="020B0503020204020204" pitchFamily="34" charset="-122"/>
                <a:ea typeface="微软雅黑" panose="020B0503020204020204" pitchFamily="34" charset="-122"/>
              </a:rPr>
              <a:t>将不会自动循环。</a:t>
            </a:r>
          </a:p>
        </p:txBody>
      </p:sp>
      <p:sp>
        <p:nvSpPr>
          <p:cNvPr id="13" name="矩形: 圆角 1">
            <a:extLst>
              <a:ext uri="{FF2B5EF4-FFF2-40B4-BE49-F238E27FC236}">
                <a16:creationId xmlns:a16="http://schemas.microsoft.com/office/drawing/2014/main" id="{C16976FD-133A-4B29-873B-D43174BA2570}"/>
              </a:ext>
            </a:extLst>
          </p:cNvPr>
          <p:cNvSpPr/>
          <p:nvPr/>
        </p:nvSpPr>
        <p:spPr>
          <a:xfrm>
            <a:off x="1342678" y="4509914"/>
            <a:ext cx="10009112" cy="1004113"/>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595959"/>
              </a:solidFill>
            </a:endParaRPr>
          </a:p>
        </p:txBody>
      </p:sp>
      <p:sp>
        <p:nvSpPr>
          <p:cNvPr id="16" name="流程图: 资料带 15">
            <a:extLst>
              <a:ext uri="{FF2B5EF4-FFF2-40B4-BE49-F238E27FC236}">
                <a16:creationId xmlns:a16="http://schemas.microsoft.com/office/drawing/2014/main" id="{1279245D-C2B0-409E-B36F-08E7547D0952}"/>
              </a:ext>
            </a:extLst>
          </p:cNvPr>
          <p:cNvSpPr/>
          <p:nvPr/>
        </p:nvSpPr>
        <p:spPr>
          <a:xfrm>
            <a:off x="1143690" y="4293890"/>
            <a:ext cx="775053" cy="504056"/>
          </a:xfrm>
          <a:prstGeom prst="flowChartPunchedTape">
            <a:avLst/>
          </a:prstGeom>
          <a:solidFill>
            <a:srgbClr val="1369B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微软雅黑" panose="020B0503020204020204" pitchFamily="34" charset="-122"/>
                <a:ea typeface="微软雅黑" panose="020B0503020204020204" pitchFamily="34" charset="-122"/>
              </a:rPr>
              <a:t>Tip</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792432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7"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815965" y="3576722"/>
            <a:ext cx="4983480" cy="1165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轮播图指示器功能</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的实现方法，能够实现轮播图指示器</a:t>
            </a:r>
            <a:r>
              <a:rPr lang="zh-CN" altLang="en-US"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功能</a:t>
            </a:r>
            <a:endParaRPr lang="zh-CN" altLang="en-US" dirty="0">
              <a:solidFill>
                <a:srgbClr val="595959"/>
              </a:solidFill>
              <a:latin typeface="微软雅黑" panose="020B0503020204020204" pitchFamily="34" charset="-122"/>
              <a:ea typeface="微软雅黑" panose="020B0503020204020204" pitchFamily="34" charset="-122"/>
              <a:cs typeface="+mn-ea"/>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Title 1">
            <a:extLst>
              <a:ext uri="{FF2B5EF4-FFF2-40B4-BE49-F238E27FC236}">
                <a16:creationId xmlns:a16="http://schemas.microsoft.com/office/drawing/2014/main" id="{A5A373F7-A187-42B9-9017-12CE5611263B}"/>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6.5.3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轮播图指示器功能</a:t>
            </a:r>
          </a:p>
        </p:txBody>
      </p:sp>
    </p:spTree>
    <p:extLst>
      <p:ext uri="{BB962C8B-B14F-4D97-AF65-F5344CB8AC3E}">
        <p14:creationId xmlns:p14="http://schemas.microsoft.com/office/powerpoint/2010/main" val="33234914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5A373F7-A187-42B9-9017-12CE5611263B}"/>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6.5.3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轮播图指示器功能</a:t>
            </a:r>
          </a:p>
        </p:txBody>
      </p:sp>
      <p:sp>
        <p:nvSpPr>
          <p:cNvPr id="10" name="文本框 9">
            <a:extLst>
              <a:ext uri="{FF2B5EF4-FFF2-40B4-BE49-F238E27FC236}">
                <a16:creationId xmlns:a16="http://schemas.microsoft.com/office/drawing/2014/main" id="{1D40085C-70A0-4A50-AF17-A9EA06897639}"/>
              </a:ext>
            </a:extLst>
          </p:cNvPr>
          <p:cNvSpPr txBox="1"/>
          <p:nvPr/>
        </p:nvSpPr>
        <p:spPr>
          <a:xfrm>
            <a:off x="1111259" y="1239593"/>
            <a:ext cx="9577064" cy="1823576"/>
          </a:xfrm>
          <a:prstGeom prst="rect">
            <a:avLst/>
          </a:prstGeom>
          <a:noFill/>
        </p:spPr>
        <p:txBody>
          <a:bodyPr wrap="square" rtlCol="0">
            <a:spAutoFit/>
          </a:bodyPr>
          <a:lstStyle/>
          <a:p>
            <a:pPr>
              <a:lnSpc>
                <a:spcPct val="150000"/>
              </a:lnSpc>
            </a:pPr>
            <a:r>
              <a:rPr lang="en-US" altLang="zh-CN" sz="2000" dirty="0">
                <a:solidFill>
                  <a:srgbClr val="1369B2"/>
                </a:solidFill>
                <a:latin typeface="微软雅黑" panose="020B0503020204020204" pitchFamily="34" charset="-122"/>
                <a:ea typeface="微软雅黑" panose="020B0503020204020204" pitchFamily="34" charset="-122"/>
                <a:cs typeface="+mn-ea"/>
              </a:rPr>
              <a:t>Bootstrap</a:t>
            </a:r>
            <a:r>
              <a:rPr lang="zh-CN" altLang="en-US" sz="2000" dirty="0">
                <a:solidFill>
                  <a:srgbClr val="595959"/>
                </a:solidFill>
                <a:latin typeface="微软雅黑" panose="020B0503020204020204" pitchFamily="34" charset="-122"/>
                <a:ea typeface="微软雅黑" panose="020B0503020204020204" pitchFamily="34" charset="-122"/>
                <a:cs typeface="+mn-ea"/>
              </a:rPr>
              <a:t>扩展了一些</a:t>
            </a:r>
            <a:r>
              <a:rPr lang="zh-CN" altLang="en-US" sz="2000" dirty="0">
                <a:solidFill>
                  <a:srgbClr val="1369B2"/>
                </a:solidFill>
                <a:latin typeface="微软雅黑" panose="020B0503020204020204" pitchFamily="34" charset="-122"/>
                <a:ea typeface="微软雅黑" panose="020B0503020204020204" pitchFamily="34" charset="-122"/>
                <a:cs typeface="+mn-ea"/>
              </a:rPr>
              <a:t>预定义</a:t>
            </a:r>
            <a:r>
              <a:rPr lang="zh-CN" altLang="en-US" sz="2000" dirty="0">
                <a:solidFill>
                  <a:srgbClr val="595959"/>
                </a:solidFill>
                <a:latin typeface="微软雅黑" panose="020B0503020204020204" pitchFamily="34" charset="-122"/>
                <a:ea typeface="微软雅黑" panose="020B0503020204020204" pitchFamily="34" charset="-122"/>
                <a:cs typeface="+mn-ea"/>
              </a:rPr>
              <a:t>的实现</a:t>
            </a:r>
            <a:r>
              <a:rPr lang="zh-CN" altLang="en-US" sz="2000" dirty="0">
                <a:solidFill>
                  <a:srgbClr val="1369B2"/>
                </a:solidFill>
                <a:latin typeface="微软雅黑" panose="020B0503020204020204" pitchFamily="34" charset="-122"/>
                <a:ea typeface="微软雅黑" panose="020B0503020204020204" pitchFamily="34" charset="-122"/>
                <a:cs typeface="+mn-ea"/>
              </a:rPr>
              <a:t>轮播图指示器</a:t>
            </a:r>
            <a:r>
              <a:rPr lang="zh-CN" altLang="en-US" sz="2000" dirty="0">
                <a:solidFill>
                  <a:srgbClr val="595959"/>
                </a:solidFill>
                <a:latin typeface="微软雅黑" panose="020B0503020204020204" pitchFamily="34" charset="-122"/>
                <a:ea typeface="微软雅黑" panose="020B0503020204020204" pitchFamily="34" charset="-122"/>
                <a:cs typeface="+mn-ea"/>
              </a:rPr>
              <a:t>页面</a:t>
            </a:r>
            <a:r>
              <a:rPr lang="zh-CN" altLang="en-US" sz="2000" dirty="0">
                <a:solidFill>
                  <a:srgbClr val="1369B2"/>
                </a:solidFill>
                <a:latin typeface="微软雅黑" panose="020B0503020204020204" pitchFamily="34" charset="-122"/>
                <a:ea typeface="微软雅黑" panose="020B0503020204020204" pitchFamily="34" charset="-122"/>
                <a:cs typeface="+mn-ea"/>
              </a:rPr>
              <a:t>样式</a:t>
            </a:r>
            <a:r>
              <a:rPr lang="zh-CN" altLang="en-US" sz="2000" dirty="0">
                <a:solidFill>
                  <a:srgbClr val="595959"/>
                </a:solidFill>
                <a:latin typeface="微软雅黑" panose="020B0503020204020204" pitchFamily="34" charset="-122"/>
                <a:ea typeface="微软雅黑" panose="020B0503020204020204" pitchFamily="34" charset="-122"/>
                <a:cs typeface="+mn-ea"/>
              </a:rPr>
              <a:t>的类，主要包括：</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1000" dirty="0">
              <a:solidFill>
                <a:srgbClr val="595959"/>
              </a:solidFill>
              <a:latin typeface="微软雅黑" panose="020B0503020204020204" pitchFamily="34" charset="-122"/>
              <a:ea typeface="微软雅黑" panose="020B0503020204020204" pitchFamily="34" charset="-122"/>
              <a:cs typeface="+mn-ea"/>
            </a:endParaRPr>
          </a:p>
          <a:p>
            <a:pPr marL="342900" indent="-342900">
              <a:lnSpc>
                <a:spcPct val="150000"/>
              </a:lnSpc>
              <a:buFont typeface="Wingdings" panose="05000000000000000000" pitchFamily="2" charset="2"/>
              <a:buChar char="l"/>
            </a:pPr>
            <a:r>
              <a:rPr lang="en-US" altLang="zh-CN" sz="2000" dirty="0">
                <a:solidFill>
                  <a:srgbClr val="1369B2"/>
                </a:solidFill>
                <a:latin typeface="微软雅黑" panose="020B0503020204020204" pitchFamily="34" charset="-122"/>
                <a:ea typeface="微软雅黑" panose="020B0503020204020204" pitchFamily="34" charset="-122"/>
                <a:cs typeface="+mn-ea"/>
              </a:rPr>
              <a:t>.carousel-indicators</a:t>
            </a:r>
            <a:r>
              <a:rPr lang="zh-CN" altLang="en-US" sz="2000" dirty="0">
                <a:solidFill>
                  <a:srgbClr val="1369B2"/>
                </a:solidFill>
                <a:latin typeface="微软雅黑" panose="020B0503020204020204" pitchFamily="34" charset="-122"/>
                <a:ea typeface="微软雅黑" panose="020B0503020204020204" pitchFamily="34" charset="-122"/>
                <a:cs typeface="+mn-ea"/>
              </a:rPr>
              <a:t>类</a:t>
            </a:r>
            <a:r>
              <a:rPr lang="zh-CN" altLang="en-US" sz="2000" dirty="0">
                <a:solidFill>
                  <a:srgbClr val="595959"/>
                </a:solidFill>
                <a:latin typeface="微软雅黑" panose="020B0503020204020204" pitchFamily="34" charset="-122"/>
                <a:ea typeface="微软雅黑" panose="020B0503020204020204" pitchFamily="34" charset="-122"/>
                <a:cs typeface="+mn-ea"/>
              </a:rPr>
              <a:t>：定义轮播图指示器页面的最外层</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容器。</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500" dirty="0">
              <a:solidFill>
                <a:srgbClr val="595959"/>
              </a:solidFill>
              <a:latin typeface="微软雅黑" panose="020B0503020204020204" pitchFamily="34" charset="-122"/>
              <a:ea typeface="微软雅黑" panose="020B0503020204020204" pitchFamily="34" charset="-122"/>
              <a:cs typeface="+mn-ea"/>
            </a:endParaRPr>
          </a:p>
          <a:p>
            <a:pPr marL="342900" indent="-342900">
              <a:lnSpc>
                <a:spcPct val="150000"/>
              </a:lnSpc>
              <a:buFont typeface="Wingdings" panose="05000000000000000000" pitchFamily="2" charset="2"/>
              <a:buChar char="l"/>
            </a:pPr>
            <a:r>
              <a:rPr lang="en-US" altLang="zh-CN" sz="2000" dirty="0">
                <a:solidFill>
                  <a:srgbClr val="1369B2"/>
                </a:solidFill>
                <a:latin typeface="微软雅黑" panose="020B0503020204020204" pitchFamily="34" charset="-122"/>
                <a:ea typeface="微软雅黑" panose="020B0503020204020204" pitchFamily="34" charset="-122"/>
                <a:cs typeface="+mn-ea"/>
              </a:rPr>
              <a:t>.active</a:t>
            </a:r>
            <a:r>
              <a:rPr lang="zh-CN" altLang="en-US" sz="2000" dirty="0">
                <a:solidFill>
                  <a:srgbClr val="1369B2"/>
                </a:solidFill>
                <a:latin typeface="微软雅黑" panose="020B0503020204020204" pitchFamily="34" charset="-122"/>
                <a:ea typeface="微软雅黑" panose="020B0503020204020204" pitchFamily="34" charset="-122"/>
                <a:cs typeface="+mn-ea"/>
              </a:rPr>
              <a:t>类</a:t>
            </a:r>
            <a:r>
              <a:rPr lang="zh-CN" altLang="en-US" sz="2000" dirty="0">
                <a:solidFill>
                  <a:srgbClr val="595959"/>
                </a:solidFill>
                <a:latin typeface="微软雅黑" panose="020B0503020204020204" pitchFamily="34" charset="-122"/>
                <a:ea typeface="微软雅黑" panose="020B0503020204020204" pitchFamily="34" charset="-122"/>
                <a:cs typeface="+mn-ea"/>
              </a:rPr>
              <a:t>：表示活动</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状态</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4" name="文本框 3">
            <a:extLst>
              <a:ext uri="{FF2B5EF4-FFF2-40B4-BE49-F238E27FC236}">
                <a16:creationId xmlns:a16="http://schemas.microsoft.com/office/drawing/2014/main" id="{689F309E-4386-4AA2-823A-3A6A20AA9FA2}"/>
              </a:ext>
            </a:extLst>
          </p:cNvPr>
          <p:cNvSpPr txBox="1"/>
          <p:nvPr/>
        </p:nvSpPr>
        <p:spPr>
          <a:xfrm>
            <a:off x="1128970" y="3351522"/>
            <a:ext cx="5915787" cy="553998"/>
          </a:xfrm>
          <a:prstGeom prst="rect">
            <a:avLst/>
          </a:prstGeom>
          <a:noFill/>
        </p:spPr>
        <p:txBody>
          <a:bodyPr wrap="square" rtlCol="0">
            <a:spAutoFit/>
          </a:body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cs typeface="+mn-ea"/>
              </a:rPr>
              <a:t>实现轮播图指示器页面，效果如图：</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5" name="Picture 2">
            <a:extLst>
              <a:ext uri="{FF2B5EF4-FFF2-40B4-BE49-F238E27FC236}">
                <a16:creationId xmlns:a16="http://schemas.microsoft.com/office/drawing/2014/main" id="{2C463806-2DF4-4F46-BE68-F73C53972D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0870" y="4077866"/>
            <a:ext cx="5760640" cy="207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403784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A22F1E4-39AE-424B-B19B-3301952C7205}"/>
              </a:ext>
            </a:extLst>
          </p:cNvPr>
          <p:cNvSpPr txBox="1"/>
          <p:nvPr/>
        </p:nvSpPr>
        <p:spPr>
          <a:xfrm>
            <a:off x="1244632" y="2925738"/>
            <a:ext cx="10513168" cy="1200329"/>
          </a:xfrm>
          <a:prstGeom prst="rect">
            <a:avLst/>
          </a:prstGeom>
          <a:solidFill>
            <a:srgbClr val="F2F2F2"/>
          </a:solidFill>
        </p:spPr>
        <p:txBody>
          <a:bodyPr wrap="square">
            <a:spAutoFit/>
          </a:bodyPr>
          <a:lstStyle/>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&lt;div</a:t>
            </a:r>
            <a:r>
              <a:rPr lang="en-US" altLang="zh-CN" sz="1600" dirty="0">
                <a:solidFill>
                  <a:srgbClr val="1369B2"/>
                </a:solidFill>
                <a:latin typeface="微软雅黑" panose="020B0503020204020204" pitchFamily="34" charset="-122"/>
                <a:ea typeface="微软雅黑" panose="020B0503020204020204" pitchFamily="34" charset="-122"/>
                <a:cs typeface="Courier New" panose="02070609020205090404" pitchFamily="49" charset="0"/>
              </a:rPr>
              <a:t> id="</a:t>
            </a:r>
            <a:r>
              <a:rPr lang="en-US" altLang="zh-CN" sz="1600" dirty="0" err="1">
                <a:solidFill>
                  <a:srgbClr val="1369B2"/>
                </a:solidFill>
                <a:latin typeface="微软雅黑" panose="020B0503020204020204" pitchFamily="34" charset="-122"/>
                <a:ea typeface="微软雅黑" panose="020B0503020204020204" pitchFamily="34" charset="-122"/>
                <a:cs typeface="Courier New" panose="02070609020205090404" pitchFamily="49" charset="0"/>
              </a:rPr>
              <a:t>carouselExampleIndicators</a:t>
            </a:r>
            <a:r>
              <a:rPr lang="en-US" altLang="zh-CN" sz="1600" dirty="0">
                <a:solidFill>
                  <a:srgbClr val="1369B2"/>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class="carousel slide" data-ride="carousel" data-interval="2000"&gt;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源代码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&lt;/div&gt;</a:t>
            </a:r>
          </a:p>
        </p:txBody>
      </p:sp>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01</a:t>
              </a: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053530"/>
            <a:ext cx="8262411" cy="1569660"/>
          </a:xfrm>
          <a:prstGeom prst="rect">
            <a:avLst/>
          </a:prstGeom>
          <a:noFill/>
          <a:ln>
            <a:noFill/>
          </a:ln>
        </p:spPr>
        <p:txBody>
          <a:bodyPr wrap="square" rtlCol="0">
            <a:spAutoFit/>
          </a:bodyPr>
          <a:lstStyle/>
          <a:p>
            <a:pPr lvl="0" defTabSz="457200">
              <a:lnSpc>
                <a:spcPct val="150000"/>
              </a:lnSpc>
              <a:defRPr/>
            </a:pPr>
            <a:r>
              <a:rPr lang="zh-CN" altLang="en-US" b="1" kern="0" dirty="0">
                <a:solidFill>
                  <a:srgbClr val="595959"/>
                </a:solidFill>
                <a:latin typeface="微软雅黑" panose="020B0503020204020204" pitchFamily="34" charset="-122"/>
                <a:ea typeface="微软雅黑" panose="020B0503020204020204" pitchFamily="34" charset="-122"/>
                <a:cs typeface="+mn-ea"/>
                <a:sym typeface="+mn-lt"/>
              </a:rPr>
              <a:t>实现轮播图指示器页面</a:t>
            </a:r>
            <a:endParaRPr lang="en-US" altLang="zh-CN" b="1" kern="0" dirty="0">
              <a:solidFill>
                <a:srgbClr val="595959"/>
              </a:solidFill>
              <a:latin typeface="微软雅黑" panose="020B0503020204020204" pitchFamily="34" charset="-122"/>
              <a:ea typeface="微软雅黑" panose="020B0503020204020204" pitchFamily="34" charset="-122"/>
              <a:cs typeface="+mn-ea"/>
              <a:sym typeface="+mn-lt"/>
            </a:endParaRPr>
          </a:p>
          <a:p>
            <a:pPr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打开</a:t>
            </a:r>
            <a:r>
              <a:rPr lang="en-US" altLang="zh-CN" sz="2000" dirty="0">
                <a:solidFill>
                  <a:srgbClr val="595959"/>
                </a:solidFill>
                <a:latin typeface="微软雅黑" panose="020B0503020204020204" pitchFamily="34" charset="-122"/>
                <a:ea typeface="微软雅黑" panose="020B0503020204020204" pitchFamily="34" charset="-122"/>
              </a:rPr>
              <a:t>demo13.html</a:t>
            </a:r>
            <a:r>
              <a:rPr lang="zh-CN" altLang="en-US" sz="2000" dirty="0">
                <a:solidFill>
                  <a:srgbClr val="595959"/>
                </a:solidFill>
                <a:latin typeface="微软雅黑" panose="020B0503020204020204" pitchFamily="34" charset="-122"/>
                <a:ea typeface="微软雅黑" panose="020B0503020204020204" pitchFamily="34" charset="-122"/>
              </a:rPr>
              <a:t>文件，修改</a:t>
            </a:r>
            <a:r>
              <a:rPr lang="en-US" altLang="zh-CN" sz="2000" dirty="0">
                <a:solidFill>
                  <a:srgbClr val="595959"/>
                </a:solidFill>
                <a:latin typeface="微软雅黑" panose="020B0503020204020204" pitchFamily="34" charset="-122"/>
                <a:ea typeface="微软雅黑" panose="020B0503020204020204" pitchFamily="34" charset="-122"/>
              </a:rPr>
              <a:t>6.5.2</a:t>
            </a:r>
            <a:r>
              <a:rPr lang="zh-CN" altLang="en-US" sz="2000" dirty="0">
                <a:solidFill>
                  <a:srgbClr val="595959"/>
                </a:solidFill>
                <a:latin typeface="微软雅黑" panose="020B0503020204020204" pitchFamily="34" charset="-122"/>
                <a:ea typeface="微软雅黑" panose="020B0503020204020204" pitchFamily="34" charset="-122"/>
              </a:rPr>
              <a:t>小节的</a:t>
            </a:r>
            <a:r>
              <a:rPr lang="en-US" altLang="zh-CN" sz="2000" dirty="0">
                <a:solidFill>
                  <a:srgbClr val="595959"/>
                </a:solidFill>
                <a:latin typeface="微软雅黑" panose="020B0503020204020204" pitchFamily="34" charset="-122"/>
                <a:ea typeface="微软雅黑" panose="020B0503020204020204" pitchFamily="34" charset="-122"/>
              </a:rPr>
              <a:t>STEP 04</a:t>
            </a:r>
            <a:r>
              <a:rPr lang="zh-CN" altLang="en-US" sz="2000" dirty="0">
                <a:solidFill>
                  <a:srgbClr val="595959"/>
                </a:solidFill>
                <a:latin typeface="微软雅黑" panose="020B0503020204020204" pitchFamily="34" charset="-122"/>
                <a:ea typeface="微软雅黑" panose="020B0503020204020204" pitchFamily="34" charset="-122"/>
              </a:rPr>
              <a:t>中</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class</a:t>
            </a:r>
            <a:r>
              <a:rPr lang="zh-CN" altLang="en-US" sz="20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为</a:t>
            </a:r>
            <a:r>
              <a:rPr lang="en-US" altLang="zh-CN" sz="2000" dirty="0" smtClean="0">
                <a:solidFill>
                  <a:srgbClr val="1369B2"/>
                </a:solidFill>
                <a:latin typeface="微软雅黑" panose="020B0503020204020204" pitchFamily="34" charset="-122"/>
                <a:ea typeface="微软雅黑" panose="020B0503020204020204" pitchFamily="34" charset="-122"/>
                <a:cs typeface="Courier New" panose="02070609020205090404" pitchFamily="49" charset="0"/>
              </a:rPr>
              <a:t>"carousel </a:t>
            </a:r>
            <a:r>
              <a:rPr lang="en-US" altLang="zh-CN" sz="2000" dirty="0">
                <a:solidFill>
                  <a:srgbClr val="1369B2"/>
                </a:solidFill>
                <a:latin typeface="微软雅黑" panose="020B0503020204020204" pitchFamily="34" charset="-122"/>
                <a:ea typeface="微软雅黑" panose="020B0503020204020204" pitchFamily="34" charset="-122"/>
                <a:cs typeface="Courier New" panose="02070609020205090404" pitchFamily="49" charset="0"/>
              </a:rPr>
              <a:t>slide"</a:t>
            </a:r>
            <a:r>
              <a:rPr lang="zh-CN" altLang="en-US" sz="20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的</a:t>
            </a:r>
            <a:r>
              <a:rPr lang="zh-CN" altLang="en-US"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标签</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id</a:t>
            </a:r>
            <a:r>
              <a:rPr lang="zh-CN" altLang="en-US" sz="20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为</a:t>
            </a:r>
            <a:r>
              <a:rPr lang="en-US" altLang="zh-CN" sz="2000" dirty="0" err="1" smtClean="0">
                <a:solidFill>
                  <a:srgbClr val="1369B2"/>
                </a:solidFill>
                <a:latin typeface="微软雅黑" panose="020B0503020204020204" pitchFamily="34" charset="-122"/>
                <a:ea typeface="微软雅黑" panose="020B0503020204020204" pitchFamily="34" charset="-122"/>
                <a:cs typeface="Courier New" panose="02070609020205090404" pitchFamily="49" charset="0"/>
              </a:rPr>
              <a:t>carouselExampleIndicators</a:t>
            </a:r>
            <a:r>
              <a:rPr lang="zh-CN" altLang="en-US" sz="20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zh-CN" altLang="en-US"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具体代码如下。</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p:txBody>
      </p:sp>
      <p:sp>
        <p:nvSpPr>
          <p:cNvPr id="11" name="Title 1">
            <a:extLst>
              <a:ext uri="{FF2B5EF4-FFF2-40B4-BE49-F238E27FC236}">
                <a16:creationId xmlns:a16="http://schemas.microsoft.com/office/drawing/2014/main" id="{F4DFBE6E-7182-4CE4-9305-6D9A4531D1C2}"/>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6.5.3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轮播图指示器功能</a:t>
            </a:r>
          </a:p>
        </p:txBody>
      </p:sp>
    </p:spTree>
    <p:extLst>
      <p:ext uri="{BB962C8B-B14F-4D97-AF65-F5344CB8AC3E}">
        <p14:creationId xmlns:p14="http://schemas.microsoft.com/office/powerpoint/2010/main" val="2908660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02</a:t>
              </a: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053530"/>
            <a:ext cx="8334419" cy="1107996"/>
          </a:xfrm>
          <a:prstGeom prst="rect">
            <a:avLst/>
          </a:prstGeom>
          <a:noFill/>
          <a:ln>
            <a:noFill/>
          </a:ln>
        </p:spPr>
        <p:txBody>
          <a:bodyPr wrap="square" rtlCol="0">
            <a:spAutoFit/>
          </a:bodyPr>
          <a:lstStyle/>
          <a:p>
            <a:pPr lvl="0" defTabSz="457200">
              <a:lnSpc>
                <a:spcPct val="150000"/>
              </a:lnSpc>
              <a:defRPr/>
            </a:pPr>
            <a:r>
              <a:rPr lang="zh-CN" altLang="en-US" b="1" kern="0" dirty="0">
                <a:solidFill>
                  <a:srgbClr val="595959"/>
                </a:solidFill>
                <a:latin typeface="微软雅黑" panose="020B0503020204020204" pitchFamily="34" charset="-122"/>
                <a:ea typeface="微软雅黑" panose="020B0503020204020204" pitchFamily="34" charset="-122"/>
                <a:cs typeface="+mn-ea"/>
                <a:sym typeface="+mn-lt"/>
              </a:rPr>
              <a:t>实现轮播图指示器页面</a:t>
            </a:r>
            <a:endParaRPr lang="en-US" altLang="zh-CN" b="1" kern="0" dirty="0">
              <a:solidFill>
                <a:srgbClr val="595959"/>
              </a:solidFill>
              <a:latin typeface="微软雅黑" panose="020B0503020204020204" pitchFamily="34" charset="-122"/>
              <a:ea typeface="微软雅黑" panose="020B0503020204020204" pitchFamily="34" charset="-122"/>
              <a:cs typeface="+mn-ea"/>
              <a:sym typeface="+mn-lt"/>
            </a:endParaRPr>
          </a:p>
          <a:p>
            <a:pPr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在步骤</a:t>
            </a:r>
            <a:r>
              <a:rPr lang="en-US" altLang="zh-CN" sz="2000" dirty="0">
                <a:solidFill>
                  <a:srgbClr val="595959"/>
                </a:solidFill>
                <a:latin typeface="微软雅黑" panose="020B0503020204020204" pitchFamily="34" charset="-122"/>
                <a:ea typeface="微软雅黑" panose="020B0503020204020204" pitchFamily="34" charset="-122"/>
              </a:rPr>
              <a:t>STEP 01</a:t>
            </a:r>
            <a:r>
              <a:rPr lang="zh-CN" altLang="en-US" sz="2000" dirty="0">
                <a:solidFill>
                  <a:srgbClr val="595959"/>
                </a:solidFill>
                <a:latin typeface="微软雅黑" panose="020B0503020204020204" pitchFamily="34" charset="-122"/>
                <a:ea typeface="微软雅黑" panose="020B0503020204020204" pitchFamily="34" charset="-122"/>
              </a:rPr>
              <a:t>的源代码处，实现</a:t>
            </a:r>
            <a:r>
              <a:rPr lang="zh-CN" altLang="en-US" sz="2000" dirty="0">
                <a:solidFill>
                  <a:srgbClr val="1369B2"/>
                </a:solidFill>
                <a:latin typeface="微软雅黑" panose="020B0503020204020204" pitchFamily="34" charset="-122"/>
                <a:ea typeface="微软雅黑" panose="020B0503020204020204" pitchFamily="34" charset="-122"/>
              </a:rPr>
              <a:t>轮播图指示器</a:t>
            </a:r>
            <a:r>
              <a:rPr lang="zh-CN" altLang="en-US" sz="2000" dirty="0">
                <a:solidFill>
                  <a:srgbClr val="595959"/>
                </a:solidFill>
                <a:latin typeface="微软雅黑" panose="020B0503020204020204" pitchFamily="34" charset="-122"/>
                <a:ea typeface="微软雅黑" panose="020B0503020204020204" pitchFamily="34" charset="-122"/>
              </a:rPr>
              <a:t>页面效果，具体代码如下</a:t>
            </a:r>
            <a:r>
              <a:rPr lang="zh-CN" altLang="en-US"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p:txBody>
      </p:sp>
      <p:sp>
        <p:nvSpPr>
          <p:cNvPr id="11" name="Title 1">
            <a:extLst>
              <a:ext uri="{FF2B5EF4-FFF2-40B4-BE49-F238E27FC236}">
                <a16:creationId xmlns:a16="http://schemas.microsoft.com/office/drawing/2014/main" id="{F4DFBE6E-7182-4CE4-9305-6D9A4531D1C2}"/>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6.5.3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轮播图指示器功能</a:t>
            </a:r>
          </a:p>
        </p:txBody>
      </p:sp>
      <p:sp>
        <p:nvSpPr>
          <p:cNvPr id="12" name="文本框 11">
            <a:extLst>
              <a:ext uri="{FF2B5EF4-FFF2-40B4-BE49-F238E27FC236}">
                <a16:creationId xmlns:a16="http://schemas.microsoft.com/office/drawing/2014/main" id="{CB5E066D-73EF-4196-81A6-54EB5510DA0B}"/>
              </a:ext>
            </a:extLst>
          </p:cNvPr>
          <p:cNvSpPr txBox="1"/>
          <p:nvPr/>
        </p:nvSpPr>
        <p:spPr>
          <a:xfrm>
            <a:off x="1985515" y="2421682"/>
            <a:ext cx="8363849" cy="2951898"/>
          </a:xfrm>
          <a:prstGeom prst="rect">
            <a:avLst/>
          </a:prstGeom>
          <a:solidFill>
            <a:srgbClr val="F2F2F2"/>
          </a:solidFill>
        </p:spPr>
        <p:txBody>
          <a:bodyPr wrap="square">
            <a:spAutoFit/>
          </a:bodyPr>
          <a:lstStyle/>
          <a:p>
            <a:pPr lvl="1">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 </a:t>
            </a:r>
            <a:r>
              <a:rPr lang="zh-CN" altLang="en-US"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轮播图指示器 </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lvl="1">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ol</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class="carousel-indicators"&gt;</a:t>
            </a:r>
          </a:p>
          <a:p>
            <a:pPr lvl="1">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 data-target="#</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carouselExampleIndicators</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class="active"&gt;&lt;/li&gt;</a:t>
            </a:r>
          </a:p>
          <a:p>
            <a:pPr lvl="1">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 data-target="#</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carouselExampleIndicators</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"&gt;&lt;/li&gt;</a:t>
            </a:r>
          </a:p>
          <a:p>
            <a:pPr lvl="1">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 data-target="#</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carouselExampleIndicators</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"&gt;&lt;/li&gt;</a:t>
            </a:r>
          </a:p>
          <a:p>
            <a:pPr lvl="1">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 data-target="#</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carouselExampleIndicators</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"&gt;&lt;/li&gt;</a:t>
            </a:r>
          </a:p>
          <a:p>
            <a:pPr lvl="1">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ol</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p:txBody>
      </p:sp>
    </p:spTree>
    <p:extLst>
      <p:ext uri="{BB962C8B-B14F-4D97-AF65-F5344CB8AC3E}">
        <p14:creationId xmlns:p14="http://schemas.microsoft.com/office/powerpoint/2010/main" val="20961845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03</a:t>
              </a: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053530"/>
            <a:ext cx="7758355" cy="1053622"/>
          </a:xfrm>
          <a:prstGeom prst="rect">
            <a:avLst/>
          </a:prstGeom>
          <a:noFill/>
          <a:ln>
            <a:noFill/>
          </a:ln>
        </p:spPr>
        <p:txBody>
          <a:bodyPr wrap="square" rtlCol="0">
            <a:spAutoFit/>
          </a:bodyPr>
          <a:lstStyle/>
          <a:p>
            <a:pPr lvl="0" defTabSz="457200">
              <a:lnSpc>
                <a:spcPct val="150000"/>
              </a:lnSpc>
              <a:defRPr/>
            </a:pPr>
            <a:r>
              <a:rPr lang="zh-CN" altLang="en-US" b="1" kern="0" dirty="0">
                <a:solidFill>
                  <a:srgbClr val="595959"/>
                </a:solidFill>
                <a:latin typeface="微软雅黑" panose="020B0503020204020204" pitchFamily="34" charset="-122"/>
                <a:ea typeface="微软雅黑" panose="020B0503020204020204" pitchFamily="34" charset="-122"/>
                <a:cs typeface="+mn-ea"/>
                <a:sym typeface="+mn-lt"/>
              </a:rPr>
              <a:t>在浏览器中访问</a:t>
            </a:r>
            <a:r>
              <a:rPr lang="en-US" altLang="zh-CN" b="1" kern="0" dirty="0">
                <a:solidFill>
                  <a:srgbClr val="595959"/>
                </a:solidFill>
                <a:latin typeface="微软雅黑" panose="020B0503020204020204" pitchFamily="34" charset="-122"/>
                <a:ea typeface="微软雅黑" panose="020B0503020204020204" pitchFamily="34" charset="-122"/>
                <a:cs typeface="+mn-ea"/>
                <a:sym typeface="+mn-lt"/>
              </a:rPr>
              <a:t>demo13.html</a:t>
            </a:r>
          </a:p>
          <a:p>
            <a:pPr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轮播图指示器页面效果如图。</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p:txBody>
      </p:sp>
      <p:sp>
        <p:nvSpPr>
          <p:cNvPr id="11" name="Title 1">
            <a:extLst>
              <a:ext uri="{FF2B5EF4-FFF2-40B4-BE49-F238E27FC236}">
                <a16:creationId xmlns:a16="http://schemas.microsoft.com/office/drawing/2014/main" id="{F4DFBE6E-7182-4CE4-9305-6D9A4531D1C2}"/>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6.5.3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轮播图指示器功能</a:t>
            </a:r>
          </a:p>
        </p:txBody>
      </p:sp>
      <p:pic>
        <p:nvPicPr>
          <p:cNvPr id="16" name="Picture 2">
            <a:extLst>
              <a:ext uri="{FF2B5EF4-FFF2-40B4-BE49-F238E27FC236}">
                <a16:creationId xmlns:a16="http://schemas.microsoft.com/office/drawing/2014/main" id="{943FED69-E465-4173-88B3-DFD96F078A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6821" y="2349674"/>
            <a:ext cx="6782761" cy="2448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726971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04</a:t>
              </a: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053530"/>
            <a:ext cx="8334419" cy="1569660"/>
          </a:xfrm>
          <a:prstGeom prst="rect">
            <a:avLst/>
          </a:prstGeom>
          <a:noFill/>
          <a:ln>
            <a:noFill/>
          </a:ln>
        </p:spPr>
        <p:txBody>
          <a:bodyPr wrap="square" rtlCol="0">
            <a:spAutoFit/>
          </a:bodyPr>
          <a:lstStyle/>
          <a:p>
            <a:pPr lvl="0" defTabSz="457200">
              <a:lnSpc>
                <a:spcPct val="150000"/>
              </a:lnSpc>
              <a:defRPr/>
            </a:pPr>
            <a:r>
              <a:rPr lang="zh-CN" altLang="en-US" b="1" kern="0" dirty="0">
                <a:solidFill>
                  <a:srgbClr val="595959"/>
                </a:solidFill>
                <a:latin typeface="微软雅黑" panose="020B0503020204020204" pitchFamily="34" charset="-122"/>
                <a:ea typeface="微软雅黑" panose="020B0503020204020204" pitchFamily="34" charset="-122"/>
                <a:cs typeface="+mn-ea"/>
                <a:sym typeface="+mn-lt"/>
              </a:rPr>
              <a:t>刷新浏览器，自行查看指示器效果</a:t>
            </a:r>
            <a:endParaRPr lang="en-US" altLang="zh-CN" b="1" kern="0" dirty="0">
              <a:solidFill>
                <a:srgbClr val="595959"/>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修改步骤</a:t>
            </a:r>
            <a:r>
              <a:rPr lang="en-US" altLang="zh-CN" sz="2000" dirty="0">
                <a:solidFill>
                  <a:srgbClr val="595959"/>
                </a:solidFill>
                <a:latin typeface="微软雅黑" panose="020B0503020204020204" pitchFamily="34" charset="-122"/>
                <a:ea typeface="微软雅黑" panose="020B0503020204020204" pitchFamily="34" charset="-122"/>
              </a:rPr>
              <a:t>STEP 02</a:t>
            </a:r>
            <a:r>
              <a:rPr lang="zh-CN" altLang="en-US" sz="2000" dirty="0">
                <a:solidFill>
                  <a:srgbClr val="595959"/>
                </a:solidFill>
                <a:latin typeface="微软雅黑" panose="020B0503020204020204" pitchFamily="34" charset="-122"/>
                <a:ea typeface="微软雅黑" panose="020B0503020204020204" pitchFamily="34" charset="-122"/>
              </a:rPr>
              <a:t>的代码，使用</a:t>
            </a:r>
            <a:r>
              <a:rPr lang="en-US" altLang="zh-CN" sz="2000" dirty="0">
                <a:solidFill>
                  <a:srgbClr val="1369B2"/>
                </a:solidFill>
                <a:latin typeface="微软雅黑" panose="020B0503020204020204" pitchFamily="34" charset="-122"/>
                <a:ea typeface="微软雅黑" panose="020B0503020204020204" pitchFamily="34" charset="-122"/>
              </a:rPr>
              <a:t>data-slide-to</a:t>
            </a:r>
            <a:r>
              <a:rPr lang="en-US" altLang="zh-CN" sz="2000" dirty="0" smtClean="0">
                <a:solidFill>
                  <a:srgbClr val="1369B2"/>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2000" dirty="0" smtClean="0">
                <a:solidFill>
                  <a:srgbClr val="1369B2"/>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2000" dirty="0" smtClean="0">
                <a:solidFill>
                  <a:srgbClr val="1369B2"/>
                </a:solidFill>
                <a:latin typeface="微软雅黑" panose="020B0503020204020204" pitchFamily="34" charset="-122"/>
                <a:ea typeface="微软雅黑" panose="020B0503020204020204" pitchFamily="34" charset="-122"/>
              </a:rPr>
              <a:t>*</a:t>
            </a:r>
            <a:r>
              <a:rPr lang="en-US" altLang="zh-CN" sz="2000" dirty="0" smtClean="0">
                <a:solidFill>
                  <a:srgbClr val="1369B2"/>
                </a:solidFill>
                <a:latin typeface="微软雅黑" panose="020B0503020204020204" pitchFamily="34" charset="-122"/>
                <a:ea typeface="微软雅黑" panose="020B0503020204020204" pitchFamily="34" charset="-122"/>
                <a:cs typeface="Courier New" panose="02070609020205090404" pitchFamily="49" charset="0"/>
              </a:rPr>
              <a:t>"</a:t>
            </a:r>
            <a:r>
              <a:rPr lang="zh-CN" altLang="en-US" sz="2000" dirty="0" smtClean="0">
                <a:solidFill>
                  <a:srgbClr val="595959"/>
                </a:solidFill>
                <a:latin typeface="微软雅黑" panose="020B0503020204020204" pitchFamily="34" charset="-122"/>
                <a:ea typeface="微软雅黑" panose="020B0503020204020204" pitchFamily="34" charset="-122"/>
              </a:rPr>
              <a:t>属性</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en-US" sz="2000" dirty="0" smtClean="0">
                <a:solidFill>
                  <a:srgbClr val="595959"/>
                </a:solidFill>
                <a:latin typeface="微软雅黑" panose="020B0503020204020204" pitchFamily="34" charset="-122"/>
                <a:ea typeface="微软雅黑" panose="020B0503020204020204" pitchFamily="34" charset="-122"/>
              </a:rPr>
              <a:t>控制</a:t>
            </a:r>
            <a:r>
              <a:rPr lang="zh-CN" altLang="en-US" sz="2000" dirty="0">
                <a:solidFill>
                  <a:srgbClr val="1369B2"/>
                </a:solidFill>
                <a:latin typeface="微软雅黑" panose="020B0503020204020204" pitchFamily="34" charset="-122"/>
                <a:ea typeface="微软雅黑" panose="020B0503020204020204" pitchFamily="34" charset="-122"/>
              </a:rPr>
              <a:t>轮播图</a:t>
            </a:r>
            <a:r>
              <a:rPr lang="zh-CN" altLang="en-US" sz="2000" dirty="0">
                <a:solidFill>
                  <a:srgbClr val="595959"/>
                </a:solidFill>
                <a:latin typeface="微软雅黑" panose="020B0503020204020204" pitchFamily="34" charset="-122"/>
                <a:ea typeface="微软雅黑" panose="020B0503020204020204" pitchFamily="34" charset="-122"/>
              </a:rPr>
              <a:t>的位置，具体代码如下。</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p:txBody>
      </p:sp>
      <p:sp>
        <p:nvSpPr>
          <p:cNvPr id="11" name="Title 1">
            <a:extLst>
              <a:ext uri="{FF2B5EF4-FFF2-40B4-BE49-F238E27FC236}">
                <a16:creationId xmlns:a16="http://schemas.microsoft.com/office/drawing/2014/main" id="{F4DFBE6E-7182-4CE4-9305-6D9A4531D1C2}"/>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6.5.3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轮播图指示器功能</a:t>
            </a:r>
          </a:p>
        </p:txBody>
      </p:sp>
      <p:sp>
        <p:nvSpPr>
          <p:cNvPr id="12" name="文本框 11">
            <a:extLst>
              <a:ext uri="{FF2B5EF4-FFF2-40B4-BE49-F238E27FC236}">
                <a16:creationId xmlns:a16="http://schemas.microsoft.com/office/drawing/2014/main" id="{02424608-92DF-4893-B16B-3E5A55B48751}"/>
              </a:ext>
            </a:extLst>
          </p:cNvPr>
          <p:cNvSpPr txBox="1"/>
          <p:nvPr/>
        </p:nvSpPr>
        <p:spPr>
          <a:xfrm>
            <a:off x="1907821" y="2781722"/>
            <a:ext cx="8723889" cy="2634183"/>
          </a:xfrm>
          <a:prstGeom prst="rect">
            <a:avLst/>
          </a:prstGeom>
          <a:solidFill>
            <a:srgbClr val="F2F2F2"/>
          </a:solidFill>
        </p:spPr>
        <p:txBody>
          <a:bodyPr wrap="square">
            <a:spAutoFit/>
          </a:bodyPr>
          <a:lstStyle/>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轮播图指示器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ol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class="carousel-indicators"&gt;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 data-target="#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carouselExampleIndicators</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data-slide-to="0" class="active"&gt;&lt;/li&gt;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 data-target="#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carouselExampleIndicators</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data-slide-to="1"&gt;&lt;/li&gt;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 data-target="#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carouselExampleIndicators</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data-slide-to="2"&gt;&lt;/li&gt;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 data-target="#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carouselExampleIndicators</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data-slide-to="3"&gt;&lt;/li&gt;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ol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p:txBody>
      </p:sp>
    </p:spTree>
    <p:extLst>
      <p:ext uri="{BB962C8B-B14F-4D97-AF65-F5344CB8AC3E}">
        <p14:creationId xmlns:p14="http://schemas.microsoft.com/office/powerpoint/2010/main" val="5565731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7"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815964" y="3576722"/>
            <a:ext cx="5319801" cy="1231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轮播</a:t>
            </a:r>
            <a:r>
              <a:rPr lang="zh-CN" altLang="en-US" dirty="0" smtClean="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图左右手动</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切换</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的实现方法，</a:t>
            </a:r>
            <a:r>
              <a:rPr lang="zh-CN" altLang="en-US"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能够手动</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切换轮播</a:t>
            </a:r>
            <a:r>
              <a:rPr lang="zh-CN" altLang="en-US"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图</a:t>
            </a:r>
            <a:endParaRPr lang="zh-CN" altLang="en-US" dirty="0">
              <a:solidFill>
                <a:srgbClr val="595959"/>
              </a:solidFill>
              <a:latin typeface="微软雅黑" panose="020B0503020204020204" pitchFamily="34" charset="-122"/>
              <a:ea typeface="微软雅黑" panose="020B0503020204020204" pitchFamily="34" charset="-122"/>
              <a:cs typeface="+mn-ea"/>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Title 1">
            <a:extLst>
              <a:ext uri="{FF2B5EF4-FFF2-40B4-BE49-F238E27FC236}">
                <a16:creationId xmlns:a16="http://schemas.microsoft.com/office/drawing/2014/main" id="{A5A373F7-A187-42B9-9017-12CE5611263B}"/>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6.5.4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实现轮播图左右手动切换效果</a:t>
            </a:r>
          </a:p>
        </p:txBody>
      </p:sp>
    </p:spTree>
    <p:extLst>
      <p:ext uri="{BB962C8B-B14F-4D97-AF65-F5344CB8AC3E}">
        <p14:creationId xmlns:p14="http://schemas.microsoft.com/office/powerpoint/2010/main" val="36234820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5A373F7-A187-42B9-9017-12CE5611263B}"/>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6.5.4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实现轮播图左右手动切换效果</a:t>
            </a:r>
          </a:p>
        </p:txBody>
      </p:sp>
      <p:sp>
        <p:nvSpPr>
          <p:cNvPr id="10" name="文本框 9">
            <a:extLst>
              <a:ext uri="{FF2B5EF4-FFF2-40B4-BE49-F238E27FC236}">
                <a16:creationId xmlns:a16="http://schemas.microsoft.com/office/drawing/2014/main" id="{41B29FC4-4D93-45E9-AD0B-DFB8E3C45AAC}"/>
              </a:ext>
            </a:extLst>
          </p:cNvPr>
          <p:cNvSpPr txBox="1"/>
          <p:nvPr/>
        </p:nvSpPr>
        <p:spPr>
          <a:xfrm>
            <a:off x="1198662" y="1341562"/>
            <a:ext cx="10153128" cy="2977738"/>
          </a:xfrm>
          <a:prstGeom prst="rect">
            <a:avLst/>
          </a:prstGeom>
          <a:noFill/>
        </p:spPr>
        <p:txBody>
          <a:bodyPr wrap="square" rtlCol="0">
            <a:spAutoFit/>
          </a:bodyPr>
          <a:lstStyle/>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Bootstrap</a:t>
            </a:r>
            <a:r>
              <a:rPr lang="zh-CN" altLang="en-US" sz="2000" dirty="0">
                <a:solidFill>
                  <a:srgbClr val="595959"/>
                </a:solidFill>
                <a:latin typeface="微软雅黑" panose="020B0503020204020204" pitchFamily="34" charset="-122"/>
                <a:ea typeface="微软雅黑" panose="020B0503020204020204" pitchFamily="34" charset="-122"/>
                <a:cs typeface="+mn-ea"/>
              </a:rPr>
              <a:t>扩展了一些</a:t>
            </a:r>
            <a:r>
              <a:rPr lang="zh-CN" altLang="en-US" sz="2000" dirty="0">
                <a:solidFill>
                  <a:srgbClr val="1369B2"/>
                </a:solidFill>
                <a:latin typeface="微软雅黑" panose="020B0503020204020204" pitchFamily="34" charset="-122"/>
                <a:ea typeface="微软雅黑" panose="020B0503020204020204" pitchFamily="34" charset="-122"/>
                <a:cs typeface="+mn-ea"/>
              </a:rPr>
              <a:t>预定义</a:t>
            </a:r>
            <a:r>
              <a:rPr lang="zh-CN" altLang="en-US" sz="2000" dirty="0">
                <a:solidFill>
                  <a:srgbClr val="595959"/>
                </a:solidFill>
                <a:latin typeface="微软雅黑" panose="020B0503020204020204" pitchFamily="34" charset="-122"/>
                <a:ea typeface="微软雅黑" panose="020B0503020204020204" pitchFamily="34" charset="-122"/>
                <a:cs typeface="+mn-ea"/>
              </a:rPr>
              <a:t>的实现轮播图左右手动切换按钮的页面样式的</a:t>
            </a:r>
            <a:r>
              <a:rPr lang="zh-CN" altLang="en-US" sz="2000" dirty="0">
                <a:solidFill>
                  <a:srgbClr val="1369B2"/>
                </a:solidFill>
                <a:latin typeface="微软雅黑" panose="020B0503020204020204" pitchFamily="34" charset="-122"/>
                <a:ea typeface="微软雅黑" panose="020B0503020204020204" pitchFamily="34" charset="-122"/>
                <a:cs typeface="+mn-ea"/>
              </a:rPr>
              <a:t>类</a:t>
            </a:r>
            <a:r>
              <a:rPr lang="zh-CN" altLang="en-US" sz="2000" dirty="0">
                <a:solidFill>
                  <a:srgbClr val="595959"/>
                </a:solidFill>
                <a:latin typeface="微软雅黑" panose="020B0503020204020204" pitchFamily="34" charset="-122"/>
                <a:ea typeface="微软雅黑" panose="020B0503020204020204" pitchFamily="34" charset="-122"/>
                <a:cs typeface="+mn-ea"/>
              </a:rPr>
              <a:t>，主要包括：</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1000" dirty="0">
              <a:solidFill>
                <a:srgbClr val="595959"/>
              </a:solidFill>
              <a:latin typeface="微软雅黑" panose="020B0503020204020204" pitchFamily="34" charset="-122"/>
              <a:ea typeface="微软雅黑" panose="020B0503020204020204" pitchFamily="34" charset="-122"/>
              <a:cs typeface="+mn-ea"/>
            </a:endParaRPr>
          </a:p>
          <a:p>
            <a:pPr marL="342900" indent="-342900">
              <a:lnSpc>
                <a:spcPct val="150000"/>
              </a:lnSpc>
              <a:buFont typeface="Wingdings" panose="05000000000000000000" pitchFamily="2" charset="2"/>
              <a:buChar char="l"/>
            </a:pPr>
            <a:r>
              <a:rPr lang="en-US" altLang="zh-CN" sz="2000" dirty="0">
                <a:solidFill>
                  <a:srgbClr val="1369B2"/>
                </a:solidFill>
                <a:latin typeface="微软雅黑" panose="020B0503020204020204" pitchFamily="34" charset="-122"/>
                <a:ea typeface="微软雅黑" panose="020B0503020204020204" pitchFamily="34" charset="-122"/>
                <a:cs typeface="+mn-ea"/>
              </a:rPr>
              <a:t>.carousel-control-</a:t>
            </a:r>
            <a:r>
              <a:rPr lang="en-US" altLang="zh-CN" sz="2000" dirty="0" err="1">
                <a:solidFill>
                  <a:srgbClr val="1369B2"/>
                </a:solidFill>
                <a:latin typeface="微软雅黑" panose="020B0503020204020204" pitchFamily="34" charset="-122"/>
                <a:ea typeface="微软雅黑" panose="020B0503020204020204" pitchFamily="34" charset="-122"/>
                <a:cs typeface="+mn-ea"/>
              </a:rPr>
              <a:t>prev</a:t>
            </a:r>
            <a:r>
              <a:rPr lang="zh-CN" altLang="en-US" sz="2000" dirty="0">
                <a:solidFill>
                  <a:srgbClr val="1369B2"/>
                </a:solidFill>
                <a:latin typeface="微软雅黑" panose="020B0503020204020204" pitchFamily="34" charset="-122"/>
                <a:ea typeface="微软雅黑" panose="020B0503020204020204" pitchFamily="34" charset="-122"/>
                <a:cs typeface="+mn-ea"/>
              </a:rPr>
              <a:t>类：</a:t>
            </a:r>
            <a:r>
              <a:rPr lang="zh-CN" altLang="en-US" sz="2000" dirty="0">
                <a:solidFill>
                  <a:srgbClr val="595959"/>
                </a:solidFill>
                <a:latin typeface="微软雅黑" panose="020B0503020204020204" pitchFamily="34" charset="-122"/>
                <a:ea typeface="微软雅黑" panose="020B0503020204020204" pitchFamily="34" charset="-122"/>
                <a:cs typeface="+mn-ea"/>
              </a:rPr>
              <a:t>定义轮播图左侧按钮的最外层容器</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500" dirty="0">
              <a:solidFill>
                <a:srgbClr val="1369B2"/>
              </a:solidFill>
              <a:latin typeface="微软雅黑" panose="020B0503020204020204" pitchFamily="34" charset="-122"/>
              <a:ea typeface="微软雅黑" panose="020B0503020204020204" pitchFamily="34" charset="-122"/>
              <a:cs typeface="+mn-ea"/>
            </a:endParaRPr>
          </a:p>
          <a:p>
            <a:pPr marL="342900" indent="-342900">
              <a:lnSpc>
                <a:spcPct val="150000"/>
              </a:lnSpc>
              <a:buFont typeface="Wingdings" panose="05000000000000000000" pitchFamily="2" charset="2"/>
              <a:buChar char="l"/>
            </a:pPr>
            <a:r>
              <a:rPr lang="en-US" altLang="zh-CN" sz="2000" dirty="0">
                <a:solidFill>
                  <a:srgbClr val="1369B2"/>
                </a:solidFill>
                <a:latin typeface="微软雅黑" panose="020B0503020204020204" pitchFamily="34" charset="-122"/>
                <a:ea typeface="微软雅黑" panose="020B0503020204020204" pitchFamily="34" charset="-122"/>
                <a:cs typeface="+mn-ea"/>
              </a:rPr>
              <a:t>.carousel-control-</a:t>
            </a:r>
            <a:r>
              <a:rPr lang="en-US" altLang="zh-CN" sz="2000" dirty="0" err="1">
                <a:solidFill>
                  <a:srgbClr val="1369B2"/>
                </a:solidFill>
                <a:latin typeface="微软雅黑" panose="020B0503020204020204" pitchFamily="34" charset="-122"/>
                <a:ea typeface="微软雅黑" panose="020B0503020204020204" pitchFamily="34" charset="-122"/>
                <a:cs typeface="+mn-ea"/>
              </a:rPr>
              <a:t>prev</a:t>
            </a:r>
            <a:r>
              <a:rPr lang="en-US" altLang="zh-CN" sz="2000" dirty="0">
                <a:solidFill>
                  <a:srgbClr val="1369B2"/>
                </a:solidFill>
                <a:latin typeface="微软雅黑" panose="020B0503020204020204" pitchFamily="34" charset="-122"/>
                <a:ea typeface="微软雅黑" panose="020B0503020204020204" pitchFamily="34" charset="-122"/>
                <a:cs typeface="+mn-ea"/>
              </a:rPr>
              <a:t>-icon</a:t>
            </a:r>
            <a:r>
              <a:rPr lang="zh-CN" altLang="en-US" sz="2000" dirty="0">
                <a:solidFill>
                  <a:srgbClr val="1369B2"/>
                </a:solidFill>
                <a:latin typeface="微软雅黑" panose="020B0503020204020204" pitchFamily="34" charset="-122"/>
                <a:ea typeface="微软雅黑" panose="020B0503020204020204" pitchFamily="34" charset="-122"/>
                <a:cs typeface="+mn-ea"/>
              </a:rPr>
              <a:t>类：</a:t>
            </a:r>
            <a:r>
              <a:rPr lang="zh-CN" altLang="en-US" sz="2000" dirty="0">
                <a:solidFill>
                  <a:srgbClr val="595959"/>
                </a:solidFill>
                <a:latin typeface="微软雅黑" panose="020B0503020204020204" pitchFamily="34" charset="-122"/>
                <a:ea typeface="微软雅黑" panose="020B0503020204020204" pitchFamily="34" charset="-122"/>
                <a:cs typeface="+mn-ea"/>
              </a:rPr>
              <a:t>定义轮播图左侧按钮图标</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500" dirty="0">
              <a:solidFill>
                <a:srgbClr val="1369B2"/>
              </a:solidFill>
              <a:latin typeface="微软雅黑" panose="020B0503020204020204" pitchFamily="34" charset="-122"/>
              <a:ea typeface="微软雅黑" panose="020B0503020204020204" pitchFamily="34" charset="-122"/>
              <a:cs typeface="+mn-ea"/>
            </a:endParaRPr>
          </a:p>
          <a:p>
            <a:pPr marL="342900" indent="-342900">
              <a:lnSpc>
                <a:spcPct val="150000"/>
              </a:lnSpc>
              <a:buFont typeface="Wingdings" panose="05000000000000000000" pitchFamily="2" charset="2"/>
              <a:buChar char="l"/>
            </a:pPr>
            <a:r>
              <a:rPr lang="en-US" altLang="zh-CN" sz="2000" dirty="0">
                <a:solidFill>
                  <a:srgbClr val="1369B2"/>
                </a:solidFill>
                <a:latin typeface="微软雅黑" panose="020B0503020204020204" pitchFamily="34" charset="-122"/>
                <a:ea typeface="微软雅黑" panose="020B0503020204020204" pitchFamily="34" charset="-122"/>
                <a:cs typeface="+mn-ea"/>
              </a:rPr>
              <a:t>.carousel-control-next</a:t>
            </a:r>
            <a:r>
              <a:rPr lang="zh-CN" altLang="en-US" sz="2000" dirty="0">
                <a:solidFill>
                  <a:srgbClr val="1369B2"/>
                </a:solidFill>
                <a:latin typeface="微软雅黑" panose="020B0503020204020204" pitchFamily="34" charset="-122"/>
                <a:ea typeface="微软雅黑" panose="020B0503020204020204" pitchFamily="34" charset="-122"/>
                <a:cs typeface="+mn-ea"/>
              </a:rPr>
              <a:t>类：</a:t>
            </a:r>
            <a:r>
              <a:rPr lang="zh-CN" altLang="en-US" sz="2000" dirty="0">
                <a:solidFill>
                  <a:srgbClr val="595959"/>
                </a:solidFill>
                <a:latin typeface="微软雅黑" panose="020B0503020204020204" pitchFamily="34" charset="-122"/>
                <a:ea typeface="微软雅黑" panose="020B0503020204020204" pitchFamily="34" charset="-122"/>
                <a:cs typeface="+mn-ea"/>
              </a:rPr>
              <a:t>定义轮播图右侧按钮的最外层容器</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500" dirty="0">
              <a:solidFill>
                <a:srgbClr val="1369B2"/>
              </a:solidFill>
              <a:latin typeface="微软雅黑" panose="020B0503020204020204" pitchFamily="34" charset="-122"/>
              <a:ea typeface="微软雅黑" panose="020B0503020204020204" pitchFamily="34" charset="-122"/>
              <a:cs typeface="+mn-ea"/>
            </a:endParaRPr>
          </a:p>
          <a:p>
            <a:pPr marL="342900" indent="-342900">
              <a:lnSpc>
                <a:spcPct val="150000"/>
              </a:lnSpc>
              <a:buFont typeface="Wingdings" panose="05000000000000000000" pitchFamily="2" charset="2"/>
              <a:buChar char="l"/>
            </a:pPr>
            <a:r>
              <a:rPr lang="en-US" altLang="zh-CN" sz="2000" dirty="0">
                <a:solidFill>
                  <a:srgbClr val="1369B2"/>
                </a:solidFill>
                <a:latin typeface="微软雅黑" panose="020B0503020204020204" pitchFamily="34" charset="-122"/>
                <a:ea typeface="微软雅黑" panose="020B0503020204020204" pitchFamily="34" charset="-122"/>
                <a:cs typeface="+mn-ea"/>
              </a:rPr>
              <a:t>.carousel-control-next-icon</a:t>
            </a:r>
            <a:r>
              <a:rPr lang="zh-CN" altLang="en-US" sz="2000" dirty="0">
                <a:solidFill>
                  <a:srgbClr val="1369B2"/>
                </a:solidFill>
                <a:latin typeface="微软雅黑" panose="020B0503020204020204" pitchFamily="34" charset="-122"/>
                <a:ea typeface="微软雅黑" panose="020B0503020204020204" pitchFamily="34" charset="-122"/>
                <a:cs typeface="+mn-ea"/>
              </a:rPr>
              <a:t>类：</a:t>
            </a:r>
            <a:r>
              <a:rPr lang="zh-CN" altLang="en-US" sz="2000" dirty="0">
                <a:solidFill>
                  <a:srgbClr val="595959"/>
                </a:solidFill>
                <a:latin typeface="微软雅黑" panose="020B0503020204020204" pitchFamily="34" charset="-122"/>
                <a:ea typeface="微软雅黑" panose="020B0503020204020204" pitchFamily="34" charset="-122"/>
                <a:cs typeface="+mn-ea"/>
              </a:rPr>
              <a:t>定义轮播图右侧按钮图标</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14449916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5A373F7-A187-42B9-9017-12CE5611263B}"/>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6.5.4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实现轮播图左右手动切换效果</a:t>
            </a:r>
          </a:p>
        </p:txBody>
      </p:sp>
      <p:sp>
        <p:nvSpPr>
          <p:cNvPr id="4" name="文本框 3">
            <a:extLst>
              <a:ext uri="{FF2B5EF4-FFF2-40B4-BE49-F238E27FC236}">
                <a16:creationId xmlns:a16="http://schemas.microsoft.com/office/drawing/2014/main" id="{01E501DF-84F7-4A4B-85D9-687F5AD62440}"/>
              </a:ext>
            </a:extLst>
          </p:cNvPr>
          <p:cNvSpPr txBox="1"/>
          <p:nvPr/>
        </p:nvSpPr>
        <p:spPr>
          <a:xfrm>
            <a:off x="1198662" y="1341562"/>
            <a:ext cx="9577064" cy="553998"/>
          </a:xfrm>
          <a:prstGeom prst="rect">
            <a:avLst/>
          </a:prstGeom>
          <a:noFill/>
        </p:spPr>
        <p:txBody>
          <a:bodyPr wrap="square" rtlCol="0">
            <a:spAutoFit/>
          </a:body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cs typeface="+mn-ea"/>
              </a:rPr>
              <a:t>实现</a:t>
            </a:r>
            <a:r>
              <a:rPr lang="zh-CN" altLang="en-US" sz="2000" dirty="0">
                <a:solidFill>
                  <a:srgbClr val="1369B2"/>
                </a:solidFill>
                <a:latin typeface="微软雅黑" panose="020B0503020204020204" pitchFamily="34" charset="-122"/>
                <a:ea typeface="微软雅黑" panose="020B0503020204020204" pitchFamily="34" charset="-122"/>
                <a:cs typeface="+mn-ea"/>
              </a:rPr>
              <a:t>轮播图左右手动切换</a:t>
            </a:r>
            <a:r>
              <a:rPr lang="zh-CN" altLang="en-US" sz="2000" dirty="0">
                <a:solidFill>
                  <a:srgbClr val="595959"/>
                </a:solidFill>
                <a:latin typeface="微软雅黑" panose="020B0503020204020204" pitchFamily="34" charset="-122"/>
                <a:ea typeface="微软雅黑" panose="020B0503020204020204" pitchFamily="34" charset="-122"/>
                <a:cs typeface="+mn-ea"/>
              </a:rPr>
              <a:t>页面，效果如图：</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7170" name="Picture 2">
            <a:extLst>
              <a:ext uri="{FF2B5EF4-FFF2-40B4-BE49-F238E27FC236}">
                <a16:creationId xmlns:a16="http://schemas.microsoft.com/office/drawing/2014/main" id="{D701F086-9C45-43A4-9A72-B54775B308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4886" y="2277666"/>
            <a:ext cx="5187706" cy="2088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541341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A22F1E4-39AE-424B-B19B-3301952C7205}"/>
              </a:ext>
            </a:extLst>
          </p:cNvPr>
          <p:cNvSpPr txBox="1"/>
          <p:nvPr/>
        </p:nvSpPr>
        <p:spPr>
          <a:xfrm>
            <a:off x="2062758" y="2853730"/>
            <a:ext cx="8784976" cy="3003515"/>
          </a:xfrm>
          <a:prstGeom prst="rect">
            <a:avLst/>
          </a:prstGeom>
          <a:solidFill>
            <a:srgbClr val="F2F2F2"/>
          </a:solidFill>
        </p:spPr>
        <p:txBody>
          <a:bodyPr wrap="square">
            <a:spAutoFit/>
          </a:bodyPr>
          <a:lstStyle/>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查看上一张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&lt;a class="carousel-control-</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prev</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carouselExampleIndicators</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role="button" &gt;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&lt;span class="carousel-control-</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prev</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-icon"&gt;&lt;/span&gt;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&lt;/a&gt;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查看下一张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&lt;a class="carousel-control-next"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carouselExampleIndicators</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role="button"</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&lt;span class="carousel-control-next-icon"&gt;&lt;/span&gt;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&lt;/a&gt;</a:t>
            </a:r>
          </a:p>
        </p:txBody>
      </p:sp>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01</a:t>
              </a: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143481"/>
            <a:ext cx="8478435" cy="1569660"/>
          </a:xfrm>
          <a:prstGeom prst="rect">
            <a:avLst/>
          </a:prstGeom>
          <a:noFill/>
          <a:ln>
            <a:noFill/>
          </a:ln>
        </p:spPr>
        <p:txBody>
          <a:bodyPr wrap="square" rtlCol="0">
            <a:spAutoFit/>
          </a:bodyPr>
          <a:lstStyle/>
          <a:p>
            <a:pPr lvl="0" defTabSz="457200">
              <a:lnSpc>
                <a:spcPct val="150000"/>
              </a:lnSpc>
              <a:defRPr/>
            </a:pPr>
            <a:r>
              <a:rPr lang="zh-CN" altLang="en-US" b="1" kern="0" dirty="0">
                <a:solidFill>
                  <a:srgbClr val="595959"/>
                </a:solidFill>
                <a:latin typeface="微软雅黑" panose="020B0503020204020204" pitchFamily="34" charset="-122"/>
                <a:ea typeface="微软雅黑" panose="020B0503020204020204" pitchFamily="34" charset="-122"/>
                <a:cs typeface="+mn-ea"/>
                <a:sym typeface="+mn-lt"/>
              </a:rPr>
              <a:t>实现轮播图左右手动切换页面</a:t>
            </a:r>
            <a:endParaRPr lang="en-US" altLang="zh-CN" b="1" kern="0" dirty="0">
              <a:solidFill>
                <a:srgbClr val="595959"/>
              </a:solidFill>
              <a:latin typeface="微软雅黑" panose="020B0503020204020204" pitchFamily="34" charset="-122"/>
              <a:ea typeface="微软雅黑" panose="020B0503020204020204" pitchFamily="34" charset="-122"/>
              <a:cs typeface="+mn-ea"/>
              <a:sym typeface="+mn-lt"/>
            </a:endParaRPr>
          </a:p>
          <a:p>
            <a:pPr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打开</a:t>
            </a:r>
            <a:r>
              <a:rPr lang="en-US" altLang="zh-CN" sz="2000" dirty="0">
                <a:solidFill>
                  <a:srgbClr val="595959"/>
                </a:solidFill>
                <a:latin typeface="微软雅黑" panose="020B0503020204020204" pitchFamily="34" charset="-122"/>
                <a:ea typeface="微软雅黑" panose="020B0503020204020204" pitchFamily="34" charset="-122"/>
              </a:rPr>
              <a:t>demo13.html</a:t>
            </a:r>
            <a:r>
              <a:rPr lang="zh-CN" altLang="en-US" sz="2000" dirty="0">
                <a:solidFill>
                  <a:srgbClr val="595959"/>
                </a:solidFill>
                <a:latin typeface="微软雅黑" panose="020B0503020204020204" pitchFamily="34" charset="-122"/>
                <a:ea typeface="微软雅黑" panose="020B0503020204020204" pitchFamily="34" charset="-122"/>
              </a:rPr>
              <a:t>文件，在</a:t>
            </a:r>
            <a:r>
              <a:rPr lang="en-US" altLang="zh-CN" sz="2000" dirty="0">
                <a:solidFill>
                  <a:srgbClr val="595959"/>
                </a:solidFill>
                <a:latin typeface="微软雅黑" panose="020B0503020204020204" pitchFamily="34" charset="-122"/>
                <a:ea typeface="微软雅黑" panose="020B0503020204020204" pitchFamily="34" charset="-122"/>
              </a:rPr>
              <a:t>6.5.3</a:t>
            </a:r>
            <a:r>
              <a:rPr lang="zh-CN" altLang="en-US" sz="2000" dirty="0">
                <a:solidFill>
                  <a:srgbClr val="595959"/>
                </a:solidFill>
                <a:latin typeface="微软雅黑" panose="020B0503020204020204" pitchFamily="34" charset="-122"/>
                <a:ea typeface="微软雅黑" panose="020B0503020204020204" pitchFamily="34" charset="-122"/>
              </a:rPr>
              <a:t>小节的</a:t>
            </a:r>
            <a:r>
              <a:rPr lang="en-US" altLang="zh-CN" sz="2000" dirty="0">
                <a:solidFill>
                  <a:srgbClr val="595959"/>
                </a:solidFill>
                <a:latin typeface="微软雅黑" panose="020B0503020204020204" pitchFamily="34" charset="-122"/>
                <a:ea typeface="微软雅黑" panose="020B0503020204020204" pitchFamily="34" charset="-122"/>
              </a:rPr>
              <a:t>STEP 04</a:t>
            </a:r>
            <a:r>
              <a:rPr lang="zh-CN" altLang="en-US" sz="2000" dirty="0">
                <a:solidFill>
                  <a:srgbClr val="595959"/>
                </a:solidFill>
                <a:latin typeface="微软雅黑" panose="020B0503020204020204" pitchFamily="34" charset="-122"/>
                <a:ea typeface="微软雅黑" panose="020B0503020204020204" pitchFamily="34" charset="-122"/>
              </a:rPr>
              <a:t>中</a:t>
            </a:r>
            <a:r>
              <a:rPr lang="en-US" altLang="zh-CN" sz="2000" dirty="0">
                <a:solidFill>
                  <a:srgbClr val="1369B2"/>
                </a:solidFill>
                <a:latin typeface="微软雅黑" panose="020B0503020204020204" pitchFamily="34" charset="-122"/>
                <a:ea typeface="微软雅黑" panose="020B0503020204020204" pitchFamily="34" charset="-122"/>
              </a:rPr>
              <a:t>&lt;/</a:t>
            </a:r>
            <a:r>
              <a:rPr lang="en-US" altLang="zh-CN" sz="2000" dirty="0" err="1">
                <a:solidFill>
                  <a:srgbClr val="1369B2"/>
                </a:solidFill>
                <a:latin typeface="微软雅黑" panose="020B0503020204020204" pitchFamily="34" charset="-122"/>
                <a:ea typeface="微软雅黑" panose="020B0503020204020204" pitchFamily="34" charset="-122"/>
              </a:rPr>
              <a:t>ol</a:t>
            </a:r>
            <a:r>
              <a:rPr lang="en-US" altLang="zh-CN" sz="2000" dirty="0">
                <a:solidFill>
                  <a:srgbClr val="1369B2"/>
                </a:solidFill>
                <a:latin typeface="微软雅黑" panose="020B0503020204020204" pitchFamily="34" charset="-122"/>
                <a:ea typeface="微软雅黑" panose="020B0503020204020204" pitchFamily="34" charset="-122"/>
              </a:rPr>
              <a:t>&gt;</a:t>
            </a:r>
            <a:r>
              <a:rPr lang="zh-CN" altLang="en-US" sz="2000" dirty="0">
                <a:solidFill>
                  <a:srgbClr val="595959"/>
                </a:solidFill>
                <a:latin typeface="微软雅黑" panose="020B0503020204020204" pitchFamily="34" charset="-122"/>
                <a:ea typeface="微软雅黑" panose="020B0503020204020204" pitchFamily="34" charset="-122"/>
              </a:rPr>
              <a:t>标签后</a:t>
            </a:r>
            <a:r>
              <a:rPr lang="zh-CN" altLang="en-US"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添加以下代码。</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p:txBody>
      </p:sp>
      <p:sp>
        <p:nvSpPr>
          <p:cNvPr id="12" name="Title 1">
            <a:extLst>
              <a:ext uri="{FF2B5EF4-FFF2-40B4-BE49-F238E27FC236}">
                <a16:creationId xmlns:a16="http://schemas.microsoft.com/office/drawing/2014/main" id="{46267060-9A51-40AA-90A7-AF864CCBDA3C}"/>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6.5.4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实现轮播图左右手动切换效果</a:t>
            </a:r>
          </a:p>
        </p:txBody>
      </p:sp>
    </p:spTree>
    <p:extLst>
      <p:ext uri="{BB962C8B-B14F-4D97-AF65-F5344CB8AC3E}">
        <p14:creationId xmlns:p14="http://schemas.microsoft.com/office/powerpoint/2010/main" val="20881177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02</a:t>
              </a: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143481"/>
            <a:ext cx="7758355" cy="1107996"/>
          </a:xfrm>
          <a:prstGeom prst="rect">
            <a:avLst/>
          </a:prstGeom>
          <a:noFill/>
          <a:ln>
            <a:noFill/>
          </a:ln>
        </p:spPr>
        <p:txBody>
          <a:bodyPr wrap="square" rtlCol="0">
            <a:spAutoFit/>
          </a:bodyPr>
          <a:lstStyle/>
          <a:p>
            <a:pPr lvl="0" defTabSz="457200">
              <a:lnSpc>
                <a:spcPct val="150000"/>
              </a:lnSpc>
              <a:defRPr/>
            </a:pPr>
            <a:r>
              <a:rPr lang="zh-CN" altLang="en-US" b="1" kern="0" dirty="0">
                <a:solidFill>
                  <a:srgbClr val="595959"/>
                </a:solidFill>
                <a:latin typeface="微软雅黑" panose="020B0503020204020204" pitchFamily="34" charset="-122"/>
                <a:ea typeface="微软雅黑" panose="020B0503020204020204" pitchFamily="34" charset="-122"/>
                <a:cs typeface="+mn-ea"/>
                <a:sym typeface="+mn-lt"/>
              </a:rPr>
              <a:t>在浏览器中访问</a:t>
            </a:r>
            <a:r>
              <a:rPr lang="en-US" altLang="zh-CN" b="1" kern="0" dirty="0">
                <a:solidFill>
                  <a:srgbClr val="595959"/>
                </a:solidFill>
                <a:latin typeface="微软雅黑" panose="020B0503020204020204" pitchFamily="34" charset="-122"/>
                <a:ea typeface="微软雅黑" panose="020B0503020204020204" pitchFamily="34" charset="-122"/>
                <a:cs typeface="+mn-ea"/>
                <a:sym typeface="+mn-lt"/>
              </a:rPr>
              <a:t>demo13.html</a:t>
            </a: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轮播图</a:t>
            </a:r>
            <a:r>
              <a:rPr lang="zh-CN" altLang="en-US" sz="2000" dirty="0">
                <a:solidFill>
                  <a:srgbClr val="1369B2"/>
                </a:solidFill>
                <a:latin typeface="微软雅黑" panose="020B0503020204020204" pitchFamily="34" charset="-122"/>
                <a:ea typeface="微软雅黑" panose="020B0503020204020204" pitchFamily="34" charset="-122"/>
              </a:rPr>
              <a:t>左右手动切换</a:t>
            </a:r>
            <a:r>
              <a:rPr lang="zh-CN" altLang="en-US" sz="2000" dirty="0">
                <a:solidFill>
                  <a:srgbClr val="595959"/>
                </a:solidFill>
                <a:latin typeface="微软雅黑" panose="020B0503020204020204" pitchFamily="34" charset="-122"/>
                <a:ea typeface="微软雅黑" panose="020B0503020204020204" pitchFamily="34" charset="-122"/>
              </a:rPr>
              <a:t>页面效果如图</a:t>
            </a:r>
            <a:r>
              <a:rPr lang="zh-CN" altLang="en-US"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p:txBody>
      </p:sp>
      <p:sp>
        <p:nvSpPr>
          <p:cNvPr id="12" name="Title 1">
            <a:extLst>
              <a:ext uri="{FF2B5EF4-FFF2-40B4-BE49-F238E27FC236}">
                <a16:creationId xmlns:a16="http://schemas.microsoft.com/office/drawing/2014/main" id="{46267060-9A51-40AA-90A7-AF864CCBDA3C}"/>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6.5.4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实现轮播图左右手动切换效果</a:t>
            </a:r>
          </a:p>
        </p:txBody>
      </p:sp>
      <p:pic>
        <p:nvPicPr>
          <p:cNvPr id="11" name="Picture 2">
            <a:extLst>
              <a:ext uri="{FF2B5EF4-FFF2-40B4-BE49-F238E27FC236}">
                <a16:creationId xmlns:a16="http://schemas.microsoft.com/office/drawing/2014/main" id="{D0E99B02-A54B-484B-92C2-44ED030648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6894" y="2547721"/>
            <a:ext cx="5540994" cy="2230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16084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A22F1E4-39AE-424B-B19B-3301952C7205}"/>
              </a:ext>
            </a:extLst>
          </p:cNvPr>
          <p:cNvSpPr txBox="1"/>
          <p:nvPr/>
        </p:nvSpPr>
        <p:spPr>
          <a:xfrm>
            <a:off x="1054646" y="2493690"/>
            <a:ext cx="10441160" cy="3046988"/>
          </a:xfrm>
          <a:prstGeom prst="rect">
            <a:avLst/>
          </a:prstGeom>
          <a:solidFill>
            <a:srgbClr val="F2F2F2"/>
          </a:solidFill>
        </p:spPr>
        <p:txBody>
          <a:bodyPr wrap="square">
            <a:spAutoFit/>
          </a:bodyPr>
          <a:lstStyle/>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查看上一张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&lt;a class="carousel-control-</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prev</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carouselExampleIndicators</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role="button" </a:t>
            </a:r>
            <a:r>
              <a:rPr lang="en-US" altLang="zh-CN" sz="1600" dirty="0">
                <a:solidFill>
                  <a:srgbClr val="1369B2"/>
                </a:solidFill>
                <a:latin typeface="微软雅黑" panose="020B0503020204020204" pitchFamily="34" charset="-122"/>
                <a:ea typeface="微软雅黑" panose="020B0503020204020204" pitchFamily="34" charset="-122"/>
                <a:cs typeface="Courier New" panose="02070609020205090404" pitchFamily="49" charset="0"/>
              </a:rPr>
              <a:t>data-slide="</a:t>
            </a:r>
            <a:r>
              <a:rPr lang="en-US" altLang="zh-CN" sz="1600" dirty="0" err="1">
                <a:solidFill>
                  <a:srgbClr val="1369B2"/>
                </a:solidFill>
                <a:latin typeface="微软雅黑" panose="020B0503020204020204" pitchFamily="34" charset="-122"/>
                <a:ea typeface="微软雅黑" panose="020B0503020204020204" pitchFamily="34" charset="-122"/>
                <a:cs typeface="Courier New" panose="02070609020205090404" pitchFamily="49" charset="0"/>
              </a:rPr>
              <a:t>prev</a:t>
            </a:r>
            <a:r>
              <a:rPr lang="en-US" altLang="zh-CN" sz="1600" dirty="0">
                <a:solidFill>
                  <a:srgbClr val="1369B2"/>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&lt;span class="carousel-control-</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prev</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-icon"&gt;&lt;/span&gt;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&lt;/a&gt;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查看下一张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&lt;a class="carousel-control-next"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carouselExampleIndicators</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role="button" </a:t>
            </a:r>
            <a:r>
              <a:rPr lang="en-US" altLang="zh-CN" sz="1600" dirty="0">
                <a:solidFill>
                  <a:srgbClr val="1369B2"/>
                </a:solidFill>
                <a:latin typeface="微软雅黑" panose="020B0503020204020204" pitchFamily="34" charset="-122"/>
                <a:ea typeface="微软雅黑" panose="020B0503020204020204" pitchFamily="34" charset="-122"/>
                <a:cs typeface="Courier New" panose="02070609020205090404" pitchFamily="49" charset="0"/>
              </a:rPr>
              <a:t>data-slide="next"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&lt;span class="carousel-control-next-icon"&gt;&lt;/span&gt;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&lt;/a&gt;</a:t>
            </a:r>
          </a:p>
        </p:txBody>
      </p:sp>
      <p:grpSp>
        <p:nvGrpSpPr>
          <p:cNvPr id="6" name="组合 5">
            <a:extLst>
              <a:ext uri="{FF2B5EF4-FFF2-40B4-BE49-F238E27FC236}">
                <a16:creationId xmlns:a16="http://schemas.microsoft.com/office/drawing/2014/main" id="{63A947EF-B263-44CD-8476-1C14446A3367}"/>
              </a:ext>
            </a:extLst>
          </p:cNvPr>
          <p:cNvGrpSpPr/>
          <p:nvPr/>
        </p:nvGrpSpPr>
        <p:grpSpPr>
          <a:xfrm>
            <a:off x="1143690" y="1152646"/>
            <a:ext cx="1747943" cy="773218"/>
            <a:chOff x="961390" y="2294944"/>
            <a:chExt cx="1747943" cy="773218"/>
          </a:xfrm>
        </p:grpSpPr>
        <p:sp>
          <p:nvSpPr>
            <p:cNvPr id="8" name="圆角矩形 4">
              <a:extLst>
                <a:ext uri="{FF2B5EF4-FFF2-40B4-BE49-F238E27FC236}">
                  <a16:creationId xmlns:a16="http://schemas.microsoft.com/office/drawing/2014/main" id="{3B3331F9-0C20-4295-895F-6E63A8E5618E}"/>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6BC98780-0C61-4BC3-95EC-BA209BDE25AB}"/>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03</a:t>
              </a:r>
            </a:p>
          </p:txBody>
        </p:sp>
      </p:grpSp>
      <p:sp>
        <p:nvSpPr>
          <p:cNvPr id="10" name="1">
            <a:extLst>
              <a:ext uri="{FF2B5EF4-FFF2-40B4-BE49-F238E27FC236}">
                <a16:creationId xmlns:a16="http://schemas.microsoft.com/office/drawing/2014/main" id="{9036E10D-E2A5-4E99-982C-41329977732D}"/>
              </a:ext>
            </a:extLst>
          </p:cNvPr>
          <p:cNvSpPr txBox="1"/>
          <p:nvPr>
            <p:custDataLst>
              <p:tags r:id="rId1"/>
            </p:custDataLst>
          </p:nvPr>
        </p:nvSpPr>
        <p:spPr>
          <a:xfrm>
            <a:off x="3017371" y="1143481"/>
            <a:ext cx="8550443" cy="1107996"/>
          </a:xfrm>
          <a:prstGeom prst="rect">
            <a:avLst/>
          </a:prstGeom>
          <a:noFill/>
          <a:ln>
            <a:noFill/>
          </a:ln>
        </p:spPr>
        <p:txBody>
          <a:bodyPr wrap="square" rtlCol="0">
            <a:spAutoFit/>
          </a:bodyPr>
          <a:lstStyle/>
          <a:p>
            <a:pPr lvl="0" defTabSz="457200">
              <a:lnSpc>
                <a:spcPct val="150000"/>
              </a:lnSpc>
              <a:defRPr/>
            </a:pPr>
            <a:r>
              <a:rPr lang="zh-CN" altLang="en-US" b="1" kern="0" dirty="0">
                <a:solidFill>
                  <a:srgbClr val="595959"/>
                </a:solidFill>
                <a:latin typeface="微软雅黑" panose="020B0503020204020204" pitchFamily="34" charset="-122"/>
                <a:ea typeface="微软雅黑" panose="020B0503020204020204" pitchFamily="34" charset="-122"/>
                <a:cs typeface="+mn-ea"/>
                <a:sym typeface="+mn-lt"/>
              </a:rPr>
              <a:t>刷新浏览器，自行查看手动切换效果</a:t>
            </a:r>
            <a:endParaRPr lang="en-US" altLang="zh-CN" b="1" kern="0" dirty="0">
              <a:solidFill>
                <a:srgbClr val="595959"/>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修改</a:t>
            </a:r>
            <a:r>
              <a:rPr lang="en-US" altLang="zh-CN" sz="2000" dirty="0">
                <a:solidFill>
                  <a:srgbClr val="595959"/>
                </a:solidFill>
                <a:latin typeface="微软雅黑" panose="020B0503020204020204" pitchFamily="34" charset="-122"/>
                <a:ea typeface="微软雅黑" panose="020B0503020204020204" pitchFamily="34" charset="-122"/>
              </a:rPr>
              <a:t>STEP 01</a:t>
            </a:r>
            <a:r>
              <a:rPr lang="zh-CN" altLang="en-US" sz="2000" dirty="0">
                <a:solidFill>
                  <a:srgbClr val="595959"/>
                </a:solidFill>
                <a:latin typeface="微软雅黑" panose="020B0503020204020204" pitchFamily="34" charset="-122"/>
                <a:ea typeface="微软雅黑" panose="020B0503020204020204" pitchFamily="34" charset="-122"/>
              </a:rPr>
              <a:t>中的代码，使用</a:t>
            </a:r>
            <a:r>
              <a:rPr lang="en-US" altLang="zh-CN" sz="2000" dirty="0">
                <a:solidFill>
                  <a:srgbClr val="1369B2"/>
                </a:solidFill>
                <a:latin typeface="微软雅黑" panose="020B0503020204020204" pitchFamily="34" charset="-122"/>
                <a:ea typeface="微软雅黑" panose="020B0503020204020204" pitchFamily="34" charset="-122"/>
              </a:rPr>
              <a:t>data-slide</a:t>
            </a:r>
            <a:r>
              <a:rPr lang="zh-CN" altLang="en-US" sz="2000" dirty="0">
                <a:solidFill>
                  <a:srgbClr val="1369B2"/>
                </a:solidFill>
                <a:latin typeface="微软雅黑" panose="020B0503020204020204" pitchFamily="34" charset="-122"/>
                <a:ea typeface="微软雅黑" panose="020B0503020204020204" pitchFamily="34" charset="-122"/>
              </a:rPr>
              <a:t>属性</a:t>
            </a:r>
            <a:r>
              <a:rPr lang="zh-CN" altLang="en-US" sz="2000" dirty="0">
                <a:solidFill>
                  <a:srgbClr val="595959"/>
                </a:solidFill>
                <a:latin typeface="微软雅黑" panose="020B0503020204020204" pitchFamily="34" charset="-122"/>
                <a:ea typeface="微软雅黑" panose="020B0503020204020204" pitchFamily="34" charset="-122"/>
              </a:rPr>
              <a:t>控制</a:t>
            </a:r>
            <a:r>
              <a:rPr lang="zh-CN" altLang="en-US" sz="2000" dirty="0">
                <a:solidFill>
                  <a:srgbClr val="1369B2"/>
                </a:solidFill>
                <a:latin typeface="微软雅黑" panose="020B0503020204020204" pitchFamily="34" charset="-122"/>
                <a:ea typeface="微软雅黑" panose="020B0503020204020204" pitchFamily="34" charset="-122"/>
              </a:rPr>
              <a:t>轮播</a:t>
            </a:r>
            <a:r>
              <a:rPr lang="zh-CN" altLang="en-US" sz="2000" dirty="0" smtClean="0">
                <a:solidFill>
                  <a:srgbClr val="1369B2"/>
                </a:solidFill>
                <a:latin typeface="微软雅黑" panose="020B0503020204020204" pitchFamily="34" charset="-122"/>
                <a:ea typeface="微软雅黑" panose="020B0503020204020204" pitchFamily="34" charset="-122"/>
              </a:rPr>
              <a:t>图切换</a:t>
            </a:r>
            <a:r>
              <a:rPr lang="zh-CN" altLang="en-US" sz="2000" dirty="0" smtClean="0">
                <a:solidFill>
                  <a:srgbClr val="595959"/>
                </a:solidFill>
                <a:latin typeface="微软雅黑" panose="020B0503020204020204" pitchFamily="34" charset="-122"/>
                <a:ea typeface="微软雅黑" panose="020B0503020204020204" pitchFamily="34" charset="-122"/>
              </a:rPr>
              <a:t>。</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p:txBody>
      </p:sp>
      <p:sp>
        <p:nvSpPr>
          <p:cNvPr id="12" name="Title 1">
            <a:extLst>
              <a:ext uri="{FF2B5EF4-FFF2-40B4-BE49-F238E27FC236}">
                <a16:creationId xmlns:a16="http://schemas.microsoft.com/office/drawing/2014/main" id="{46267060-9A51-40AA-90A7-AF864CCBDA3C}"/>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6.5.4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实现轮播图左右手动切换效果</a:t>
            </a:r>
          </a:p>
        </p:txBody>
      </p:sp>
    </p:spTree>
    <p:extLst>
      <p:ext uri="{BB962C8B-B14F-4D97-AF65-F5344CB8AC3E}">
        <p14:creationId xmlns:p14="http://schemas.microsoft.com/office/powerpoint/2010/main" val="33314730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46267060-9A51-40AA-90A7-AF864CCBDA3C}"/>
              </a:ext>
            </a:extLst>
          </p:cNvPr>
          <p:cNvSpPr txBox="1"/>
          <p:nvPr/>
        </p:nvSpPr>
        <p:spPr>
          <a:xfrm>
            <a:off x="1143690" y="266995"/>
            <a:ext cx="5239548"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本章小结</a:t>
            </a:r>
          </a:p>
        </p:txBody>
      </p:sp>
      <p:sp>
        <p:nvSpPr>
          <p:cNvPr id="4" name="圆角矩形 26">
            <a:extLst>
              <a:ext uri="{FF2B5EF4-FFF2-40B4-BE49-F238E27FC236}">
                <a16:creationId xmlns:a16="http://schemas.microsoft.com/office/drawing/2014/main" id="{FB40132D-FEA4-4137-839F-407CBE609B3F}"/>
              </a:ext>
            </a:extLst>
          </p:cNvPr>
          <p:cNvSpPr/>
          <p:nvPr/>
        </p:nvSpPr>
        <p:spPr>
          <a:xfrm>
            <a:off x="1198880" y="2170424"/>
            <a:ext cx="9794240" cy="2771538"/>
          </a:xfrm>
          <a:prstGeom prst="roundRect">
            <a:avLst>
              <a:gd name="adj" fmla="val 0"/>
            </a:avLst>
          </a:prstGeom>
          <a:noFill/>
          <a:ln w="3175">
            <a:solidFill>
              <a:schemeClr val="tx1">
                <a:lumMod val="75000"/>
                <a:lumOff val="2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sym typeface="+mn-lt"/>
            </a:endParaRPr>
          </a:p>
        </p:txBody>
      </p:sp>
      <p:sp>
        <p:nvSpPr>
          <p:cNvPr id="5" name="TextBox 38">
            <a:extLst>
              <a:ext uri="{FF2B5EF4-FFF2-40B4-BE49-F238E27FC236}">
                <a16:creationId xmlns:a16="http://schemas.microsoft.com/office/drawing/2014/main" id="{814CCD3C-575E-4C15-89E6-3D4FA5A051F1}"/>
              </a:ext>
            </a:extLst>
          </p:cNvPr>
          <p:cNvSpPr txBox="1"/>
          <p:nvPr/>
        </p:nvSpPr>
        <p:spPr>
          <a:xfrm>
            <a:off x="1558702" y="2760020"/>
            <a:ext cx="9001000" cy="1792286"/>
          </a:xfrm>
          <a:prstGeom prst="rect">
            <a:avLst/>
          </a:prstGeom>
          <a:noFill/>
        </p:spPr>
        <p:txBody>
          <a:bodyPr wrap="square" lIns="0" tIns="0" rIns="0" bIns="0" rtlCol="0">
            <a:spAutoFit/>
          </a:bodyPr>
          <a:lstStyle/>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cs typeface="+mn-ea"/>
              </a:rPr>
              <a:t>本章</a:t>
            </a:r>
            <a:r>
              <a:rPr lang="zh-CN" altLang="en-US" sz="2000" dirty="0">
                <a:solidFill>
                  <a:srgbClr val="595959"/>
                </a:solidFill>
                <a:latin typeface="微软雅黑" panose="020B0503020204020204" pitchFamily="34" charset="-122"/>
                <a:ea typeface="微软雅黑" panose="020B0503020204020204" pitchFamily="34" charset="-122"/>
                <a:cs typeface="+mn-ea"/>
              </a:rPr>
              <a:t>主要讲解了</a:t>
            </a:r>
            <a:r>
              <a:rPr lang="zh-CN" altLang="en-US" sz="2000" dirty="0">
                <a:solidFill>
                  <a:srgbClr val="1369B2"/>
                </a:solidFill>
                <a:latin typeface="微软雅黑" panose="020B0503020204020204" pitchFamily="34" charset="-122"/>
                <a:ea typeface="微软雅黑" panose="020B0503020204020204" pitchFamily="34" charset="-122"/>
                <a:cs typeface="+mn-ea"/>
              </a:rPr>
              <a:t>如何使用</a:t>
            </a:r>
            <a:r>
              <a:rPr lang="en-US" altLang="zh-CN" sz="2000" dirty="0">
                <a:solidFill>
                  <a:srgbClr val="1369B2"/>
                </a:solidFill>
                <a:latin typeface="微软雅黑" panose="020B0503020204020204" pitchFamily="34" charset="-122"/>
                <a:ea typeface="微软雅黑" panose="020B0503020204020204" pitchFamily="34" charset="-122"/>
                <a:cs typeface="+mn-ea"/>
              </a:rPr>
              <a:t>Bootstrap</a:t>
            </a:r>
            <a:r>
              <a:rPr lang="zh-CN" altLang="en-US" sz="2000" dirty="0">
                <a:solidFill>
                  <a:srgbClr val="1369B2"/>
                </a:solidFill>
                <a:latin typeface="微软雅黑" panose="020B0503020204020204" pitchFamily="34" charset="-122"/>
                <a:ea typeface="微软雅黑" panose="020B0503020204020204" pitchFamily="34" charset="-122"/>
                <a:cs typeface="+mn-ea"/>
              </a:rPr>
              <a:t>常用组件</a:t>
            </a:r>
            <a:r>
              <a:rPr lang="zh-CN" altLang="en-US" sz="2000" dirty="0">
                <a:solidFill>
                  <a:srgbClr val="595959"/>
                </a:solidFill>
                <a:latin typeface="微软雅黑" panose="020B0503020204020204" pitchFamily="34" charset="-122"/>
                <a:ea typeface="微软雅黑" panose="020B0503020204020204" pitchFamily="34" charset="-122"/>
                <a:cs typeface="+mn-ea"/>
              </a:rPr>
              <a:t>实现页面中的</a:t>
            </a:r>
            <a:r>
              <a:rPr lang="zh-CN" altLang="en-US" sz="2000" dirty="0">
                <a:solidFill>
                  <a:srgbClr val="1369B2"/>
                </a:solidFill>
                <a:latin typeface="微软雅黑" panose="020B0503020204020204" pitchFamily="34" charset="-122"/>
                <a:ea typeface="微软雅黑" panose="020B0503020204020204" pitchFamily="34" charset="-122"/>
                <a:cs typeface="+mn-ea"/>
              </a:rPr>
              <a:t>导航</a:t>
            </a:r>
            <a:r>
              <a:rPr lang="zh-CN" altLang="en-US" sz="2000" dirty="0">
                <a:solidFill>
                  <a:srgbClr val="595959"/>
                </a:solidFill>
                <a:latin typeface="微软雅黑" panose="020B0503020204020204" pitchFamily="34" charset="-122"/>
                <a:ea typeface="微软雅黑" panose="020B0503020204020204" pitchFamily="34" charset="-122"/>
                <a:cs typeface="+mn-ea"/>
              </a:rPr>
              <a:t>、</a:t>
            </a:r>
            <a:r>
              <a:rPr lang="zh-CN" altLang="en-US" sz="2000" dirty="0">
                <a:solidFill>
                  <a:srgbClr val="1369B2"/>
                </a:solidFill>
                <a:latin typeface="微软雅黑" panose="020B0503020204020204" pitchFamily="34" charset="-122"/>
                <a:ea typeface="微软雅黑" panose="020B0503020204020204" pitchFamily="34" charset="-122"/>
                <a:cs typeface="+mn-ea"/>
              </a:rPr>
              <a:t>导航栏</a:t>
            </a:r>
            <a:r>
              <a:rPr lang="zh-CN" altLang="en-US" sz="2000" dirty="0">
                <a:solidFill>
                  <a:srgbClr val="595959"/>
                </a:solidFill>
                <a:latin typeface="微软雅黑" panose="020B0503020204020204" pitchFamily="34" charset="-122"/>
                <a:ea typeface="微软雅黑" panose="020B0503020204020204" pitchFamily="34" charset="-122"/>
                <a:cs typeface="+mn-ea"/>
              </a:rPr>
              <a:t>、</a:t>
            </a:r>
            <a:r>
              <a:rPr lang="zh-CN" altLang="en-US" sz="2000" dirty="0">
                <a:solidFill>
                  <a:srgbClr val="1369B2"/>
                </a:solidFill>
                <a:latin typeface="微软雅黑" panose="020B0503020204020204" pitchFamily="34" charset="-122"/>
                <a:ea typeface="微软雅黑" panose="020B0503020204020204" pitchFamily="34" charset="-122"/>
                <a:cs typeface="+mn-ea"/>
              </a:rPr>
              <a:t>表单</a:t>
            </a:r>
            <a:r>
              <a:rPr lang="zh-CN" altLang="en-US" sz="2000" dirty="0">
                <a:solidFill>
                  <a:srgbClr val="595959"/>
                </a:solidFill>
                <a:latin typeface="微软雅黑" panose="020B0503020204020204" pitchFamily="34" charset="-122"/>
                <a:ea typeface="微软雅黑" panose="020B0503020204020204" pitchFamily="34" charset="-122"/>
                <a:cs typeface="+mn-ea"/>
              </a:rPr>
              <a:t>、</a:t>
            </a:r>
            <a:r>
              <a:rPr lang="zh-CN" altLang="en-US" sz="2000" dirty="0">
                <a:solidFill>
                  <a:srgbClr val="1369B2"/>
                </a:solidFill>
                <a:latin typeface="微软雅黑" panose="020B0503020204020204" pitchFamily="34" charset="-122"/>
                <a:ea typeface="微软雅黑" panose="020B0503020204020204" pitchFamily="34" charset="-122"/>
                <a:cs typeface="+mn-ea"/>
              </a:rPr>
              <a:t>按钮</a:t>
            </a:r>
            <a:r>
              <a:rPr lang="zh-CN" altLang="en-US" sz="2000" dirty="0">
                <a:solidFill>
                  <a:srgbClr val="595959"/>
                </a:solidFill>
                <a:latin typeface="微软雅黑" panose="020B0503020204020204" pitchFamily="34" charset="-122"/>
                <a:ea typeface="微软雅黑" panose="020B0503020204020204" pitchFamily="34" charset="-122"/>
                <a:cs typeface="+mn-ea"/>
              </a:rPr>
              <a:t>等页面效果。最后，重点讲解了</a:t>
            </a:r>
            <a:r>
              <a:rPr lang="zh-CN" altLang="en-US" sz="2000" dirty="0">
                <a:solidFill>
                  <a:srgbClr val="1369B2"/>
                </a:solidFill>
                <a:latin typeface="微软雅黑" panose="020B0503020204020204" pitchFamily="34" charset="-122"/>
                <a:ea typeface="微软雅黑" panose="020B0503020204020204" pitchFamily="34" charset="-122"/>
                <a:cs typeface="+mn-ea"/>
              </a:rPr>
              <a:t>什么是轮播图</a:t>
            </a:r>
            <a:r>
              <a:rPr lang="zh-CN" altLang="en-US" sz="2000" dirty="0">
                <a:solidFill>
                  <a:srgbClr val="595959"/>
                </a:solidFill>
                <a:latin typeface="微软雅黑" panose="020B0503020204020204" pitchFamily="34" charset="-122"/>
                <a:ea typeface="微软雅黑" panose="020B0503020204020204" pitchFamily="34" charset="-122"/>
                <a:cs typeface="+mn-ea"/>
              </a:rPr>
              <a:t>以及</a:t>
            </a:r>
            <a:r>
              <a:rPr lang="zh-CN" altLang="en-US" sz="2000" dirty="0">
                <a:solidFill>
                  <a:srgbClr val="1369B2"/>
                </a:solidFill>
                <a:latin typeface="微软雅黑" panose="020B0503020204020204" pitchFamily="34" charset="-122"/>
                <a:ea typeface="微软雅黑" panose="020B0503020204020204" pitchFamily="34" charset="-122"/>
                <a:cs typeface="+mn-ea"/>
              </a:rPr>
              <a:t>如何</a:t>
            </a:r>
            <a:r>
              <a:rPr lang="zh-CN" altLang="en-US" sz="2000" dirty="0">
                <a:solidFill>
                  <a:srgbClr val="595959"/>
                </a:solidFill>
                <a:latin typeface="微软雅黑" panose="020B0503020204020204" pitchFamily="34" charset="-122"/>
                <a:ea typeface="微软雅黑" panose="020B0503020204020204" pitchFamily="34" charset="-122"/>
                <a:cs typeface="+mn-ea"/>
              </a:rPr>
              <a:t>使用</a:t>
            </a:r>
            <a:r>
              <a:rPr lang="en-US" altLang="zh-CN" sz="2000" dirty="0">
                <a:solidFill>
                  <a:srgbClr val="595959"/>
                </a:solidFill>
                <a:latin typeface="微软雅黑" panose="020B0503020204020204" pitchFamily="34" charset="-122"/>
                <a:ea typeface="微软雅黑" panose="020B0503020204020204" pitchFamily="34" charset="-122"/>
                <a:cs typeface="+mn-ea"/>
              </a:rPr>
              <a:t>Bootstrap</a:t>
            </a:r>
            <a:r>
              <a:rPr lang="zh-CN" altLang="en-US" sz="2000" dirty="0">
                <a:solidFill>
                  <a:srgbClr val="595959"/>
                </a:solidFill>
                <a:latin typeface="微软雅黑" panose="020B0503020204020204" pitchFamily="34" charset="-122"/>
                <a:ea typeface="微软雅黑" panose="020B0503020204020204" pitchFamily="34" charset="-122"/>
                <a:cs typeface="+mn-ea"/>
              </a:rPr>
              <a:t>常用组件来</a:t>
            </a:r>
            <a:r>
              <a:rPr lang="zh-CN" altLang="en-US" sz="2000" dirty="0">
                <a:solidFill>
                  <a:srgbClr val="1369B2"/>
                </a:solidFill>
                <a:latin typeface="微软雅黑" panose="020B0503020204020204" pitchFamily="34" charset="-122"/>
                <a:ea typeface="微软雅黑" panose="020B0503020204020204" pitchFamily="34" charset="-122"/>
                <a:cs typeface="+mn-ea"/>
              </a:rPr>
              <a:t>实现页面中的轮播图效果</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。通过</a:t>
            </a:r>
            <a:r>
              <a:rPr lang="zh-CN" altLang="en-US" sz="2000" dirty="0">
                <a:solidFill>
                  <a:srgbClr val="595959"/>
                </a:solidFill>
                <a:latin typeface="微软雅黑" panose="020B0503020204020204" pitchFamily="34" charset="-122"/>
                <a:ea typeface="微软雅黑" panose="020B0503020204020204" pitchFamily="34" charset="-122"/>
                <a:cs typeface="+mn-ea"/>
              </a:rPr>
              <a:t>学习本章内容，希望读者能够使用</a:t>
            </a:r>
            <a:r>
              <a:rPr lang="en-US" altLang="zh-CN" sz="2000" dirty="0">
                <a:solidFill>
                  <a:srgbClr val="595959"/>
                </a:solidFill>
                <a:latin typeface="微软雅黑" panose="020B0503020204020204" pitchFamily="34" charset="-122"/>
                <a:ea typeface="微软雅黑" panose="020B0503020204020204" pitchFamily="34" charset="-122"/>
                <a:cs typeface="+mn-ea"/>
              </a:rPr>
              <a:t>Bootstrap</a:t>
            </a:r>
            <a:r>
              <a:rPr lang="zh-CN" altLang="en-US" sz="2000" dirty="0">
                <a:solidFill>
                  <a:srgbClr val="595959"/>
                </a:solidFill>
                <a:latin typeface="微软雅黑" panose="020B0503020204020204" pitchFamily="34" charset="-122"/>
                <a:ea typeface="微软雅黑" panose="020B0503020204020204" pitchFamily="34" charset="-122"/>
                <a:cs typeface="+mn-ea"/>
              </a:rPr>
              <a:t>提供的组件完成页面的制作</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6" name="椭圆 5">
            <a:extLst>
              <a:ext uri="{FF2B5EF4-FFF2-40B4-BE49-F238E27FC236}">
                <a16:creationId xmlns:a16="http://schemas.microsoft.com/office/drawing/2014/main" id="{12D02CBD-122C-4126-9C27-9F5A42D82327}"/>
              </a:ext>
            </a:extLst>
          </p:cNvPr>
          <p:cNvSpPr/>
          <p:nvPr/>
        </p:nvSpPr>
        <p:spPr>
          <a:xfrm>
            <a:off x="4420235" y="1761484"/>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latin typeface="微软雅黑" panose="020B0503020204020204" pitchFamily="34" charset="-122"/>
                <a:ea typeface="微软雅黑" panose="020B0503020204020204" pitchFamily="34" charset="-122"/>
              </a:rPr>
              <a:t>本</a:t>
            </a:r>
          </a:p>
        </p:txBody>
      </p:sp>
      <p:sp>
        <p:nvSpPr>
          <p:cNvPr id="7" name="椭圆 6">
            <a:extLst>
              <a:ext uri="{FF2B5EF4-FFF2-40B4-BE49-F238E27FC236}">
                <a16:creationId xmlns:a16="http://schemas.microsoft.com/office/drawing/2014/main" id="{248D732B-AEB5-4AF0-80CB-E49986E102F7}"/>
              </a:ext>
            </a:extLst>
          </p:cNvPr>
          <p:cNvSpPr/>
          <p:nvPr/>
        </p:nvSpPr>
        <p:spPr>
          <a:xfrm>
            <a:off x="5139055" y="1761484"/>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latin typeface="微软雅黑" panose="020B0503020204020204" pitchFamily="34" charset="-122"/>
                <a:ea typeface="微软雅黑" panose="020B0503020204020204" pitchFamily="34" charset="-122"/>
                <a:sym typeface="+mn-ea"/>
              </a:rPr>
              <a:t>章</a:t>
            </a:r>
          </a:p>
        </p:txBody>
      </p:sp>
      <p:sp>
        <p:nvSpPr>
          <p:cNvPr id="8" name="椭圆 7">
            <a:extLst>
              <a:ext uri="{FF2B5EF4-FFF2-40B4-BE49-F238E27FC236}">
                <a16:creationId xmlns:a16="http://schemas.microsoft.com/office/drawing/2014/main" id="{B0611DBD-A63B-4039-A64B-C5315892C467}"/>
              </a:ext>
            </a:extLst>
          </p:cNvPr>
          <p:cNvSpPr/>
          <p:nvPr/>
        </p:nvSpPr>
        <p:spPr>
          <a:xfrm>
            <a:off x="5857875" y="1761484"/>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latin typeface="微软雅黑" panose="020B0503020204020204" pitchFamily="34" charset="-122"/>
                <a:ea typeface="微软雅黑" panose="020B0503020204020204" pitchFamily="34" charset="-122"/>
                <a:sym typeface="+mn-ea"/>
              </a:rPr>
              <a:t>小</a:t>
            </a:r>
          </a:p>
        </p:txBody>
      </p:sp>
      <p:sp>
        <p:nvSpPr>
          <p:cNvPr id="9" name="椭圆 8">
            <a:extLst>
              <a:ext uri="{FF2B5EF4-FFF2-40B4-BE49-F238E27FC236}">
                <a16:creationId xmlns:a16="http://schemas.microsoft.com/office/drawing/2014/main" id="{7CAB7274-D61E-48A3-90F6-2DA430D6E3B7}"/>
              </a:ext>
            </a:extLst>
          </p:cNvPr>
          <p:cNvSpPr/>
          <p:nvPr/>
        </p:nvSpPr>
        <p:spPr>
          <a:xfrm>
            <a:off x="6576695" y="1761484"/>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latin typeface="微软雅黑" panose="020B0503020204020204" pitchFamily="34" charset="-122"/>
                <a:ea typeface="微软雅黑" panose="020B0503020204020204" pitchFamily="34" charset="-122"/>
                <a:sym typeface="+mn-ea"/>
              </a:rPr>
              <a:t>结</a:t>
            </a:r>
          </a:p>
        </p:txBody>
      </p:sp>
    </p:spTree>
    <p:extLst>
      <p:ext uri="{BB962C8B-B14F-4D97-AF65-F5344CB8AC3E}">
        <p14:creationId xmlns:p14="http://schemas.microsoft.com/office/powerpoint/2010/main" val="4889007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2.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3.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4.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5.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6.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7.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8.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9.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10.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11.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12.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13.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14.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15.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16.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17.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18.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19.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20.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21.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22.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23.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24.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25.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26.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27.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28.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29.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30.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31.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32.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33.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34.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35.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36.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37.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38.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39.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40.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41.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42.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43.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44.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45.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46.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47.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48.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49.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50.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51.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52.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53.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54.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55.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56.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57.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58.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59.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60.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61.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62.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63.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64.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65.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66.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67.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68.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8446</TotalTime>
  <Words>10939</Words>
  <Application>Microsoft Office PowerPoint</Application>
  <PresentationFormat>自定义</PresentationFormat>
  <Paragraphs>1099</Paragraphs>
  <Slides>141</Slides>
  <Notes>53</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141</vt:i4>
      </vt:variant>
    </vt:vector>
  </HeadingPairs>
  <TitlesOfParts>
    <vt:vector size="155" baseType="lpstr">
      <vt:lpstr>Source Han Sans K Bold</vt:lpstr>
      <vt:lpstr>思源黑体 CN Medium</vt:lpstr>
      <vt:lpstr>思源黑体 CN Regular</vt:lpstr>
      <vt:lpstr>宋体</vt:lpstr>
      <vt:lpstr>微软雅黑</vt:lpstr>
      <vt:lpstr>字魂105号-简雅黑</vt:lpstr>
      <vt:lpstr>字魂58号-创中黑</vt:lpstr>
      <vt:lpstr>Arial</vt:lpstr>
      <vt:lpstr>Calibri</vt:lpstr>
      <vt:lpstr>Courier New</vt:lpstr>
      <vt:lpstr>Impact</vt:lpstr>
      <vt:lpstr>Wingdings</vt:lpstr>
      <vt:lpstr>webwppDefTheme</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蓝白商务述职报告工作总结ppt模板</dc:title>
  <dc:creator>常董</dc:creator>
  <cp:lastModifiedBy>Windows 用户</cp:lastModifiedBy>
  <cp:revision>2878</cp:revision>
  <dcterms:created xsi:type="dcterms:W3CDTF">2020-11-09T06:56:00Z</dcterms:created>
  <dcterms:modified xsi:type="dcterms:W3CDTF">2026-07-22T13:16:03Z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2052-11.1.0.10072</vt:lpwstr>
  </property>
</Properties>
</file>