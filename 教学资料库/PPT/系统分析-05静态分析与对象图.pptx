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36"/>
  </p:notesMasterIdLst>
  <p:handoutMasterIdLst>
    <p:handoutMasterId r:id="rId37"/>
  </p:handoutMasterIdLst>
  <p:sldIdLst>
    <p:sldId id="368" r:id="rId2"/>
    <p:sldId id="369" r:id="rId3"/>
    <p:sldId id="371" r:id="rId4"/>
    <p:sldId id="295" r:id="rId5"/>
    <p:sldId id="374" r:id="rId6"/>
    <p:sldId id="376" r:id="rId7"/>
    <p:sldId id="378" r:id="rId8"/>
    <p:sldId id="379" r:id="rId9"/>
    <p:sldId id="380" r:id="rId10"/>
    <p:sldId id="381" r:id="rId11"/>
    <p:sldId id="382" r:id="rId12"/>
    <p:sldId id="383" r:id="rId13"/>
    <p:sldId id="384" r:id="rId14"/>
    <p:sldId id="385" r:id="rId15"/>
    <p:sldId id="386" r:id="rId16"/>
    <p:sldId id="387" r:id="rId17"/>
    <p:sldId id="388" r:id="rId18"/>
    <p:sldId id="389" r:id="rId19"/>
    <p:sldId id="391" r:id="rId20"/>
    <p:sldId id="392" r:id="rId21"/>
    <p:sldId id="393" r:id="rId22"/>
    <p:sldId id="394" r:id="rId23"/>
    <p:sldId id="396" r:id="rId24"/>
    <p:sldId id="398" r:id="rId25"/>
    <p:sldId id="399" r:id="rId26"/>
    <p:sldId id="400" r:id="rId27"/>
    <p:sldId id="401" r:id="rId28"/>
    <p:sldId id="402" r:id="rId29"/>
    <p:sldId id="403" r:id="rId30"/>
    <p:sldId id="404" r:id="rId31"/>
    <p:sldId id="405" r:id="rId32"/>
    <p:sldId id="406" r:id="rId33"/>
    <p:sldId id="407" r:id="rId34"/>
    <p:sldId id="408"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ED2FA19B-6F9E-4181-BC52-5AF4B341F80E}"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A119F6D-8A04-48C0-B556-8CAFC06DF62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B6401EEA-E866-4A09-BE47-A449C964BCA7}"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DBEDB232-131C-4E1E-9023-9057459F0FB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068DBC5-5066-4617-9FE8-B63F9FEFE209}" type="slidenum">
              <a:rPr lang="en-US" altLang="zh-CN"/>
              <a:pPr>
                <a:defRPr/>
              </a:pPr>
              <a:t>2</a:t>
            </a:fld>
            <a:endParaRPr lang="en-US" altLang="zh-CN"/>
          </a:p>
        </p:txBody>
      </p:sp>
      <p:sp>
        <p:nvSpPr>
          <p:cNvPr id="7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32099775-A8A6-45D5-863E-BBD8A53871AD}"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2"/>
          <p:cNvSpPr>
            <a:spLocks noGrp="1" noRot="1" noChangeAspect="1" noTextEdit="1"/>
          </p:cNvSpPr>
          <p:nvPr>
            <p:ph type="sldImg"/>
          </p:nvPr>
        </p:nvSpPr>
        <p:spPr bwMode="auto">
          <a:noFill/>
          <a:ln>
            <a:solidFill>
              <a:srgbClr val="000000"/>
            </a:solidFill>
            <a:miter lim="800000"/>
            <a:headEnd/>
            <a:tailEnd/>
          </a:ln>
        </p:spPr>
      </p:sp>
      <p:sp>
        <p:nvSpPr>
          <p:cNvPr id="1366019" name="Rectangle 3"/>
          <p:cNvSpPr>
            <a:spLocks noGrp="1"/>
          </p:cNvSpPr>
          <p:nvPr>
            <p:ph type="body" idx="1"/>
          </p:nvPr>
        </p:nvSpPr>
        <p:spPr bwMode="auto">
          <a:noFill/>
        </p:spPr>
        <p:txBody>
          <a:bodyPr/>
          <a:lstStyle/>
          <a:p>
            <a:r>
              <a:rPr lang="zh-CN" altLang="en-US" smtClean="0"/>
              <a:t>类图描述系统的构成成分，系统不是静止的，是一个运转的动态的系统，需要考虑某一瞬间对象以及他们之间的关系</a:t>
            </a:r>
            <a:r>
              <a:rPr lang="en-US" altLang="zh-CN" smtClean="0">
                <a:latin typeface="Arial"/>
              </a:rPr>
              <a:t>——</a:t>
            </a:r>
            <a:r>
              <a:rPr lang="zh-CN" altLang="en-US" smtClean="0"/>
              <a:t>对象图</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p:cNvSpPr>
            <a:spLocks noGrp="1" noRot="1" noChangeAspect="1" noTextEdit="1"/>
          </p:cNvSpPr>
          <p:nvPr>
            <p:ph type="sldImg"/>
          </p:nvPr>
        </p:nvSpPr>
        <p:spPr bwMode="auto">
          <a:noFill/>
          <a:ln>
            <a:solidFill>
              <a:srgbClr val="000000"/>
            </a:solidFill>
            <a:miter lim="800000"/>
            <a:headEnd/>
            <a:tailEnd/>
          </a:ln>
        </p:spPr>
      </p:sp>
      <p:sp>
        <p:nvSpPr>
          <p:cNvPr id="1387523" name="Rectangle 3"/>
          <p:cNvSpPr>
            <a:spLocks noGrp="1"/>
          </p:cNvSpPr>
          <p:nvPr>
            <p:ph type="body" idx="1"/>
          </p:nvPr>
        </p:nvSpPr>
        <p:spPr bwMode="auto">
          <a:noFill/>
        </p:spPr>
        <p:txBody>
          <a:bodyPr/>
          <a:lstStyle/>
          <a:p>
            <a:r>
              <a:rPr lang="zh-CN" altLang="en-US" smtClean="0"/>
              <a:t>在需求捕捉和分析阶段，必须记录下预约号、时间戳和状态，但是这些属性对</a:t>
            </a:r>
            <a:r>
              <a:rPr lang="en-US" altLang="zh-CN" smtClean="0"/>
              <a:t>customer</a:t>
            </a:r>
            <a:r>
              <a:rPr lang="zh-CN" altLang="en-US" smtClean="0"/>
              <a:t>和</a:t>
            </a:r>
            <a:r>
              <a:rPr lang="en-US" altLang="zh-CN" smtClean="0"/>
              <a:t>carmodel</a:t>
            </a:r>
            <a:r>
              <a:rPr lang="zh-CN" altLang="en-US" smtClean="0"/>
              <a:t>都没有意义，所以使用关联类合适</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724C7462-D7FF-4068-B3A7-9C3F7C6A09BA}"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B1262F95-86D0-4C8D-95BA-EA7B696CD7C6}"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4FF4A37F-E36D-4A50-84A4-5FE624B22275}"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C4AA12F7-B080-422E-9208-1513FAEAA81E}"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B90535D1-DE7C-4790-B499-D5A3AA723859}"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0DB7483B-3E28-4A8E-934C-76042B95D5F5}"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70EA6FE1-DBBA-45C1-B113-BA8E529AEC50}"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A24816BB-3E0A-40BB-8075-61C12F3D0619}"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9DE1DE8D-744A-4CEC-83A9-EF59625F1B21}"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ADDF66EB-998A-4356-BCD0-F5427909737F}"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BDA053FA-BCFF-4874-ACC8-9D1A7121E30C}"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18C57EC3-4C5F-4DEC-9027-205C6AD6B279}"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6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8400"/>
            <a:ext cx="2133600" cy="457200"/>
          </a:xfrm>
          <a:prstGeom prst="rect">
            <a:avLst/>
          </a:prstGeom>
        </p:spPr>
        <p:txBody>
          <a:bodyPr/>
          <a:lstStyle>
            <a:lvl1pPr>
              <a:defRPr/>
            </a:lvl1pPr>
          </a:lstStyle>
          <a:p>
            <a:fld id="{772F835E-DE43-42F4-8E6F-2DEAC41BF5EF}" type="datetime1">
              <a:rPr lang="zh-CN" altLang="en-US"/>
              <a:pPr/>
              <a:t>2018/12/17</a:t>
            </a:fld>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2133600" cy="457200"/>
          </a:xfrm>
        </p:spPr>
        <p:txBody>
          <a:bodyPr/>
          <a:lstStyle>
            <a:lvl1pPr>
              <a:defRPr/>
            </a:lvl1pPr>
          </a:lstStyle>
          <a:p>
            <a:fld id="{A4C0E88B-6E8B-48EA-AE4A-D2B1D03BC73F}" type="slidenum">
              <a:rPr lang="zh-CN" altLang="en-US"/>
              <a:pPr/>
              <a:t>‹#›</a:t>
            </a:fld>
            <a:r>
              <a:rPr lang="en-US" altLang="zh-CN"/>
              <a:t>/74</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5"/>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628EBE3D-C71A-49B9-8243-E7B5195443AE}"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5</a:t>
            </a:r>
            <a:r>
              <a:rPr lang="zh-CN" altLang="en-US" sz="1200" dirty="0" smtClean="0">
                <a:ea typeface="+mn-ea"/>
              </a:rPr>
              <a:t>章 静态分析与对象图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4.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AB0A30FE-0D49-46E1-B2D6-6723E25F8351}"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5</a:t>
            </a:r>
            <a:r>
              <a:rPr lang="zh-CN" altLang="en-US" dirty="0" smtClean="0"/>
              <a:t>章 静态分析与对象图</a:t>
            </a:r>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AAB1D630-6C85-40F7-8919-6E2F8B88D30A}"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类图仅仅显示的是系统中的类，存在一个变量，确定地显示了各个类对象实例的位置，那就是对象图。对象图描述系统在某一个特定时间点上的静态结构，是类图的实例和快照，即类图中的各个类在某一个时间点上的实例及其关系的静态写照。</a:t>
            </a:r>
          </a:p>
          <a:p>
            <a:pPr>
              <a:lnSpc>
                <a:spcPct val="90000"/>
              </a:lnSpc>
            </a:pPr>
            <a:r>
              <a:rPr lang="zh-CN" altLang="en-US" sz="2800" dirty="0" smtClean="0"/>
              <a:t>本章将详细介绍对象图的基本概念，以及如何使用</a:t>
            </a:r>
            <a:r>
              <a:rPr lang="en-US" altLang="zh-CN" sz="2800" dirty="0" smtClean="0"/>
              <a:t>Rational Rose</a:t>
            </a:r>
            <a:r>
              <a:rPr lang="zh-CN" altLang="en-US" sz="2800" dirty="0" smtClean="0"/>
              <a:t>建模工具创建对象图。</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5DA4955D-A0CE-494E-A8CE-55630E548FDA}"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dirty="0" smtClean="0"/>
              <a:t>理解对象的概念和含义</a:t>
            </a:r>
          </a:p>
          <a:p>
            <a:r>
              <a:rPr lang="zh-CN" altLang="en-US" dirty="0" smtClean="0"/>
              <a:t>理解封装的含义</a:t>
            </a:r>
          </a:p>
          <a:p>
            <a:r>
              <a:rPr lang="zh-CN" altLang="en-US" dirty="0" smtClean="0"/>
              <a:t>掌握关联和聚合的概念</a:t>
            </a:r>
          </a:p>
          <a:p>
            <a:r>
              <a:rPr lang="zh-CN" altLang="en-US" dirty="0" smtClean="0"/>
              <a:t>掌握对象图的基本概念和组成要素</a:t>
            </a:r>
          </a:p>
          <a:p>
            <a:r>
              <a:rPr lang="zh-CN" altLang="en-US" smtClean="0"/>
              <a:t>掌握对象图和类图的区别方法</a:t>
            </a: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537648E3-7CC0-40E4-BF29-59E82F9BCF30}" type="slidenum">
              <a:rPr lang="zh-CN" altLang="en-US" smtClean="0"/>
              <a:pPr>
                <a:defRPr/>
              </a:pPr>
              <a:t>4</a:t>
            </a:fld>
            <a:r>
              <a:rPr lang="zh-CN" altLang="en-US" smtClean="0"/>
              <a:t>页</a:t>
            </a:r>
            <a:endParaRPr lang="zh-CN" altLang="en-US"/>
          </a:p>
        </p:txBody>
      </p:sp>
      <p:sp>
        <p:nvSpPr>
          <p:cNvPr id="5124" name="Text Box 2"/>
          <p:cNvSpPr txBox="1">
            <a:spLocks noChangeArrowheads="1"/>
          </p:cNvSpPr>
          <p:nvPr/>
        </p:nvSpPr>
        <p:spPr bwMode="auto">
          <a:xfrm>
            <a:off x="1676400" y="1905000"/>
            <a:ext cx="5867400" cy="2539157"/>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理解对象的概念和含义</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理解封装的含义</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掌握关联和聚合的概念</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掌握对象图的基本概念和组成要素</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掌握对象图和类图的区别</a:t>
            </a:r>
            <a:endParaRPr lang="zh-CN" altLang="en-US" b="1" u="sng"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51FFFC6D-FE83-41FF-B979-A045F3E93276}" type="slidenum">
              <a:rPr lang="zh-CN" altLang="en-US"/>
              <a:pPr/>
              <a:t>5</a:t>
            </a:fld>
            <a:r>
              <a:rPr lang="en-US" altLang="zh-CN"/>
              <a:t>/74</a:t>
            </a:r>
          </a:p>
        </p:txBody>
      </p:sp>
      <p:sp>
        <p:nvSpPr>
          <p:cNvPr id="1360898"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对象的概念与特性</a:t>
            </a:r>
          </a:p>
        </p:txBody>
      </p:sp>
      <p:sp>
        <p:nvSpPr>
          <p:cNvPr id="1360899" name="Rectangle 3"/>
          <p:cNvSpPr>
            <a:spLocks noChangeArrowheads="1"/>
          </p:cNvSpPr>
          <p:nvPr/>
        </p:nvSpPr>
        <p:spPr bwMode="auto">
          <a:xfrm>
            <a:off x="468313" y="1770063"/>
            <a:ext cx="8070850" cy="4106862"/>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200" b="1">
                <a:latin typeface="Times New Roman" pitchFamily="18" charset="0"/>
                <a:ea typeface="楷体_GB2312" pitchFamily="49" charset="-122"/>
              </a:rPr>
              <a:t>对象代表一个单独的、可确认的物体、单元或实体，它可以是具体的也可以是抽象的，在问题领域里有确切定义的角色。</a:t>
            </a:r>
          </a:p>
          <a:p>
            <a:pPr marL="457200" indent="-457200">
              <a:lnSpc>
                <a:spcPct val="125000"/>
              </a:lnSpc>
              <a:spcBef>
                <a:spcPct val="20000"/>
              </a:spcBef>
              <a:buClr>
                <a:srgbClr val="FF0000"/>
              </a:buClr>
              <a:buSzPct val="200000"/>
              <a:buFontTx/>
              <a:buChar char="•"/>
            </a:pPr>
            <a:r>
              <a:rPr kumimoji="1" lang="zh-CN" altLang="en-US" sz="2200" b="1">
                <a:solidFill>
                  <a:srgbClr val="FF0000"/>
                </a:solidFill>
                <a:latin typeface="Times New Roman" pitchFamily="18" charset="0"/>
                <a:ea typeface="楷体_GB2312" pitchFamily="49" charset="-122"/>
              </a:rPr>
              <a:t>标识</a:t>
            </a:r>
            <a:r>
              <a:rPr kumimoji="1" lang="zh-CN" altLang="en-US" sz="2200" b="1">
                <a:latin typeface="Times New Roman" pitchFamily="18" charset="0"/>
                <a:ea typeface="楷体_GB2312" pitchFamily="49" charset="-122"/>
              </a:rPr>
              <a:t>：为了将一个对象与其它所有对象区分开来，我们通常会给它起一个“标识”</a:t>
            </a:r>
            <a:r>
              <a:rPr kumimoji="1" lang="zh-CN" altLang="en-US" sz="2000" b="1">
                <a:latin typeface="Times New Roman" pitchFamily="18" charset="0"/>
                <a:ea typeface="楷体_GB2312" pitchFamily="49" charset="-122"/>
              </a:rPr>
              <a:t> </a:t>
            </a:r>
          </a:p>
          <a:p>
            <a:pPr marL="457200" indent="-457200">
              <a:lnSpc>
                <a:spcPct val="125000"/>
              </a:lnSpc>
              <a:spcBef>
                <a:spcPct val="20000"/>
              </a:spcBef>
              <a:buClr>
                <a:srgbClr val="FF0000"/>
              </a:buClr>
              <a:buSzPct val="200000"/>
              <a:buFontTx/>
              <a:buChar char="•"/>
            </a:pPr>
            <a:r>
              <a:rPr kumimoji="1" lang="zh-CN" altLang="en-US" sz="2200" b="1">
                <a:solidFill>
                  <a:srgbClr val="FF0000"/>
                </a:solidFill>
                <a:latin typeface="Times New Roman" pitchFamily="18" charset="0"/>
                <a:ea typeface="楷体_GB2312" pitchFamily="49" charset="-122"/>
              </a:rPr>
              <a:t>状态</a:t>
            </a:r>
            <a:r>
              <a:rPr kumimoji="1" lang="zh-CN" altLang="en-US" sz="2200" b="1">
                <a:latin typeface="Times New Roman" pitchFamily="18" charset="0"/>
                <a:ea typeface="楷体_GB2312" pitchFamily="49" charset="-122"/>
              </a:rPr>
              <a:t>：对象的状态包括对象的所有属性和这些属性的当前值 </a:t>
            </a:r>
          </a:p>
          <a:p>
            <a:pPr marL="457200" indent="-457200">
              <a:lnSpc>
                <a:spcPct val="125000"/>
              </a:lnSpc>
              <a:spcBef>
                <a:spcPct val="20000"/>
              </a:spcBef>
              <a:buClr>
                <a:srgbClr val="FF0000"/>
              </a:buClr>
              <a:buSzPct val="200000"/>
              <a:buFontTx/>
              <a:buChar char="•"/>
            </a:pPr>
            <a:r>
              <a:rPr kumimoji="1" lang="zh-CN" altLang="en-US" sz="2200" b="1">
                <a:solidFill>
                  <a:srgbClr val="FF0000"/>
                </a:solidFill>
                <a:latin typeface="Times New Roman" pitchFamily="18" charset="0"/>
                <a:ea typeface="楷体_GB2312" pitchFamily="49" charset="-122"/>
              </a:rPr>
              <a:t>行为：</a:t>
            </a:r>
            <a:r>
              <a:rPr kumimoji="1" lang="zh-CN" altLang="en-US" sz="2200" b="1">
                <a:latin typeface="Times New Roman" pitchFamily="18" charset="0"/>
                <a:ea typeface="楷体_GB2312" pitchFamily="49" charset="-122"/>
              </a:rPr>
              <a:t>没有一个对象是孤立存在的，对象可以被操作，也可以操作别的对象，而行为就是一个对象根据它的状态改变和消息传送所采取的行动和所做出的反应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60899">
                                            <p:txEl>
                                              <p:pRg st="0" end="0"/>
                                            </p:txEl>
                                          </p:spTgt>
                                        </p:tgtEl>
                                        <p:attrNameLst>
                                          <p:attrName>style.visibility</p:attrName>
                                        </p:attrNameLst>
                                      </p:cBhvr>
                                      <p:to>
                                        <p:strVal val="visible"/>
                                      </p:to>
                                    </p:set>
                                    <p:animEffect transition="in" filter="blinds(horizontal)">
                                      <p:cBhvr>
                                        <p:cTn id="7" dur="500"/>
                                        <p:tgtEl>
                                          <p:spTgt spid="13608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60899">
                                            <p:txEl>
                                              <p:pRg st="1" end="1"/>
                                            </p:txEl>
                                          </p:spTgt>
                                        </p:tgtEl>
                                        <p:attrNameLst>
                                          <p:attrName>style.visibility</p:attrName>
                                        </p:attrNameLst>
                                      </p:cBhvr>
                                      <p:to>
                                        <p:strVal val="visible"/>
                                      </p:to>
                                    </p:set>
                                    <p:animEffect transition="in" filter="box(in)">
                                      <p:cBhvr>
                                        <p:cTn id="12" dur="500"/>
                                        <p:tgtEl>
                                          <p:spTgt spid="13608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60899">
                                            <p:txEl>
                                              <p:pRg st="2" end="2"/>
                                            </p:txEl>
                                          </p:spTgt>
                                        </p:tgtEl>
                                        <p:attrNameLst>
                                          <p:attrName>style.visibility</p:attrName>
                                        </p:attrNameLst>
                                      </p:cBhvr>
                                      <p:to>
                                        <p:strVal val="visible"/>
                                      </p:to>
                                    </p:set>
                                    <p:animEffect transition="in" filter="blinds(horizontal)">
                                      <p:cBhvr>
                                        <p:cTn id="17" dur="500"/>
                                        <p:tgtEl>
                                          <p:spTgt spid="13608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360899">
                                            <p:txEl>
                                              <p:pRg st="3" end="3"/>
                                            </p:txEl>
                                          </p:spTgt>
                                        </p:tgtEl>
                                        <p:attrNameLst>
                                          <p:attrName>style.visibility</p:attrName>
                                        </p:attrNameLst>
                                      </p:cBhvr>
                                      <p:to>
                                        <p:strVal val="visible"/>
                                      </p:to>
                                    </p:set>
                                    <p:animEffect transition="in" filter="checkerboard(across)">
                                      <p:cBhvr>
                                        <p:cTn id="22" dur="500"/>
                                        <p:tgtEl>
                                          <p:spTgt spid="1360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B94B2FA6-299B-49EF-A34E-7FC36CCEB521}" type="slidenum">
              <a:rPr lang="zh-CN" altLang="en-US"/>
              <a:pPr/>
              <a:t>6</a:t>
            </a:fld>
            <a:r>
              <a:rPr lang="en-US" altLang="zh-CN"/>
              <a:t>/74</a:t>
            </a:r>
          </a:p>
        </p:txBody>
      </p:sp>
      <p:sp>
        <p:nvSpPr>
          <p:cNvPr id="1362946"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对象 </a:t>
            </a:r>
            <a:r>
              <a:rPr lang="en-US" altLang="zh-CN" sz="4000">
                <a:solidFill>
                  <a:schemeClr val="tx2"/>
                </a:solidFill>
                <a:effectLst>
                  <a:outerShdw blurRad="38100" dist="38100" dir="2700000" algn="tl">
                    <a:srgbClr val="C0C0C0"/>
                  </a:outerShdw>
                </a:effectLst>
                <a:latin typeface="Verdana" pitchFamily="34" charset="0"/>
                <a:ea typeface="黑体" pitchFamily="2" charset="-122"/>
              </a:rPr>
              <a:t>vs </a:t>
            </a:r>
            <a:r>
              <a:rPr lang="zh-CN" altLang="en-US" sz="4000">
                <a:solidFill>
                  <a:schemeClr val="tx2"/>
                </a:solidFill>
                <a:effectLst>
                  <a:outerShdw blurRad="38100" dist="38100" dir="2700000" algn="tl">
                    <a:srgbClr val="C0C0C0"/>
                  </a:outerShdw>
                </a:effectLst>
                <a:latin typeface="Verdana" pitchFamily="34" charset="0"/>
                <a:ea typeface="黑体" pitchFamily="2" charset="-122"/>
              </a:rPr>
              <a:t>类</a:t>
            </a:r>
          </a:p>
        </p:txBody>
      </p:sp>
      <p:sp>
        <p:nvSpPr>
          <p:cNvPr id="1362947" name="Rectangle 3"/>
          <p:cNvSpPr>
            <a:spLocks noChangeArrowheads="1"/>
          </p:cNvSpPr>
          <p:nvPr/>
        </p:nvSpPr>
        <p:spPr bwMode="auto">
          <a:xfrm>
            <a:off x="539750" y="1844675"/>
            <a:ext cx="8070850" cy="3529013"/>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对象是一个存在于时间和空间中的具体实体，而类仅代表一个抽象，抽象出对象的“本质”</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类是共享一个公用结构和一个公共行为对象集合 </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类是静态的，对象是动态的</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类是一般化，对象是个性化；类是定义，对象是实例；类是抽象、对象是具体  </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6C55FD9D-DAC5-49DF-B08F-EED9D35477A4}" type="slidenum">
              <a:rPr lang="zh-CN" altLang="en-US"/>
              <a:pPr/>
              <a:t>7</a:t>
            </a:fld>
            <a:r>
              <a:rPr lang="en-US" altLang="zh-CN"/>
              <a:t>/74</a:t>
            </a:r>
          </a:p>
        </p:txBody>
      </p:sp>
      <p:sp>
        <p:nvSpPr>
          <p:cNvPr id="1364994" name="Rectangle 2"/>
          <p:cNvSpPr>
            <a:spLocks noGrp="1" noChangeArrowheads="1"/>
          </p:cNvSpPr>
          <p:nvPr>
            <p:ph type="title"/>
          </p:nvPr>
        </p:nvSpPr>
        <p:spPr>
          <a:xfrm>
            <a:off x="457200" y="609600"/>
            <a:ext cx="8229600" cy="1143000"/>
          </a:xfrm>
        </p:spPr>
        <p:txBody>
          <a:bodyPr/>
          <a:lstStyle/>
          <a:p>
            <a:r>
              <a:rPr lang="zh-CN" altLang="en-US" sz="3700" b="1">
                <a:effectLst>
                  <a:outerShdw blurRad="38100" dist="38100" dir="2700000" algn="tl">
                    <a:srgbClr val="C0C0C0"/>
                  </a:outerShdw>
                </a:effectLst>
                <a:latin typeface="Verdana" pitchFamily="34" charset="0"/>
                <a:ea typeface="黑体" pitchFamily="2" charset="-122"/>
              </a:rPr>
              <a:t>对象图</a:t>
            </a:r>
            <a:r>
              <a:rPr lang="zh-CN" altLang="en-US"/>
              <a:t> </a:t>
            </a:r>
          </a:p>
        </p:txBody>
      </p:sp>
      <p:sp>
        <p:nvSpPr>
          <p:cNvPr id="1364995" name="Rectangle 3"/>
          <p:cNvSpPr>
            <a:spLocks noGrp="1" noChangeArrowheads="1"/>
          </p:cNvSpPr>
          <p:nvPr>
            <p:ph type="body" idx="1"/>
          </p:nvPr>
        </p:nvSpPr>
        <p:spPr>
          <a:xfrm>
            <a:off x="457200" y="1828800"/>
            <a:ext cx="8229600" cy="3810000"/>
          </a:xfrm>
        </p:spPr>
        <p:txBody>
          <a:bodyPr/>
          <a:lstStyle/>
          <a:p>
            <a:pPr>
              <a:buFont typeface="Wingdings 3" pitchFamily="18" charset="2"/>
              <a:buChar char="v"/>
            </a:pPr>
            <a:r>
              <a:rPr lang="zh-CN" altLang="en-US" sz="2700">
                <a:latin typeface="楷体_GB2312" pitchFamily="49" charset="-122"/>
                <a:ea typeface="楷体_GB2312" pitchFamily="49" charset="-122"/>
              </a:rPr>
              <a:t>可以被看作是类图在某一时刻的实例。</a:t>
            </a:r>
          </a:p>
          <a:p>
            <a:pPr>
              <a:buFont typeface="Wingdings 3" pitchFamily="18" charset="2"/>
              <a:buChar char="v"/>
            </a:pPr>
            <a:r>
              <a:rPr lang="zh-CN" altLang="en-US" sz="2700">
                <a:latin typeface="楷体_GB2312" pitchFamily="49" charset="-122"/>
                <a:ea typeface="楷体_GB2312" pitchFamily="49" charset="-122"/>
              </a:rPr>
              <a:t>对象图</a:t>
            </a:r>
            <a:r>
              <a:rPr lang="en-US" altLang="zh-CN" sz="2700">
                <a:latin typeface="Arial"/>
                <a:ea typeface="楷体_GB2312" pitchFamily="49" charset="-122"/>
              </a:rPr>
              <a:t>——</a:t>
            </a:r>
            <a:r>
              <a:rPr lang="zh-CN" altLang="en-US" sz="2700">
                <a:latin typeface="楷体_GB2312" pitchFamily="49" charset="-122"/>
                <a:ea typeface="楷体_GB2312" pitchFamily="49" charset="-122"/>
              </a:rPr>
              <a:t>描述系统在某个时刻的静态结构。</a:t>
            </a:r>
            <a:r>
              <a:rPr lang="zh-CN" altLang="en-US"/>
              <a:t> </a:t>
            </a:r>
          </a:p>
          <a:p>
            <a:endParaRPr lang="zh-CN" altLang="en-US"/>
          </a:p>
        </p:txBody>
      </p:sp>
      <p:pic>
        <p:nvPicPr>
          <p:cNvPr id="1364996" name="Picture 4"/>
          <p:cNvPicPr>
            <a:picLocks noChangeAspect="1" noChangeArrowheads="1"/>
          </p:cNvPicPr>
          <p:nvPr/>
        </p:nvPicPr>
        <p:blipFill>
          <a:blip r:embed="rId3"/>
          <a:srcRect/>
          <a:stretch>
            <a:fillRect/>
          </a:stretch>
        </p:blipFill>
        <p:spPr bwMode="auto">
          <a:xfrm>
            <a:off x="1600200" y="3962400"/>
            <a:ext cx="5416550" cy="1233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565A849B-28B4-4502-AAFE-4E347A52E8CD}" type="slidenum">
              <a:rPr lang="zh-CN" altLang="en-US"/>
              <a:pPr/>
              <a:t>8</a:t>
            </a:fld>
            <a:r>
              <a:rPr lang="en-US" altLang="zh-CN"/>
              <a:t>/74</a:t>
            </a:r>
          </a:p>
        </p:txBody>
      </p:sp>
      <p:sp>
        <p:nvSpPr>
          <p:cNvPr id="1367042" name="Text Box 2"/>
          <p:cNvSpPr txBox="1">
            <a:spLocks noChangeArrowheads="1"/>
          </p:cNvSpPr>
          <p:nvPr/>
        </p:nvSpPr>
        <p:spPr bwMode="auto">
          <a:xfrm>
            <a:off x="611188" y="1836738"/>
            <a:ext cx="7921625" cy="1920875"/>
          </a:xfrm>
          <a:prstGeom prst="rect">
            <a:avLst/>
          </a:prstGeom>
          <a:noFill/>
          <a:ln w="9525" algn="ctr">
            <a:noFill/>
            <a:miter lim="800000"/>
            <a:headEnd/>
            <a:tailEnd/>
          </a:ln>
          <a:effectLst/>
        </p:spPr>
        <p:txBody>
          <a:bodyPr>
            <a:spAutoFit/>
          </a:bodyPr>
          <a:lstStyle/>
          <a:p>
            <a:r>
              <a:rPr lang="zh-CN" altLang="en-US" sz="3200">
                <a:latin typeface="楷体_GB2312" pitchFamily="49" charset="-122"/>
                <a:ea typeface="楷体_GB2312" pitchFamily="49" charset="-122"/>
              </a:rPr>
              <a:t>对象图的组成</a:t>
            </a:r>
          </a:p>
          <a:p>
            <a:endParaRPr lang="zh-CN" altLang="en-US" sz="3200">
              <a:latin typeface="楷体_GB2312" pitchFamily="49" charset="-122"/>
              <a:ea typeface="楷体_GB2312" pitchFamily="49" charset="-122"/>
            </a:endParaRPr>
          </a:p>
          <a:p>
            <a:r>
              <a:rPr lang="zh-CN" altLang="en-US" sz="2800">
                <a:latin typeface="楷体_GB2312" pitchFamily="49" charset="-122"/>
                <a:ea typeface="楷体_GB2312" pitchFamily="49" charset="-122"/>
              </a:rPr>
              <a:t>对象图（</a:t>
            </a:r>
            <a:r>
              <a:rPr lang="en-US" altLang="zh-CN" sz="2800">
                <a:latin typeface="楷体_GB2312" pitchFamily="49" charset="-122"/>
                <a:ea typeface="楷体_GB2312" pitchFamily="49" charset="-122"/>
              </a:rPr>
              <a:t>Object Diagram</a:t>
            </a:r>
            <a:r>
              <a:rPr lang="zh-CN" altLang="en-US" sz="2800">
                <a:latin typeface="楷体_GB2312" pitchFamily="49" charset="-122"/>
                <a:ea typeface="楷体_GB2312" pitchFamily="49" charset="-122"/>
              </a:rPr>
              <a:t>）是由</a:t>
            </a:r>
            <a:r>
              <a:rPr lang="zh-CN" altLang="en-US" sz="2800">
                <a:solidFill>
                  <a:srgbClr val="FF0000"/>
                </a:solidFill>
                <a:latin typeface="楷体_GB2312" pitchFamily="49" charset="-122"/>
                <a:ea typeface="楷体_GB2312" pitchFamily="49" charset="-122"/>
              </a:rPr>
              <a:t>对象</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Object</a:t>
            </a:r>
            <a:r>
              <a:rPr lang="zh-CN" altLang="en-US" sz="2800">
                <a:latin typeface="楷体_GB2312" pitchFamily="49" charset="-122"/>
                <a:ea typeface="楷体_GB2312" pitchFamily="49" charset="-122"/>
              </a:rPr>
              <a:t>）和</a:t>
            </a:r>
            <a:r>
              <a:rPr lang="zh-CN" altLang="en-US" sz="2800">
                <a:solidFill>
                  <a:srgbClr val="FF0000"/>
                </a:solidFill>
                <a:latin typeface="楷体_GB2312" pitchFamily="49" charset="-122"/>
                <a:ea typeface="楷体_GB2312" pitchFamily="49" charset="-122"/>
              </a:rPr>
              <a:t>链</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Link</a:t>
            </a:r>
            <a:r>
              <a:rPr lang="zh-CN" altLang="en-US" sz="2800">
                <a:latin typeface="楷体_GB2312" pitchFamily="49" charset="-122"/>
                <a:ea typeface="楷体_GB2312" pitchFamily="49" charset="-122"/>
              </a:rPr>
              <a:t>）组成的。</a:t>
            </a:r>
          </a:p>
        </p:txBody>
      </p:sp>
      <p:sp>
        <p:nvSpPr>
          <p:cNvPr id="1367043" name="Rectangle 3"/>
          <p:cNvSpPr>
            <a:spLocks noChangeArrowheads="1"/>
          </p:cNvSpPr>
          <p:nvPr/>
        </p:nvSpPr>
        <p:spPr bwMode="auto">
          <a:xfrm>
            <a:off x="574675" y="304800"/>
            <a:ext cx="8001000" cy="1216025"/>
          </a:xfrm>
          <a:prstGeom prst="rect">
            <a:avLst/>
          </a:prstGeom>
          <a:noFill/>
          <a:ln w="9525">
            <a:noFill/>
            <a:miter lim="800000"/>
            <a:headEnd/>
            <a:tailEnd/>
          </a:ln>
        </p:spPr>
        <p:txBody>
          <a:bodyPr anchor="b"/>
          <a:lstStyle/>
          <a:p>
            <a:r>
              <a:rPr lang="zh-CN" altLang="en-US" sz="3700" b="1">
                <a:solidFill>
                  <a:schemeClr val="tx2"/>
                </a:solidFill>
                <a:effectLst>
                  <a:outerShdw blurRad="38100" dist="38100" dir="2700000" algn="tl">
                    <a:srgbClr val="C0C0C0"/>
                  </a:outerShdw>
                </a:effectLst>
                <a:latin typeface="Verdana" pitchFamily="34" charset="0"/>
                <a:ea typeface="黑体" pitchFamily="2" charset="-122"/>
              </a:rPr>
              <a:t>对象图</a:t>
            </a:r>
            <a:r>
              <a:rPr lang="zh-CN" altLang="en-US" sz="3800">
                <a:solidFill>
                  <a:schemeClr val="tx2"/>
                </a:solidFill>
                <a:ea typeface="宋体" pitchFamily="2" charset="-122"/>
              </a:rPr>
              <a:t> </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6E1028F9-8D92-4EE7-8CDE-E0664F03EAE6}" type="slidenum">
              <a:rPr lang="zh-CN" altLang="en-US"/>
              <a:pPr/>
              <a:t>9</a:t>
            </a:fld>
            <a:r>
              <a:rPr lang="en-US" altLang="zh-CN"/>
              <a:t>/74</a:t>
            </a:r>
          </a:p>
        </p:txBody>
      </p:sp>
      <p:sp>
        <p:nvSpPr>
          <p:cNvPr id="1368066" name="Text Box 2"/>
          <p:cNvSpPr txBox="1">
            <a:spLocks noChangeArrowheads="1"/>
          </p:cNvSpPr>
          <p:nvPr/>
        </p:nvSpPr>
        <p:spPr bwMode="auto">
          <a:xfrm>
            <a:off x="468313" y="1798638"/>
            <a:ext cx="8135937" cy="1917700"/>
          </a:xfrm>
          <a:prstGeom prst="rect">
            <a:avLst/>
          </a:prstGeom>
          <a:noFill/>
          <a:ln w="9525" algn="ctr">
            <a:noFill/>
            <a:miter lim="800000"/>
            <a:headEnd/>
            <a:tailEnd/>
          </a:ln>
          <a:effectLst/>
        </p:spPr>
        <p:txBody>
          <a:bodyPr>
            <a:spAutoFit/>
          </a:bodyPr>
          <a:lstStyle/>
          <a:p>
            <a:pPr marL="342900" indent="-342900">
              <a:buFontTx/>
              <a:buAutoNum type="arabicPeriod"/>
            </a:pPr>
            <a:r>
              <a:rPr kumimoji="1" lang="zh-CN" altLang="en-US" sz="2400" b="1">
                <a:latin typeface="Times New Roman" pitchFamily="18" charset="0"/>
                <a:ea typeface="楷体_GB2312" pitchFamily="49" charset="-122"/>
              </a:rPr>
              <a:t>对象（</a:t>
            </a:r>
            <a:r>
              <a:rPr kumimoji="1" lang="en-US" altLang="zh-CN" sz="2400" b="1">
                <a:latin typeface="Times New Roman" pitchFamily="18" charset="0"/>
                <a:ea typeface="楷体_GB2312" pitchFamily="49" charset="-122"/>
              </a:rPr>
              <a:t>Object</a:t>
            </a:r>
            <a:r>
              <a:rPr kumimoji="1" lang="zh-CN" altLang="en-US" sz="2400" b="1">
                <a:latin typeface="Times New Roman" pitchFamily="18" charset="0"/>
                <a:ea typeface="楷体_GB2312" pitchFamily="49" charset="-122"/>
              </a:rPr>
              <a:t>）</a:t>
            </a:r>
          </a:p>
          <a:p>
            <a:pPr marL="342900" indent="-342900"/>
            <a:endParaRPr kumimoji="1" lang="zh-CN" altLang="en-US" sz="2400" b="1">
              <a:latin typeface="Times New Roman" pitchFamily="18" charset="0"/>
              <a:ea typeface="楷体_GB2312" pitchFamily="49" charset="-122"/>
            </a:endParaRPr>
          </a:p>
          <a:p>
            <a:pPr marL="342900" indent="-342900"/>
            <a:r>
              <a:rPr kumimoji="1" lang="zh-CN" altLang="en-US" sz="2400" b="1">
                <a:latin typeface="Times New Roman" pitchFamily="18" charset="0"/>
                <a:ea typeface="楷体_GB2312" pitchFamily="49" charset="-122"/>
              </a:rPr>
              <a:t>    对象是类的实例</a:t>
            </a:r>
          </a:p>
          <a:p>
            <a:pPr marL="342900" indent="-342900">
              <a:buFontTx/>
              <a:buAutoNum type="arabicPeriod"/>
            </a:pPr>
            <a:endParaRPr kumimoji="1" lang="zh-CN" altLang="en-US" sz="2400" b="1">
              <a:latin typeface="Times New Roman" pitchFamily="18" charset="0"/>
              <a:ea typeface="楷体_GB2312" pitchFamily="49" charset="-122"/>
            </a:endParaRPr>
          </a:p>
          <a:p>
            <a:pPr marL="342900" indent="-342900"/>
            <a:endParaRPr kumimoji="1" lang="zh-CN" altLang="en-US" sz="2400" b="1">
              <a:latin typeface="Times New Roman" pitchFamily="18" charset="0"/>
              <a:ea typeface="楷体_GB2312" pitchFamily="49" charset="-122"/>
            </a:endParaRPr>
          </a:p>
        </p:txBody>
      </p:sp>
      <p:sp>
        <p:nvSpPr>
          <p:cNvPr id="1368067" name="Rectangle 3"/>
          <p:cNvSpPr>
            <a:spLocks noChangeArrowheads="1"/>
          </p:cNvSpPr>
          <p:nvPr/>
        </p:nvSpPr>
        <p:spPr bwMode="auto">
          <a:xfrm>
            <a:off x="574675" y="304800"/>
            <a:ext cx="8001000" cy="1216025"/>
          </a:xfrm>
          <a:prstGeom prst="rect">
            <a:avLst/>
          </a:prstGeom>
          <a:noFill/>
          <a:ln w="9525">
            <a:noFill/>
            <a:miter lim="800000"/>
            <a:headEnd/>
            <a:tailEnd/>
          </a:ln>
        </p:spPr>
        <p:txBody>
          <a:bodyPr anchor="b"/>
          <a:lstStyle/>
          <a:p>
            <a:r>
              <a:rPr lang="zh-CN" altLang="en-US" sz="3700" b="1">
                <a:solidFill>
                  <a:schemeClr val="tx2"/>
                </a:solidFill>
                <a:effectLst>
                  <a:outerShdw blurRad="38100" dist="38100" dir="2700000" algn="tl">
                    <a:srgbClr val="C0C0C0"/>
                  </a:outerShdw>
                </a:effectLst>
                <a:latin typeface="Verdana" pitchFamily="34" charset="0"/>
                <a:ea typeface="黑体" pitchFamily="2" charset="-122"/>
              </a:rPr>
              <a:t>对象图</a:t>
            </a:r>
            <a:r>
              <a:rPr lang="zh-CN" altLang="en-US" sz="3800">
                <a:solidFill>
                  <a:schemeClr val="tx2"/>
                </a:solidFill>
                <a:ea typeface="宋体" pitchFamily="2" charset="-122"/>
              </a:rPr>
              <a:t> </a:t>
            </a:r>
          </a:p>
        </p:txBody>
      </p:sp>
      <p:pic>
        <p:nvPicPr>
          <p:cNvPr id="1368068" name="Picture 4"/>
          <p:cNvPicPr>
            <a:picLocks noChangeAspect="1" noChangeArrowheads="1"/>
          </p:cNvPicPr>
          <p:nvPr/>
        </p:nvPicPr>
        <p:blipFill>
          <a:blip r:embed="rId2"/>
          <a:srcRect/>
          <a:stretch>
            <a:fillRect/>
          </a:stretch>
        </p:blipFill>
        <p:spPr bwMode="auto">
          <a:xfrm>
            <a:off x="2124075" y="3213100"/>
            <a:ext cx="4751388" cy="144938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D2D23905-3D36-41FD-BE8D-6C0CA4814986}" type="slidenum">
              <a:rPr lang="zh-CN" altLang="en-US"/>
              <a:pPr/>
              <a:t>10</a:t>
            </a:fld>
            <a:r>
              <a:rPr lang="en-US" altLang="zh-CN"/>
              <a:t>/74</a:t>
            </a:r>
          </a:p>
        </p:txBody>
      </p:sp>
      <p:sp>
        <p:nvSpPr>
          <p:cNvPr id="1369090" name="Rectangle 2"/>
          <p:cNvSpPr>
            <a:spLocks noChangeArrowheads="1"/>
          </p:cNvSpPr>
          <p:nvPr/>
        </p:nvSpPr>
        <p:spPr bwMode="auto">
          <a:xfrm>
            <a:off x="468313" y="1700213"/>
            <a:ext cx="8070850" cy="4033837"/>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对象名：首字母小写。对象是一个类的实例，因此其名称的格式是“对象名：类名”，类名是可选的，但如果是包含了类名，则必须加上“：”，另外为了和类名区分，还</a:t>
            </a:r>
            <a:r>
              <a:rPr kumimoji="1" lang="zh-CN" altLang="en-US" sz="2400" b="1">
                <a:solidFill>
                  <a:srgbClr val="FF0000"/>
                </a:solidFill>
                <a:latin typeface="Times New Roman" pitchFamily="18" charset="0"/>
                <a:ea typeface="楷体_GB2312" pitchFamily="49" charset="-122"/>
              </a:rPr>
              <a:t>必须加上下划线</a:t>
            </a:r>
            <a:r>
              <a:rPr kumimoji="1" lang="zh-CN" altLang="en-US" sz="2400" b="1">
                <a:latin typeface="Times New Roman" pitchFamily="18" charset="0"/>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属性：由于对象是一个具体的事物，因此所有的属性值都已经确定，因此通常会在属性的后面列出其值。</a:t>
            </a:r>
          </a:p>
        </p:txBody>
      </p:sp>
      <p:pic>
        <p:nvPicPr>
          <p:cNvPr id="1369091" name="Picture 3"/>
          <p:cNvPicPr>
            <a:picLocks noChangeAspect="1" noChangeArrowheads="1"/>
          </p:cNvPicPr>
          <p:nvPr/>
        </p:nvPicPr>
        <p:blipFill>
          <a:blip r:embed="rId2"/>
          <a:srcRect/>
          <a:stretch>
            <a:fillRect/>
          </a:stretch>
        </p:blipFill>
        <p:spPr bwMode="auto">
          <a:xfrm>
            <a:off x="2916238" y="4652963"/>
            <a:ext cx="3671887" cy="1570037"/>
          </a:xfrm>
          <a:prstGeom prst="rect">
            <a:avLst/>
          </a:prstGeom>
          <a:noFill/>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8B284CF2-DBD0-417D-A1A5-1359B678ABF2}" type="slidenum">
              <a:rPr lang="zh-CN" altLang="en-US"/>
              <a:pPr/>
              <a:t>11</a:t>
            </a:fld>
            <a:r>
              <a:rPr lang="en-US" altLang="zh-CN"/>
              <a:t>/74</a:t>
            </a:r>
          </a:p>
        </p:txBody>
      </p:sp>
      <p:sp>
        <p:nvSpPr>
          <p:cNvPr id="1370114" name="Rectangle 2"/>
          <p:cNvSpPr>
            <a:spLocks noChangeArrowheads="1"/>
          </p:cNvSpPr>
          <p:nvPr/>
        </p:nvSpPr>
        <p:spPr bwMode="auto">
          <a:xfrm>
            <a:off x="611188" y="1916113"/>
            <a:ext cx="6840537" cy="457200"/>
          </a:xfrm>
          <a:prstGeom prst="rect">
            <a:avLst/>
          </a:prstGeom>
          <a:noFill/>
          <a:ln w="9525" algn="ctr">
            <a:noFill/>
            <a:miter lim="800000"/>
            <a:headEnd/>
            <a:tailEnd/>
          </a:ln>
          <a:effectLst/>
        </p:spPr>
        <p:txBody>
          <a:bodyPr anchor="ctr">
            <a:spAutoFit/>
          </a:bodyPr>
          <a:lstStyle/>
          <a:p>
            <a:r>
              <a:rPr lang="zh-CN" altLang="en-US" sz="2400" b="1">
                <a:latin typeface="楷体_GB2312" pitchFamily="49" charset="-122"/>
                <a:ea typeface="楷体_GB2312" pitchFamily="49" charset="-122"/>
              </a:rPr>
              <a:t>对象也有其他一些特殊的形式，如多对象</a:t>
            </a:r>
          </a:p>
        </p:txBody>
      </p:sp>
      <p:pic>
        <p:nvPicPr>
          <p:cNvPr id="1370115" name="图片 85" descr="136.png"/>
          <p:cNvPicPr>
            <a:picLocks noChangeAspect="1" noChangeArrowheads="1"/>
          </p:cNvPicPr>
          <p:nvPr/>
        </p:nvPicPr>
        <p:blipFill>
          <a:blip r:embed="rId2">
            <a:clrChange>
              <a:clrFrom>
                <a:srgbClr val="FFFFFF"/>
              </a:clrFrom>
              <a:clrTo>
                <a:srgbClr val="FFFFFF">
                  <a:alpha val="0"/>
                </a:srgbClr>
              </a:clrTo>
            </a:clrChange>
          </a:blip>
          <a:srcRect t="5272" b="15515"/>
          <a:stretch>
            <a:fillRect/>
          </a:stretch>
        </p:blipFill>
        <p:spPr bwMode="auto">
          <a:xfrm>
            <a:off x="1403350" y="2492375"/>
            <a:ext cx="6481763" cy="32416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A15AA7EE-6E30-4C2C-A282-273CBCEEF620}" type="slidenum">
              <a:rPr lang="zh-CN" altLang="en-US"/>
              <a:pPr/>
              <a:t>12</a:t>
            </a:fld>
            <a:r>
              <a:rPr lang="en-US" altLang="zh-CN"/>
              <a:t>/74</a:t>
            </a:r>
          </a:p>
        </p:txBody>
      </p:sp>
      <p:sp>
        <p:nvSpPr>
          <p:cNvPr id="1371138" name="Text Box 2"/>
          <p:cNvSpPr txBox="1">
            <a:spLocks noChangeArrowheads="1"/>
          </p:cNvSpPr>
          <p:nvPr/>
        </p:nvSpPr>
        <p:spPr bwMode="auto">
          <a:xfrm>
            <a:off x="539750" y="1881188"/>
            <a:ext cx="7920038" cy="1187450"/>
          </a:xfrm>
          <a:prstGeom prst="rect">
            <a:avLst/>
          </a:prstGeom>
          <a:noFill/>
          <a:ln w="9525" algn="ctr">
            <a:noFill/>
            <a:miter lim="800000"/>
            <a:headEnd/>
            <a:tailEnd/>
          </a:ln>
          <a:effectLst/>
        </p:spPr>
        <p:txBody>
          <a:bodyPr>
            <a:spAutoFit/>
          </a:bodyPr>
          <a:lstStyle/>
          <a:p>
            <a:pPr marL="342900" indent="-342900">
              <a:buFontTx/>
              <a:buAutoNum type="arabicPeriod" startAt="2"/>
            </a:pPr>
            <a:r>
              <a:rPr kumimoji="1" lang="zh-CN" altLang="en-US" sz="2400" b="1">
                <a:latin typeface="Times New Roman" pitchFamily="18" charset="0"/>
                <a:ea typeface="楷体_GB2312" pitchFamily="49" charset="-122"/>
              </a:rPr>
              <a:t>链（</a:t>
            </a:r>
            <a:r>
              <a:rPr kumimoji="1" lang="en-US" altLang="zh-CN" sz="2400" b="1">
                <a:latin typeface="Times New Roman" pitchFamily="18" charset="0"/>
                <a:ea typeface="楷体_GB2312" pitchFamily="49" charset="-122"/>
              </a:rPr>
              <a:t>Link</a:t>
            </a:r>
            <a:r>
              <a:rPr kumimoji="1" lang="zh-CN" altLang="en-US" sz="2400" b="1">
                <a:latin typeface="Times New Roman" pitchFamily="18" charset="0"/>
                <a:ea typeface="楷体_GB2312" pitchFamily="49" charset="-122"/>
              </a:rPr>
              <a:t>）</a:t>
            </a:r>
          </a:p>
          <a:p>
            <a:pPr marL="342900" indent="-342900"/>
            <a:endParaRPr kumimoji="1" lang="zh-CN" altLang="en-US" sz="2400" b="1">
              <a:latin typeface="Times New Roman" pitchFamily="18" charset="0"/>
              <a:ea typeface="楷体_GB2312" pitchFamily="49" charset="-122"/>
            </a:endParaRPr>
          </a:p>
          <a:p>
            <a:pPr marL="342900" indent="-342900"/>
            <a:r>
              <a:rPr kumimoji="1" lang="zh-CN" altLang="en-US" sz="2400" b="1">
                <a:latin typeface="Times New Roman" pitchFamily="18" charset="0"/>
                <a:ea typeface="楷体_GB2312" pitchFamily="49" charset="-122"/>
              </a:rPr>
              <a:t>    链是两个或多个对象之间的独立连接，它是关联的实例。</a:t>
            </a:r>
          </a:p>
        </p:txBody>
      </p:sp>
      <p:sp>
        <p:nvSpPr>
          <p:cNvPr id="1371139" name="Rectangle 3"/>
          <p:cNvSpPr>
            <a:spLocks noChangeArrowheads="1"/>
          </p:cNvSpPr>
          <p:nvPr/>
        </p:nvSpPr>
        <p:spPr bwMode="auto">
          <a:xfrm>
            <a:off x="574675" y="304800"/>
            <a:ext cx="8001000" cy="1216025"/>
          </a:xfrm>
          <a:prstGeom prst="rect">
            <a:avLst/>
          </a:prstGeom>
          <a:noFill/>
          <a:ln w="9525">
            <a:noFill/>
            <a:miter lim="800000"/>
            <a:headEnd/>
            <a:tailEnd/>
          </a:ln>
        </p:spPr>
        <p:txBody>
          <a:bodyPr anchor="b"/>
          <a:lstStyle/>
          <a:p>
            <a:r>
              <a:rPr lang="zh-CN" altLang="en-US" sz="3700" b="1">
                <a:solidFill>
                  <a:schemeClr val="tx2"/>
                </a:solidFill>
                <a:effectLst>
                  <a:outerShdw blurRad="38100" dist="38100" dir="2700000" algn="tl">
                    <a:srgbClr val="C0C0C0"/>
                  </a:outerShdw>
                </a:effectLst>
                <a:latin typeface="Verdana" pitchFamily="34" charset="0"/>
                <a:ea typeface="黑体" pitchFamily="2" charset="-122"/>
              </a:rPr>
              <a:t>对象图</a:t>
            </a:r>
            <a:r>
              <a:rPr lang="zh-CN" altLang="en-US" sz="3800">
                <a:solidFill>
                  <a:schemeClr val="tx2"/>
                </a:solidFill>
                <a:ea typeface="宋体" pitchFamily="2" charset="-122"/>
              </a:rPr>
              <a:t> </a:t>
            </a:r>
          </a:p>
        </p:txBody>
      </p:sp>
      <p:pic>
        <p:nvPicPr>
          <p:cNvPr id="1371140" name="Picture 4"/>
          <p:cNvPicPr>
            <a:picLocks noChangeAspect="1" noChangeArrowheads="1"/>
          </p:cNvPicPr>
          <p:nvPr/>
        </p:nvPicPr>
        <p:blipFill>
          <a:blip r:embed="rId2"/>
          <a:srcRect/>
          <a:stretch>
            <a:fillRect/>
          </a:stretch>
        </p:blipFill>
        <p:spPr bwMode="auto">
          <a:xfrm>
            <a:off x="1908175" y="3860800"/>
            <a:ext cx="5416550" cy="12334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ph type="sldNum" sz="quarter" idx="4294967295"/>
          </p:nvPr>
        </p:nvSpPr>
        <p:spPr>
          <a:xfrm>
            <a:off x="6553200" y="6248400"/>
            <a:ext cx="2133600" cy="457200"/>
          </a:xfrm>
          <a:prstGeom prst="rect">
            <a:avLst/>
          </a:prstGeom>
        </p:spPr>
        <p:txBody>
          <a:bodyPr/>
          <a:lstStyle/>
          <a:p>
            <a:fld id="{42A13487-ACC7-4BD7-AC28-96AD1D50812A}" type="slidenum">
              <a:rPr lang="zh-CN" altLang="en-US"/>
              <a:pPr/>
              <a:t>13</a:t>
            </a:fld>
            <a:r>
              <a:rPr lang="en-US" altLang="zh-CN"/>
              <a:t>/74</a:t>
            </a:r>
          </a:p>
        </p:txBody>
      </p:sp>
      <p:sp>
        <p:nvSpPr>
          <p:cNvPr id="1372162" name="Rectangle 2"/>
          <p:cNvSpPr>
            <a:spLocks noGrp="1" noChangeArrowheads="1"/>
          </p:cNvSpPr>
          <p:nvPr>
            <p:ph type="title"/>
          </p:nvPr>
        </p:nvSpPr>
        <p:spPr/>
        <p:txBody>
          <a:bodyPr/>
          <a:lstStyle/>
          <a:p>
            <a:r>
              <a:rPr lang="zh-CN" altLang="en-US" sz="3700" b="1">
                <a:effectLst>
                  <a:outerShdw blurRad="38100" dist="38100" dir="2700000" algn="tl">
                    <a:srgbClr val="C0C0C0"/>
                  </a:outerShdw>
                </a:effectLst>
                <a:latin typeface="Verdana" pitchFamily="34" charset="0"/>
                <a:ea typeface="黑体" pitchFamily="2" charset="-122"/>
              </a:rPr>
              <a:t>类图和对象图的区别</a:t>
            </a:r>
            <a:r>
              <a:rPr lang="zh-CN" altLang="en-US"/>
              <a:t> </a:t>
            </a:r>
          </a:p>
        </p:txBody>
      </p:sp>
      <p:graphicFrame>
        <p:nvGraphicFramePr>
          <p:cNvPr id="1372163" name="Group 3"/>
          <p:cNvGraphicFramePr>
            <a:graphicFrameLocks noGrp="1"/>
          </p:cNvGraphicFramePr>
          <p:nvPr>
            <p:ph idx="1"/>
          </p:nvPr>
        </p:nvGraphicFramePr>
        <p:xfrm>
          <a:off x="576263" y="1752600"/>
          <a:ext cx="8034337" cy="4828800"/>
        </p:xfrm>
        <a:graphic>
          <a:graphicData uri="http://schemas.openxmlformats.org/drawingml/2006/table">
            <a:tbl>
              <a:tblPr/>
              <a:tblGrid>
                <a:gridCol w="3462337"/>
                <a:gridCol w="4572000"/>
              </a:tblGrid>
              <a:tr h="3810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rgbClr val="FF0000"/>
                          </a:solidFill>
                          <a:effectLst/>
                          <a:latin typeface="Arial" charset="0"/>
                          <a:ea typeface="宋体" pitchFamily="2" charset="-122"/>
                        </a:rPr>
                        <a:t>类图</a:t>
                      </a:r>
                      <a:r>
                        <a:rPr kumimoji="0" lang="zh-CN" altLang="en-US" sz="2000" b="1" i="0" u="none" strike="noStrike" cap="none" normalizeH="0" baseline="0" smtClean="0">
                          <a:ln>
                            <a:noFill/>
                          </a:ln>
                          <a:solidFill>
                            <a:schemeClr val="tx1"/>
                          </a:solidFill>
                          <a:effectLst/>
                          <a:latin typeface="Arial" charset="0"/>
                          <a:ea typeface="宋体" pitchFamily="2" charset="-122"/>
                        </a:rPr>
                        <a:t> </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1" i="0" u="none" strike="noStrike" cap="none" normalizeH="0" baseline="0" smtClean="0">
                          <a:ln>
                            <a:noFill/>
                          </a:ln>
                          <a:solidFill>
                            <a:srgbClr val="FF0000"/>
                          </a:solidFill>
                          <a:effectLst/>
                          <a:latin typeface="Arial" charset="0"/>
                          <a:ea typeface="宋体" pitchFamily="2" charset="-122"/>
                        </a:rPr>
                        <a:t>对象图</a:t>
                      </a:r>
                      <a:r>
                        <a:rPr kumimoji="0" lang="zh-CN" altLang="en-US" sz="2000" b="1" i="0" u="none" strike="noStrike" cap="none" normalizeH="0" baseline="0" smtClean="0">
                          <a:ln>
                            <a:noFill/>
                          </a:ln>
                          <a:solidFill>
                            <a:schemeClr val="tx1"/>
                          </a:solidFill>
                          <a:effectLst/>
                          <a:latin typeface="Arial" charset="0"/>
                          <a:ea typeface="宋体" pitchFamily="2" charset="-122"/>
                        </a:rPr>
                        <a:t>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类通常具有三个分栏：名称、属性和操作</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对象通常只有两个分栏：名称和属性</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78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在类的名称分栏中只有类名</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对象名称形式为“对象名：类名”，匿名对象名称形式为“：类名”；有下划线</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61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类中列出了操作</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对象图中不包含操作，因为对于属于同一个类的对象而言，其操作是相同的</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239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类使用关联连接，关联使用名称、角色、多重性以及约束等特征定义。</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对象使用链连接，链拥有名称、角色，但是没有多重性。对象代表的是单独的实体，所有的链都是一对一的，因此不涉及到多重性</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类的属性分栏定义了所有属性的特征</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zh-CN" altLang="en-US" sz="2000" b="0" i="0" u="none" strike="noStrike" cap="none" normalizeH="0" baseline="0" smtClean="0">
                          <a:ln>
                            <a:noFill/>
                          </a:ln>
                          <a:solidFill>
                            <a:schemeClr val="tx1"/>
                          </a:solidFill>
                          <a:effectLst/>
                          <a:latin typeface="Arial" charset="0"/>
                          <a:ea typeface="宋体" pitchFamily="2" charset="-122"/>
                        </a:rPr>
                        <a:t>对象则只定义了属性的</a:t>
                      </a:r>
                      <a:r>
                        <a:rPr kumimoji="0" lang="zh-CN" altLang="en-US" sz="2000" b="1" i="0" u="none" strike="noStrike" cap="none" normalizeH="0" baseline="0" smtClean="0">
                          <a:ln>
                            <a:noFill/>
                          </a:ln>
                          <a:solidFill>
                            <a:srgbClr val="FF9966"/>
                          </a:solidFill>
                          <a:effectLst/>
                          <a:latin typeface="Arial" charset="0"/>
                          <a:ea typeface="宋体" pitchFamily="2" charset="-122"/>
                        </a:rPr>
                        <a:t>当前值</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021F58FA-45B4-4904-B719-FFB289AA3097}" type="slidenum">
              <a:rPr lang="zh-CN" altLang="en-US"/>
              <a:pPr/>
              <a:t>14</a:t>
            </a:fld>
            <a:r>
              <a:rPr lang="en-US" altLang="zh-CN"/>
              <a:t>/74</a:t>
            </a:r>
          </a:p>
        </p:txBody>
      </p:sp>
      <p:sp>
        <p:nvSpPr>
          <p:cNvPr id="1373186"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主要内容</a:t>
            </a:r>
          </a:p>
        </p:txBody>
      </p:sp>
      <p:sp>
        <p:nvSpPr>
          <p:cNvPr id="1373187" name="Rectangle 3"/>
          <p:cNvSpPr>
            <a:spLocks noChangeArrowheads="1"/>
          </p:cNvSpPr>
          <p:nvPr/>
        </p:nvSpPr>
        <p:spPr bwMode="auto">
          <a:xfrm>
            <a:off x="612775" y="1914525"/>
            <a:ext cx="7488238" cy="2882900"/>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对象的概念与特性</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对象与类的关系</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对象图的表示法</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如何绘制对象图</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对象图应用说明</a:t>
            </a:r>
          </a:p>
        </p:txBody>
      </p:sp>
      <p:pic>
        <p:nvPicPr>
          <p:cNvPr id="1373188" name="Picture 4" descr="bg1"/>
          <p:cNvPicPr>
            <a:picLocks noChangeAspect="1" noChangeArrowheads="1"/>
          </p:cNvPicPr>
          <p:nvPr/>
        </p:nvPicPr>
        <p:blipFill>
          <a:blip r:embed="rId2"/>
          <a:srcRect/>
          <a:stretch>
            <a:fillRect/>
          </a:stretch>
        </p:blipFill>
        <p:spPr bwMode="auto">
          <a:xfrm>
            <a:off x="6172200" y="4535488"/>
            <a:ext cx="2971800" cy="2322512"/>
          </a:xfrm>
          <a:prstGeom prst="rect">
            <a:avLst/>
          </a:prstGeom>
          <a:noFill/>
          <a:effectLst/>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6344B51A-1E22-4E14-BA85-5B7D4DB8E718}" type="slidenum">
              <a:rPr lang="zh-CN" altLang="en-US"/>
              <a:pPr/>
              <a:t>15</a:t>
            </a:fld>
            <a:r>
              <a:rPr lang="en-US" altLang="zh-CN"/>
              <a:t>/74</a:t>
            </a:r>
          </a:p>
        </p:txBody>
      </p:sp>
      <p:sp>
        <p:nvSpPr>
          <p:cNvPr id="1374210"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对象图的建模</a:t>
            </a:r>
          </a:p>
        </p:txBody>
      </p:sp>
      <p:sp>
        <p:nvSpPr>
          <p:cNvPr id="1374211" name="Rectangle 3"/>
          <p:cNvSpPr>
            <a:spLocks noChangeArrowheads="1"/>
          </p:cNvSpPr>
          <p:nvPr/>
        </p:nvSpPr>
        <p:spPr bwMode="auto">
          <a:xfrm>
            <a:off x="468313" y="1698625"/>
            <a:ext cx="8070850" cy="3314700"/>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确定参与交互的各对象的类，参照类图和交互图 </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确定对象之间的关系</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针对交互在特定时刻各个对象的状态，使用对象图建模</a:t>
            </a:r>
          </a:p>
        </p:txBody>
      </p:sp>
      <p:pic>
        <p:nvPicPr>
          <p:cNvPr id="1374212" name="Picture 4" descr="bg1"/>
          <p:cNvPicPr>
            <a:picLocks noChangeAspect="1" noChangeArrowheads="1"/>
          </p:cNvPicPr>
          <p:nvPr/>
        </p:nvPicPr>
        <p:blipFill>
          <a:blip r:embed="rId2"/>
          <a:srcRect/>
          <a:stretch>
            <a:fillRect/>
          </a:stretch>
        </p:blipFill>
        <p:spPr bwMode="auto">
          <a:xfrm>
            <a:off x="6172200" y="4535488"/>
            <a:ext cx="2971800" cy="2322512"/>
          </a:xfrm>
          <a:prstGeom prst="rect">
            <a:avLst/>
          </a:prstGeom>
          <a:noFill/>
          <a:effec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BBFF1739-E697-487F-8E1D-835C2A111CA1}" type="slidenum">
              <a:rPr lang="zh-CN" altLang="en-US"/>
              <a:pPr/>
              <a:t>16</a:t>
            </a:fld>
            <a:r>
              <a:rPr lang="en-US" altLang="zh-CN"/>
              <a:t>/74</a:t>
            </a:r>
          </a:p>
        </p:txBody>
      </p:sp>
      <p:sp>
        <p:nvSpPr>
          <p:cNvPr id="1375234" name="Text Box 2"/>
          <p:cNvSpPr txBox="1">
            <a:spLocks noChangeArrowheads="1"/>
          </p:cNvSpPr>
          <p:nvPr/>
        </p:nvSpPr>
        <p:spPr bwMode="auto">
          <a:xfrm>
            <a:off x="536575" y="1479550"/>
            <a:ext cx="7921625" cy="2527300"/>
          </a:xfrm>
          <a:prstGeom prst="rect">
            <a:avLst/>
          </a:prstGeom>
          <a:noFill/>
          <a:ln w="9525" algn="ctr">
            <a:noFill/>
            <a:miter lim="800000"/>
            <a:headEnd/>
            <a:tailEnd/>
          </a:ln>
          <a:effectLst/>
        </p:spPr>
        <p:txBody>
          <a:bodyPr>
            <a:spAutoFit/>
          </a:bodyPr>
          <a:lstStyle/>
          <a:p>
            <a:endParaRPr lang="zh-CN" altLang="en-US" sz="3200">
              <a:latin typeface="隶书" pitchFamily="49" charset="-122"/>
              <a:ea typeface="隶书" pitchFamily="49" charset="-122"/>
            </a:endParaRPr>
          </a:p>
          <a:p>
            <a:r>
              <a:rPr kumimoji="1" lang="zh-CN" altLang="en-US" sz="2400" b="1">
                <a:latin typeface="Times New Roman" pitchFamily="18" charset="0"/>
                <a:ea typeface="楷体_GB2312" pitchFamily="49" charset="-122"/>
              </a:rPr>
              <a:t>对象图无须提供单独的形式。类图中就包含了对象，所以只有对象而无类的类图就是一个“对象图”。</a:t>
            </a:r>
          </a:p>
          <a:p>
            <a:endParaRPr kumimoji="1" lang="zh-CN" altLang="en-US" sz="2400" b="1">
              <a:latin typeface="Times New Roman" pitchFamily="18" charset="0"/>
              <a:ea typeface="楷体_GB2312" pitchFamily="49" charset="-122"/>
            </a:endParaRPr>
          </a:p>
          <a:p>
            <a:r>
              <a:rPr kumimoji="1" lang="zh-CN" altLang="en-US" sz="2400" b="1">
                <a:latin typeface="Times New Roman" pitchFamily="18" charset="0"/>
                <a:ea typeface="楷体_GB2312" pitchFamily="49" charset="-122"/>
              </a:rPr>
              <a:t>在</a:t>
            </a:r>
            <a:r>
              <a:rPr kumimoji="1" lang="en-US" altLang="zh-CN" sz="2400" b="1">
                <a:latin typeface="Times New Roman" pitchFamily="18" charset="0"/>
                <a:ea typeface="楷体_GB2312" pitchFamily="49" charset="-122"/>
              </a:rPr>
              <a:t>Rational Rose 2003</a:t>
            </a:r>
            <a:r>
              <a:rPr kumimoji="1" lang="zh-CN" altLang="en-US" sz="2400" b="1">
                <a:latin typeface="Times New Roman" pitchFamily="18" charset="0"/>
                <a:ea typeface="楷体_GB2312" pitchFamily="49" charset="-122"/>
              </a:rPr>
              <a:t>中不直接支持对象图的创建，但是可以利用协作图来创建。</a:t>
            </a:r>
            <a:r>
              <a:rPr lang="zh-CN" altLang="en-US" sz="3200">
                <a:latin typeface="隶书" pitchFamily="49" charset="-122"/>
                <a:ea typeface="隶书" pitchFamily="49" charset="-122"/>
              </a:rPr>
              <a:t> </a:t>
            </a:r>
          </a:p>
        </p:txBody>
      </p:sp>
      <p:sp>
        <p:nvSpPr>
          <p:cNvPr id="1375235" name="Rectangle 3"/>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对象图的建模</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16781D45-1523-48D9-9A72-28D19E909E76}" type="slidenum">
              <a:rPr lang="zh-CN" altLang="en-US"/>
              <a:pPr/>
              <a:t>17</a:t>
            </a:fld>
            <a:r>
              <a:rPr lang="en-US" altLang="zh-CN"/>
              <a:t>/74</a:t>
            </a:r>
          </a:p>
        </p:txBody>
      </p:sp>
      <p:sp>
        <p:nvSpPr>
          <p:cNvPr id="1376258"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主要内容</a:t>
            </a:r>
          </a:p>
        </p:txBody>
      </p:sp>
      <p:sp>
        <p:nvSpPr>
          <p:cNvPr id="1376259" name="Rectangle 3"/>
          <p:cNvSpPr>
            <a:spLocks noChangeArrowheads="1"/>
          </p:cNvSpPr>
          <p:nvPr/>
        </p:nvSpPr>
        <p:spPr bwMode="auto">
          <a:xfrm>
            <a:off x="612775" y="1914525"/>
            <a:ext cx="7488238" cy="2882900"/>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对象的概念与特性</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对象与类的关系</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对象图的表示法</a:t>
            </a:r>
          </a:p>
          <a:p>
            <a:pPr marL="457200" indent="-457200">
              <a:lnSpc>
                <a:spcPct val="125000"/>
              </a:lnSpc>
              <a:spcBef>
                <a:spcPct val="20000"/>
              </a:spcBef>
              <a:buClr>
                <a:srgbClr val="FF0000"/>
              </a:buClr>
              <a:buSzPct val="200000"/>
              <a:buFontTx/>
              <a:buChar char="•"/>
            </a:pPr>
            <a:r>
              <a:rPr kumimoji="1" lang="zh-CN" altLang="en-US" sz="2400" b="1">
                <a:solidFill>
                  <a:schemeClr val="bg2"/>
                </a:solidFill>
                <a:latin typeface="Times New Roman" pitchFamily="18" charset="0"/>
                <a:ea typeface="楷体_GB2312" pitchFamily="49" charset="-122"/>
              </a:rPr>
              <a:t>如何绘制对象图</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对象图应用说明</a:t>
            </a:r>
          </a:p>
        </p:txBody>
      </p:sp>
      <p:pic>
        <p:nvPicPr>
          <p:cNvPr id="1376260" name="Picture 4" descr="bg1"/>
          <p:cNvPicPr>
            <a:picLocks noChangeAspect="1" noChangeArrowheads="1"/>
          </p:cNvPicPr>
          <p:nvPr/>
        </p:nvPicPr>
        <p:blipFill>
          <a:blip r:embed="rId2"/>
          <a:srcRect/>
          <a:stretch>
            <a:fillRect/>
          </a:stretch>
        </p:blipFill>
        <p:spPr bwMode="auto">
          <a:xfrm>
            <a:off x="6172200" y="4535488"/>
            <a:ext cx="2971800" cy="2322512"/>
          </a:xfrm>
          <a:prstGeom prst="rect">
            <a:avLst/>
          </a:prstGeom>
          <a:noFill/>
          <a:effectLst/>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8EA0329F-8E62-429E-BCB2-BA89FA47F0F6}" type="slidenum">
              <a:rPr lang="zh-CN" altLang="en-US"/>
              <a:pPr/>
              <a:t>18</a:t>
            </a:fld>
            <a:r>
              <a:rPr lang="en-US" altLang="zh-CN"/>
              <a:t>/74</a:t>
            </a:r>
          </a:p>
        </p:txBody>
      </p:sp>
      <p:sp>
        <p:nvSpPr>
          <p:cNvPr id="1377282" name="Rectangle 2"/>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对象图应用说明</a:t>
            </a:r>
          </a:p>
        </p:txBody>
      </p:sp>
      <p:sp>
        <p:nvSpPr>
          <p:cNvPr id="1377283" name="Rectangle 3"/>
          <p:cNvSpPr>
            <a:spLocks noChangeArrowheads="1"/>
          </p:cNvSpPr>
          <p:nvPr/>
        </p:nvSpPr>
        <p:spPr bwMode="auto">
          <a:xfrm>
            <a:off x="468313" y="1771650"/>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当设计了类模型时，你可以通过对象图来模拟出一个运行时的状态，这样就可以研究在运行时设计的合理性。同时，也可以作为开发人员讨论的一个基础。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7283">
                                            <p:txEl>
                                              <p:pRg st="0" end="0"/>
                                            </p:txEl>
                                          </p:spTgt>
                                        </p:tgtEl>
                                        <p:attrNameLst>
                                          <p:attrName>style.visibility</p:attrName>
                                        </p:attrNameLst>
                                      </p:cBhvr>
                                      <p:to>
                                        <p:strVal val="visible"/>
                                      </p:to>
                                    </p:set>
                                    <p:animEffect transition="in" filter="blinds(horizontal)">
                                      <p:cBhvr>
                                        <p:cTn id="7" dur="500"/>
                                        <p:tgtEl>
                                          <p:spTgt spid="13772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06B428A2-8E49-4F82-9B72-EA0EAD2DF43C}" type="slidenum">
              <a:rPr lang="zh-CN" altLang="en-US"/>
              <a:pPr/>
              <a:t>19</a:t>
            </a:fld>
            <a:r>
              <a:rPr lang="en-US" altLang="zh-CN"/>
              <a:t>/74</a:t>
            </a:r>
          </a:p>
        </p:txBody>
      </p:sp>
      <p:sp>
        <p:nvSpPr>
          <p:cNvPr id="1380354" name="Rectangle 2"/>
          <p:cNvSpPr>
            <a:spLocks noChangeArrowheads="1"/>
          </p:cNvSpPr>
          <p:nvPr/>
        </p:nvSpPr>
        <p:spPr bwMode="auto">
          <a:xfrm>
            <a:off x="700088" y="1773238"/>
            <a:ext cx="8193087" cy="220980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kumimoji="1" lang="zh-CN" altLang="en-US" sz="2400" b="1">
                <a:latin typeface="Times New Roman" pitchFamily="18" charset="0"/>
                <a:ea typeface="楷体_GB2312" pitchFamily="49" charset="-122"/>
                <a:cs typeface="Tahoma" pitchFamily="34" charset="0"/>
              </a:rPr>
              <a:t>属性是对象的一个特性，在</a:t>
            </a:r>
            <a:r>
              <a:rPr kumimoji="1" lang="en-US" altLang="zh-CN" sz="2400" b="1">
                <a:latin typeface="Times New Roman" pitchFamily="18" charset="0"/>
                <a:ea typeface="楷体_GB2312" pitchFamily="49" charset="-122"/>
                <a:cs typeface="Tahoma" pitchFamily="34" charset="0"/>
              </a:rPr>
              <a:t>UML</a:t>
            </a:r>
            <a:r>
              <a:rPr kumimoji="1" lang="zh-CN" altLang="en-US" sz="2400" b="1">
                <a:latin typeface="Times New Roman" pitchFamily="18" charset="0"/>
                <a:ea typeface="楷体_GB2312" pitchFamily="49" charset="-122"/>
                <a:cs typeface="Tahoma" pitchFamily="34" charset="0"/>
              </a:rPr>
              <a:t>中，每个属性都可以指定一个类型，可以是基本类型或者类类型</a:t>
            </a:r>
            <a:endParaRPr kumimoji="1" lang="en-US" altLang="zh-CN" sz="2400" b="1">
              <a:latin typeface="Times New Roman" pitchFamily="18" charset="0"/>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r>
              <a:rPr kumimoji="1" lang="zh-CN" altLang="en-US" sz="2400" b="1">
                <a:latin typeface="Times New Roman" pitchFamily="18" charset="0"/>
                <a:ea typeface="楷体_GB2312" pitchFamily="49" charset="-122"/>
                <a:cs typeface="Tahoma" pitchFamily="34" charset="0"/>
              </a:rPr>
              <a:t>为简单起见，应避免在制品中包含派生的属性</a:t>
            </a:r>
          </a:p>
          <a:p>
            <a:pPr indent="442913" eaLnBrk="0" hangingPunct="0">
              <a:spcBef>
                <a:spcPct val="20000"/>
              </a:spcBef>
              <a:spcAft>
                <a:spcPct val="20000"/>
              </a:spcAft>
              <a:buFont typeface="Wingdings" pitchFamily="2" charset="2"/>
              <a:buChar char="¯"/>
            </a:pPr>
            <a:r>
              <a:rPr kumimoji="1" lang="zh-CN" altLang="en-US" sz="2400" b="1">
                <a:latin typeface="Times New Roman" pitchFamily="18" charset="0"/>
                <a:ea typeface="楷体_GB2312" pitchFamily="49" charset="-122"/>
                <a:cs typeface="Tahoma" pitchFamily="34" charset="0"/>
              </a:rPr>
              <a:t>例如圆的属性可有半径、直径、周长和面积，但只要存储其中的一个属性即可，其余属性可以在运行期间计算出来</a:t>
            </a:r>
          </a:p>
        </p:txBody>
      </p:sp>
      <p:sp>
        <p:nvSpPr>
          <p:cNvPr id="1380355" name="Rectangle 3"/>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0354">
                                            <p:txEl>
                                              <p:pRg st="0" end="0"/>
                                            </p:txEl>
                                          </p:spTgt>
                                        </p:tgtEl>
                                        <p:attrNameLst>
                                          <p:attrName>style.visibility</p:attrName>
                                        </p:attrNameLst>
                                      </p:cBhvr>
                                      <p:to>
                                        <p:strVal val="visible"/>
                                      </p:to>
                                    </p:set>
                                    <p:animEffect transition="in" filter="blinds(horizontal)">
                                      <p:cBhvr>
                                        <p:cTn id="7" dur="500"/>
                                        <p:tgtEl>
                                          <p:spTgt spid="1380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80354">
                                            <p:txEl>
                                              <p:pRg st="1" end="1"/>
                                            </p:txEl>
                                          </p:spTgt>
                                        </p:tgtEl>
                                        <p:attrNameLst>
                                          <p:attrName>style.visibility</p:attrName>
                                        </p:attrNameLst>
                                      </p:cBhvr>
                                      <p:to>
                                        <p:strVal val="visible"/>
                                      </p:to>
                                    </p:set>
                                    <p:animEffect transition="in" filter="blinds(horizontal)">
                                      <p:cBhvr>
                                        <p:cTn id="12" dur="500"/>
                                        <p:tgtEl>
                                          <p:spTgt spid="13803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80354">
                                            <p:txEl>
                                              <p:pRg st="2" end="2"/>
                                            </p:txEl>
                                          </p:spTgt>
                                        </p:tgtEl>
                                        <p:attrNameLst>
                                          <p:attrName>style.visibility</p:attrName>
                                        </p:attrNameLst>
                                      </p:cBhvr>
                                      <p:to>
                                        <p:strVal val="visible"/>
                                      </p:to>
                                    </p:set>
                                    <p:animEffect transition="in" filter="box(in)">
                                      <p:cBhvr>
                                        <p:cTn id="17" dur="500"/>
                                        <p:tgtEl>
                                          <p:spTgt spid="13803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4EB77F0A-6477-4264-97BB-3DF33A9D574F}" type="slidenum">
              <a:rPr lang="zh-CN" altLang="en-US"/>
              <a:pPr/>
              <a:t>20</a:t>
            </a:fld>
            <a:r>
              <a:rPr lang="en-US" altLang="zh-CN"/>
              <a:t>/74</a:t>
            </a:r>
          </a:p>
        </p:txBody>
      </p:sp>
      <p:sp>
        <p:nvSpPr>
          <p:cNvPr id="1381378" name="Rectangle 2"/>
          <p:cNvSpPr>
            <a:spLocks noChangeArrowheads="1"/>
          </p:cNvSpPr>
          <p:nvPr/>
        </p:nvSpPr>
        <p:spPr bwMode="auto">
          <a:xfrm>
            <a:off x="684213" y="1816100"/>
            <a:ext cx="3028950" cy="519113"/>
          </a:xfrm>
          <a:prstGeom prst="rect">
            <a:avLst/>
          </a:prstGeom>
          <a:noFill/>
          <a:ln w="9525">
            <a:noFill/>
            <a:miter lim="800000"/>
            <a:headEnd/>
            <a:tailEnd/>
          </a:ln>
          <a:effectLst/>
        </p:spPr>
        <p:txBody>
          <a:bodyPr wrap="none">
            <a:spAutoFit/>
          </a:bodyPr>
          <a:lstStyle/>
          <a:p>
            <a:pPr eaLnBrk="0" hangingPunct="0"/>
            <a:r>
              <a:rPr kumimoji="1" lang="zh-CN" altLang="en-US" sz="2800" b="1">
                <a:solidFill>
                  <a:srgbClr val="FF9966"/>
                </a:solidFill>
                <a:latin typeface="华文行楷" pitchFamily="2" charset="-122"/>
                <a:ea typeface="华文行楷" pitchFamily="2" charset="-122"/>
                <a:cs typeface="Tahoma" pitchFamily="34" charset="0"/>
              </a:rPr>
              <a:t>选择属性还是关系</a:t>
            </a:r>
          </a:p>
        </p:txBody>
      </p:sp>
      <p:sp>
        <p:nvSpPr>
          <p:cNvPr id="1381379" name="Rectangle 3"/>
          <p:cNvSpPr>
            <a:spLocks noChangeArrowheads="1"/>
          </p:cNvSpPr>
          <p:nvPr/>
        </p:nvSpPr>
        <p:spPr bwMode="auto">
          <a:xfrm>
            <a:off x="700088" y="2400300"/>
            <a:ext cx="7832725"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在为信息建模时，对于同一个问题，往往存在多种方法，我们需要进行选择</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graphicFrame>
        <p:nvGraphicFramePr>
          <p:cNvPr id="1381380" name="Object 4"/>
          <p:cNvGraphicFramePr>
            <a:graphicFrameLocks noChangeAspect="1"/>
          </p:cNvGraphicFramePr>
          <p:nvPr/>
        </p:nvGraphicFramePr>
        <p:xfrm>
          <a:off x="2057400" y="3403600"/>
          <a:ext cx="4824413" cy="3073400"/>
        </p:xfrm>
        <a:graphic>
          <a:graphicData uri="http://schemas.openxmlformats.org/presentationml/2006/ole">
            <p:oleObj spid="_x0000_s22530" name="Image" r:id="rId3" imgW="4266667" imgH="2717460" progId="">
              <p:embed/>
            </p:oleObj>
          </a:graphicData>
        </a:graphic>
      </p:graphicFrame>
      <p:sp>
        <p:nvSpPr>
          <p:cNvPr id="1381381" name="Rectangle 5"/>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1378">
                                            <p:txEl>
                                              <p:pRg st="0" end="0"/>
                                            </p:txEl>
                                          </p:spTgt>
                                        </p:tgtEl>
                                        <p:attrNameLst>
                                          <p:attrName>style.visibility</p:attrName>
                                        </p:attrNameLst>
                                      </p:cBhvr>
                                      <p:to>
                                        <p:strVal val="visible"/>
                                      </p:to>
                                    </p:set>
                                    <p:animEffect transition="in" filter="blinds(horizontal)">
                                      <p:cBhvr>
                                        <p:cTn id="7" dur="500"/>
                                        <p:tgtEl>
                                          <p:spTgt spid="13813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81379">
                                            <p:txEl>
                                              <p:pRg st="0" end="0"/>
                                            </p:txEl>
                                          </p:spTgt>
                                        </p:tgtEl>
                                        <p:attrNameLst>
                                          <p:attrName>style.visibility</p:attrName>
                                        </p:attrNameLst>
                                      </p:cBhvr>
                                      <p:to>
                                        <p:strVal val="visible"/>
                                      </p:to>
                                    </p:set>
                                    <p:animEffect transition="in" filter="blinds(horizontal)">
                                      <p:cBhvr>
                                        <p:cTn id="12" dur="500"/>
                                        <p:tgtEl>
                                          <p:spTgt spid="13813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81380"/>
                                        </p:tgtEl>
                                        <p:attrNameLst>
                                          <p:attrName>style.visibility</p:attrName>
                                        </p:attrNameLst>
                                      </p:cBhvr>
                                      <p:to>
                                        <p:strVal val="visible"/>
                                      </p:to>
                                    </p:set>
                                    <p:anim calcmode="lin" valueType="num">
                                      <p:cBhvr additive="base">
                                        <p:cTn id="17" dur="500" fill="hold"/>
                                        <p:tgtEl>
                                          <p:spTgt spid="1381380"/>
                                        </p:tgtEl>
                                        <p:attrNameLst>
                                          <p:attrName>ppt_x</p:attrName>
                                        </p:attrNameLst>
                                      </p:cBhvr>
                                      <p:tavLst>
                                        <p:tav tm="0">
                                          <p:val>
                                            <p:strVal val="#ppt_x"/>
                                          </p:val>
                                        </p:tav>
                                        <p:tav tm="100000">
                                          <p:val>
                                            <p:strVal val="#ppt_x"/>
                                          </p:val>
                                        </p:tav>
                                      </p:tavLst>
                                    </p:anim>
                                    <p:anim calcmode="lin" valueType="num">
                                      <p:cBhvr additive="base">
                                        <p:cTn id="18" dur="500" fill="hold"/>
                                        <p:tgtEl>
                                          <p:spTgt spid="13813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5E1AE7E6-0BF8-4FF4-8BAE-969DD02C18DD}" type="slidenum">
              <a:rPr lang="zh-CN" altLang="en-US"/>
              <a:pPr/>
              <a:t>21</a:t>
            </a:fld>
            <a:r>
              <a:rPr lang="en-US" altLang="zh-CN"/>
              <a:t>/74</a:t>
            </a:r>
          </a:p>
        </p:txBody>
      </p:sp>
      <p:sp>
        <p:nvSpPr>
          <p:cNvPr id="1382402" name="Rectangle 2"/>
          <p:cNvSpPr>
            <a:spLocks noChangeArrowheads="1"/>
          </p:cNvSpPr>
          <p:nvPr/>
        </p:nvSpPr>
        <p:spPr bwMode="auto">
          <a:xfrm>
            <a:off x="684213" y="1816100"/>
            <a:ext cx="3028950" cy="519113"/>
          </a:xfrm>
          <a:prstGeom prst="rect">
            <a:avLst/>
          </a:prstGeom>
          <a:noFill/>
          <a:ln w="9525">
            <a:noFill/>
            <a:miter lim="800000"/>
            <a:headEnd/>
            <a:tailEnd/>
          </a:ln>
          <a:effectLst/>
        </p:spPr>
        <p:txBody>
          <a:bodyPr wrap="none">
            <a:spAutoFit/>
          </a:bodyPr>
          <a:lstStyle/>
          <a:p>
            <a:pPr eaLnBrk="0" hangingPunct="0"/>
            <a:r>
              <a:rPr kumimoji="1" lang="zh-CN" altLang="en-US" sz="2800" b="1">
                <a:solidFill>
                  <a:srgbClr val="FF9966"/>
                </a:solidFill>
                <a:latin typeface="华文行楷" pitchFamily="2" charset="-122"/>
                <a:ea typeface="华文行楷" pitchFamily="2" charset="-122"/>
                <a:cs typeface="Tahoma" pitchFamily="34" charset="0"/>
              </a:rPr>
              <a:t>选择属性还是关系</a:t>
            </a:r>
          </a:p>
        </p:txBody>
      </p:sp>
      <p:sp>
        <p:nvSpPr>
          <p:cNvPr id="1382403" name="Rectangle 3"/>
          <p:cNvSpPr>
            <a:spLocks noChangeArrowheads="1"/>
          </p:cNvSpPr>
          <p:nvPr/>
        </p:nvSpPr>
        <p:spPr bwMode="auto">
          <a:xfrm>
            <a:off x="700088" y="2400300"/>
            <a:ext cx="7832725"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哪个建模选项最适合？那种建模方式最自然？</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graphicFrame>
        <p:nvGraphicFramePr>
          <p:cNvPr id="1382404" name="Object 4"/>
          <p:cNvGraphicFramePr>
            <a:graphicFrameLocks noChangeAspect="1"/>
          </p:cNvGraphicFramePr>
          <p:nvPr/>
        </p:nvGraphicFramePr>
        <p:xfrm>
          <a:off x="2339975" y="3284538"/>
          <a:ext cx="4824413" cy="3073400"/>
        </p:xfrm>
        <a:graphic>
          <a:graphicData uri="http://schemas.openxmlformats.org/presentationml/2006/ole">
            <p:oleObj spid="_x0000_s23554" name="Image" r:id="rId3" imgW="4266667" imgH="2717460" progId="">
              <p:embed/>
            </p:oleObj>
          </a:graphicData>
        </a:graphic>
      </p:graphicFrame>
      <p:sp>
        <p:nvSpPr>
          <p:cNvPr id="1382405" name="Rectangle 5"/>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82403"/>
                                        </p:tgtEl>
                                        <p:attrNameLst>
                                          <p:attrName>style.visibility</p:attrName>
                                        </p:attrNameLst>
                                      </p:cBhvr>
                                      <p:to>
                                        <p:strVal val="visible"/>
                                      </p:to>
                                    </p:set>
                                    <p:animEffect transition="in" filter="box(in)">
                                      <p:cBhvr>
                                        <p:cTn id="7" dur="500"/>
                                        <p:tgtEl>
                                          <p:spTgt spid="1382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7951F620-6512-47D3-93BD-E559E70F9978}" type="slidenum">
              <a:rPr lang="zh-CN" altLang="en-US"/>
              <a:pPr/>
              <a:t>22</a:t>
            </a:fld>
            <a:r>
              <a:rPr lang="en-US" altLang="zh-CN"/>
              <a:t>/74</a:t>
            </a:r>
          </a:p>
        </p:txBody>
      </p:sp>
      <p:sp>
        <p:nvSpPr>
          <p:cNvPr id="1383426" name="Rectangle 2"/>
          <p:cNvSpPr>
            <a:spLocks noChangeArrowheads="1"/>
          </p:cNvSpPr>
          <p:nvPr/>
        </p:nvSpPr>
        <p:spPr bwMode="auto">
          <a:xfrm>
            <a:off x="684213" y="1816100"/>
            <a:ext cx="3028950" cy="519113"/>
          </a:xfrm>
          <a:prstGeom prst="rect">
            <a:avLst/>
          </a:prstGeom>
          <a:noFill/>
          <a:ln w="9525">
            <a:noFill/>
            <a:miter lim="800000"/>
            <a:headEnd/>
            <a:tailEnd/>
          </a:ln>
          <a:effectLst/>
        </p:spPr>
        <p:txBody>
          <a:bodyPr wrap="none">
            <a:spAutoFit/>
          </a:bodyPr>
          <a:lstStyle/>
          <a:p>
            <a:pPr eaLnBrk="0" hangingPunct="0"/>
            <a:r>
              <a:rPr kumimoji="1" lang="zh-CN" altLang="en-US" sz="2800" b="1">
                <a:solidFill>
                  <a:srgbClr val="FF9966"/>
                </a:solidFill>
                <a:latin typeface="华文行楷" pitchFamily="2" charset="-122"/>
                <a:ea typeface="华文行楷" pitchFamily="2" charset="-122"/>
                <a:cs typeface="Tahoma" pitchFamily="34" charset="0"/>
              </a:rPr>
              <a:t>选择属性还是关系</a:t>
            </a:r>
          </a:p>
        </p:txBody>
      </p:sp>
      <p:sp>
        <p:nvSpPr>
          <p:cNvPr id="1383427" name="Rectangle 3"/>
          <p:cNvSpPr>
            <a:spLocks noChangeArrowheads="1"/>
          </p:cNvSpPr>
          <p:nvPr/>
        </p:nvSpPr>
        <p:spPr bwMode="auto">
          <a:xfrm>
            <a:off x="700088" y="2400300"/>
            <a:ext cx="8193087"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对于属性和关系的选择，没有确定的答案，需要结合问题域，反复斟酌，找出恰当的方式</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graphicFrame>
        <p:nvGraphicFramePr>
          <p:cNvPr id="1383428" name="Object 4"/>
          <p:cNvGraphicFramePr>
            <a:graphicFrameLocks noChangeAspect="1"/>
          </p:cNvGraphicFramePr>
          <p:nvPr/>
        </p:nvGraphicFramePr>
        <p:xfrm>
          <a:off x="2339975" y="3284538"/>
          <a:ext cx="4824413" cy="3073400"/>
        </p:xfrm>
        <a:graphic>
          <a:graphicData uri="http://schemas.openxmlformats.org/presentationml/2006/ole">
            <p:oleObj spid="_x0000_s24578" name="Image" r:id="rId3" imgW="4266667" imgH="2717460" progId="">
              <p:embed/>
            </p:oleObj>
          </a:graphicData>
        </a:graphic>
      </p:graphicFrame>
      <p:sp>
        <p:nvSpPr>
          <p:cNvPr id="1383429" name="Rectangle 5"/>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83427"/>
                                        </p:tgtEl>
                                        <p:attrNameLst>
                                          <p:attrName>style.visibility</p:attrName>
                                        </p:attrNameLst>
                                      </p:cBhvr>
                                      <p:to>
                                        <p:strVal val="visible"/>
                                      </p:to>
                                    </p:set>
                                    <p:animEffect transition="in" filter="box(in)">
                                      <p:cBhvr>
                                        <p:cTn id="7" dur="500"/>
                                        <p:tgtEl>
                                          <p:spTgt spid="138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34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1127080F-BE89-455E-B840-69D165EC5867}" type="slidenum">
              <a:rPr lang="zh-CN" altLang="en-US"/>
              <a:pPr/>
              <a:t>23</a:t>
            </a:fld>
            <a:r>
              <a:rPr lang="en-US" altLang="zh-CN"/>
              <a:t>/74</a:t>
            </a:r>
          </a:p>
        </p:txBody>
      </p:sp>
      <p:sp>
        <p:nvSpPr>
          <p:cNvPr id="1386498" name="Rectangle 2"/>
          <p:cNvSpPr>
            <a:spLocks noChangeArrowheads="1"/>
          </p:cNvSpPr>
          <p:nvPr/>
        </p:nvSpPr>
        <p:spPr bwMode="auto">
          <a:xfrm>
            <a:off x="700088" y="1773238"/>
            <a:ext cx="8193087"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关联偶尔也会有相关的信息或行为</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386499" name="Picture 3"/>
          <p:cNvPicPr>
            <a:picLocks noChangeAspect="1" noChangeArrowheads="1"/>
          </p:cNvPicPr>
          <p:nvPr/>
        </p:nvPicPr>
        <p:blipFill>
          <a:blip r:embed="rId3"/>
          <a:srcRect/>
          <a:stretch>
            <a:fillRect/>
          </a:stretch>
        </p:blipFill>
        <p:spPr bwMode="auto">
          <a:xfrm>
            <a:off x="1955800" y="2413000"/>
            <a:ext cx="4749800" cy="1778000"/>
          </a:xfrm>
          <a:prstGeom prst="rect">
            <a:avLst/>
          </a:prstGeom>
          <a:noFill/>
          <a:ln w="9525">
            <a:noFill/>
            <a:miter lim="800000"/>
            <a:headEnd/>
            <a:tailEnd/>
          </a:ln>
          <a:effectLst/>
        </p:spPr>
      </p:pic>
      <p:sp>
        <p:nvSpPr>
          <p:cNvPr id="1386500" name="Rectangle 4"/>
          <p:cNvSpPr>
            <a:spLocks noChangeArrowheads="1"/>
          </p:cNvSpPr>
          <p:nvPr/>
        </p:nvSpPr>
        <p:spPr bwMode="auto">
          <a:xfrm>
            <a:off x="701675" y="4349750"/>
            <a:ext cx="7758113" cy="14414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可以引入一个类来描述关联，称之为</a:t>
            </a:r>
            <a:r>
              <a:rPr lang="zh-CN" altLang="en-US" sz="2600" b="1">
                <a:solidFill>
                  <a:srgbClr val="FF9966"/>
                </a:solidFill>
                <a:effectLst>
                  <a:outerShdw blurRad="38100" dist="38100" dir="2700000" algn="tl">
                    <a:srgbClr val="C0C0C0"/>
                  </a:outerShdw>
                </a:effectLst>
                <a:latin typeface="楷体_GB2312" pitchFamily="49" charset="-122"/>
                <a:ea typeface="楷体_GB2312" pitchFamily="49" charset="-122"/>
                <a:cs typeface="Tahoma" pitchFamily="34" charset="0"/>
              </a:rPr>
              <a:t>关联类</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关联类表示的属性和操作仅因为关联的存在而存在：属性和操作与关联两端的对象都无关。</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sp>
        <p:nvSpPr>
          <p:cNvPr id="1386501" name="Rectangle 5"/>
          <p:cNvSpPr>
            <a:spLocks noChangeArrowheads="1"/>
          </p:cNvSpPr>
          <p:nvPr/>
        </p:nvSpPr>
        <p:spPr bwMode="auto">
          <a:xfrm>
            <a:off x="533400" y="5334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lang="zh-CN" altLang="en-US" sz="4000">
                <a:solidFill>
                  <a:schemeClr val="tx2"/>
                </a:solidFill>
                <a:effectLst>
                  <a:outerShdw blurRad="38100" dist="38100" dir="2700000" algn="tl">
                    <a:srgbClr val="C0C0C0"/>
                  </a:outerShdw>
                </a:effectLst>
                <a:latin typeface="Verdana" pitchFamily="34" charset="0"/>
                <a:ea typeface="黑体" pitchFamily="2" charset="-122"/>
              </a:rPr>
              <a:t>关联类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6498">
                                            <p:txEl>
                                              <p:pRg st="0" end="0"/>
                                            </p:txEl>
                                          </p:spTgt>
                                        </p:tgtEl>
                                        <p:attrNameLst>
                                          <p:attrName>style.visibility</p:attrName>
                                        </p:attrNameLst>
                                      </p:cBhvr>
                                      <p:to>
                                        <p:strVal val="visible"/>
                                      </p:to>
                                    </p:set>
                                    <p:animEffect transition="in" filter="blinds(horizontal)">
                                      <p:cBhvr>
                                        <p:cTn id="7" dur="500"/>
                                        <p:tgtEl>
                                          <p:spTgt spid="13864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86499"/>
                                        </p:tgtEl>
                                        <p:attrNameLst>
                                          <p:attrName>style.visibility</p:attrName>
                                        </p:attrNameLst>
                                      </p:cBhvr>
                                      <p:to>
                                        <p:strVal val="visible"/>
                                      </p:to>
                                    </p:set>
                                    <p:anim calcmode="lin" valueType="num">
                                      <p:cBhvr additive="base">
                                        <p:cTn id="12" dur="500" fill="hold"/>
                                        <p:tgtEl>
                                          <p:spTgt spid="1386499"/>
                                        </p:tgtEl>
                                        <p:attrNameLst>
                                          <p:attrName>ppt_x</p:attrName>
                                        </p:attrNameLst>
                                      </p:cBhvr>
                                      <p:tavLst>
                                        <p:tav tm="0">
                                          <p:val>
                                            <p:strVal val="#ppt_x"/>
                                          </p:val>
                                        </p:tav>
                                        <p:tav tm="100000">
                                          <p:val>
                                            <p:strVal val="#ppt_x"/>
                                          </p:val>
                                        </p:tav>
                                      </p:tavLst>
                                    </p:anim>
                                    <p:anim calcmode="lin" valueType="num">
                                      <p:cBhvr additive="base">
                                        <p:cTn id="13" dur="500" fill="hold"/>
                                        <p:tgtEl>
                                          <p:spTgt spid="138649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1386500">
                                            <p:txEl>
                                              <p:pRg st="0" end="0"/>
                                            </p:txEl>
                                          </p:spTgt>
                                        </p:tgtEl>
                                        <p:attrNameLst>
                                          <p:attrName>style.visibility</p:attrName>
                                        </p:attrNameLst>
                                      </p:cBhvr>
                                      <p:to>
                                        <p:strVal val="visible"/>
                                      </p:to>
                                    </p:set>
                                    <p:animEffect transition="in" filter="diamond(in)">
                                      <p:cBhvr>
                                        <p:cTn id="18" dur="1000"/>
                                        <p:tgtEl>
                                          <p:spTgt spid="138650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386500">
                                            <p:txEl>
                                              <p:pRg st="1" end="1"/>
                                            </p:txEl>
                                          </p:spTgt>
                                        </p:tgtEl>
                                        <p:attrNameLst>
                                          <p:attrName>style.visibility</p:attrName>
                                        </p:attrNameLst>
                                      </p:cBhvr>
                                      <p:to>
                                        <p:strVal val="visible"/>
                                      </p:to>
                                    </p:set>
                                    <p:animEffect transition="in" filter="box(in)">
                                      <p:cBhvr>
                                        <p:cTn id="23" dur="500"/>
                                        <p:tgtEl>
                                          <p:spTgt spid="13865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42983191-7AD0-4C4D-8A24-D215812A940B}" type="slidenum">
              <a:rPr lang="zh-CN" altLang="en-US"/>
              <a:pPr/>
              <a:t>24</a:t>
            </a:fld>
            <a:r>
              <a:rPr lang="en-US" altLang="zh-CN"/>
              <a:t>/74</a:t>
            </a:r>
          </a:p>
        </p:txBody>
      </p:sp>
      <p:sp>
        <p:nvSpPr>
          <p:cNvPr id="1390594" name="Rectangle 2"/>
          <p:cNvSpPr>
            <a:spLocks noChangeArrowheads="1"/>
          </p:cNvSpPr>
          <p:nvPr/>
        </p:nvSpPr>
        <p:spPr bwMode="auto">
          <a:xfrm>
            <a:off x="457200" y="8382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0595" name="Rectangle 3"/>
          <p:cNvSpPr>
            <a:spLocks noChangeArrowheads="1"/>
          </p:cNvSpPr>
          <p:nvPr/>
        </p:nvSpPr>
        <p:spPr bwMode="auto">
          <a:xfrm>
            <a:off x="700088" y="1773238"/>
            <a:ext cx="8193087" cy="2393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在分析过程中，所描述的对象可分为两种：有形对象和无形对象</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有形对象是指已经实际存在的实体</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无形对象是指可以得到的实体，但现在不一定实际存在</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90594"/>
                                        </p:tgtEl>
                                        <p:attrNameLst>
                                          <p:attrName>style.visibility</p:attrName>
                                        </p:attrNameLst>
                                      </p:cBhvr>
                                      <p:to>
                                        <p:strVal val="visible"/>
                                      </p:to>
                                    </p:set>
                                    <p:anim calcmode="lin" valueType="num">
                                      <p:cBhvr additive="base">
                                        <p:cTn id="7" dur="500" fill="hold"/>
                                        <p:tgtEl>
                                          <p:spTgt spid="1390594"/>
                                        </p:tgtEl>
                                        <p:attrNameLst>
                                          <p:attrName>ppt_x</p:attrName>
                                        </p:attrNameLst>
                                      </p:cBhvr>
                                      <p:tavLst>
                                        <p:tav tm="0">
                                          <p:val>
                                            <p:strVal val="1+#ppt_w/2"/>
                                          </p:val>
                                        </p:tav>
                                        <p:tav tm="100000">
                                          <p:val>
                                            <p:strVal val="#ppt_x"/>
                                          </p:val>
                                        </p:tav>
                                      </p:tavLst>
                                    </p:anim>
                                    <p:anim calcmode="lin" valueType="num">
                                      <p:cBhvr additive="base">
                                        <p:cTn id="8" dur="500" fill="hold"/>
                                        <p:tgtEl>
                                          <p:spTgt spid="13905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390595"/>
                                        </p:tgtEl>
                                        <p:attrNameLst>
                                          <p:attrName>style.visibility</p:attrName>
                                        </p:attrNameLst>
                                      </p:cBhvr>
                                      <p:to>
                                        <p:strVal val="visible"/>
                                      </p:to>
                                    </p:set>
                                    <p:animEffect transition="in" filter="box(in)">
                                      <p:cBhvr>
                                        <p:cTn id="12" dur="500"/>
                                        <p:tgtEl>
                                          <p:spTgt spid="139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0594" grpId="0"/>
      <p:bldP spid="139059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5BF7410A-35B0-470A-98AC-AA46C544EDD7}" type="slidenum">
              <a:rPr lang="zh-CN" altLang="en-US"/>
              <a:pPr/>
              <a:t>25</a:t>
            </a:fld>
            <a:r>
              <a:rPr lang="en-US" altLang="zh-CN"/>
              <a:t>/74</a:t>
            </a:r>
          </a:p>
        </p:txBody>
      </p:sp>
      <p:sp>
        <p:nvSpPr>
          <p:cNvPr id="1391618" name="Rectangle 2"/>
          <p:cNvSpPr>
            <a:spLocks noChangeArrowheads="1"/>
          </p:cNvSpPr>
          <p:nvPr/>
        </p:nvSpPr>
        <p:spPr bwMode="auto">
          <a:xfrm>
            <a:off x="457200" y="7620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1619" name="Rectangle 3"/>
          <p:cNvSpPr>
            <a:spLocks noChangeArrowheads="1"/>
          </p:cNvSpPr>
          <p:nvPr/>
        </p:nvSpPr>
        <p:spPr bwMode="auto">
          <a:xfrm>
            <a:off x="700088" y="1773238"/>
            <a:ext cx="8193087"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在建模过程中，把有形对象和无形对象建立为一个对象是一个常见的错误。</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391620" name="Picture 4"/>
          <p:cNvPicPr>
            <a:picLocks noChangeAspect="1" noChangeArrowheads="1"/>
          </p:cNvPicPr>
          <p:nvPr/>
        </p:nvPicPr>
        <p:blipFill>
          <a:blip r:embed="rId2"/>
          <a:srcRect/>
          <a:stretch>
            <a:fillRect/>
          </a:stretch>
        </p:blipFill>
        <p:spPr bwMode="auto">
          <a:xfrm>
            <a:off x="2339975" y="2846388"/>
            <a:ext cx="3873500" cy="2259012"/>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91619"/>
                                        </p:tgtEl>
                                        <p:attrNameLst>
                                          <p:attrName>style.visibility</p:attrName>
                                        </p:attrNameLst>
                                      </p:cBhvr>
                                      <p:to>
                                        <p:strVal val="visible"/>
                                      </p:to>
                                    </p:set>
                                    <p:animEffect transition="in" filter="box(in)">
                                      <p:cBhvr>
                                        <p:cTn id="7" dur="500"/>
                                        <p:tgtEl>
                                          <p:spTgt spid="1391619"/>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1391620"/>
                                        </p:tgtEl>
                                        <p:attrNameLst>
                                          <p:attrName>style.visibility</p:attrName>
                                        </p:attrNameLst>
                                      </p:cBhvr>
                                      <p:to>
                                        <p:strVal val="visible"/>
                                      </p:to>
                                    </p:set>
                                    <p:animEffect transition="in" filter="checkerboard(across)">
                                      <p:cBhvr>
                                        <p:cTn id="11" dur="500"/>
                                        <p:tgtEl>
                                          <p:spTgt spid="1391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6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CAF706E3-DFDD-4A84-9CFF-FED45A1A0535}" type="slidenum">
              <a:rPr lang="zh-CN" altLang="en-US"/>
              <a:pPr/>
              <a:t>26</a:t>
            </a:fld>
            <a:r>
              <a:rPr lang="en-US" altLang="zh-CN"/>
              <a:t>/74</a:t>
            </a:r>
          </a:p>
        </p:txBody>
      </p:sp>
      <p:sp>
        <p:nvSpPr>
          <p:cNvPr id="1392642" name="Rectangle 2"/>
          <p:cNvSpPr>
            <a:spLocks noChangeArrowheads="1"/>
          </p:cNvSpPr>
          <p:nvPr/>
        </p:nvSpPr>
        <p:spPr bwMode="auto">
          <a:xfrm>
            <a:off x="533400" y="746125"/>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2643"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2644" name="Rectangle 4"/>
          <p:cNvSpPr>
            <a:spLocks noChangeArrowheads="1"/>
          </p:cNvSpPr>
          <p:nvPr/>
        </p:nvSpPr>
        <p:spPr bwMode="auto">
          <a:xfrm>
            <a:off x="700088" y="2400300"/>
            <a:ext cx="7832725" cy="14414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以汽车销售系统为例：为了强调有形性问题，假定除了销售汽车之外，经销商还给顾客提供服务</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与销售相关的信息包括：</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392645" name="Picture 5"/>
          <p:cNvPicPr>
            <a:picLocks noChangeAspect="1" noChangeArrowheads="1"/>
          </p:cNvPicPr>
          <p:nvPr/>
        </p:nvPicPr>
        <p:blipFill>
          <a:blip r:embed="rId2"/>
          <a:srcRect/>
          <a:stretch>
            <a:fillRect/>
          </a:stretch>
        </p:blipFill>
        <p:spPr bwMode="auto">
          <a:xfrm>
            <a:off x="1187450" y="3933825"/>
            <a:ext cx="6985000" cy="1241425"/>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92643"/>
                                        </p:tgtEl>
                                        <p:attrNameLst>
                                          <p:attrName>style.visibility</p:attrName>
                                        </p:attrNameLst>
                                      </p:cBhvr>
                                      <p:to>
                                        <p:strVal val="visible"/>
                                      </p:to>
                                    </p:set>
                                    <p:animEffect transition="in" filter="randombar(horizontal)">
                                      <p:cBhvr>
                                        <p:cTn id="7" dur="500"/>
                                        <p:tgtEl>
                                          <p:spTgt spid="1392643"/>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392644"/>
                                        </p:tgtEl>
                                        <p:attrNameLst>
                                          <p:attrName>style.visibility</p:attrName>
                                        </p:attrNameLst>
                                      </p:cBhvr>
                                      <p:to>
                                        <p:strVal val="visible"/>
                                      </p:to>
                                    </p:set>
                                    <p:animEffect transition="in" filter="box(in)">
                                      <p:cBhvr>
                                        <p:cTn id="11" dur="500"/>
                                        <p:tgtEl>
                                          <p:spTgt spid="1392644"/>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1392645"/>
                                        </p:tgtEl>
                                        <p:attrNameLst>
                                          <p:attrName>style.visibility</p:attrName>
                                        </p:attrNameLst>
                                      </p:cBhvr>
                                      <p:to>
                                        <p:strVal val="visible"/>
                                      </p:to>
                                    </p:set>
                                    <p:animEffect transition="in" filter="box(in)">
                                      <p:cBhvr>
                                        <p:cTn id="15" dur="500"/>
                                        <p:tgtEl>
                                          <p:spTgt spid="1392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43" grpId="0"/>
      <p:bldP spid="139264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023C5C00-15CE-4EAA-AB4F-CF6DD4F76728}" type="slidenum">
              <a:rPr lang="zh-CN" altLang="en-US"/>
              <a:pPr/>
              <a:t>27</a:t>
            </a:fld>
            <a:r>
              <a:rPr lang="en-US" altLang="zh-CN"/>
              <a:t>/74</a:t>
            </a:r>
          </a:p>
        </p:txBody>
      </p:sp>
      <p:sp>
        <p:nvSpPr>
          <p:cNvPr id="1393666" name="Rectangle 2"/>
          <p:cNvSpPr>
            <a:spLocks noChangeArrowheads="1"/>
          </p:cNvSpPr>
          <p:nvPr/>
        </p:nvSpPr>
        <p:spPr bwMode="auto">
          <a:xfrm>
            <a:off x="533400" y="746125"/>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3667"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3668" name="Rectangle 4"/>
          <p:cNvSpPr>
            <a:spLocks noChangeArrowheads="1"/>
          </p:cNvSpPr>
          <p:nvPr/>
        </p:nvSpPr>
        <p:spPr bwMode="auto">
          <a:xfrm>
            <a:off x="700088" y="2400300"/>
            <a:ext cx="7832725" cy="14414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以汽车销售系统为例：为了强调有形性问题，假定除了销售汽车之外，经销商还给顾客提供服务</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与服务相关的信息包括：</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393669" name="Picture 5"/>
          <p:cNvPicPr>
            <a:picLocks noChangeAspect="1" noChangeArrowheads="1"/>
          </p:cNvPicPr>
          <p:nvPr/>
        </p:nvPicPr>
        <p:blipFill>
          <a:blip r:embed="rId2"/>
          <a:srcRect/>
          <a:stretch>
            <a:fillRect/>
          </a:stretch>
        </p:blipFill>
        <p:spPr bwMode="auto">
          <a:xfrm>
            <a:off x="1187450" y="3962400"/>
            <a:ext cx="7705725" cy="1423988"/>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93667"/>
                                        </p:tgtEl>
                                        <p:attrNameLst>
                                          <p:attrName>style.visibility</p:attrName>
                                        </p:attrNameLst>
                                      </p:cBhvr>
                                      <p:to>
                                        <p:strVal val="visible"/>
                                      </p:to>
                                    </p:set>
                                    <p:animEffect transition="in" filter="randombar(horizontal)">
                                      <p:cBhvr>
                                        <p:cTn id="7" dur="500"/>
                                        <p:tgtEl>
                                          <p:spTgt spid="1393667"/>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393668"/>
                                        </p:tgtEl>
                                        <p:attrNameLst>
                                          <p:attrName>style.visibility</p:attrName>
                                        </p:attrNameLst>
                                      </p:cBhvr>
                                      <p:to>
                                        <p:strVal val="visible"/>
                                      </p:to>
                                    </p:set>
                                    <p:animEffect transition="in" filter="box(in)">
                                      <p:cBhvr>
                                        <p:cTn id="11" dur="500"/>
                                        <p:tgtEl>
                                          <p:spTgt spid="1393668"/>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393669"/>
                                        </p:tgtEl>
                                        <p:attrNameLst>
                                          <p:attrName>style.visibility</p:attrName>
                                        </p:attrNameLst>
                                      </p:cBhvr>
                                      <p:to>
                                        <p:strVal val="visible"/>
                                      </p:to>
                                    </p:set>
                                    <p:animEffect transition="in" filter="randombar(horizontal)">
                                      <p:cBhvr>
                                        <p:cTn id="15" dur="500"/>
                                        <p:tgtEl>
                                          <p:spTgt spid="1393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667" grpId="0"/>
      <p:bldP spid="139366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6724B2EA-1D88-4695-9893-E09C31A886AF}" type="slidenum">
              <a:rPr lang="zh-CN" altLang="en-US"/>
              <a:pPr/>
              <a:t>28</a:t>
            </a:fld>
            <a:r>
              <a:rPr lang="en-US" altLang="zh-CN"/>
              <a:t>/74</a:t>
            </a:r>
          </a:p>
        </p:txBody>
      </p:sp>
      <p:sp>
        <p:nvSpPr>
          <p:cNvPr id="1394690" name="Rectangle 2"/>
          <p:cNvSpPr>
            <a:spLocks noChangeArrowheads="1"/>
          </p:cNvSpPr>
          <p:nvPr/>
        </p:nvSpPr>
        <p:spPr bwMode="auto">
          <a:xfrm>
            <a:off x="457200" y="746125"/>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4691"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4692" name="Rectangle 4"/>
          <p:cNvSpPr>
            <a:spLocks noChangeArrowheads="1"/>
          </p:cNvSpPr>
          <p:nvPr/>
        </p:nvSpPr>
        <p:spPr bwMode="auto">
          <a:xfrm>
            <a:off x="700088" y="2400300"/>
            <a:ext cx="7832725"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若按照</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的描述，则需要把与销售和服务相关的信息都放在一个类中</a:t>
            </a:r>
          </a:p>
        </p:txBody>
      </p:sp>
      <p:pic>
        <p:nvPicPr>
          <p:cNvPr id="1394693" name="Picture 5"/>
          <p:cNvPicPr>
            <a:picLocks noChangeAspect="1" noChangeArrowheads="1"/>
          </p:cNvPicPr>
          <p:nvPr/>
        </p:nvPicPr>
        <p:blipFill>
          <a:blip r:embed="rId2"/>
          <a:srcRect/>
          <a:stretch>
            <a:fillRect/>
          </a:stretch>
        </p:blipFill>
        <p:spPr bwMode="auto">
          <a:xfrm>
            <a:off x="4714875" y="3429000"/>
            <a:ext cx="3241675" cy="2520950"/>
          </a:xfrm>
          <a:prstGeom prst="rect">
            <a:avLst/>
          </a:prstGeom>
          <a:noFill/>
          <a:ln w="9525">
            <a:noFill/>
            <a:miter lim="800000"/>
            <a:headEnd/>
            <a:tailEnd/>
          </a:ln>
          <a:effectLst/>
        </p:spPr>
      </p:pic>
      <p:pic>
        <p:nvPicPr>
          <p:cNvPr id="1394694" name="Picture 6"/>
          <p:cNvPicPr>
            <a:picLocks noChangeAspect="1" noChangeArrowheads="1"/>
          </p:cNvPicPr>
          <p:nvPr/>
        </p:nvPicPr>
        <p:blipFill>
          <a:blip r:embed="rId3"/>
          <a:srcRect/>
          <a:stretch>
            <a:fillRect/>
          </a:stretch>
        </p:blipFill>
        <p:spPr bwMode="auto">
          <a:xfrm>
            <a:off x="1114425" y="3435350"/>
            <a:ext cx="2952750" cy="1722438"/>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94692"/>
                                        </p:tgtEl>
                                        <p:attrNameLst>
                                          <p:attrName>style.visibility</p:attrName>
                                        </p:attrNameLst>
                                      </p:cBhvr>
                                      <p:to>
                                        <p:strVal val="visible"/>
                                      </p:to>
                                    </p:set>
                                    <p:animEffect transition="in" filter="box(in)">
                                      <p:cBhvr>
                                        <p:cTn id="7" dur="500"/>
                                        <p:tgtEl>
                                          <p:spTgt spid="139469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394694"/>
                                        </p:tgtEl>
                                        <p:attrNameLst>
                                          <p:attrName>style.visibility</p:attrName>
                                        </p:attrNameLst>
                                      </p:cBhvr>
                                      <p:to>
                                        <p:strVal val="visible"/>
                                      </p:to>
                                    </p:set>
                                    <p:anim calcmode="lin" valueType="num">
                                      <p:cBhvr additive="base">
                                        <p:cTn id="11" dur="500" fill="hold"/>
                                        <p:tgtEl>
                                          <p:spTgt spid="1394694"/>
                                        </p:tgtEl>
                                        <p:attrNameLst>
                                          <p:attrName>ppt_x</p:attrName>
                                        </p:attrNameLst>
                                      </p:cBhvr>
                                      <p:tavLst>
                                        <p:tav tm="0">
                                          <p:val>
                                            <p:strVal val="#ppt_x"/>
                                          </p:val>
                                        </p:tav>
                                        <p:tav tm="100000">
                                          <p:val>
                                            <p:strVal val="#ppt_x"/>
                                          </p:val>
                                        </p:tav>
                                      </p:tavLst>
                                    </p:anim>
                                    <p:anim calcmode="lin" valueType="num">
                                      <p:cBhvr additive="base">
                                        <p:cTn id="12" dur="500" fill="hold"/>
                                        <p:tgtEl>
                                          <p:spTgt spid="1394694"/>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1394693"/>
                                        </p:tgtEl>
                                        <p:attrNameLst>
                                          <p:attrName>style.visibility</p:attrName>
                                        </p:attrNameLst>
                                      </p:cBhvr>
                                      <p:to>
                                        <p:strVal val="visible"/>
                                      </p:to>
                                    </p:set>
                                    <p:animEffect transition="in" filter="blinds(horizontal)">
                                      <p:cBhvr>
                                        <p:cTn id="16" dur="500"/>
                                        <p:tgtEl>
                                          <p:spTgt spid="139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69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F243EC71-01BA-4932-A738-801A5770C167}" type="slidenum">
              <a:rPr lang="zh-CN" altLang="en-US"/>
              <a:pPr/>
              <a:t>29</a:t>
            </a:fld>
            <a:r>
              <a:rPr lang="en-US" altLang="zh-CN"/>
              <a:t>/74</a:t>
            </a:r>
          </a:p>
        </p:txBody>
      </p:sp>
      <p:sp>
        <p:nvSpPr>
          <p:cNvPr id="1395714" name="Rectangle 2"/>
          <p:cNvSpPr>
            <a:spLocks noChangeArrowheads="1"/>
          </p:cNvSpPr>
          <p:nvPr/>
        </p:nvSpPr>
        <p:spPr bwMode="auto">
          <a:xfrm>
            <a:off x="454025" y="8382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5715"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5716" name="Rectangle 4"/>
          <p:cNvSpPr>
            <a:spLocks noChangeArrowheads="1"/>
          </p:cNvSpPr>
          <p:nvPr/>
        </p:nvSpPr>
        <p:spPr bwMode="auto">
          <a:xfrm>
            <a:off x="700088" y="2400300"/>
            <a:ext cx="7832725"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假定要销售</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Alpha Rodeo 156 2.0</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型汽车，就必须创建一个</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类的对象，并设置相应属性</a:t>
            </a:r>
            <a:endParaRPr lang="zh-CN" altLang="en-US" sz="26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395717" name="Picture 5"/>
          <p:cNvPicPr>
            <a:picLocks noChangeAspect="1" noChangeArrowheads="1"/>
          </p:cNvPicPr>
          <p:nvPr/>
        </p:nvPicPr>
        <p:blipFill>
          <a:blip r:embed="rId2"/>
          <a:srcRect/>
          <a:stretch>
            <a:fillRect/>
          </a:stretch>
        </p:blipFill>
        <p:spPr bwMode="auto">
          <a:xfrm>
            <a:off x="898525" y="3429000"/>
            <a:ext cx="2809875" cy="2185988"/>
          </a:xfrm>
          <a:prstGeom prst="rect">
            <a:avLst/>
          </a:prstGeom>
          <a:noFill/>
          <a:ln w="9525">
            <a:noFill/>
            <a:miter lim="800000"/>
            <a:headEnd/>
            <a:tailEnd/>
          </a:ln>
          <a:effectLst/>
        </p:spPr>
      </p:pic>
      <p:pic>
        <p:nvPicPr>
          <p:cNvPr id="1395718" name="Picture 6"/>
          <p:cNvPicPr>
            <a:picLocks noChangeAspect="1" noChangeArrowheads="1"/>
          </p:cNvPicPr>
          <p:nvPr/>
        </p:nvPicPr>
        <p:blipFill>
          <a:blip r:embed="rId3"/>
          <a:srcRect/>
          <a:stretch>
            <a:fillRect/>
          </a:stretch>
        </p:blipFill>
        <p:spPr bwMode="auto">
          <a:xfrm>
            <a:off x="3995738" y="3429000"/>
            <a:ext cx="4824412" cy="2185988"/>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95716"/>
                                        </p:tgtEl>
                                        <p:attrNameLst>
                                          <p:attrName>style.visibility</p:attrName>
                                        </p:attrNameLst>
                                      </p:cBhvr>
                                      <p:to>
                                        <p:strVal val="visible"/>
                                      </p:to>
                                    </p:set>
                                    <p:animEffect transition="in" filter="box(in)">
                                      <p:cBhvr>
                                        <p:cTn id="7" dur="500"/>
                                        <p:tgtEl>
                                          <p:spTgt spid="1395716"/>
                                        </p:tgtEl>
                                      </p:cBhvr>
                                    </p:animEffect>
                                  </p:childTnLst>
                                </p:cTn>
                              </p:par>
                            </p:childTnLst>
                          </p:cTn>
                        </p:par>
                        <p:par>
                          <p:cTn id="8" fill="hold">
                            <p:stCondLst>
                              <p:cond delay="500"/>
                            </p:stCondLst>
                            <p:childTnLst>
                              <p:par>
                                <p:cTn id="9" presetID="21" presetClass="entr" presetSubtype="4" fill="hold" nodeType="afterEffect">
                                  <p:stCondLst>
                                    <p:cond delay="0"/>
                                  </p:stCondLst>
                                  <p:childTnLst>
                                    <p:set>
                                      <p:cBhvr>
                                        <p:cTn id="10" dur="1" fill="hold">
                                          <p:stCondLst>
                                            <p:cond delay="0"/>
                                          </p:stCondLst>
                                        </p:cTn>
                                        <p:tgtEl>
                                          <p:spTgt spid="1395717"/>
                                        </p:tgtEl>
                                        <p:attrNameLst>
                                          <p:attrName>style.visibility</p:attrName>
                                        </p:attrNameLst>
                                      </p:cBhvr>
                                      <p:to>
                                        <p:strVal val="visible"/>
                                      </p:to>
                                    </p:set>
                                    <p:animEffect transition="in" filter="wheel(4)">
                                      <p:cBhvr>
                                        <p:cTn id="11" dur="2000"/>
                                        <p:tgtEl>
                                          <p:spTgt spid="1395717"/>
                                        </p:tgtEl>
                                      </p:cBhvr>
                                    </p:animEffect>
                                  </p:childTnLst>
                                </p:cTn>
                              </p:par>
                            </p:childTnLst>
                          </p:cTn>
                        </p:par>
                        <p:par>
                          <p:cTn id="12" fill="hold">
                            <p:stCondLst>
                              <p:cond delay="2500"/>
                            </p:stCondLst>
                            <p:childTnLst>
                              <p:par>
                                <p:cTn id="13" presetID="5" presetClass="entr" presetSubtype="10" fill="hold" nodeType="afterEffect">
                                  <p:stCondLst>
                                    <p:cond delay="0"/>
                                  </p:stCondLst>
                                  <p:childTnLst>
                                    <p:set>
                                      <p:cBhvr>
                                        <p:cTn id="14" dur="1" fill="hold">
                                          <p:stCondLst>
                                            <p:cond delay="0"/>
                                          </p:stCondLst>
                                        </p:cTn>
                                        <p:tgtEl>
                                          <p:spTgt spid="1395718"/>
                                        </p:tgtEl>
                                        <p:attrNameLst>
                                          <p:attrName>style.visibility</p:attrName>
                                        </p:attrNameLst>
                                      </p:cBhvr>
                                      <p:to>
                                        <p:strVal val="visible"/>
                                      </p:to>
                                    </p:set>
                                    <p:animEffect transition="in" filter="checkerboard(across)">
                                      <p:cBhvr>
                                        <p:cTn id="15" dur="500"/>
                                        <p:tgtEl>
                                          <p:spTgt spid="1395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57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ED0859CA-D964-46EE-839F-7B4B5C1D9B5F}" type="slidenum">
              <a:rPr lang="zh-CN" altLang="en-US"/>
              <a:pPr/>
              <a:t>30</a:t>
            </a:fld>
            <a:r>
              <a:rPr lang="en-US" altLang="zh-CN"/>
              <a:t>/74</a:t>
            </a:r>
          </a:p>
        </p:txBody>
      </p:sp>
      <p:sp>
        <p:nvSpPr>
          <p:cNvPr id="1396738" name="Rectangle 2"/>
          <p:cNvSpPr>
            <a:spLocks noChangeArrowheads="1"/>
          </p:cNvSpPr>
          <p:nvPr/>
        </p:nvSpPr>
        <p:spPr bwMode="auto">
          <a:xfrm>
            <a:off x="609600" y="6858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6739"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6740" name="Rectangle 4"/>
          <p:cNvSpPr>
            <a:spLocks noChangeArrowheads="1"/>
          </p:cNvSpPr>
          <p:nvPr/>
        </p:nvSpPr>
        <p:spPr bwMode="auto">
          <a:xfrm>
            <a:off x="700088" y="2400300"/>
            <a:ext cx="8193087"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现在假定顾客开来了</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Alpha Rodeo 156 2.0</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型汽车，接受第一次服务。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96740"/>
                                        </p:tgtEl>
                                        <p:attrNameLst>
                                          <p:attrName>style.visibility</p:attrName>
                                        </p:attrNameLst>
                                      </p:cBhvr>
                                      <p:to>
                                        <p:strVal val="visible"/>
                                      </p:to>
                                    </p:set>
                                    <p:animEffect transition="in" filter="box(in)">
                                      <p:cBhvr>
                                        <p:cTn id="7" dur="500"/>
                                        <p:tgtEl>
                                          <p:spTgt spid="1396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674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21E08EC9-F805-4FF1-AF9E-4A558E3D80B9}" type="slidenum">
              <a:rPr lang="zh-CN" altLang="en-US"/>
              <a:pPr/>
              <a:t>31</a:t>
            </a:fld>
            <a:r>
              <a:rPr lang="en-US" altLang="zh-CN"/>
              <a:t>/74</a:t>
            </a:r>
          </a:p>
        </p:txBody>
      </p:sp>
      <p:sp>
        <p:nvSpPr>
          <p:cNvPr id="1397762" name="Rectangle 2"/>
          <p:cNvSpPr>
            <a:spLocks noChangeArrowheads="1"/>
          </p:cNvSpPr>
          <p:nvPr/>
        </p:nvSpPr>
        <p:spPr bwMode="auto">
          <a:xfrm>
            <a:off x="533400" y="6096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7763"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错误的建模</a:t>
            </a:r>
          </a:p>
        </p:txBody>
      </p:sp>
      <p:sp>
        <p:nvSpPr>
          <p:cNvPr id="1397764" name="Rectangle 4"/>
          <p:cNvSpPr>
            <a:spLocks noChangeArrowheads="1"/>
          </p:cNvSpPr>
          <p:nvPr/>
        </p:nvSpPr>
        <p:spPr bwMode="auto">
          <a:xfrm>
            <a:off x="700088" y="2400300"/>
            <a:ext cx="8193087" cy="1997075"/>
          </a:xfrm>
          <a:prstGeom prst="rect">
            <a:avLst/>
          </a:prstGeom>
          <a:noFill/>
          <a:ln w="9525">
            <a:noFill/>
            <a:miter lim="800000"/>
            <a:headEnd/>
            <a:tailEnd/>
          </a:ln>
          <a:effectLst/>
        </p:spPr>
        <p:txBody>
          <a:bodyPr>
            <a:spAutoFit/>
          </a:bodyPr>
          <a:lstStyle/>
          <a:p>
            <a:pPr eaLnBrk="0" hangingPunct="0">
              <a:spcBef>
                <a:spcPct val="20000"/>
              </a:spcBef>
              <a:spcAft>
                <a:spcPct val="20000"/>
              </a:spcAft>
              <a:buFont typeface="Wingdings" pitchFamily="2" charset="2"/>
              <a:buNone/>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此时有两个选择：</a:t>
            </a:r>
          </a:p>
          <a:p>
            <a:pPr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一是使用已有的</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对象（</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二是创建一个新的</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类对象，表示这个顾客拥有的汽车（</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B</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p:txBody>
      </p:sp>
      <p:pic>
        <p:nvPicPr>
          <p:cNvPr id="1397765" name="Picture 5"/>
          <p:cNvPicPr>
            <a:picLocks noChangeAspect="1" noChangeArrowheads="1"/>
          </p:cNvPicPr>
          <p:nvPr/>
        </p:nvPicPr>
        <p:blipFill>
          <a:blip r:embed="rId2"/>
          <a:srcRect/>
          <a:stretch>
            <a:fillRect/>
          </a:stretch>
        </p:blipFill>
        <p:spPr bwMode="auto">
          <a:xfrm>
            <a:off x="4286250" y="4451350"/>
            <a:ext cx="2952750" cy="1568450"/>
          </a:xfrm>
          <a:prstGeom prst="rect">
            <a:avLst/>
          </a:prstGeom>
          <a:noFill/>
          <a:ln w="9525">
            <a:noFill/>
            <a:miter lim="800000"/>
            <a:headEnd/>
            <a:tailEnd/>
          </a:ln>
          <a:effectLst/>
        </p:spPr>
      </p:pic>
      <p:pic>
        <p:nvPicPr>
          <p:cNvPr id="1397766" name="Picture 6"/>
          <p:cNvPicPr>
            <a:picLocks noChangeAspect="1" noChangeArrowheads="1"/>
          </p:cNvPicPr>
          <p:nvPr/>
        </p:nvPicPr>
        <p:blipFill>
          <a:blip r:embed="rId3"/>
          <a:srcRect/>
          <a:stretch>
            <a:fillRect/>
          </a:stretch>
        </p:blipFill>
        <p:spPr bwMode="auto">
          <a:xfrm>
            <a:off x="971550" y="4495800"/>
            <a:ext cx="2838450" cy="1512888"/>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397764"/>
                                        </p:tgtEl>
                                        <p:attrNameLst>
                                          <p:attrName>style.visibility</p:attrName>
                                        </p:attrNameLst>
                                      </p:cBhvr>
                                      <p:to>
                                        <p:strVal val="visible"/>
                                      </p:to>
                                    </p:set>
                                    <p:animEffect transition="in" filter="box(in)">
                                      <p:cBhvr>
                                        <p:cTn id="7" dur="500"/>
                                        <p:tgtEl>
                                          <p:spTgt spid="139776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397765"/>
                                        </p:tgtEl>
                                        <p:attrNameLst>
                                          <p:attrName>style.visibility</p:attrName>
                                        </p:attrNameLst>
                                      </p:cBhvr>
                                      <p:to>
                                        <p:strVal val="visible"/>
                                      </p:to>
                                    </p:set>
                                    <p:animEffect transition="in" filter="dissolve">
                                      <p:cBhvr>
                                        <p:cTn id="11" dur="500"/>
                                        <p:tgtEl>
                                          <p:spTgt spid="139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776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8BD06888-4C74-486B-9C07-FAB606E17031}" type="slidenum">
              <a:rPr lang="zh-CN" altLang="en-US"/>
              <a:pPr/>
              <a:t>32</a:t>
            </a:fld>
            <a:r>
              <a:rPr lang="en-US" altLang="zh-CN"/>
              <a:t>/74</a:t>
            </a:r>
          </a:p>
        </p:txBody>
      </p:sp>
      <p:sp>
        <p:nvSpPr>
          <p:cNvPr id="1398786" name="Rectangle 2"/>
          <p:cNvSpPr>
            <a:spLocks noChangeArrowheads="1"/>
          </p:cNvSpPr>
          <p:nvPr/>
        </p:nvSpPr>
        <p:spPr bwMode="auto">
          <a:xfrm>
            <a:off x="609600" y="7620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8787"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正确的建模</a:t>
            </a:r>
          </a:p>
        </p:txBody>
      </p:sp>
      <p:sp>
        <p:nvSpPr>
          <p:cNvPr id="1398788" name="Rectangle 4"/>
          <p:cNvSpPr>
            <a:spLocks noChangeArrowheads="1"/>
          </p:cNvSpPr>
          <p:nvPr/>
        </p:nvSpPr>
        <p:spPr bwMode="auto">
          <a:xfrm>
            <a:off x="700088" y="2400300"/>
            <a:ext cx="8193087" cy="8858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为了解决前面的问题，用一个有形概念</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和一个新的无形概念</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CarModel</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来代替</a:t>
            </a:r>
          </a:p>
        </p:txBody>
      </p:sp>
      <p:pic>
        <p:nvPicPr>
          <p:cNvPr id="1398789" name="Picture 5"/>
          <p:cNvPicPr>
            <a:picLocks noChangeAspect="1" noChangeArrowheads="1"/>
          </p:cNvPicPr>
          <p:nvPr/>
        </p:nvPicPr>
        <p:blipFill>
          <a:blip r:embed="rId2"/>
          <a:srcRect/>
          <a:stretch>
            <a:fillRect/>
          </a:stretch>
        </p:blipFill>
        <p:spPr bwMode="auto">
          <a:xfrm>
            <a:off x="4860925" y="3500438"/>
            <a:ext cx="2735263" cy="1317625"/>
          </a:xfrm>
          <a:prstGeom prst="rect">
            <a:avLst/>
          </a:prstGeom>
          <a:noFill/>
          <a:ln w="9525">
            <a:noFill/>
            <a:miter lim="800000"/>
            <a:headEnd/>
            <a:tailEnd/>
          </a:ln>
          <a:effectLst/>
        </p:spPr>
      </p:pic>
      <p:pic>
        <p:nvPicPr>
          <p:cNvPr id="1398790" name="Picture 6"/>
          <p:cNvPicPr>
            <a:picLocks noChangeAspect="1" noChangeArrowheads="1"/>
          </p:cNvPicPr>
          <p:nvPr/>
        </p:nvPicPr>
        <p:blipFill>
          <a:blip r:embed="rId3"/>
          <a:srcRect/>
          <a:stretch>
            <a:fillRect/>
          </a:stretch>
        </p:blipFill>
        <p:spPr bwMode="auto">
          <a:xfrm>
            <a:off x="1724025" y="3513138"/>
            <a:ext cx="2200275" cy="1284287"/>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98787"/>
                                        </p:tgtEl>
                                        <p:attrNameLst>
                                          <p:attrName>style.visibility</p:attrName>
                                        </p:attrNameLst>
                                      </p:cBhvr>
                                      <p:to>
                                        <p:strVal val="visible"/>
                                      </p:to>
                                    </p:set>
                                    <p:animEffect transition="in" filter="wipe(left)">
                                      <p:cBhvr>
                                        <p:cTn id="7" dur="500"/>
                                        <p:tgtEl>
                                          <p:spTgt spid="1398787"/>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398788"/>
                                        </p:tgtEl>
                                        <p:attrNameLst>
                                          <p:attrName>style.visibility</p:attrName>
                                        </p:attrNameLst>
                                      </p:cBhvr>
                                      <p:to>
                                        <p:strVal val="visible"/>
                                      </p:to>
                                    </p:set>
                                    <p:animEffect transition="in" filter="box(in)">
                                      <p:cBhvr>
                                        <p:cTn id="11" dur="500"/>
                                        <p:tgtEl>
                                          <p:spTgt spid="1398788"/>
                                        </p:tgtEl>
                                      </p:cBhvr>
                                    </p:animEffect>
                                  </p:childTnLst>
                                </p:cTn>
                              </p:par>
                              <p:par>
                                <p:cTn id="12" presetID="3" presetClass="entr" presetSubtype="10" fill="hold" nodeType="withEffect">
                                  <p:stCondLst>
                                    <p:cond delay="0"/>
                                  </p:stCondLst>
                                  <p:childTnLst>
                                    <p:set>
                                      <p:cBhvr>
                                        <p:cTn id="13" dur="1" fill="hold">
                                          <p:stCondLst>
                                            <p:cond delay="0"/>
                                          </p:stCondLst>
                                        </p:cTn>
                                        <p:tgtEl>
                                          <p:spTgt spid="1398790"/>
                                        </p:tgtEl>
                                        <p:attrNameLst>
                                          <p:attrName>style.visibility</p:attrName>
                                        </p:attrNameLst>
                                      </p:cBhvr>
                                      <p:to>
                                        <p:strVal val="visible"/>
                                      </p:to>
                                    </p:set>
                                    <p:animEffect transition="in" filter="blinds(horizontal)">
                                      <p:cBhvr>
                                        <p:cTn id="14" dur="500"/>
                                        <p:tgtEl>
                                          <p:spTgt spid="1398790"/>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1398789"/>
                                        </p:tgtEl>
                                        <p:attrNameLst>
                                          <p:attrName>style.visibility</p:attrName>
                                        </p:attrNameLst>
                                      </p:cBhvr>
                                      <p:to>
                                        <p:strVal val="visible"/>
                                      </p:to>
                                    </p:set>
                                    <p:anim calcmode="lin" valueType="num">
                                      <p:cBhvr additive="base">
                                        <p:cTn id="18" dur="500" fill="hold"/>
                                        <p:tgtEl>
                                          <p:spTgt spid="1398789"/>
                                        </p:tgtEl>
                                        <p:attrNameLst>
                                          <p:attrName>ppt_x</p:attrName>
                                        </p:attrNameLst>
                                      </p:cBhvr>
                                      <p:tavLst>
                                        <p:tav tm="0">
                                          <p:val>
                                            <p:strVal val="#ppt_x"/>
                                          </p:val>
                                        </p:tav>
                                        <p:tav tm="100000">
                                          <p:val>
                                            <p:strVal val="#ppt_x"/>
                                          </p:val>
                                        </p:tav>
                                      </p:tavLst>
                                    </p:anim>
                                    <p:anim calcmode="lin" valueType="num">
                                      <p:cBhvr additive="base">
                                        <p:cTn id="19" dur="500" fill="hold"/>
                                        <p:tgtEl>
                                          <p:spTgt spid="1398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8787" grpId="0"/>
      <p:bldP spid="139878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A5580A4F-C049-45BF-829E-3903F88D0518}" type="slidenum">
              <a:rPr lang="zh-CN" altLang="en-US"/>
              <a:pPr/>
              <a:t>33</a:t>
            </a:fld>
            <a:r>
              <a:rPr lang="en-US" altLang="zh-CN"/>
              <a:t>/74</a:t>
            </a:r>
          </a:p>
        </p:txBody>
      </p:sp>
      <p:sp>
        <p:nvSpPr>
          <p:cNvPr id="1399810" name="Rectangle 2"/>
          <p:cNvSpPr>
            <a:spLocks noChangeArrowheads="1"/>
          </p:cNvSpPr>
          <p:nvPr/>
        </p:nvSpPr>
        <p:spPr bwMode="auto">
          <a:xfrm>
            <a:off x="609600" y="7620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399811"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正确的建模</a:t>
            </a:r>
          </a:p>
        </p:txBody>
      </p:sp>
      <p:sp>
        <p:nvSpPr>
          <p:cNvPr id="1399812" name="Rectangle 4"/>
          <p:cNvSpPr>
            <a:spLocks noChangeArrowheads="1"/>
          </p:cNvSpPr>
          <p:nvPr/>
        </p:nvSpPr>
        <p:spPr bwMode="auto">
          <a:xfrm>
            <a:off x="685800" y="2743200"/>
            <a:ext cx="8193088" cy="16795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现在可以把用于销售的属性</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numberOfCylinders</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availableColors</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和</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modelNumber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放在</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CarModel</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类上，把用于服务的属性</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ower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vehicleIdentificationNumber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和</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mileageAtLastService</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放在</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Car</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类上。</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99811"/>
                                        </p:tgtEl>
                                        <p:attrNameLst>
                                          <p:attrName>style.visibility</p:attrName>
                                        </p:attrNameLst>
                                      </p:cBhvr>
                                      <p:to>
                                        <p:strVal val="visible"/>
                                      </p:to>
                                    </p:set>
                                    <p:animEffect transition="in" filter="wipe(left)">
                                      <p:cBhvr>
                                        <p:cTn id="7" dur="500"/>
                                        <p:tgtEl>
                                          <p:spTgt spid="1399811"/>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399812"/>
                                        </p:tgtEl>
                                        <p:attrNameLst>
                                          <p:attrName>style.visibility</p:attrName>
                                        </p:attrNameLst>
                                      </p:cBhvr>
                                      <p:to>
                                        <p:strVal val="visible"/>
                                      </p:to>
                                    </p:set>
                                    <p:animEffect transition="in" filter="box(in)">
                                      <p:cBhvr>
                                        <p:cTn id="11" dur="500"/>
                                        <p:tgtEl>
                                          <p:spTgt spid="139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9811" grpId="0"/>
      <p:bldP spid="13998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2"/>
          </p:nvPr>
        </p:nvSpPr>
        <p:spPr/>
        <p:txBody>
          <a:bodyPr/>
          <a:lstStyle/>
          <a:p>
            <a:fld id="{A7AC5DFE-7BB3-4EE0-A506-2AA49367E743}" type="slidenum">
              <a:rPr lang="zh-CN" altLang="en-US"/>
              <a:pPr/>
              <a:t>34</a:t>
            </a:fld>
            <a:r>
              <a:rPr lang="en-US" altLang="zh-CN"/>
              <a:t>/74</a:t>
            </a:r>
          </a:p>
        </p:txBody>
      </p:sp>
      <p:sp>
        <p:nvSpPr>
          <p:cNvPr id="1400834" name="Rectangle 2"/>
          <p:cNvSpPr>
            <a:spLocks noChangeArrowheads="1"/>
          </p:cNvSpPr>
          <p:nvPr/>
        </p:nvSpPr>
        <p:spPr bwMode="auto">
          <a:xfrm>
            <a:off x="609600" y="685800"/>
            <a:ext cx="6480175" cy="701675"/>
          </a:xfrm>
          <a:prstGeom prst="rect">
            <a:avLst/>
          </a:prstGeom>
          <a:noFill/>
          <a:ln w="9525">
            <a:noFill/>
            <a:miter lim="800000"/>
            <a:headEnd/>
            <a:tailEnd/>
          </a:ln>
          <a:effectLst/>
        </p:spPr>
        <p:txBody>
          <a:bodyPr>
            <a:spAutoFit/>
          </a:bodyPr>
          <a:lstStyle/>
          <a:p>
            <a:pPr eaLnBrk="0" hangingPunct="0"/>
            <a:r>
              <a:rPr lang="zh-CN" altLang="en-US" sz="40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有形对象和无形对象</a:t>
            </a:r>
          </a:p>
        </p:txBody>
      </p:sp>
      <p:sp>
        <p:nvSpPr>
          <p:cNvPr id="1400835" name="Rectangle 3"/>
          <p:cNvSpPr>
            <a:spLocks noChangeArrowheads="1"/>
          </p:cNvSpPr>
          <p:nvPr/>
        </p:nvSpPr>
        <p:spPr bwMode="auto">
          <a:xfrm>
            <a:off x="684213" y="1816100"/>
            <a:ext cx="1962150" cy="519113"/>
          </a:xfrm>
          <a:prstGeom prst="rect">
            <a:avLst/>
          </a:prstGeom>
          <a:noFill/>
          <a:ln w="9525">
            <a:noFill/>
            <a:miter lim="800000"/>
            <a:headEnd/>
            <a:tailEnd/>
          </a:ln>
          <a:effectLst/>
        </p:spPr>
        <p:txBody>
          <a:bodyPr wrap="none">
            <a:spAutoFit/>
          </a:bodyPr>
          <a:lstStyle/>
          <a:p>
            <a:pPr eaLnBrk="0" hangingPunct="0"/>
            <a:r>
              <a:rPr kumimoji="1" lang="zh-CN" altLang="en-US" sz="2800" b="1">
                <a:latin typeface="华文行楷" pitchFamily="2" charset="-122"/>
                <a:ea typeface="华文行楷" pitchFamily="2" charset="-122"/>
                <a:cs typeface="Tahoma" pitchFamily="34" charset="0"/>
              </a:rPr>
              <a:t>正确的建模</a:t>
            </a:r>
          </a:p>
        </p:txBody>
      </p:sp>
      <p:sp>
        <p:nvSpPr>
          <p:cNvPr id="1400836" name="Rectangle 4"/>
          <p:cNvSpPr>
            <a:spLocks noChangeArrowheads="1"/>
          </p:cNvSpPr>
          <p:nvPr/>
        </p:nvSpPr>
        <p:spPr bwMode="auto">
          <a:xfrm>
            <a:off x="700088" y="2400300"/>
            <a:ext cx="8193087"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应用新的模型后可得到：</a:t>
            </a:r>
          </a:p>
        </p:txBody>
      </p:sp>
      <p:graphicFrame>
        <p:nvGraphicFramePr>
          <p:cNvPr id="1400837" name="Object 5"/>
          <p:cNvGraphicFramePr>
            <a:graphicFrameLocks noChangeAspect="1"/>
          </p:cNvGraphicFramePr>
          <p:nvPr>
            <p:ph/>
          </p:nvPr>
        </p:nvGraphicFramePr>
        <p:xfrm>
          <a:off x="1828800" y="2362200"/>
          <a:ext cx="5978525" cy="3630613"/>
        </p:xfrm>
        <a:graphic>
          <a:graphicData uri="http://schemas.openxmlformats.org/presentationml/2006/ole">
            <p:oleObj spid="_x0000_s25602" name="Image" r:id="rId3" imgW="5117460" imgH="3860317"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400836"/>
                                        </p:tgtEl>
                                        <p:attrNameLst>
                                          <p:attrName>style.visibility</p:attrName>
                                        </p:attrNameLst>
                                      </p:cBhvr>
                                      <p:to>
                                        <p:strVal val="visible"/>
                                      </p:to>
                                    </p:set>
                                    <p:animEffect transition="in" filter="box(in)">
                                      <p:cBhvr>
                                        <p:cTn id="7" dur="500"/>
                                        <p:tgtEl>
                                          <p:spTgt spid="1400836"/>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1400837"/>
                                        </p:tgtEl>
                                        <p:attrNameLst>
                                          <p:attrName>style.visibility</p:attrName>
                                        </p:attrNameLst>
                                      </p:cBhvr>
                                      <p:to>
                                        <p:strVal val="visible"/>
                                      </p:to>
                                    </p:set>
                                    <p:animEffect transition="in" filter="box(in)">
                                      <p:cBhvr>
                                        <p:cTn id="11" dur="500"/>
                                        <p:tgtEl>
                                          <p:spTgt spid="1400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0836" grpId="0"/>
    </p:bld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2985</TotalTime>
  <Words>1627</Words>
  <Application>Microsoft Office PowerPoint</Application>
  <PresentationFormat>全屏显示(4:3)</PresentationFormat>
  <Paragraphs>176</Paragraphs>
  <Slides>34</Slides>
  <Notes>4</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36" baseType="lpstr">
      <vt:lpstr>UML面向对象设计与分析教程</vt:lpstr>
      <vt:lpstr>Image</vt:lpstr>
      <vt:lpstr>第5章 静态分析与对象图</vt:lpstr>
      <vt:lpstr>本章概述</vt:lpstr>
      <vt:lpstr>本章的学习目标</vt:lpstr>
      <vt:lpstr>幻灯片 4</vt:lpstr>
      <vt:lpstr>幻灯片 5</vt:lpstr>
      <vt:lpstr>幻灯片 6</vt:lpstr>
      <vt:lpstr>对象图 </vt:lpstr>
      <vt:lpstr>幻灯片 8</vt:lpstr>
      <vt:lpstr>幻灯片 9</vt:lpstr>
      <vt:lpstr>幻灯片 10</vt:lpstr>
      <vt:lpstr>幻灯片 11</vt:lpstr>
      <vt:lpstr>幻灯片 12</vt:lpstr>
      <vt:lpstr>类图和对象图的区别 </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369</cp:revision>
  <dcterms:created xsi:type="dcterms:W3CDTF">2007-03-24T22:53:15Z</dcterms:created>
  <dcterms:modified xsi:type="dcterms:W3CDTF">2018-12-17T08:44:53Z</dcterms:modified>
</cp:coreProperties>
</file>