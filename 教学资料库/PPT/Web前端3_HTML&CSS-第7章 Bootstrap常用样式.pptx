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31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40"/>
  </p:notesMasterIdLst>
  <p:handoutMasterIdLst>
    <p:handoutMasterId r:id="rId141"/>
  </p:handoutMasterIdLst>
  <p:sldIdLst>
    <p:sldId id="325" r:id="rId3"/>
    <p:sldId id="511" r:id="rId4"/>
    <p:sldId id="683" r:id="rId5"/>
    <p:sldId id="328" r:id="rId6"/>
    <p:sldId id="327" r:id="rId7"/>
    <p:sldId id="684" r:id="rId8"/>
    <p:sldId id="309" r:id="rId9"/>
    <p:sldId id="577" r:id="rId10"/>
    <p:sldId id="372" r:id="rId11"/>
    <p:sldId id="709" r:id="rId12"/>
    <p:sldId id="710" r:id="rId13"/>
    <p:sldId id="789" r:id="rId14"/>
    <p:sldId id="715" r:id="rId15"/>
    <p:sldId id="716" r:id="rId16"/>
    <p:sldId id="685" r:id="rId17"/>
    <p:sldId id="711" r:id="rId18"/>
    <p:sldId id="790" r:id="rId19"/>
    <p:sldId id="712" r:id="rId20"/>
    <p:sldId id="713" r:id="rId21"/>
    <p:sldId id="686" r:id="rId22"/>
    <p:sldId id="717" r:id="rId23"/>
    <p:sldId id="720" r:id="rId24"/>
    <p:sldId id="718" r:id="rId25"/>
    <p:sldId id="719" r:id="rId26"/>
    <p:sldId id="687" r:id="rId27"/>
    <p:sldId id="721" r:id="rId28"/>
    <p:sldId id="723" r:id="rId29"/>
    <p:sldId id="724" r:id="rId30"/>
    <p:sldId id="703" r:id="rId31"/>
    <p:sldId id="688" r:id="rId32"/>
    <p:sldId id="725" r:id="rId33"/>
    <p:sldId id="726" r:id="rId34"/>
    <p:sldId id="793" r:id="rId35"/>
    <p:sldId id="810" r:id="rId36"/>
    <p:sldId id="812" r:id="rId37"/>
    <p:sldId id="728" r:id="rId38"/>
    <p:sldId id="689" r:id="rId39"/>
    <p:sldId id="729" r:id="rId40"/>
    <p:sldId id="730" r:id="rId41"/>
    <p:sldId id="794" r:id="rId42"/>
    <p:sldId id="731" r:id="rId43"/>
    <p:sldId id="732" r:id="rId44"/>
    <p:sldId id="690" r:id="rId45"/>
    <p:sldId id="733" r:id="rId46"/>
    <p:sldId id="734" r:id="rId47"/>
    <p:sldId id="795" r:id="rId48"/>
    <p:sldId id="735" r:id="rId49"/>
    <p:sldId id="813" r:id="rId50"/>
    <p:sldId id="736" r:id="rId51"/>
    <p:sldId id="737" r:id="rId52"/>
    <p:sldId id="796" r:id="rId53"/>
    <p:sldId id="738" r:id="rId54"/>
    <p:sldId id="814" r:id="rId55"/>
    <p:sldId id="739" r:id="rId56"/>
    <p:sldId id="691" r:id="rId57"/>
    <p:sldId id="740" r:id="rId58"/>
    <p:sldId id="741" r:id="rId59"/>
    <p:sldId id="797" r:id="rId60"/>
    <p:sldId id="742" r:id="rId61"/>
    <p:sldId id="815" r:id="rId62"/>
    <p:sldId id="743" r:id="rId63"/>
    <p:sldId id="704" r:id="rId64"/>
    <p:sldId id="692" r:id="rId65"/>
    <p:sldId id="744" r:id="rId66"/>
    <p:sldId id="798" r:id="rId67"/>
    <p:sldId id="745" r:id="rId68"/>
    <p:sldId id="816" r:id="rId69"/>
    <p:sldId id="746" r:id="rId70"/>
    <p:sldId id="693" r:id="rId71"/>
    <p:sldId id="747" r:id="rId72"/>
    <p:sldId id="799" r:id="rId73"/>
    <p:sldId id="748" r:id="rId74"/>
    <p:sldId id="749" r:id="rId75"/>
    <p:sldId id="694" r:id="rId76"/>
    <p:sldId id="750" r:id="rId77"/>
    <p:sldId id="800" r:id="rId78"/>
    <p:sldId id="751" r:id="rId79"/>
    <p:sldId id="752" r:id="rId80"/>
    <p:sldId id="705" r:id="rId81"/>
    <p:sldId id="695" r:id="rId82"/>
    <p:sldId id="753" r:id="rId83"/>
    <p:sldId id="801" r:id="rId84"/>
    <p:sldId id="754" r:id="rId85"/>
    <p:sldId id="817" r:id="rId86"/>
    <p:sldId id="755" r:id="rId87"/>
    <p:sldId id="706" r:id="rId88"/>
    <p:sldId id="696" r:id="rId89"/>
    <p:sldId id="756" r:id="rId90"/>
    <p:sldId id="759" r:id="rId91"/>
    <p:sldId id="802" r:id="rId92"/>
    <p:sldId id="757" r:id="rId93"/>
    <p:sldId id="758" r:id="rId94"/>
    <p:sldId id="760" r:id="rId95"/>
    <p:sldId id="803" r:id="rId96"/>
    <p:sldId id="761" r:id="rId97"/>
    <p:sldId id="762" r:id="rId98"/>
    <p:sldId id="763" r:id="rId99"/>
    <p:sldId id="697" r:id="rId100"/>
    <p:sldId id="764" r:id="rId101"/>
    <p:sldId id="804" r:id="rId102"/>
    <p:sldId id="766" r:id="rId103"/>
    <p:sldId id="767" r:id="rId104"/>
    <p:sldId id="768" r:id="rId105"/>
    <p:sldId id="805" r:id="rId106"/>
    <p:sldId id="769" r:id="rId107"/>
    <p:sldId id="770" r:id="rId108"/>
    <p:sldId id="698" r:id="rId109"/>
    <p:sldId id="806" r:id="rId110"/>
    <p:sldId id="771" r:id="rId111"/>
    <p:sldId id="772" r:id="rId112"/>
    <p:sldId id="707" r:id="rId113"/>
    <p:sldId id="699" r:id="rId114"/>
    <p:sldId id="773" r:id="rId115"/>
    <p:sldId id="774" r:id="rId116"/>
    <p:sldId id="777" r:id="rId117"/>
    <p:sldId id="807" r:id="rId118"/>
    <p:sldId id="775" r:id="rId119"/>
    <p:sldId id="776" r:id="rId120"/>
    <p:sldId id="708" r:id="rId121"/>
    <p:sldId id="700" r:id="rId122"/>
    <p:sldId id="778" r:id="rId123"/>
    <p:sldId id="808" r:id="rId124"/>
    <p:sldId id="779" r:id="rId125"/>
    <p:sldId id="780" r:id="rId126"/>
    <p:sldId id="701" r:id="rId127"/>
    <p:sldId id="781" r:id="rId128"/>
    <p:sldId id="809" r:id="rId129"/>
    <p:sldId id="782" r:id="rId130"/>
    <p:sldId id="783" r:id="rId131"/>
    <p:sldId id="784" r:id="rId132"/>
    <p:sldId id="702" r:id="rId133"/>
    <p:sldId id="785" r:id="rId134"/>
    <p:sldId id="786" r:id="rId135"/>
    <p:sldId id="787" r:id="rId136"/>
    <p:sldId id="788" r:id="rId137"/>
    <p:sldId id="576" r:id="rId138"/>
    <p:sldId id="326" r:id="rId139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6">
          <p15:clr>
            <a:srgbClr val="A4A3A4"/>
          </p15:clr>
        </p15:guide>
        <p15:guide id="3" pos="65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EFA511"/>
    <a:srgbClr val="EBAD13"/>
    <a:srgbClr val="FFFFFF"/>
    <a:srgbClr val="BBBBBB"/>
    <a:srgbClr val="1369B3"/>
    <a:srgbClr val="FAFAFA"/>
    <a:srgbClr val="F2F2F2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 autoAdjust="0"/>
    <p:restoredTop sz="94660" autoAdjust="0"/>
  </p:normalViewPr>
  <p:slideViewPr>
    <p:cSldViewPr>
      <p:cViewPr varScale="1">
        <p:scale>
          <a:sx n="69" d="100"/>
          <a:sy n="69" d="100"/>
        </p:scale>
        <p:origin x="876" y="60"/>
      </p:cViewPr>
      <p:guideLst>
        <p:guide orient="horz" pos="2160"/>
        <p:guide pos="256"/>
        <p:guide pos="65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notesMaster" Target="notesMasters/notesMaster1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presProps" Target="pres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6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80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05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230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9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282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925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26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99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960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237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000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736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683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33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847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891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937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694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12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237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668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780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6030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2105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5234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9246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727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080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306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0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932700-A96E-48CC-99B1-0D0AB6A05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926309-C010-4B32-8B30-A6D8032A6D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C59529-8D20-4D23-98BA-108ACEC1BA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sv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998862" y="2565698"/>
            <a:ext cx="69339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7</a:t>
            </a:r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 </a:t>
            </a:r>
            <a:r>
              <a:rPr lang="en-US" altLang="zh-CN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Bootstrap</a:t>
            </a:r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常用样式</a:t>
            </a:r>
            <a:endParaRPr lang="en-US" altLang="zh-CN" sz="44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062758" y="2205658"/>
            <a:ext cx="8424936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标题样式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，能够灵活设置标题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062758" y="3075940"/>
            <a:ext cx="8424936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文本样式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强调文本效果、设置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文本颜色和格式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062758" y="3944106"/>
            <a:ext cx="8424936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列表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，能够实现列表初始化、内联列表和水平定义列表效果</a:t>
              </a: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062758" y="4825879"/>
            <a:ext cx="8424936" cy="685959"/>
            <a:chOff x="978872" y="2570437"/>
            <a:chExt cx="5437064" cy="514350"/>
          </a:xfrm>
        </p:grpSpPr>
        <p:sp>
          <p:nvSpPr>
            <p:cNvPr id="2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代码样式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，能够正确使用内联标签实现代码格式</a:t>
              </a: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72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062758" y="2205658"/>
            <a:ext cx="8352928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图文样式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，能够实现响应式图像、图像布局模式和图文组合效果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062758" y="3075940"/>
            <a:ext cx="8352928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表格样式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，能够正确使用表格样式实现表格隔行换色效果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062758" y="3944106"/>
            <a:ext cx="8352928" cy="688077"/>
            <a:chOff x="978872" y="3338787"/>
            <a:chExt cx="5681977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681977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辅助样式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，能够设置元素的背景颜色、边框样式和元素间距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2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1714674"/>
            <a:ext cx="10151132" cy="2673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是轻量的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基础代码库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，它重置了浏览器的默认样式，并提供了常用的样式类，用来对页面进行美化。例如，通过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.text-info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.text-success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类可以设置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.text-left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.text-right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类可以设置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。这些样式类都是预定好的，只要引入了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bootstrap.min.css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样式文件就可使用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本章将针对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常用样式进行讲解。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标题样式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文本样式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列表样式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070870" y="4699302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976422" y="4677123"/>
            <a:ext cx="5142331" cy="613062"/>
            <a:chOff x="4315150" y="953426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代码样式</a:t>
              </a:r>
              <a:endParaRPr lang="zh-CN" altLang="en-GB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图文样式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表格样式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辅助样式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10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标题样式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03177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h1&gt;~&lt;h6&gt;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完成标题的设置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91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99" y="2061642"/>
            <a:ext cx="3628571" cy="3552381"/>
          </a:xfrm>
          <a:prstGeom prst="rect">
            <a:avLst/>
          </a:prstGeom>
        </p:spPr>
      </p:pic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4984288" y="2573336"/>
            <a:ext cx="6768752" cy="145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在网页中显示时通常用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放在网页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最显眼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的位置。在传统网站开发中，通常使用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）定义标题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1168672" y="1269554"/>
            <a:ext cx="30543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标题的重要性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1346355" y="2373663"/>
            <a:ext cx="2831435" cy="30372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20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>
            <a:stCxn id="15" idx="0"/>
          </p:cNvCxnSpPr>
          <p:nvPr/>
        </p:nvCxnSpPr>
        <p:spPr>
          <a:xfrm flipV="1">
            <a:off x="2782838" y="5410873"/>
            <a:ext cx="0" cy="411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1558702" y="5822409"/>
            <a:ext cx="2448272" cy="2880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新闻的标题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143690" y="2069280"/>
            <a:ext cx="631966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对所有的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）的样式进行了定义，将所有标题的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margin-top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0;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margin-bottom: 0.5rem (8px);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。其中，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新增的一个相对单位，它相对于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根元素的文字大小。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 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&lt;html&gt;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标签的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font-size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也就是说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1rem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等于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8" name="TextBox 76"/>
          <p:cNvSpPr txBox="1"/>
          <p:nvPr/>
        </p:nvSpPr>
        <p:spPr>
          <a:xfrm>
            <a:off x="1168672" y="1269554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&lt;h1&gt;~&lt;h6&gt;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标签设置标题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81" y="1886444"/>
            <a:ext cx="3735437" cy="28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1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6"/>
          <p:cNvSpPr txBox="1"/>
          <p:nvPr/>
        </p:nvSpPr>
        <p:spPr>
          <a:xfrm>
            <a:off x="1168672" y="1197546"/>
            <a:ext cx="413444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h1&gt;~&lt;h6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&gt;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标题标签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050750"/>
              </p:ext>
            </p:extLst>
          </p:nvPr>
        </p:nvGraphicFramePr>
        <p:xfrm>
          <a:off x="1558702" y="2075219"/>
          <a:ext cx="9073008" cy="410445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</a:tblGrid>
              <a:tr h="801429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标题标签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字体大小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&lt;h1&gt;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一级标题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2.5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&lt;h2&gt;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二级标题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32px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&lt;h3&gt;</a:t>
                      </a:r>
                      <a:endParaRPr lang="zh-CN" sz="20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三级标题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1.75rem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28px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&lt;h4&gt;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四级标题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1.5rem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&lt;h5&gt;</a:t>
                      </a:r>
                      <a:endParaRPr lang="zh-CN" sz="20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五级标题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1.25rem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948102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&lt;h6&gt;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六级标题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587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26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&gt;~&lt;h6&gt;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3" descr="7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34" y="1917626"/>
            <a:ext cx="4700284" cy="448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6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205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&lt;h1&gt;~&lt;h6&gt;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标题标签在页面中的展示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C:\code\chapter07\demo01.html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927455" y="2199624"/>
            <a:ext cx="6624736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143479" y="2353248"/>
            <a:ext cx="43204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&lt;/h1&gt;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&lt;h2&gt;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二级标题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&lt;/h2&gt;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&lt;h3&gt;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三级标题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&lt;/h3&gt;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&lt;h4&gt;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四级标题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&lt;/h4&gt;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&lt;h5&gt;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五级标题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&lt;/h5&gt;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&lt;h6&gt;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六级标题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&lt;/h6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572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页面效果。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&lt;h1&gt;~&lt;h6&gt;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2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7319342" y="3514490"/>
            <a:ext cx="1008112" cy="20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8327454" y="2867735"/>
            <a:ext cx="2448272" cy="133453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标题到六级标题，数字越大所代表的文本字体越小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 descr="7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624" y="2158596"/>
            <a:ext cx="4700284" cy="448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98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599721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h1~.h6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.h1~.h6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011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.h1~.h6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1143690" y="2141288"/>
            <a:ext cx="631966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中定义了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.h1~.h6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来让非标题元素实现标题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h1~.h6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换算方式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.h1~.h6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不同之处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在于，使用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.h1~.h6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标题类的文本段不会视作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的标题元素，没有标题的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含义。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76"/>
          <p:cNvSpPr txBox="1"/>
          <p:nvPr/>
        </p:nvSpPr>
        <p:spPr>
          <a:xfrm>
            <a:off x="1168672" y="1341562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.h1~.h6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标题类设置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66" y="2069280"/>
            <a:ext cx="3873454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1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.h1~.h6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.h1~.h6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Picture 3" descr="7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86" y="1770304"/>
            <a:ext cx="5606909" cy="450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49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.h1~.h6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</a:t>
            </a:r>
            <a:r>
              <a:rPr lang="en-US" altLang="zh-CN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.h1~.h6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标题类在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页面中的展示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C:\code\chapter07\demo02.html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709333" y="2326959"/>
            <a:ext cx="6336704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925357" y="2443782"/>
            <a:ext cx="410445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 class="h1"&gt;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class="h2"&gt;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二级标题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class="h3"&gt;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三级标题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class="h4"&gt;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四级标题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class="h5"&gt;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五级标题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class="h6"&gt;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六级标题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254199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.h1~.h6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demo02.html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8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7319342" y="3514490"/>
            <a:ext cx="1008112" cy="20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8327454" y="2867735"/>
            <a:ext cx="2448272" cy="133453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标题到六级标题，数字越大所代表的文本字体越小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3" descr="7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999" y="1989634"/>
            <a:ext cx="5606909" cy="450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119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03177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能够完成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标题的设置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.display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653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1143690" y="2277666"/>
            <a:ext cx="631966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样式中，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用于设置最大的标题字号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。如果想要设置字号更大、更醒目的标题，以迎合网页内容的显示，这时可以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中提供了一系列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.display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.display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标题标签字体的换算方式相同，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1rem=16px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76"/>
          <p:cNvSpPr txBox="1"/>
          <p:nvPr/>
        </p:nvSpPr>
        <p:spPr>
          <a:xfrm>
            <a:off x="1168672" y="1477940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.display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类设置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.display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074" name="Picture 2" descr="7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366" y="1845618"/>
            <a:ext cx="3861564" cy="379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13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/>
          <p:cNvSpPr txBox="1"/>
          <p:nvPr/>
        </p:nvSpPr>
        <p:spPr>
          <a:xfrm>
            <a:off x="1168672" y="1477940"/>
            <a:ext cx="269428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display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标题类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.display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178"/>
              </p:ext>
            </p:extLst>
          </p:nvPr>
        </p:nvGraphicFramePr>
        <p:xfrm>
          <a:off x="2350790" y="2277666"/>
          <a:ext cx="7776864" cy="300344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1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060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</a:tblGrid>
              <a:tr h="801429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标题类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字体大小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.display-1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.display-2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5.5rem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88px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.display-3</a:t>
                      </a:r>
                      <a:endParaRPr lang="zh-CN" sz="20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4.5rem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72px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55050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.display-4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3.5rem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56px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95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display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标题类在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页面中的展示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C:\code\chapter07\demo03.html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759213" y="2349674"/>
            <a:ext cx="6912768" cy="26642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975237" y="2489622"/>
            <a:ext cx="47041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 class="display-1"&gt;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&lt;/h1&gt;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 class="display-2"&gt;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二级标题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&lt;/h2&gt;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 class="display-3"&gt;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三级标题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&lt;/h3&gt;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 class="display-4"&gt;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四级标题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&lt;/h4&gt;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.display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25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，演示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.display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页面效果。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8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7149926" y="3327784"/>
            <a:ext cx="1008112" cy="20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8158038" y="2681028"/>
            <a:ext cx="2448272" cy="157017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display-{1|2|3|4}</a:t>
            </a:r>
          </a:p>
          <a:p>
            <a:pPr algn="ctr"/>
            <a:r>
              <a:rPr kumimoji="1"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标题到四级标题，数字越大所代表的文本越小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.display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标题类设置标题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098" name="Picture 2" descr="7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645" y="2071188"/>
            <a:ext cx="4448639" cy="4360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99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small&gt;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能够完成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副标题的设置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small&gt;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标签设置副标题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47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1143690" y="2277666"/>
            <a:ext cx="6319668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常会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后跟一行小的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的布局形式。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中也考虑到了这种布局形式，使用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&lt;small&gt;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（通常与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.text-muted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类一起使用）创建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字号更小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颜色更浅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的文本实现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76"/>
          <p:cNvSpPr txBox="1"/>
          <p:nvPr/>
        </p:nvSpPr>
        <p:spPr>
          <a:xfrm>
            <a:off x="1168672" y="1477940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&lt;small&gt;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标签设置副标题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small&gt;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标签设置副标题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122" name="Picture 2" descr="7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672" y="2421682"/>
            <a:ext cx="3953531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190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&lt;small&gt;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标签设置副标题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C:\code\chapter07\demo04.html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编写代码通过对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&lt;small&gt;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.text-muted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查看标题效果。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2710830" y="2690861"/>
            <a:ext cx="7746513" cy="18538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973154" y="2796238"/>
            <a:ext cx="76328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&lt;small&gt;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我是副标题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&lt;/small&gt;&lt;/h1&gt;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&lt;h1&gt;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一级标题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&lt;small class="text-muted"&gt;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我是副标题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&lt;/small&gt;&lt;/h1&gt;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small&gt;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标签设置副标题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365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demo04.html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8028208" y="3605272"/>
            <a:ext cx="2459486" cy="133453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副标题加上类名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text-muted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后，字体颜色变浅了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small&gt;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标签设置副标题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146" name="Picture 2" descr="7-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726" y="2493690"/>
            <a:ext cx="5577876" cy="2336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5244221" y="4272539"/>
            <a:ext cx="2783987" cy="19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63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文本样式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308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能够通过内联标签强调文本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225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/>
          <p:cNvSpPr txBox="1"/>
          <p:nvPr/>
        </p:nvSpPr>
        <p:spPr>
          <a:xfrm>
            <a:off x="1168672" y="1197546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HTML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中常用的内联标签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354221"/>
              </p:ext>
            </p:extLst>
          </p:nvPr>
        </p:nvGraphicFramePr>
        <p:xfrm>
          <a:off x="982638" y="2069280"/>
          <a:ext cx="10585176" cy="396858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85776366"/>
                    </a:ext>
                  </a:extLst>
                </a:gridCol>
              </a:tblGrid>
              <a:tr h="96644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标签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标签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&lt;b&gt;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&lt;strong&gt;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文本加粗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&lt;mark&gt;</a:t>
                      </a:r>
                      <a:endParaRPr lang="zh-CN" sz="18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标记，高亮显示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50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&lt;del&gt;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&lt;s&gt;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删除线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&lt;address&gt;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表示地址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54650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&lt;ins&gt;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&lt;u&gt;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画</a:t>
                      </a:r>
                      <a:r>
                        <a:rPr 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&lt;footer&gt;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定义文档或小节的页脚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81469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sz="18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em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sz="18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斜体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&lt;cite&gt;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表示它所包含的文本对某个参考文献的引用，比如书籍或者杂志的标题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  <a:tr h="66385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&lt;blockquote&gt;</a:t>
                      </a:r>
                      <a:endParaRPr lang="zh-CN" sz="18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引用块</a:t>
                      </a:r>
                      <a:r>
                        <a:rPr 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，长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引用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sz="18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abbr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缩略语，</a:t>
                      </a:r>
                      <a:r>
                        <a:rPr 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鼠标</a:t>
                      </a: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指针</a:t>
                      </a:r>
                      <a:r>
                        <a:rPr 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悬停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在该文本上时，显示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title</a:t>
                      </a: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的属性值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94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5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/>
          <p:cNvSpPr txBox="1"/>
          <p:nvPr/>
        </p:nvSpPr>
        <p:spPr>
          <a:xfrm>
            <a:off x="1168672" y="1197546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联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标签解释说明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34566" y="1853256"/>
            <a:ext cx="11017224" cy="390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&lt;strong&gt;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默认情况下是加粗字体，前者是给其包裹的文本设置为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bold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粗体效果，而后者用于强调文本，强调的程度更强一些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&lt;del&gt;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都可以实现删除效果，但是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&lt;del&gt;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更具有语义化，能更形象地描述删除的意思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&lt;strong&gt;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em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具有强调作用，有利于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SEO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&lt;ins&gt;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&lt;u&gt;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都可以实现下画线效果，但是前者通常与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&lt;del&gt;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删除线一起使用，用来定义带有已删除部分和新插入部分的文本（如：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1+1=&lt;del&gt;4&lt;/del&gt;&lt;ins&gt;2&lt;/ins&gt;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），而后者表示为文本添加下画线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cite&gt;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通常表示所包含的文本对某个参考文献的引用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，引用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的文本将以斜体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显示。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607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053530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中常用的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强调文本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Picture 2" descr="7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202" y="1773610"/>
            <a:ext cx="4915747" cy="4643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745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897168" y="2349674"/>
            <a:ext cx="3518518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506818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内联标签强调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C:\code\chapter07\demo05.html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编写代码使用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中常用的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演示对应的效果。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1918742" y="2623921"/>
            <a:ext cx="4608512" cy="2880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134766" y="2720976"/>
            <a:ext cx="4104456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&lt;p&gt;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&lt;b&gt;b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文本加粗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&lt;strong&gt;strong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文本加粗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&lt;/strong&gt;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&lt;p&gt;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&lt;del&gt;del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删除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&lt;/del&gt;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&lt;s&gt;s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删除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75326" y="2317730"/>
            <a:ext cx="28803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1+1=&lt;del&gt;4&lt;/del&gt;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&lt;ins&gt;2&lt;/ins&gt;ins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下画线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&lt;u&gt;u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下画线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&lt;/u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斜体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斜体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21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43481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内联标签强调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C:\code\chapter07\demo05.html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编写代码使用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中常用的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演示对应的效果。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916980" y="2565698"/>
            <a:ext cx="7858746" cy="2935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070870" y="2674273"/>
            <a:ext cx="792088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引用块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&lt;mark&gt;mark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高亮显示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&lt;/mark&gt;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&lt;address&gt;address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表示地址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&lt;/address&gt;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&lt;footer&gt;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定义文档或小节的页脚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&lt;/footer&gt;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&lt;cite&gt;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表示它所包含的文本对某个参考文献的引用，比如书籍或者杂志的标题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&lt;/cite&gt;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abbr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title="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我是提示信息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abbr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缩略语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abbr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63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demo05.html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内联标签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8015097" y="3159495"/>
            <a:ext cx="3408701" cy="24482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&lt;mark&gt;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标签显示为黄色背景有且一定的边距，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kumimoji="1"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abbr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标签会在文本底部显示一条虚线边框，并且当鼠标指针悬停在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kumimoji="1"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abbr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标签上时会出现提示性文字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5231110" y="4634735"/>
            <a:ext cx="2783987" cy="19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联标签强调文本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170" name="Picture 2" descr="7-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102" y="2140138"/>
            <a:ext cx="4586588" cy="4333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685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904818"/>
            <a:ext cx="5463818" cy="677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，能够使用文本类强调文本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4075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使用文本类强调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577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使用文本类强调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10288626" cy="22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在实际项目中，对于一些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重要的文本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，开发者往往希望对这些文本进行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中常用的内联标签外，还可以通过给标签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添加类名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的方式来实现同样的标签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305432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使用文本类强调文本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9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使用文本类强调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76"/>
          <p:cNvSpPr txBox="1"/>
          <p:nvPr/>
        </p:nvSpPr>
        <p:spPr>
          <a:xfrm>
            <a:off x="1168672" y="1477940"/>
            <a:ext cx="233424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常见的文本类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653241"/>
              </p:ext>
            </p:extLst>
          </p:nvPr>
        </p:nvGraphicFramePr>
        <p:xfrm>
          <a:off x="1143690" y="2421682"/>
          <a:ext cx="9271996" cy="293144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35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630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782213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30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.lead</a:t>
                      </a:r>
                      <a:endParaRPr lang="zh-CN" sz="20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段落突出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30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.small</a:t>
                      </a:r>
                      <a:endParaRPr lang="zh-CN" sz="20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指定更小文本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53730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.mark</a:t>
                      </a:r>
                      <a:endParaRPr lang="zh-CN" sz="20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标记，高亮显示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53730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blockquote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引用块，长引用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52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blockquote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blockquote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设置引述内容，效果如图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使用文本类强调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2" descr="7-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38" y="1917626"/>
            <a:ext cx="6326006" cy="4101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483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使用文本类强调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57882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文本类强调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C:\code\chapter07\demo06.html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文件中，编写代码以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blockquote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blockquote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为例，演示其在页面中的展示效果。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998862" y="2421682"/>
            <a:ext cx="6696744" cy="4111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214886" y="2421682"/>
            <a:ext cx="6912768" cy="4111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 class="text-center"&gt;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朝辞白帝彩云间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千里江陵一日还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两岸猿声啼不住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轻舟已过万重山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&lt;footer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-footer"&gt;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出自李白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《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早发白帝城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》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&lt;/footer&gt;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blockquote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93444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使用文本类强调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demo06.html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演示引述内容运行效果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8879193" y="5518026"/>
            <a:ext cx="1752517" cy="30722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底部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备注来源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4" name="Picture 2" descr="7-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582" y="2184804"/>
            <a:ext cx="6326006" cy="4101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6095206" y="5662042"/>
            <a:ext cx="2783987" cy="19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9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103777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text-*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类设置文本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能够完成文本颜色的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838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9712562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了一套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来强调文本的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，例如前面在讲解使用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&lt;small&gt;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标签设置副标题时用到的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.text-muted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类。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primary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secondary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success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muted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danger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warning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dark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399043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.text-*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类设置文本颜色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150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43690" y="1125538"/>
            <a:ext cx="283830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的文本颜色类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724582"/>
              </p:ext>
            </p:extLst>
          </p:nvPr>
        </p:nvGraphicFramePr>
        <p:xfrm>
          <a:off x="1935778" y="1784628"/>
          <a:ext cx="8047860" cy="46085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35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2606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38633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.text-primary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首选文本颜色，重要的文本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.text-secondary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副标题文本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.text-success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执行成功的文本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.text-muted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柔和的文本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.text-danger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危险操作文本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90108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.text-info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代表一些提示信息的文本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364261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.text-warning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警告文本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66309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.text-dark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深灰色文本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05495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.text-light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浅灰色文本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408064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.text-white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白色文本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033060"/>
                  </a:ext>
                </a:extLst>
              </a:tr>
              <a:tr h="36998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.text-body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默认主体颜色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390577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769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演示常见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页面中的展示效果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Picture 2" descr="7-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014" y="1917626"/>
            <a:ext cx="3600400" cy="43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37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.text-*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类设置文本颜色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C:\code\chapter07\demo07.html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文件中，编写代码演示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在页面中的展示效果。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422798" y="2565698"/>
            <a:ext cx="7704856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638822" y="2658527"/>
            <a:ext cx="6912768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class="text-primary"&gt;.text-primary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效果（重要的文本）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class="text-secondary"&gt;text-secondary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效果（副标题文本）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class="text-success"&gt;.text-success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效果（执行成功的文本）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class="text-muted"&gt;.text-muted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效果（柔和的文本）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class="text-danger"&gt;.text-danger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效果（危险操作文本）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class="text-info"&gt;.text-info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效果（代表一些提示信息的文本）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class="text-warning"&gt;.text-warning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效果（警告文本）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679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.text-*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类设置文本颜色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C:\code\chapter07\demo07.html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文件中，编写代码演示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在页面中的展示效果。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1846735" y="2479905"/>
            <a:ext cx="9001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062758" y="2624346"/>
            <a:ext cx="863258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 class="text-dark"&gt;.text-dark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效果（深灰色文本）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class="text-body"&gt;.text-body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效果（默认主体颜色）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class="text-light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-dark"&gt;.text-light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效果（浅灰色文本）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class="text-white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-dark"&gt;.text-white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效果（白色文本）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class="text-white-50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-dark"&gt;.text-white-50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效果（透明度为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0.5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的白色文本）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class="text-black-50"&gt;.text-black-50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效果（透明度为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0.5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的黑色文本）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643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demo07.html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演示常见的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218" name="Picture 2" descr="7-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53" y="2133650"/>
            <a:ext cx="3384376" cy="406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88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1128112" y="2349674"/>
            <a:ext cx="96551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我们可以通过为文本设置类名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指定特殊意义的文本颜色。这些类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名除了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可以给普通文本设置颜色外，还可以给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设置颜色，并且超链接的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hover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focus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的效果也会改变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48937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4379410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多学一招：实现超链接文本颜色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效果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6770986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6958715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0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超链接文本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878317"/>
              </p:ext>
            </p:extLst>
          </p:nvPr>
        </p:nvGraphicFramePr>
        <p:xfrm>
          <a:off x="3862958" y="1833272"/>
          <a:ext cx="4464496" cy="4414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" r:id="rId3" imgW="5924957" imgH="5877266" progId="Visio.Drawing.15">
                  <p:embed/>
                </p:oleObj>
              </mc:Choice>
              <mc:Fallback>
                <p:oleObj r:id="rId3" imgW="5924957" imgH="5877266" progId="Visio.Drawing.15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958" y="1833272"/>
                        <a:ext cx="4464496" cy="4414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60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演示超链接文本的鼠标悬停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C:\code\chapter07\demo08.html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文件中，编写代码实现效果。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486693" y="2250483"/>
            <a:ext cx="9793089" cy="3267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702717" y="2255014"/>
            <a:ext cx="94330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class="text-primary"&gt;.text-primary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链接效果（重要的文本）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class="text-secondary"&gt;text-secondary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链接效果（副标题文本）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class="text-success"&gt;.text-success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链接效果（执行成功的文本）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class="text-muted"&gt;.text-muted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链接效果（柔和的文本）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class="text-danger"&gt;.text-danger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链接效果（危险操作文本）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class="text-info"&gt;.text-info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链接效果（代表一些提示信息的文本）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class="text-warning"&gt;.text-warning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链接效果（警告文本）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143052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演示超链接文本的鼠标悬停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C:\code\chapter07\demo08.html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文件中，编写代码实现效果。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838622" y="2205658"/>
            <a:ext cx="10877352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931810" y="2421681"/>
            <a:ext cx="107841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class="text-dark"&gt;.text-dark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链接效果（深灰色文本）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class="text-body"&gt;.text-body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链接效果（默认主体颜色）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class="text-light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-dark"&gt;.text-light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链接效果（浅灰色文本）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class="text-white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-dark"&gt;.text-white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链接效果（白色文本）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class="text-white-50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-dark"&gt;.text-white-50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链接效果（透明度为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0.5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的白色文本）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class="text-black-50"&gt;.text-black-50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链接效果（透明度为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0.5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的黑色文本）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193748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类设置文本颜色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demo08.html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程序，在浏览器中查看类名为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text-muted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超链接文本的鼠标悬停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767716"/>
              </p:ext>
            </p:extLst>
          </p:nvPr>
        </p:nvGraphicFramePr>
        <p:xfrm>
          <a:off x="3862958" y="2277666"/>
          <a:ext cx="4464496" cy="4414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" r:id="rId4" imgW="5924957" imgH="5877266" progId="Visio.Drawing.15">
                  <p:embed/>
                </p:oleObj>
              </mc:Choice>
              <mc:Fallback>
                <p:oleObj r:id="rId4" imgW="5924957" imgH="5877266" progId="Visio.Drawing.15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958" y="2277666"/>
                        <a:ext cx="4464496" cy="4414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164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.text-*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类设置文本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，能够完成文本格式的设置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902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9928586" cy="22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在进行网页布局时，经常需要设置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属性设置文本对齐方式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方便开发者使用，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提供了一系列的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类用于设置文本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格式，*取值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justify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uppercase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lowercase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capitalize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399043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.text-*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类设置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文本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格式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693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528712" y="1197546"/>
            <a:ext cx="283830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文本格式类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795158"/>
              </p:ext>
            </p:extLst>
          </p:nvPr>
        </p:nvGraphicFramePr>
        <p:xfrm>
          <a:off x="1503730" y="1925264"/>
          <a:ext cx="9271996" cy="417646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3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64300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.text-left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左对齐，默认由浏览器决定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.text-right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右对齐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.text-center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居中对齐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.text-justify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两端文本对齐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nowrap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段落中文本不会换行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90108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.text-uppercase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设置文本大写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364261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.text-lowercase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设置文本小写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66309"/>
                  </a:ext>
                </a:extLst>
              </a:tr>
              <a:tr h="44168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.text-capitalize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设置单词首字母大写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05495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270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演示常见的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的效果，如图：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Picture 2" descr="7-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34" y="1845618"/>
            <a:ext cx="3735899" cy="47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920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.text-*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格式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C:\code\chapter07\demo09.html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文件中，实现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文本大小写效果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422798" y="2245722"/>
            <a:ext cx="813690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638822" y="2390300"/>
            <a:ext cx="82089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class="text-left"&gt;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左对齐效果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class="text-right"&gt;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右对齐效果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class="text-center"&gt;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居中对齐效果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这段是没有使用类名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text-justify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的效果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...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（省略多个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这段是使用类名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text-justify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的效果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class="text-justify"&gt;hello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...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（省略多个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40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.text-*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格式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C:\code\chapter07\demo09.html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文件中，实现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文本大小写效果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1990750" y="2349674"/>
            <a:ext cx="9217024" cy="2375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134766" y="2417614"/>
            <a:ext cx="9001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 class="text-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nowrap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使用类名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text-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nowrap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的效果，文本不换行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hello 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hello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class="text-uppercase"&gt;text-uppercase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文本大写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class="text-lowercase"&gt;text-lowercase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文本小写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class="text-capitalize"&gt;text-capitalize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单词首字母大写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028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类设置文本格式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050" name="Picture 2" descr="7-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491" y="2005399"/>
            <a:ext cx="3735899" cy="47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75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列表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样式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535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67172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.list-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unstyled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，能够完成列表的初始化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list-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unstyled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类设置列表初始化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12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10216618" cy="337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中无序列表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和有序列表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带有项目符号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的，但在实际开发中，大多数情况下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，列表是不需要带有项目符号的。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到这种情况，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list-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unstyled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用于对列表进行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默认列表样式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list-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unstyled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类仅适用于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直接子列表项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，如果需要移除嵌套的列表项默认样式，需要在嵌套的列表中使用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.list-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unstyled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543059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.list-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unstyled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类设置列表初始化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list-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unstyled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类设置列表初始化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538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.list-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unstyled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设置列表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list-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unstyled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类设置列表初始化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074" name="Picture 2" descr="图片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902" y="2100827"/>
            <a:ext cx="5044400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6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list-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unstyled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类设置列表初始化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.list-</a:t>
            </a:r>
            <a:r>
              <a:rPr lang="en-US" altLang="zh-CN" sz="2000" b="1" kern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unstyled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类实现嵌套的列表初始化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C:\code\chapter07\demo10.html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文件中，编写代码初始化效果。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170770" y="2349674"/>
            <a:ext cx="8172908" cy="28791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350790" y="2420528"/>
            <a:ext cx="79928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嵌套的无序列表初始化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无序项目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列表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class="list-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unstyled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不带项目符号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不带项目符号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427157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list-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unstyled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类设置列表初始化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.list-</a:t>
            </a:r>
            <a:r>
              <a:rPr lang="en-US" altLang="zh-CN" sz="2000" b="1" kern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unstyled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类实现嵌套的列表初始化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C:\code\chapter07\demo10.html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文件中，编写代码初始化效果。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166626" y="2349674"/>
            <a:ext cx="8532948" cy="3024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418654" y="2493690"/>
            <a:ext cx="90051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嵌套的有序列表初始化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有序项目列表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class="list-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unstyled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不带项目编号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不带项目编号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75130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list-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unstyled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类设置列表初始化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demo10.html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演示列表初始化效果。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878" y="2285712"/>
            <a:ext cx="5366731" cy="28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4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.list-inline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能够说明如何实现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内联列表效果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.list-inline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类设置内联列表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443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9712562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中可以通过给列表设置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.list-inline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，并将列表的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直接子级列表项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.list-inline-item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内联列表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效果（所有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列表项放置在同一行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即将垂直列表转换为水平列表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项目符号或项目编号，保持水平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456649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list-inline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类设置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联列表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.list-inline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类设置内联列表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68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list-inline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联列表，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.list-inline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类设置内联列表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2" descr="7-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38" y="1917626"/>
            <a:ext cx="6624736" cy="241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67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5964338" y="2192783"/>
            <a:ext cx="4644516" cy="3885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演示如何在无序列表中使用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.list-inline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类实现内联列表布局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C:\code\chapter07\demo11.html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内联列表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1370582" y="2234123"/>
            <a:ext cx="4485744" cy="1396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478594" y="2264791"/>
            <a:ext cx="43057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style&gt;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 {background-color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black;color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#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fff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style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.list-inline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类设置内联列表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22973" y="1850276"/>
            <a:ext cx="43646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class="text-center"&gt;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内联列表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class="list-inline text-center"&gt;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 class="list-inline-item"&gt;Item1&lt;/li&gt;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 class="list-inline-item"&gt;Item2&lt;/li&gt;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 class="list-inline-item"&gt;Item3&lt;/li&gt;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 class="list-inline-item"&gt;Item4&lt;/li&gt;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&lt;li class="list-inline-item"&gt;Item5&lt;/li&gt;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109903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demo11.html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内联列表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.list-inline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类设置内联列表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098" name="Picture 2" descr="7-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115" y="2285464"/>
            <a:ext cx="6624736" cy="241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607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319801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列表的设置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，能够说明如何实现水平定义列表效果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水平定义列表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457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10360634" cy="175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&lt;dl&gt;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结合栅格系统的预定义类设置定义列表内容，实现内容的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较长的文本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.text-truncate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省略溢出部分，并使用省略号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来代替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2982318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设置水平定义列表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水平定义列表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35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49779" y="1269554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水平定义列表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水平定义列表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782" y="2113155"/>
            <a:ext cx="7247250" cy="1676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30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演示如何设置水平定义列表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C:\code\chapter07\demo12.html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文件中，实现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列表的水平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1342678" y="2251402"/>
            <a:ext cx="9829092" cy="3237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630710" y="2317730"/>
            <a:ext cx="96850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&lt;dl class="row"&gt;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class="col-sm-4"&gt;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标题一：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class="col-sm-8 text-truncate"&gt;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用于描述列表标题内容，对列表标题部分进行介绍的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&lt;/dl&gt;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水平定义列表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16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demo12.html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水平定义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水平定义列表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782" y="2493690"/>
            <a:ext cx="8093000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66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代码样式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531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743737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代码样式的设置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，能够区分常见的代码标签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641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68672" y="1269554"/>
            <a:ext cx="283830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常见的代码标签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7440"/>
              </p:ext>
            </p:extLst>
          </p:nvPr>
        </p:nvGraphicFramePr>
        <p:xfrm>
          <a:off x="1143690" y="1997272"/>
          <a:ext cx="9271996" cy="39604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893094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标签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6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&lt;code&gt;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计算机代码，用来显示单行内联代码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6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&lt;pre&gt;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预格式化文本，保留所有格式，显示多行代码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61346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&lt;kbd&gt;</a:t>
                      </a:r>
                      <a:endParaRPr lang="zh-CN" sz="18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键盘输入文本，显示用户输入代码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61346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&lt;var&gt;</a:t>
                      </a:r>
                      <a:endParaRPr lang="zh-CN" sz="18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定义变量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  <a:tr h="61346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&lt;samp&gt;</a:t>
                      </a:r>
                      <a:endParaRPr lang="zh-CN" sz="18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程序输出文本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9010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780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&lt;code&gt;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&lt;pre&gt;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kbd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风格，效果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2" descr="7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1917626"/>
            <a:ext cx="4762402" cy="329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8372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演示代码标签在页面中的展示效果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C:\code\chapter07\demo13.html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731076" y="2258774"/>
            <a:ext cx="7308812" cy="4319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839088" y="2198955"/>
            <a:ext cx="7390694" cy="4111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单行内联代码：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&lt;code&gt;&amp;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lt;html&amp;gt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html&amp;gt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;&lt;/code&gt;&lt;/div&gt;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键盘输入：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kbd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Ctrl+S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kbd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保存代码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预格式化文本：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&lt;pre class="pre-scrollable"&gt;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lt;dl&amp;gt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lt;dt&amp;gt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;...&amp;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dt&amp;gt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lt;dd&amp;gt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;...&amp;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dd&amp;gt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&amp;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dl&amp;gt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&lt;/pre&gt;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387145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演示代码标签在页面中的展示效果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C:\code\chapter07\demo13.html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134766" y="2382897"/>
            <a:ext cx="7308812" cy="1892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494806" y="2475208"/>
            <a:ext cx="73186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定义变量：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&gt;y&lt;/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 =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&gt;a&lt;/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&gt;x&lt;/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 +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&gt;b&lt;/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samp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计算机输出文本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samp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230204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demo13.html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，查看常见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6146" name="Picture 2" descr="7-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2257264"/>
            <a:ext cx="4762402" cy="329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057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图文样式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227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175785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-fluid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，能够实现响应式图像效果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738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384696" y="1269554"/>
            <a:ext cx="283830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的图像样式类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473262"/>
              </p:ext>
            </p:extLst>
          </p:nvPr>
        </p:nvGraphicFramePr>
        <p:xfrm>
          <a:off x="1630710" y="1989634"/>
          <a:ext cx="9271996" cy="374089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78445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1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8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img</a:t>
                      </a: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-fluid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设置响应式图片，主要应用于响应式设计中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1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800" b="0" kern="1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img</a:t>
                      </a:r>
                      <a:r>
                        <a:rPr 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-thumbnail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缩略图片，给图片设置一个空心边框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73911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</a:t>
                      </a:r>
                      <a:endParaRPr lang="zh-CN" sz="18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给元素添加圆角边框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73911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.rounded-circle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设置元素形状（圆形或者椭圆形）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344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312688" y="1125538"/>
            <a:ext cx="463850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rounded-*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设置圆角边框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801396"/>
              </p:ext>
            </p:extLst>
          </p:nvPr>
        </p:nvGraphicFramePr>
        <p:xfrm>
          <a:off x="1287706" y="1781248"/>
          <a:ext cx="9271996" cy="439248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990523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393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.rounded-top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给元素上方位添加圆角边框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393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.rounded-right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给元素右方位添加圆角边框</a:t>
                      </a:r>
                      <a:endParaRPr lang="zh-CN" altLang="zh-CN" sz="1800" b="0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680393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.rounded-bottom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给元素下方位添加圆角边框</a:t>
                      </a:r>
                      <a:endParaRPr lang="zh-CN" altLang="zh-CN" sz="1800" b="0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680393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.rounded-left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给元素左方位添加圆角边框</a:t>
                      </a:r>
                      <a:endParaRPr lang="zh-CN" altLang="zh-CN" sz="1800" b="0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  <a:tr h="680393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.rounded-0</a:t>
                      </a:r>
                      <a:endParaRPr kumimoji="0" lang="zh-CN" altLang="zh-CN" sz="18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去掉元素圆角样式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3286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953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-fluid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Picture 2" descr="7-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814" y="2083496"/>
            <a:ext cx="6194185" cy="373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6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000" b="1" kern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img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-fluid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类演示响应式图像的展示效果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C:\code\chapter07\demo14.html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响应式图像效果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2422798" y="2277666"/>
            <a:ext cx="8136904" cy="3023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638822" y="2335160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响应式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="images/banner.jpg"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-fluid mb-1" alt="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响应式图像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非响应式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="images/banner.jpg" alt="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非响应式图像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342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demo14.html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170" name="Picture 2" descr="7-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2248128"/>
            <a:ext cx="6194185" cy="373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29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04507" y="2360504"/>
            <a:ext cx="10151132" cy="2027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picture&gt;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新增的标签元素，可以实现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图像的响应式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效果，即在不同的设备上显示不同的图像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&lt;picture&gt;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标签常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在固定的区域下使用固定的图像尺寸，例如在大屏幕下使用大尺寸图像，在小屏幕下使用小尺寸图像，这样可以减少流量的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5641500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5531538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：使用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&lt;picture&gt;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标签设置响应式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图像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7940290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8128019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5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picture&gt;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设置响应式图像，效果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1414686" y="5123558"/>
            <a:ext cx="439248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宽度不超过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500px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Picture 2" descr="7-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1989634"/>
            <a:ext cx="5400600" cy="312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7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254" y="2649464"/>
            <a:ext cx="5345685" cy="180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7094195" y="5111520"/>
            <a:ext cx="439248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屏幕宽度大于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500px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1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演示响应式图像的展示效果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C:\code\chapter07\demo15.html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式图像效果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2675467" y="2351700"/>
            <a:ext cx="7606718" cy="25922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65361" y="2456417"/>
            <a:ext cx="73906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&lt;picture&gt;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&lt;source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srcset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="images/banner1.jpg" media="(max-width:500px)"&gt;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="images/banner.jpg"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-fluid" alt="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响应式大图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&lt;/picture&gt;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188498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demo15.html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，演示当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屏幕宽度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时图片的效果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8194" name="Picture 2" descr="7-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2349674"/>
            <a:ext cx="5400600" cy="312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85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-fluid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类设置响应式图像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屏幕超过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banner.jpg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9218" name="Picture 2" descr="7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854" y="2277666"/>
            <a:ext cx="7048371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008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319801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，能够实现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图像或文字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506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43690" y="1485578"/>
            <a:ext cx="4159428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的图像或文字布局模式类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493981"/>
              </p:ext>
            </p:extLst>
          </p:nvPr>
        </p:nvGraphicFramePr>
        <p:xfrm>
          <a:off x="2062758" y="2349674"/>
          <a:ext cx="8407900" cy="273630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35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646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700116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95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.float-left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设置元素左浮动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95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.float-right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设置元素右浮动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69028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8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clearfix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清除浮动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458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使用常见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的图像样式结合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图像或文字布局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模式，设置图像的显示位置，效果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26" name="Picture 2" descr="7-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129" y="2112609"/>
            <a:ext cx="4720097" cy="3540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89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演示图文布局模式类在页面中的展示效果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C:\code\chapter07\demo16.html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编写代码使用常见的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结合图像或文字布局模式，设置图像的显示位置。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2062758" y="2565698"/>
            <a:ext cx="8352928" cy="3024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278782" y="2696354"/>
            <a:ext cx="83988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 style="background-color:#666"&gt;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clearfix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="images/load-pic1.jpg" class="float-left" alt="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缩略图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="images/load-pic2.jpg" class="rounded float-right"&gt;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="images/load-pic4.jpg"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-thumbnail mx-auto d-block"&gt;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10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demo16.html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图像显示效果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242" name="Picture 2" descr="7-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26" y="2258774"/>
            <a:ext cx="4730179" cy="3552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528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04506" y="2360504"/>
            <a:ext cx="10303267" cy="175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图像添加两个公用的类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.mx-auto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.d-block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居中显示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除此之外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，考虑到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本身是内联标签，还可以给图像包裹一层外部容器，并给该容器添加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.text-center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图像居中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5857524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5636140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：使用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.text-center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类设置图像居中对齐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8128606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8316335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3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1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text-center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设置图像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居中对齐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2" descr="7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954" y="2058236"/>
            <a:ext cx="4032448" cy="400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74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演示图文布局模式类在页面中的展示效果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C:\code\chapter07\demo16.html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图像外部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添加类名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text-center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图片居中显示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2566814" y="2709714"/>
            <a:ext cx="7776864" cy="158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746834" y="2798928"/>
            <a:ext cx="7390694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class="text-center"&gt;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="images/load-pic3.jpg" class="rounded-circle"&gt;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412257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图文布局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demo16.html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图像居中对齐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1266" name="Picture 2" descr="7-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964" y="2133650"/>
            <a:ext cx="4032448" cy="400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306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组合的设置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，能够使用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figure&gt;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figcaption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标签实现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图文组合效果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图文组合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456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&lt;figure&gt;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figcaption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和文字组合效果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图文组合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902" y="2105267"/>
            <a:ext cx="5351871" cy="283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866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演示图像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和文字在页面中的展示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C:\code\chapter07\demo17.html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编写代码使用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&lt;figure&gt;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figcaption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演示图像和文字组合效果。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2422798" y="2565698"/>
            <a:ext cx="7570714" cy="31683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605716" y="2602265"/>
            <a:ext cx="7390694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class="text-center"&gt;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&lt;figure class="figure"&gt;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="images/load-pic4.jpg"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-fluid figure-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figcaption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class="figure-caption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我是一张笑脸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figcaption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&lt;/figure&gt;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图文组合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884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demo17.html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图文组合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图文组合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29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258774"/>
            <a:ext cx="5351871" cy="283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18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表格样式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82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319801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样式的设置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实现美观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的表格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317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68672" y="1197546"/>
            <a:ext cx="579063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的作用于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&lt;table&gt;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元素的表格样式类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55697"/>
              </p:ext>
            </p:extLst>
          </p:nvPr>
        </p:nvGraphicFramePr>
        <p:xfrm>
          <a:off x="1143690" y="1925265"/>
          <a:ext cx="9271996" cy="432048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665178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基类，也就是表格的基本样式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035031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.table-dark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设置颜色反转对比效果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39087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.table-striped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条纹表格，设置斑马线效果，实现隔行换色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.table-bordered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带边框表格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.table-borderless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无边框表格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37791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.table-hover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鼠标悬停效果，鼠标移动到行或单元格上，表格行变色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93177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sm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紧凑型表格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363984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.table-responsive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响应式表格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3282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398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68672" y="1197546"/>
            <a:ext cx="528657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的作用于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thead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的表头样式类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642729"/>
              </p:ext>
            </p:extLst>
          </p:nvPr>
        </p:nvGraphicFramePr>
        <p:xfrm>
          <a:off x="2367826" y="2031887"/>
          <a:ext cx="7615812" cy="18299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15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557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961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.thead-light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设置表头灰色背景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93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.thead-dark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设置表头黑色背景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50A5FC-EF7B-42D2-86B4-B769A325ACB0}"/>
              </a:ext>
            </a:extLst>
          </p:cNvPr>
          <p:cNvSpPr txBox="1"/>
          <p:nvPr/>
        </p:nvSpPr>
        <p:spPr>
          <a:xfrm>
            <a:off x="1946021" y="4710550"/>
            <a:ext cx="9289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中还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作用于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&lt;td&gt;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标准单元格或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表头单元格的样式类，用来设置指定意义的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颜色。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1">
            <a:extLst>
              <a:ext uri="{FF2B5EF4-FFF2-40B4-BE49-F238E27FC236}">
                <a16:creationId xmlns:a16="http://schemas.microsoft.com/office/drawing/2014/main" id="{C16976FD-133A-4B29-873B-D43174BA2570}"/>
              </a:ext>
            </a:extLst>
          </p:cNvPr>
          <p:cNvSpPr/>
          <p:nvPr/>
        </p:nvSpPr>
        <p:spPr>
          <a:xfrm>
            <a:off x="1342678" y="4725938"/>
            <a:ext cx="10009112" cy="10041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>
            <a:extLst>
              <a:ext uri="{FF2B5EF4-FFF2-40B4-BE49-F238E27FC236}">
                <a16:creationId xmlns:a16="http://schemas.microsoft.com/office/drawing/2014/main" id="{1279245D-C2B0-409E-B36F-08E7547D0952}"/>
              </a:ext>
            </a:extLst>
          </p:cNvPr>
          <p:cNvSpPr/>
          <p:nvPr/>
        </p:nvSpPr>
        <p:spPr>
          <a:xfrm>
            <a:off x="1143690" y="450991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727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486694" y="1227653"/>
            <a:ext cx="701476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的作用于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tr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&lt;td&gt;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&lt;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th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&gt;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元素的样式类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73573"/>
              </p:ext>
            </p:extLst>
          </p:nvPr>
        </p:nvGraphicFramePr>
        <p:xfrm>
          <a:off x="1414686" y="1989634"/>
          <a:ext cx="9271996" cy="439248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611586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.table-primary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蓝色，首选颜色，指定这是一个重要的操作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.table-secondary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灰色，指定这是一个次重要的操作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37730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.table-success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绿色，指定这是一个执行成功的操作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070057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.table-active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灰色，指定鼠标悬停的效果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87234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.table-danger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红色，指定这是一个危险的操作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59295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.table-info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浅蓝色，指定这是一个提示信息的操作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30094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.table-warning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橘色，指定这是一个警告的操作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103122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.table-dark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深灰色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95813"/>
                  </a:ext>
                </a:extLst>
              </a:tr>
              <a:tr h="420100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.table-light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浅灰色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61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080120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使用表格样式，编写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列的表格，并使用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.table-striped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实现表格隔行换色效果，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902" y="2540090"/>
            <a:ext cx="5688632" cy="330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271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演示表格的隔行换色效果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C:\code\chapter07\demo18.html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编写一个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的表格，并使用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.table-striped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表格隔行换色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1630710" y="2392653"/>
            <a:ext cx="9505056" cy="4095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774726" y="2361863"/>
            <a:ext cx="95770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&lt;table class="table table-striped table-bordered"&gt;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thead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thead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姓名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学号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语文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数学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英语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thead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tbody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td&gt;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李四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td&gt;01&lt;/td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td&gt;70&lt;/td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td&gt;69&lt;/td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td&gt;84&lt;/td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&lt;!-- ...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此处省略多个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tbody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&lt;/table&gt;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001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demo18.html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隔行换色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7.6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331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902" y="2258774"/>
            <a:ext cx="5688632" cy="330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887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辅助样式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742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679842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-*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，能够根据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背景颜色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选择合适的类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类设置背景颜色</a:t>
            </a:r>
          </a:p>
        </p:txBody>
      </p:sp>
    </p:spTree>
    <p:extLst>
      <p:ext uri="{BB962C8B-B14F-4D97-AF65-F5344CB8AC3E}">
        <p14:creationId xmlns:p14="http://schemas.microsoft.com/office/powerpoint/2010/main" val="53616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43690" y="1053530"/>
            <a:ext cx="341436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常见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的元素背景颜色类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类设置背景颜色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707447"/>
              </p:ext>
            </p:extLst>
          </p:nvPr>
        </p:nvGraphicFramePr>
        <p:xfrm>
          <a:off x="1148665" y="1729088"/>
          <a:ext cx="9271996" cy="45365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7079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-primary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重要的背景颜色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.bg-secondary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副标题背景颜色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37730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-success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成功背景颜色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070057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.bg-danger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危险提示背景颜色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87234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-info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一般提示信息背景颜色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59295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.bg-warning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警告信息背景颜色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30094"/>
                  </a:ext>
                </a:extLst>
              </a:tr>
              <a:tr h="436985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-dark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深灰色背景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103122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-light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浅灰色背景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95813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-white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白色背景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22135"/>
                  </a:ext>
                </a:extLst>
              </a:tr>
              <a:tr h="392080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sz="16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-transparent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透明</a:t>
                      </a:r>
                      <a:r>
                        <a:rPr 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背景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056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47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使用常见的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元素背景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设置元素背景颜色，效果如图：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类设置背景颜色</a:t>
            </a:r>
          </a:p>
        </p:txBody>
      </p:sp>
      <p:pic>
        <p:nvPicPr>
          <p:cNvPr id="11" name="Picture 2" descr="7-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26" y="2091249"/>
            <a:ext cx="4536504" cy="358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2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类设置背景颜色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演示常见的元素背景颜色在页面中的展示效果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C:\code\chapter07\demo19.html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文件中编写代码。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638822" y="1961169"/>
            <a:ext cx="7570714" cy="4552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62858" y="1989634"/>
            <a:ext cx="7390694" cy="448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 style="background-color: #f3f3f3;"&gt;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-primary"&gt;.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-primary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效果（重要的背景颜色）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-secondary"&gt;.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-secondary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效果（副标题背景颜色）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-success"&gt;.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-success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效果（成功背景颜色）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-danger"&gt;.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-danger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效果（危险提示背景颜色）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-info"&gt;.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-info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效果（一般提示信息背景颜色）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-warning"&gt;.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-warning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效果（警告信息背景颜色）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 text-light"&gt;.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效果（深灰色背景）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-light"&gt;.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-light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效果（浅灰色背景）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-white"&gt;.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-white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效果（白色背景）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class="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-transparent"&gt;.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-transparent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效果（透明背景色）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271735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bg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-*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类设置背景颜色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demo19.html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pic>
        <p:nvPicPr>
          <p:cNvPr id="14338" name="Picture 2" descr="7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031308"/>
            <a:ext cx="5328592" cy="421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88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边框样式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，能够根据需要实现元素边框的添加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或移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除，以及边框颜色的修改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设置边框样式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145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设置边框样式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341436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或移除边框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115693" y="2348090"/>
            <a:ext cx="9712562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给元素边框设置了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.border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，如果想要加其他的样式，都要在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.border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的基础上添加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50A5FC-EF7B-42D2-86B4-B769A325ACB0}"/>
              </a:ext>
            </a:extLst>
          </p:cNvPr>
          <p:cNvSpPr txBox="1"/>
          <p:nvPr/>
        </p:nvSpPr>
        <p:spPr>
          <a:xfrm>
            <a:off x="2222510" y="4642378"/>
            <a:ext cx="81396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的样式可以组合使用，多个样式之间只需使用空格隔开即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: 圆角 1">
            <a:extLst>
              <a:ext uri="{FF2B5EF4-FFF2-40B4-BE49-F238E27FC236}">
                <a16:creationId xmlns:a16="http://schemas.microsoft.com/office/drawing/2014/main" id="{C16976FD-133A-4B29-873B-D43174BA2570}"/>
              </a:ext>
            </a:extLst>
          </p:cNvPr>
          <p:cNvSpPr/>
          <p:nvPr/>
        </p:nvSpPr>
        <p:spPr>
          <a:xfrm>
            <a:off x="1619167" y="4472297"/>
            <a:ext cx="9175006" cy="8857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>
            <a:extLst>
              <a:ext uri="{FF2B5EF4-FFF2-40B4-BE49-F238E27FC236}">
                <a16:creationId xmlns:a16="http://schemas.microsoft.com/office/drawing/2014/main" id="{1279245D-C2B0-409E-B36F-08E7547D0952}"/>
              </a:ext>
            </a:extLst>
          </p:cNvPr>
          <p:cNvSpPr/>
          <p:nvPr/>
        </p:nvSpPr>
        <p:spPr>
          <a:xfrm>
            <a:off x="1420179" y="4256273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137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.border-*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设置边框样式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Picture 2" descr="7-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782" y="2109583"/>
            <a:ext cx="6840760" cy="2444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773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设置边框样式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782838" y="2172002"/>
            <a:ext cx="7308812" cy="435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926854" y="2193468"/>
            <a:ext cx="7390694" cy="4222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&lt;style&gt;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span {width: 60px;height: 60px;display: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inline-block;margin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5px;}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&lt;/style&gt;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class="border"&gt;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添加四周边框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class="border border-0"&gt;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移除四周边框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class="border border-top-0"&gt;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移除上边框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class="border border-right-0"&gt;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移除右边框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class="border border-bottom-0"&gt;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移除下边框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class="border border-left-0"&gt;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移除左边框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79" y="1031179"/>
            <a:ext cx="9273433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演示常见的元素背景颜色在页面中的展示效果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C:\code\chapter07\demo20.html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.border-*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368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设置边框样式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demo20.html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元素边框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5362" name="Picture 2" descr="7-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790" y="2351700"/>
            <a:ext cx="6840760" cy="2444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20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设置边框样式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168672" y="1477940"/>
            <a:ext cx="269428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设置边框颜色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063164" y="2277666"/>
            <a:ext cx="10216618" cy="22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.border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类默认边框颜色是淡灰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色。在实际开发中如果想要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修改边框颜色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.border-*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类设置想要的场景颜色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，“*”的取值为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primary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secondary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success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danger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warning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dark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，有兴趣的读者可以一一进行尝试，并在浏览器中查看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边框颜色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34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元素间距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，能够使用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.m-*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.p-*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类设置元素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间距大小和某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侧边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设置元素间距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020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6"/>
          <p:cNvSpPr txBox="1"/>
          <p:nvPr/>
        </p:nvSpPr>
        <p:spPr>
          <a:xfrm>
            <a:off x="1168672" y="1477940"/>
            <a:ext cx="341436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设置元素间距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054646" y="2277666"/>
            <a:ext cx="10441160" cy="278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在传统网站开发中，通常使用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margin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padding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属性设置元素间距，具体如下：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margin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用于设置元素的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，它影响元素与其相邻外部元素之间的距离；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padding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用于设置元素的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，它影响元素与其内部子元素之间的距离。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中同样提供了一组简写的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.m-*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.p-*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类，设置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元素间距大小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某侧的边距值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设置元素间距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234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6"/>
          <p:cNvSpPr txBox="1"/>
          <p:nvPr/>
        </p:nvSpPr>
        <p:spPr>
          <a:xfrm>
            <a:off x="1143690" y="1222532"/>
            <a:ext cx="341436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设置元素内外边距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设置元素间距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958248"/>
              </p:ext>
            </p:extLst>
          </p:nvPr>
        </p:nvGraphicFramePr>
        <p:xfrm>
          <a:off x="1143690" y="1989634"/>
          <a:ext cx="9271996" cy="417646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709441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样式设置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.m-0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.p-0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设置边距为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.m-1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.p-1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margin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padding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0.25rem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37730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.m-2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.p-2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margin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padding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0.5rem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070057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.m-3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.p-3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margin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padding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1rem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87234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.m-4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.p-4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margin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padding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1.5rem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59295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.m-5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.p-5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margin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padding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3rem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30094"/>
                  </a:ext>
                </a:extLst>
              </a:tr>
              <a:tr h="543128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.m-auto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.p-auto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margin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padding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auto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103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88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6"/>
          <p:cNvSpPr txBox="1"/>
          <p:nvPr/>
        </p:nvSpPr>
        <p:spPr>
          <a:xfrm>
            <a:off x="1143690" y="1341562"/>
            <a:ext cx="399043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设置元素某侧的边距值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设置元素间距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78582" y="1917626"/>
            <a:ext cx="10873208" cy="4243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 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缩写来设置元素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某一侧的间距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，间距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值可以选取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endParaRPr lang="en-US" altLang="zh-CN" sz="105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代表上边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距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代表下边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距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代表左边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距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代表右边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距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轴的间距（左边距和右边距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轴的间距（上边距和下边距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078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333449"/>
            <a:ext cx="675171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7.7.3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设置元素间距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595891"/>
              </p:ext>
            </p:extLst>
          </p:nvPr>
        </p:nvGraphicFramePr>
        <p:xfrm>
          <a:off x="1143690" y="2133650"/>
          <a:ext cx="9271996" cy="368914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55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709441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等价的样式代码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.pt-5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{ padding-top: 3rem !important; }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.pb-5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{ padding-bottom: 3rem !important; }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37730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.pl-5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{ padding-left: 3rem !important; }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070057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.pr-5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{ padding-right: 3rem !important; }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87234"/>
                  </a:ext>
                </a:extLst>
              </a:tr>
              <a:tr h="487316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.px-5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{ padding-left: 3rem !important; padding-right: 3rem !important; }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59295"/>
                  </a:ext>
                </a:extLst>
              </a:tr>
              <a:tr h="543128"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.py-5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{ padding-top: 3rem !important; padding-bottom: 3rem !important; }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103122"/>
                  </a:ext>
                </a:extLst>
              </a:tr>
            </a:tbl>
          </a:graphicData>
        </a:graphic>
      </p:graphicFrame>
      <p:sp>
        <p:nvSpPr>
          <p:cNvPr id="8" name="TextBox 76"/>
          <p:cNvSpPr txBox="1"/>
          <p:nvPr/>
        </p:nvSpPr>
        <p:spPr>
          <a:xfrm>
            <a:off x="1143690" y="1278072"/>
            <a:ext cx="399043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设置元素某侧内边距的类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8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40" y="3997944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62082" y="1946486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7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58702" y="2493690"/>
            <a:ext cx="9001000" cy="3177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所提供的样式风格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进行了讲解。首先讲解了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的布局风格设计；其次讲解了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，包括设置响应式图像、图像布局模式及图文组合；然后讲解了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；最后讲解了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，包括背景颜色、边框样式和设置元素间距。学完本章后，读者应掌握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所提供的常用样式，能够实现优雅美观的页面布局效果。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383437" y="1537546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02257" y="1537546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21077" y="1537546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39897" y="1537546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141371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6808</TotalTime>
  <Words>11106</Words>
  <Application>Microsoft Office PowerPoint</Application>
  <PresentationFormat>自定义</PresentationFormat>
  <Paragraphs>1011</Paragraphs>
  <Slides>137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137</vt:i4>
      </vt:variant>
    </vt:vector>
  </HeadingPairs>
  <TitlesOfParts>
    <vt:vector size="153" baseType="lpstr">
      <vt:lpstr>Source Han Sans K Bold</vt:lpstr>
      <vt:lpstr>思源黑体 CN Medium</vt:lpstr>
      <vt:lpstr>思源黑体 CN Regular</vt:lpstr>
      <vt:lpstr>宋体</vt:lpstr>
      <vt:lpstr>微软雅黑</vt:lpstr>
      <vt:lpstr>字魂105号-简雅黑</vt:lpstr>
      <vt:lpstr>字魂58号-创中黑</vt:lpstr>
      <vt:lpstr>Arial</vt:lpstr>
      <vt:lpstr>Calibri</vt:lpstr>
      <vt:lpstr>Courier New</vt:lpstr>
      <vt:lpstr>Impact</vt:lpstr>
      <vt:lpstr>Times New Roman</vt:lpstr>
      <vt:lpstr>Wingdings</vt:lpstr>
      <vt:lpstr>webwppDefTheme</vt:lpstr>
      <vt:lpstr>Office 主题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Windows 用户</cp:lastModifiedBy>
  <cp:revision>2545</cp:revision>
  <dcterms:created xsi:type="dcterms:W3CDTF">2020-11-09T06:56:00Z</dcterms:created>
  <dcterms:modified xsi:type="dcterms:W3CDTF">2026-07-22T13:16:26Z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