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511" r:id="rId3"/>
    <p:sldId id="373" r:id="rId5"/>
    <p:sldId id="374" r:id="rId6"/>
    <p:sldId id="493" r:id="rId7"/>
    <p:sldId id="505" r:id="rId8"/>
    <p:sldId id="340" r:id="rId9"/>
    <p:sldId id="353" r:id="rId10"/>
    <p:sldId id="452" r:id="rId11"/>
    <p:sldId id="506" r:id="rId12"/>
    <p:sldId id="466" r:id="rId13"/>
    <p:sldId id="478" r:id="rId14"/>
    <p:sldId id="479" r:id="rId15"/>
    <p:sldId id="481" r:id="rId16"/>
    <p:sldId id="499" r:id="rId17"/>
    <p:sldId id="500" r:id="rId18"/>
    <p:sldId id="501" r:id="rId19"/>
    <p:sldId id="502" r:id="rId20"/>
    <p:sldId id="503" r:id="rId21"/>
    <p:sldId id="504" r:id="rId22"/>
    <p:sldId id="507" r:id="rId23"/>
    <p:sldId id="508" r:id="rId24"/>
    <p:sldId id="510" r:id="rId25"/>
    <p:sldId id="509" r:id="rId26"/>
    <p:sldId id="347" r:id="rId27"/>
  </p:sldIdLst>
  <p:sldSz cx="12198350" cy="6858000"/>
  <p:notesSz cx="6858000" cy="9144000"/>
  <p:custDataLst>
    <p:tags r:id="rId31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9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05"/>
        <p:guide pos="39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gs" Target="tags/tag40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子任务2：在子任务1的基础上，定义子类Cat的属性color以及设置和获取方法；定义测试类输出Cat实例相关属性信息。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4985" y="3500755"/>
            <a:ext cx="5594350" cy="34150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：定义父类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Pet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，包含方法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void eat()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；定义子类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Dog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，两个子类重写父类中的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eat()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方法；定义测试类，测试两个类实例的不同形态。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：定义父类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Pet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，包含方法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void shout()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；定义子类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Dog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包含方法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void shout()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void eat()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；定义测试类，创建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Dog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实例和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Pet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实例，使父类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Pet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实例指向子类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Dog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实例，使用父类实例调用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shout()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子任务2：在子任务1的基础上，定义子类Cat的属性color以及设置和获取方法；定义测试类输出Cat实例相关属性信息。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4985" y="3500755"/>
            <a:ext cx="5594350" cy="21685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：定义父类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和子类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Dog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，其中包含的方法同任务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；定义测试类，创建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Dog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实例，使父类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实例指向子类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Dog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实例，然后使父类实例强制转换为子类实例，使用子类实例调用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shout()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子任务2：在子任务1的基础上，定义子类Cat的属性color以及设置和获取方法；定义测试类输出Cat实例相关属性信息。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4985" y="3500755"/>
            <a:ext cx="5594350" cy="299974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：定义父类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，包含方法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void eat()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；定义子类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Dog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，两个子类重写父类中的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eat()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方法；定义测试类，创建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Dog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实例和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实例使父类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实例指向子类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Dog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实例和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判断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Dog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实例是否属于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Dog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判断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实例是否属于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实例，判断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Dog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实例是否不属于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多态概述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6605905" y="4109085"/>
            <a:ext cx="399478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对象类型的转换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6605905" y="4509135"/>
            <a:ext cx="399478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instanceof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关键字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3" grpId="0" bldLvl="0" autoUpdateAnimBg="0"/>
      <p:bldP spid="2" grpId="1"/>
      <p:bldP spid="3" grpId="1"/>
      <p:bldP spid="4" grpId="0" bldLvl="0" autoUpdateAnimBg="0"/>
      <p:bldP spid="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多态概述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53770" y="2210435"/>
            <a:ext cx="1038161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多态是面向对象思想中的一个非常重要的概念，在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Java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中，多态是指不同类的对象在调用同一个方法时表现出的多种不同行为。例如，要实现一个动物叫声的方法，由于每种动物的叫声是不同的，因此可以在方法中接收一个动物类型的参数，当传入猫类对象时就发出猫类的叫声，传入犬类对象时就发出犬类的叫声。在同一个方法中，这种由于参数类型不同而导致执行效果不同的现象就是多态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Java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中的多态是面向对象编程的一个核心概念，它允许我们以统一的接口来处理不同的对象类型。多态性主要体现在两个方面：编译时多态（静态多态）和运行时多态（动态多态）。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Java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主要利用运行时多态来实现其强大的功能。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对象类型的转换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210435"/>
            <a:ext cx="9748520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掌握对象类型的转换，能够在多态时使用向上转型和向下转型完成对象类型的转换</a:t>
            </a:r>
            <a:endParaRPr lang="zh-CN" altLang="en-US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latin typeface="宋体" panose="02010600030101010101" pitchFamily="2" charset="-122"/>
                <a:cs typeface="宋体" panose="02010600030101010101" pitchFamily="2" charset="-122"/>
              </a:rPr>
              <a:t>对象向上转型</a:t>
            </a:r>
            <a:endParaRPr lang="zh-CN" altLang="en-US" sz="18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对象向上转型父类对象可以调用子类重写父类的方法，这样当需要新添功能时，只需要新增一个子类，在子类中对父类的功能进行扩展，而不用更改父类的代码，保证了程序的安全性。对于向上转型，程序会自动完成，对象向上转型格式如下所示：</a:t>
            </a:r>
            <a:endParaRPr lang="zh-CN" altLang="en-US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父类类型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父类对象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子类实例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对象类型的转换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210435"/>
            <a:ext cx="9748520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latin typeface="宋体" panose="02010600030101010101" pitchFamily="2" charset="-122"/>
                <a:cs typeface="宋体" panose="02010600030101010101" pitchFamily="2" charset="-122"/>
              </a:rPr>
              <a:t>对象向下转型</a:t>
            </a:r>
            <a:endParaRPr lang="zh-CN" altLang="en-US" sz="18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除了向上转型，对象还可以向下转型。向下转型一般是为了重新获得因为向上转型而丢失的子类特性。对象在进行的向下转型前，必须先进行向上转型，否则将出现对象转换异常。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   	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向下转型时，必须指明要转型的子类类型。对象向下转型格式如下所示：</a:t>
            </a:r>
            <a:endParaRPr lang="zh-CN" altLang="en-US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父类类型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父类对象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子类实例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子类类型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子类对象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（子类）父类对象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5922645" cy="4927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instanceof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关键字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46835" y="2132965"/>
            <a:ext cx="9150985" cy="28613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instanceof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关键字在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Java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中是一个二元操作符，它用于测试左边的对象是否是右边类或接口的实例。如果左边的对象确实是右边类或接口的实例（或者实现了该接口），则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instanceof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表达式的结果是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true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；否则，结果是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false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。这个操作符在处理多态时特别有用，因为它允许你在运行时检查对象的实际类型。语法格式如下所示：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对象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 instanceof 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类（或接口）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5379085" y="3500755"/>
            <a:ext cx="6122035" cy="1337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：定义父类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，包含方法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void eat()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；定义子类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Dog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，两个子类重写父类中的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eat()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方法；定义测试类，测试两个类实例的不同形态。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131695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子任务</a:t>
            </a:r>
            <a:r>
              <a:rPr lang="en-US" altLang="zh-CN" sz="1600">
                <a:latin typeface="+mn-ea"/>
                <a:ea typeface="+mn-ea"/>
                <a:cs typeface="+mn-ea"/>
                <a:sym typeface="+mn-ea"/>
              </a:rPr>
              <a:t>1</a:t>
            </a:r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：结合任务描述和知识链接中多态知识点可以得到文件</a:t>
            </a:r>
            <a:r>
              <a:rPr lang="en-US" altLang="zh-CN" sz="1600">
                <a:latin typeface="+mn-ea"/>
                <a:ea typeface="+mn-ea"/>
                <a:cs typeface="+mn-ea"/>
                <a:sym typeface="+mn-ea"/>
              </a:rPr>
              <a:t>7-13</a:t>
            </a:r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所示的代码：</a:t>
            </a:r>
            <a:endParaRPr lang="zh-CN" altLang="en-US" sz="1600">
              <a:latin typeface="+mn-ea"/>
              <a:ea typeface="+mn-ea"/>
              <a:cs typeface="+mn-ea"/>
              <a:sym typeface="+mn-ea"/>
            </a:endParaRPr>
          </a:p>
          <a:p>
            <a:endParaRPr lang="en-US" altLang="zh-CN" sz="16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291205" y="2526030"/>
            <a:ext cx="567182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1600">
                <a:latin typeface="+mn-ea"/>
                <a:ea typeface="+mn-ea"/>
                <a:cs typeface="+mn-ea"/>
                <a:sym typeface="+mn-ea"/>
              </a:rPr>
              <a:t>7-13  Example13</a:t>
            </a:r>
            <a:endParaRPr lang="en-US" altLang="zh-CN" sz="1600"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46835" y="2708910"/>
            <a:ext cx="5539105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1public class Pet 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	 void eat() {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3	        System.out.println("</a:t>
            </a:r>
            <a:r>
              <a:rPr lang="zh-CN" altLang="en-US" sz="1600">
                <a:latin typeface="Times New Roman" panose="02020603050405020304"/>
                <a:sym typeface="+mn-ea"/>
              </a:rPr>
              <a:t>宠物吃食物</a:t>
            </a:r>
            <a:r>
              <a:rPr lang="en-US" altLang="zh-CN" sz="1600">
                <a:latin typeface="Times New Roman" panose="02020603050405020304"/>
                <a:sym typeface="+mn-ea"/>
              </a:rPr>
              <a:t>");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4	    }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5}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6public class Cat extends Pet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7	void eat() {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8       System.out.println("</a:t>
            </a:r>
            <a:r>
              <a:rPr lang="zh-CN" altLang="en-US" sz="1600">
                <a:latin typeface="Times New Roman" panose="02020603050405020304"/>
                <a:sym typeface="+mn-ea"/>
              </a:rPr>
              <a:t>猫爱吃鱼</a:t>
            </a:r>
            <a:r>
              <a:rPr lang="en-US" altLang="zh-CN" sz="1600">
                <a:latin typeface="Times New Roman" panose="02020603050405020304"/>
                <a:sym typeface="+mn-ea"/>
              </a:rPr>
              <a:t>");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9    }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10  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11public class Dog  extends Pet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12	void eat() {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13        System.out.println("</a:t>
            </a:r>
            <a:r>
              <a:rPr lang="zh-CN" altLang="en-US" sz="1600">
                <a:latin typeface="Times New Roman" panose="02020603050405020304"/>
                <a:sym typeface="+mn-ea"/>
              </a:rPr>
              <a:t>狗爱吃肉</a:t>
            </a:r>
            <a:r>
              <a:rPr lang="en-US" altLang="zh-CN" sz="1600">
                <a:latin typeface="Times New Roman" panose="02020603050405020304"/>
                <a:sym typeface="+mn-ea"/>
              </a:rPr>
              <a:t>");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14    }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15}</a:t>
            </a:r>
            <a:endParaRPr lang="en-US" altLang="zh-CN" sz="1600">
              <a:latin typeface="Times New Roman" panose="02020603050405020304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67375" y="2997200"/>
            <a:ext cx="5481955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16public class Example13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17	public static void main(String[] args)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18	  Pet pet1 = new Cat(); // </a:t>
            </a:r>
            <a:r>
              <a:rPr lang="zh-CN" altLang="en-US" sz="1600">
                <a:latin typeface="Times New Roman" panose="02020603050405020304"/>
                <a:sym typeface="+mn-ea"/>
              </a:rPr>
              <a:t>创建</a:t>
            </a:r>
            <a:r>
              <a:rPr lang="en-US" altLang="zh-CN" sz="1600">
                <a:latin typeface="Times New Roman" panose="02020603050405020304"/>
                <a:sym typeface="+mn-ea"/>
              </a:rPr>
              <a:t>Cat</a:t>
            </a:r>
            <a:r>
              <a:rPr lang="zh-CN" altLang="en-US" sz="1600">
                <a:latin typeface="Times New Roman" panose="02020603050405020304"/>
                <a:sym typeface="+mn-ea"/>
              </a:rPr>
              <a:t>对象</a:t>
            </a:r>
            <a:r>
              <a:rPr lang="en-US" altLang="zh-CN" sz="1600">
                <a:latin typeface="Times New Roman" panose="02020603050405020304"/>
                <a:sym typeface="+mn-ea"/>
              </a:rPr>
              <a:t>,</a:t>
            </a:r>
            <a:r>
              <a:rPr lang="zh-CN" altLang="en-US" sz="1600">
                <a:latin typeface="Times New Roman" panose="02020603050405020304"/>
                <a:sym typeface="+mn-ea"/>
              </a:rPr>
              <a:t>使用</a:t>
            </a:r>
            <a:r>
              <a:rPr lang="en-US" altLang="zh-CN" sz="1600">
                <a:latin typeface="Times New Roman" panose="02020603050405020304"/>
                <a:sym typeface="+mn-ea"/>
              </a:rPr>
              <a:t>Pet</a:t>
            </a:r>
            <a:r>
              <a:rPr lang="zh-CN" altLang="en-US" sz="1600">
                <a:latin typeface="Times New Roman" panose="02020603050405020304"/>
                <a:sym typeface="+mn-ea"/>
              </a:rPr>
              <a:t>类型的变量</a:t>
            </a:r>
            <a:r>
              <a:rPr lang="en-US" altLang="zh-CN" sz="1600">
                <a:latin typeface="Times New Roman" panose="02020603050405020304"/>
                <a:sym typeface="+mn-ea"/>
              </a:rPr>
              <a:t>pet1</a:t>
            </a:r>
            <a:r>
              <a:rPr lang="zh-CN" altLang="en-US" sz="1600">
                <a:latin typeface="Times New Roman" panose="02020603050405020304"/>
                <a:sym typeface="+mn-ea"/>
              </a:rPr>
              <a:t>引用</a:t>
            </a:r>
            <a:endParaRPr lang="zh-CN" altLang="en-US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19	  Pet pet2 = new Dog(); // </a:t>
            </a:r>
            <a:r>
              <a:rPr lang="zh-CN" altLang="en-US" sz="1600">
                <a:latin typeface="Times New Roman" panose="02020603050405020304"/>
                <a:sym typeface="+mn-ea"/>
              </a:rPr>
              <a:t>创建</a:t>
            </a:r>
            <a:r>
              <a:rPr lang="en-US" altLang="zh-CN" sz="1600">
                <a:latin typeface="Times New Roman" panose="02020603050405020304"/>
                <a:sym typeface="+mn-ea"/>
              </a:rPr>
              <a:t>Dog</a:t>
            </a:r>
            <a:r>
              <a:rPr lang="zh-CN" altLang="en-US" sz="1600">
                <a:latin typeface="Times New Roman" panose="02020603050405020304"/>
                <a:sym typeface="+mn-ea"/>
              </a:rPr>
              <a:t>对象</a:t>
            </a:r>
            <a:r>
              <a:rPr lang="en-US" altLang="zh-CN" sz="1600">
                <a:latin typeface="Times New Roman" panose="02020603050405020304"/>
                <a:sym typeface="+mn-ea"/>
              </a:rPr>
              <a:t>,</a:t>
            </a:r>
            <a:r>
              <a:rPr lang="zh-CN" altLang="en-US" sz="1600">
                <a:latin typeface="Times New Roman" panose="02020603050405020304"/>
                <a:sym typeface="+mn-ea"/>
              </a:rPr>
              <a:t>使用</a:t>
            </a:r>
            <a:r>
              <a:rPr lang="en-US" altLang="zh-CN" sz="1600">
                <a:latin typeface="Times New Roman" panose="02020603050405020304"/>
                <a:sym typeface="+mn-ea"/>
              </a:rPr>
              <a:t>Pet</a:t>
            </a:r>
            <a:r>
              <a:rPr lang="zh-CN" altLang="en-US" sz="1600">
                <a:latin typeface="Times New Roman" panose="02020603050405020304"/>
                <a:sym typeface="+mn-ea"/>
              </a:rPr>
              <a:t>类型的变量</a:t>
            </a:r>
            <a:r>
              <a:rPr lang="en-US" altLang="zh-CN" sz="1600">
                <a:latin typeface="Times New Roman" panose="02020603050405020304"/>
                <a:sym typeface="+mn-ea"/>
              </a:rPr>
              <a:t>pet2</a:t>
            </a:r>
            <a:r>
              <a:rPr lang="zh-CN" altLang="en-US" sz="1600">
                <a:latin typeface="Times New Roman" panose="02020603050405020304"/>
                <a:sym typeface="+mn-ea"/>
              </a:rPr>
              <a:t>引用</a:t>
            </a:r>
            <a:endParaRPr lang="zh-CN" altLang="en-US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20    pet1.eat();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21    pet2.eat();     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22	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23}</a:t>
            </a:r>
            <a:endParaRPr lang="en-US" altLang="zh-CN" sz="1600">
              <a:latin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9225" y="2132648"/>
            <a:ext cx="5080000" cy="55308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7-13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的运行结果如图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7-15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所示：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858770" y="3820795"/>
            <a:ext cx="3255645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7-15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7-13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94105" y="4077335"/>
            <a:ext cx="914908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latinLnBrk="0">
              <a:lnSpc>
                <a:spcPct val="150000"/>
              </a:lnSpc>
            </a:pPr>
            <a:r>
              <a:rPr lang="en-US" altLang="zh-CN"/>
              <a:t>      </a:t>
            </a:r>
            <a:endParaRPr lang="zh-CN" altLang="en-US"/>
          </a:p>
        </p:txBody>
      </p:sp>
      <p:pic>
        <p:nvPicPr>
          <p:cNvPr id="103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215" y="2708910"/>
            <a:ext cx="3879215" cy="9182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5379085" y="3500755"/>
            <a:ext cx="6122035" cy="1753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：定义父类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，包含方法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void shout()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；定义子类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Dog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包含方法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void shout()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void eat()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；定义测试类，创建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Dog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实例，使父类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实例指向子类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Dog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实例，使用父类实例调用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shout()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131695"/>
            <a:ext cx="10271125" cy="7956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结合任务描述和知识链接中对象向上转型知识点可以得到文件</a:t>
            </a:r>
            <a:r>
              <a:rPr lang="en-US" altLang="zh-CN" sz="1600">
                <a:latin typeface="+mn-ea"/>
                <a:ea typeface="+mn-ea"/>
                <a:cs typeface="+mn-ea"/>
                <a:sym typeface="+mn-ea"/>
              </a:rPr>
              <a:t>7-14</a:t>
            </a:r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所示的代码：</a:t>
            </a:r>
            <a:endParaRPr lang="zh-CN" altLang="en-US" sz="1600">
              <a:latin typeface="+mn-ea"/>
              <a:ea typeface="+mn-ea"/>
              <a:cs typeface="+mn-ea"/>
              <a:sym typeface="+mn-ea"/>
            </a:endParaRPr>
          </a:p>
          <a:p>
            <a:endParaRPr lang="en-US" altLang="zh-CN" sz="16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291205" y="2526030"/>
            <a:ext cx="567182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1600">
                <a:latin typeface="+mn-ea"/>
                <a:ea typeface="+mn-ea"/>
                <a:cs typeface="+mn-ea"/>
                <a:sym typeface="+mn-ea"/>
              </a:rPr>
              <a:t>7-14  Example14</a:t>
            </a:r>
            <a:endParaRPr lang="en-US" altLang="zh-CN" sz="1600"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30935" y="2997200"/>
            <a:ext cx="5539105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1public class Pet 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	 void shout()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3		 System.out.println("</a:t>
            </a:r>
            <a:r>
              <a:rPr lang="zh-CN" altLang="en-US" sz="1600">
                <a:latin typeface="Times New Roman" panose="02020603050405020304"/>
                <a:sym typeface="+mn-ea"/>
              </a:rPr>
              <a:t>宠物发出叫声</a:t>
            </a:r>
            <a:r>
              <a:rPr lang="en-US" altLang="zh-CN" sz="1600">
                <a:latin typeface="Times New Roman" panose="02020603050405020304"/>
                <a:sym typeface="+mn-ea"/>
              </a:rPr>
              <a:t>");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4	 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5}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6public class Dog extends Pet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7	void eat() {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8        System.out.println("</a:t>
            </a:r>
            <a:r>
              <a:rPr lang="zh-CN" altLang="en-US" sz="1600">
                <a:latin typeface="Times New Roman" panose="02020603050405020304"/>
                <a:sym typeface="+mn-ea"/>
              </a:rPr>
              <a:t>狗爱吃肉</a:t>
            </a:r>
            <a:r>
              <a:rPr lang="en-US" altLang="zh-CN" sz="1600">
                <a:latin typeface="Times New Roman" panose="02020603050405020304"/>
                <a:sym typeface="+mn-ea"/>
              </a:rPr>
              <a:t>");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9    }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10	void shout()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11		 System.out.println("</a:t>
            </a:r>
            <a:r>
              <a:rPr lang="zh-CN" altLang="en-US" sz="1600">
                <a:latin typeface="Times New Roman" panose="02020603050405020304"/>
                <a:sym typeface="+mn-ea"/>
              </a:rPr>
              <a:t>汪汪</a:t>
            </a:r>
            <a:r>
              <a:rPr lang="en-US" altLang="zh-CN" sz="1600">
                <a:latin typeface="Times New Roman" panose="02020603050405020304"/>
                <a:sym typeface="+mn-ea"/>
              </a:rPr>
              <a:t>......");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12	 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13}</a:t>
            </a:r>
            <a:endParaRPr lang="en-US" altLang="zh-CN" sz="1600">
              <a:latin typeface="Times New Roman" panose="02020603050405020304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67375" y="2997200"/>
            <a:ext cx="5481955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14public class Example14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15	public static void main(String[] args)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16		Dog dog=new Dog();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17		Pet pet=dog;// </a:t>
            </a:r>
            <a:r>
              <a:rPr lang="zh-CN" altLang="en-US" sz="1600">
                <a:latin typeface="Times New Roman" panose="02020603050405020304"/>
                <a:sym typeface="+mn-ea"/>
              </a:rPr>
              <a:t>向上转型</a:t>
            </a:r>
            <a:endParaRPr lang="zh-CN" altLang="en-US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18		pet.shout();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19	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20}</a:t>
            </a:r>
            <a:endParaRPr lang="en-US" altLang="zh-CN" sz="1600">
              <a:latin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9225" y="2132648"/>
            <a:ext cx="5080000" cy="506730"/>
          </a:xfrm>
          <a:prstGeom prst="rect">
            <a:avLst/>
          </a:prstGeom>
        </p:spPr>
        <p:txBody>
          <a:bodyPr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7-14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的运行结果如图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7-16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所示：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571115" y="3702050"/>
            <a:ext cx="3255645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7-16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7-14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4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460" y="2889250"/>
            <a:ext cx="4085590" cy="5632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5379085" y="3500755"/>
            <a:ext cx="6122035" cy="2999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：定义父类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和子类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Dog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，其中包含的方法同任务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；定义测试类，创建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Dog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实例，使父类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实例指向子类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Dog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实例，然后使父类实例强制转换为子类实例，使用子类实例调用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shout()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131695"/>
            <a:ext cx="10271125" cy="7956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结合任务描述和知识链接中对象向上转型知识点可以得到文件</a:t>
            </a:r>
            <a:r>
              <a:rPr lang="en-US" altLang="zh-CN" sz="1600">
                <a:latin typeface="+mn-ea"/>
                <a:ea typeface="+mn-ea"/>
                <a:cs typeface="+mn-ea"/>
                <a:sym typeface="+mn-ea"/>
              </a:rPr>
              <a:t>7-15</a:t>
            </a:r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所示的代码，其中类</a:t>
            </a:r>
            <a:r>
              <a:rPr lang="en-US" altLang="zh-CN" sz="1600">
                <a:latin typeface="+mn-ea"/>
                <a:ea typeface="+mn-ea"/>
                <a:cs typeface="+mn-ea"/>
                <a:sym typeface="+mn-ea"/>
              </a:rPr>
              <a:t>Pet</a:t>
            </a:r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和</a:t>
            </a:r>
            <a:r>
              <a:rPr lang="en-US" altLang="zh-CN" sz="1600">
                <a:latin typeface="+mn-ea"/>
                <a:ea typeface="+mn-ea"/>
                <a:cs typeface="+mn-ea"/>
                <a:sym typeface="+mn-ea"/>
              </a:rPr>
              <a:t>Dog</a:t>
            </a:r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代码同子任务</a:t>
            </a:r>
            <a:r>
              <a:rPr lang="en-US" altLang="zh-CN" sz="1600">
                <a:latin typeface="+mn-ea"/>
                <a:ea typeface="+mn-ea"/>
                <a:cs typeface="+mn-ea"/>
                <a:sym typeface="+mn-ea"/>
              </a:rPr>
              <a:t>2</a:t>
            </a:r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，这里不再重复，以下是测试类的代码：</a:t>
            </a:r>
            <a:endParaRPr lang="zh-CN" altLang="en-US" sz="16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291205" y="2526030"/>
            <a:ext cx="567182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1600">
                <a:latin typeface="+mn-ea"/>
                <a:ea typeface="+mn-ea"/>
                <a:cs typeface="+mn-ea"/>
                <a:sym typeface="+mn-ea"/>
              </a:rPr>
              <a:t>7-15  Example15</a:t>
            </a:r>
            <a:endParaRPr lang="en-US" altLang="zh-CN" sz="1600"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71115" y="3074035"/>
            <a:ext cx="5539105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1public class Example15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	public static void main(String[] args)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3	   Pet pet=new Dog();// </a:t>
            </a:r>
            <a:r>
              <a:rPr lang="zh-CN" altLang="en-US" sz="1600">
                <a:latin typeface="Times New Roman" panose="02020603050405020304"/>
                <a:sym typeface="+mn-ea"/>
              </a:rPr>
              <a:t>向上转型</a:t>
            </a:r>
            <a:endParaRPr lang="zh-CN" altLang="en-US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4     Dog dog=(Dog)pet;// </a:t>
            </a:r>
            <a:r>
              <a:rPr lang="zh-CN" altLang="en-US" sz="1600">
                <a:latin typeface="Times New Roman" panose="02020603050405020304"/>
                <a:sym typeface="+mn-ea"/>
              </a:rPr>
              <a:t>向下转型</a:t>
            </a:r>
            <a:endParaRPr lang="zh-CN" altLang="en-US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5	   dog.shout();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6	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7}</a:t>
            </a:r>
            <a:endParaRPr lang="en-US" altLang="zh-CN" sz="1600">
              <a:latin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9225" y="2132648"/>
            <a:ext cx="5080000" cy="506730"/>
          </a:xfrm>
          <a:prstGeom prst="rect">
            <a:avLst/>
          </a:prstGeom>
        </p:spPr>
        <p:txBody>
          <a:bodyPr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7-15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的运行结果如图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7-17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所示：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571115" y="3702050"/>
            <a:ext cx="3255645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7-17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7-15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70305" y="4077335"/>
            <a:ext cx="9489440" cy="1337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latinLnBrk="0">
              <a:lnSpc>
                <a:spcPct val="150000"/>
              </a:lnSpc>
            </a:pPr>
            <a:r>
              <a:rPr lang="en-US" altLang="zh-CN"/>
              <a:t>      </a:t>
            </a:r>
            <a:r>
              <a:rPr lang="zh-CN" altLang="en-US"/>
              <a:t>注意：在向下转型时，不能直接将父类实例强制转换为子类实例，否则程序会报错。</a:t>
            </a:r>
            <a:endParaRPr lang="zh-CN" altLang="en-US"/>
          </a:p>
          <a:p>
            <a:pPr marL="0" indent="0" latinLnBrk="0">
              <a:lnSpc>
                <a:spcPct val="150000"/>
              </a:lnSpc>
            </a:pPr>
            <a:r>
              <a:rPr lang="zh-CN" altLang="en-US"/>
              <a:t>例如，将文件</a:t>
            </a:r>
            <a:r>
              <a:rPr lang="en-US" altLang="zh-CN"/>
              <a:t>7-15</a:t>
            </a:r>
            <a:r>
              <a:rPr lang="zh-CN" altLang="en-US"/>
              <a:t>中第</a:t>
            </a:r>
            <a:r>
              <a:rPr lang="en-US" altLang="zh-CN"/>
              <a:t>3-4</a:t>
            </a:r>
            <a:r>
              <a:rPr lang="zh-CN" altLang="en-US"/>
              <a:t>行代码修改为下面一行代码，则程序报错。</a:t>
            </a:r>
            <a:endParaRPr lang="zh-CN" altLang="en-US"/>
          </a:p>
          <a:p>
            <a:pPr marL="0" indent="0" latinLnBrk="0">
              <a:lnSpc>
                <a:spcPct val="150000"/>
              </a:lnSpc>
            </a:pPr>
            <a:r>
              <a:rPr lang="en-US" altLang="zh-CN"/>
              <a:t>Dog dog = (Dog)new Pet();//</a:t>
            </a:r>
            <a:r>
              <a:rPr lang="zh-CN" altLang="en-US"/>
              <a:t>编译错误</a:t>
            </a:r>
            <a:endParaRPr lang="zh-CN" altLang="en-US"/>
          </a:p>
        </p:txBody>
      </p:sp>
      <p:pic>
        <p:nvPicPr>
          <p:cNvPr id="105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925" y="2787650"/>
            <a:ext cx="3571875" cy="6337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5379085" y="3500755"/>
            <a:ext cx="6122035" cy="3415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：定义父类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，包含方法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void eat()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；定义子类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Dog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，两个子类重写父类中的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eat()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方法；定义测试类，创建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Dog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实例使父类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实例指向子类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Dog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判断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Dog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实例是否属于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Dog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判断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实例是否属于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实例，判断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Dog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实例是否不属于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131695"/>
            <a:ext cx="10271125" cy="7956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结合任务描述和知识链接中</a:t>
            </a:r>
            <a:r>
              <a:rPr lang="en-US" altLang="zh-CN" sz="1600">
                <a:latin typeface="+mn-ea"/>
                <a:ea typeface="+mn-ea"/>
                <a:cs typeface="+mn-ea"/>
                <a:sym typeface="+mn-ea"/>
              </a:rPr>
              <a:t>instanceof</a:t>
            </a:r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关键字语法格式知识点可以得到文件</a:t>
            </a:r>
            <a:r>
              <a:rPr lang="en-US" altLang="zh-CN" sz="1600">
                <a:latin typeface="+mn-ea"/>
                <a:ea typeface="+mn-ea"/>
                <a:cs typeface="+mn-ea"/>
                <a:sym typeface="+mn-ea"/>
              </a:rPr>
              <a:t>7-16</a:t>
            </a:r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所示的代码：</a:t>
            </a:r>
            <a:endParaRPr lang="zh-CN" altLang="en-US" sz="16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291205" y="2526030"/>
            <a:ext cx="567182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1600">
                <a:latin typeface="+mn-ea"/>
                <a:ea typeface="+mn-ea"/>
                <a:cs typeface="+mn-ea"/>
                <a:sym typeface="+mn-ea"/>
              </a:rPr>
              <a:t>7-16  Example16</a:t>
            </a:r>
            <a:endParaRPr lang="en-US" altLang="zh-CN" sz="1600"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9225" y="2863215"/>
            <a:ext cx="5539105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1public class Pet 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	 void eat() {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3	        System.out.println("</a:t>
            </a:r>
            <a:r>
              <a:rPr lang="zh-CN" altLang="en-US" sz="1600">
                <a:latin typeface="Times New Roman" panose="02020603050405020304"/>
                <a:sym typeface="+mn-ea"/>
              </a:rPr>
              <a:t>宠物吃食物</a:t>
            </a:r>
            <a:r>
              <a:rPr lang="en-US" altLang="zh-CN" sz="1600">
                <a:latin typeface="Times New Roman" panose="02020603050405020304"/>
                <a:sym typeface="+mn-ea"/>
              </a:rPr>
              <a:t>");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4	    }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5}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6public class Cat extends Pet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7	void eat() {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8        System.out.println("</a:t>
            </a:r>
            <a:r>
              <a:rPr lang="zh-CN" altLang="en-US" sz="1600">
                <a:latin typeface="Times New Roman" panose="02020603050405020304"/>
                <a:sym typeface="+mn-ea"/>
              </a:rPr>
              <a:t>猫爱吃鱼</a:t>
            </a:r>
            <a:r>
              <a:rPr lang="en-US" altLang="zh-CN" sz="1600">
                <a:latin typeface="Times New Roman" panose="02020603050405020304"/>
                <a:sym typeface="+mn-ea"/>
              </a:rPr>
              <a:t>");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9    }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10  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>
              <a:latin typeface="Times New Roman" panose="02020603050405020304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03365" y="2780665"/>
            <a:ext cx="5539105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11public class Dog  extends Pet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12	void eat() {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13        System.out.println("</a:t>
            </a:r>
            <a:r>
              <a:rPr lang="zh-CN" altLang="en-US" sz="1600">
                <a:latin typeface="Times New Roman" panose="02020603050405020304"/>
                <a:sym typeface="+mn-ea"/>
              </a:rPr>
              <a:t>狗爱吃肉</a:t>
            </a:r>
            <a:r>
              <a:rPr lang="en-US" altLang="zh-CN" sz="1600">
                <a:latin typeface="Times New Roman" panose="02020603050405020304"/>
                <a:sym typeface="+mn-ea"/>
              </a:rPr>
              <a:t>");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14    }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15}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>
              <a:latin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131695"/>
            <a:ext cx="10271125" cy="7956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结合任务描述和知识链接中</a:t>
            </a:r>
            <a:r>
              <a:rPr lang="en-US" altLang="zh-CN" sz="1600">
                <a:latin typeface="+mn-ea"/>
                <a:ea typeface="+mn-ea"/>
                <a:cs typeface="+mn-ea"/>
                <a:sym typeface="+mn-ea"/>
              </a:rPr>
              <a:t>instanceof</a:t>
            </a:r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关键字语法格式知识点可以得到文件</a:t>
            </a:r>
            <a:r>
              <a:rPr lang="en-US" altLang="zh-CN" sz="1600">
                <a:latin typeface="+mn-ea"/>
                <a:ea typeface="+mn-ea"/>
                <a:cs typeface="+mn-ea"/>
                <a:sym typeface="+mn-ea"/>
              </a:rPr>
              <a:t>7-16</a:t>
            </a:r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所示的代码：</a:t>
            </a:r>
            <a:endParaRPr lang="zh-CN" altLang="en-US" sz="16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291205" y="2526030"/>
            <a:ext cx="567182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1600">
                <a:latin typeface="+mn-ea"/>
                <a:ea typeface="+mn-ea"/>
                <a:cs typeface="+mn-ea"/>
                <a:sym typeface="+mn-ea"/>
              </a:rPr>
              <a:t>7-16  Example16</a:t>
            </a:r>
            <a:endParaRPr lang="en-US" altLang="zh-CN" sz="1600"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9225" y="2863215"/>
            <a:ext cx="5539105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16public class Example16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17	public static void main(String[] args)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18		Pet dog = new Dog(); // </a:t>
            </a:r>
            <a:r>
              <a:rPr lang="zh-CN" altLang="en-US" sz="1600">
                <a:latin typeface="Times New Roman" panose="02020603050405020304"/>
                <a:sym typeface="+mn-ea"/>
              </a:rPr>
              <a:t>多态</a:t>
            </a:r>
            <a:r>
              <a:rPr lang="en-US" altLang="zh-CN" sz="1600">
                <a:latin typeface="Times New Roman" panose="02020603050405020304"/>
                <a:sym typeface="+mn-ea"/>
              </a:rPr>
              <a:t>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19		Pet cat = new Cat(); // </a:t>
            </a:r>
            <a:r>
              <a:rPr lang="zh-CN" altLang="en-US" sz="1600">
                <a:latin typeface="Times New Roman" panose="02020603050405020304"/>
                <a:sym typeface="+mn-ea"/>
              </a:rPr>
              <a:t>多态</a:t>
            </a:r>
            <a:r>
              <a:rPr lang="en-US" altLang="zh-CN" sz="1600">
                <a:latin typeface="Times New Roman" panose="02020603050405020304"/>
                <a:sym typeface="+mn-ea"/>
              </a:rPr>
              <a:t>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20        if (dog instanceof Dog) {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21            System.out.println("dog</a:t>
            </a:r>
            <a:r>
              <a:rPr lang="zh-CN" altLang="en-US" sz="1600">
                <a:latin typeface="Times New Roman" panose="02020603050405020304"/>
                <a:sym typeface="+mn-ea"/>
              </a:rPr>
              <a:t>是</a:t>
            </a:r>
            <a:r>
              <a:rPr lang="en-US" altLang="zh-CN" sz="1600">
                <a:latin typeface="Times New Roman" panose="02020603050405020304"/>
                <a:sym typeface="+mn-ea"/>
              </a:rPr>
              <a:t>Dog</a:t>
            </a:r>
            <a:r>
              <a:rPr lang="zh-CN" altLang="en-US" sz="1600">
                <a:latin typeface="Times New Roman" panose="02020603050405020304"/>
                <a:sym typeface="+mn-ea"/>
              </a:rPr>
              <a:t>的一个实例</a:t>
            </a:r>
            <a:r>
              <a:rPr lang="en-US" altLang="zh-CN" sz="1600">
                <a:latin typeface="Times New Roman" panose="02020603050405020304"/>
                <a:sym typeface="+mn-ea"/>
              </a:rPr>
              <a:t>");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22        }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23        if (dog instanceof Pet) {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24            System.out.println("dog</a:t>
            </a:r>
            <a:r>
              <a:rPr lang="zh-CN" altLang="en-US" sz="1600">
                <a:latin typeface="Times New Roman" panose="02020603050405020304"/>
                <a:sym typeface="+mn-ea"/>
              </a:rPr>
              <a:t>是</a:t>
            </a:r>
            <a:r>
              <a:rPr lang="en-US" altLang="zh-CN" sz="1600">
                <a:latin typeface="Times New Roman" panose="02020603050405020304"/>
                <a:sym typeface="+mn-ea"/>
              </a:rPr>
              <a:t>Pet</a:t>
            </a:r>
            <a:r>
              <a:rPr lang="zh-CN" altLang="en-US" sz="1600">
                <a:latin typeface="Times New Roman" panose="02020603050405020304"/>
                <a:sym typeface="+mn-ea"/>
              </a:rPr>
              <a:t>的一个实例</a:t>
            </a:r>
            <a:r>
              <a:rPr lang="en-US" altLang="zh-CN" sz="1600">
                <a:latin typeface="Times New Roman" panose="02020603050405020304"/>
                <a:sym typeface="+mn-ea"/>
              </a:rPr>
              <a:t>");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25        }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26        if (cat instanceof Pet) {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27            System.out.println("cat</a:t>
            </a:r>
            <a:r>
              <a:rPr lang="zh-CN" altLang="en-US" sz="1600">
                <a:latin typeface="Times New Roman" panose="02020603050405020304"/>
                <a:sym typeface="+mn-ea"/>
              </a:rPr>
              <a:t>是</a:t>
            </a:r>
            <a:r>
              <a:rPr lang="en-US" altLang="zh-CN" sz="1600">
                <a:latin typeface="Times New Roman" panose="02020603050405020304"/>
                <a:sym typeface="+mn-ea"/>
              </a:rPr>
              <a:t>Pet</a:t>
            </a:r>
            <a:r>
              <a:rPr lang="zh-CN" altLang="en-US" sz="1600">
                <a:latin typeface="Times New Roman" panose="02020603050405020304"/>
                <a:sym typeface="+mn-ea"/>
              </a:rPr>
              <a:t>的一个实例</a:t>
            </a:r>
            <a:r>
              <a:rPr lang="en-US" altLang="zh-CN" sz="1600">
                <a:latin typeface="Times New Roman" panose="02020603050405020304"/>
                <a:sym typeface="+mn-ea"/>
              </a:rPr>
              <a:t>");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28        }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>
              <a:latin typeface="Times New Roman" panose="02020603050405020304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15075" y="2863215"/>
            <a:ext cx="5539105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29        if (cat instanceof Cat) {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30            System.out.println("cat</a:t>
            </a:r>
            <a:r>
              <a:rPr lang="zh-CN" altLang="en-US" sz="1600">
                <a:latin typeface="Times New Roman" panose="02020603050405020304"/>
                <a:sym typeface="+mn-ea"/>
              </a:rPr>
              <a:t>是</a:t>
            </a:r>
            <a:r>
              <a:rPr lang="en-US" altLang="zh-CN" sz="1600">
                <a:latin typeface="Times New Roman" panose="02020603050405020304"/>
                <a:sym typeface="+mn-ea"/>
              </a:rPr>
              <a:t>Cat</a:t>
            </a:r>
            <a:r>
              <a:rPr lang="zh-CN" altLang="en-US" sz="1600">
                <a:latin typeface="Times New Roman" panose="02020603050405020304"/>
                <a:sym typeface="+mn-ea"/>
              </a:rPr>
              <a:t>的一个实例</a:t>
            </a:r>
            <a:r>
              <a:rPr lang="en-US" altLang="zh-CN" sz="1600">
                <a:latin typeface="Times New Roman" panose="02020603050405020304"/>
                <a:sym typeface="+mn-ea"/>
              </a:rPr>
              <a:t>");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31        }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        // </a:t>
            </a:r>
            <a:r>
              <a:rPr lang="zh-CN" altLang="en-US" sz="1600">
                <a:latin typeface="Times New Roman" panose="02020603050405020304"/>
                <a:sym typeface="+mn-ea"/>
              </a:rPr>
              <a:t>下面的判断会失败，因为</a:t>
            </a:r>
            <a:r>
              <a:rPr lang="en-US" altLang="zh-CN" sz="1600">
                <a:latin typeface="Times New Roman" panose="02020603050405020304"/>
                <a:sym typeface="+mn-ea"/>
              </a:rPr>
              <a:t>dog</a:t>
            </a:r>
            <a:r>
              <a:rPr lang="zh-CN" altLang="en-US" sz="1600">
                <a:latin typeface="Times New Roman" panose="02020603050405020304"/>
                <a:sym typeface="+mn-ea"/>
              </a:rPr>
              <a:t>是</a:t>
            </a:r>
            <a:r>
              <a:rPr lang="en-US" altLang="zh-CN" sz="1600">
                <a:latin typeface="Times New Roman" panose="02020603050405020304"/>
                <a:sym typeface="+mn-ea"/>
              </a:rPr>
              <a:t>Dog</a:t>
            </a:r>
            <a:r>
              <a:rPr lang="zh-CN" altLang="en-US" sz="1600">
                <a:latin typeface="Times New Roman" panose="02020603050405020304"/>
                <a:sym typeface="+mn-ea"/>
              </a:rPr>
              <a:t>的实例，而不是</a:t>
            </a:r>
            <a:r>
              <a:rPr lang="en-US" altLang="zh-CN" sz="1600">
                <a:latin typeface="Times New Roman" panose="02020603050405020304"/>
                <a:sym typeface="+mn-ea"/>
              </a:rPr>
              <a:t>Cat</a:t>
            </a:r>
            <a:r>
              <a:rPr lang="zh-CN" altLang="en-US" sz="1600">
                <a:latin typeface="Times New Roman" panose="02020603050405020304"/>
                <a:sym typeface="+mn-ea"/>
              </a:rPr>
              <a:t>的实例</a:t>
            </a:r>
            <a:r>
              <a:rPr lang="en-US" altLang="zh-CN" sz="1600">
                <a:latin typeface="Times New Roman" panose="02020603050405020304"/>
                <a:sym typeface="+mn-ea"/>
              </a:rPr>
              <a:t>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32        if (!(dog instanceof Cat)) {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33            System.out.println("dog</a:t>
            </a:r>
            <a:r>
              <a:rPr lang="zh-CN" altLang="en-US" sz="1600">
                <a:latin typeface="Times New Roman" panose="02020603050405020304"/>
                <a:sym typeface="+mn-ea"/>
              </a:rPr>
              <a:t>不是</a:t>
            </a:r>
            <a:r>
              <a:rPr lang="en-US" altLang="zh-CN" sz="1600">
                <a:latin typeface="Times New Roman" panose="02020603050405020304"/>
                <a:sym typeface="+mn-ea"/>
              </a:rPr>
              <a:t>Cat</a:t>
            </a:r>
            <a:r>
              <a:rPr lang="zh-CN" altLang="en-US" sz="1600">
                <a:latin typeface="Times New Roman" panose="02020603050405020304"/>
                <a:sym typeface="+mn-ea"/>
              </a:rPr>
              <a:t>的一个实例</a:t>
            </a:r>
            <a:r>
              <a:rPr lang="en-US" altLang="zh-CN" sz="1600">
                <a:latin typeface="Times New Roman" panose="02020603050405020304"/>
                <a:sym typeface="+mn-ea"/>
              </a:rPr>
              <a:t>");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34        } 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35    }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36	}</a:t>
            </a:r>
            <a:endParaRPr lang="en-US" altLang="zh-CN" sz="1600">
              <a:latin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9225" y="2132648"/>
            <a:ext cx="5080000" cy="55308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7-16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的运行结果如图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7-18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所示：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642870" y="4316730"/>
            <a:ext cx="3255645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7-18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7-16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94105" y="4797425"/>
            <a:ext cx="9489440" cy="1337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latinLnBrk="0">
              <a:lnSpc>
                <a:spcPct val="150000"/>
              </a:lnSpc>
            </a:pPr>
            <a:r>
              <a:rPr lang="en-US" altLang="zh-CN"/>
              <a:t>      </a:t>
            </a:r>
            <a:r>
              <a:rPr lang="zh-CN" altLang="en-US"/>
              <a:t>需要注意的是，</a:t>
            </a:r>
            <a:r>
              <a:rPr lang="en-US" altLang="zh-CN"/>
              <a:t>instanceof </a:t>
            </a:r>
            <a:r>
              <a:rPr lang="zh-CN" altLang="en-US"/>
              <a:t>不能用于基本数据类型，如下面的代码会编译错误</a:t>
            </a:r>
            <a:r>
              <a:rPr lang="en-US" altLang="zh-CN"/>
              <a:t>  </a:t>
            </a:r>
            <a:endParaRPr lang="en-US" altLang="zh-CN"/>
          </a:p>
          <a:p>
            <a:pPr marL="0" indent="0" latinLnBrk="0">
              <a:lnSpc>
                <a:spcPct val="150000"/>
              </a:lnSpc>
            </a:pPr>
            <a:r>
              <a:rPr lang="en-US" altLang="zh-CN"/>
              <a:t>   if (1 instanceof Integer) {  </a:t>
            </a:r>
            <a:endParaRPr lang="en-US" altLang="zh-CN"/>
          </a:p>
          <a:p>
            <a:pPr marL="0" indent="0" latinLnBrk="0">
              <a:lnSpc>
                <a:spcPct val="150000"/>
              </a:lnSpc>
            </a:pPr>
            <a:r>
              <a:rPr lang="en-US" altLang="zh-CN"/>
              <a:t>      }  </a:t>
            </a:r>
            <a:endParaRPr lang="en-US" altLang="zh-CN"/>
          </a:p>
        </p:txBody>
      </p:sp>
      <p:pic>
        <p:nvPicPr>
          <p:cNvPr id="106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970" y="2708910"/>
            <a:ext cx="3531235" cy="14947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0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4978</Words>
  <Application>WPS 演示</Application>
  <PresentationFormat>自定义</PresentationFormat>
  <Paragraphs>383</Paragraphs>
  <Slides>24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9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Arial Unicode MS</vt:lpstr>
      <vt:lpstr>等线</vt:lpstr>
      <vt:lpstr>Times New Roman</vt:lpstr>
      <vt:lpstr>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551</cp:revision>
  <dcterms:created xsi:type="dcterms:W3CDTF">2015-03-26T06:11:00Z</dcterms:created>
  <dcterms:modified xsi:type="dcterms:W3CDTF">2025-07-07T01:42:55Z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F956B4F860C54124901835A1C40509DD_13</vt:lpwstr>
  </property>
</Properties>
</file>