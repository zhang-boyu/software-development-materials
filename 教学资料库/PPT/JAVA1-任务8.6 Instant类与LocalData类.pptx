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62" r:id="rId3"/>
    <p:sldId id="373" r:id="rId5"/>
    <p:sldId id="374" r:id="rId6"/>
    <p:sldId id="340" r:id="rId7"/>
    <p:sldId id="353" r:id="rId8"/>
    <p:sldId id="504" r:id="rId9"/>
    <p:sldId id="496" r:id="rId10"/>
    <p:sldId id="505" r:id="rId11"/>
    <p:sldId id="506" r:id="rId12"/>
    <p:sldId id="507" r:id="rId13"/>
    <p:sldId id="407" r:id="rId14"/>
    <p:sldId id="456" r:id="rId15"/>
    <p:sldId id="458" r:id="rId16"/>
    <p:sldId id="476" r:id="rId17"/>
    <p:sldId id="477" r:id="rId18"/>
    <p:sldId id="347" r:id="rId19"/>
  </p:sldIdLst>
  <p:sldSz cx="12198350" cy="6858000"/>
  <p:notesSz cx="6858000" cy="9144000"/>
  <p:custDataLst>
    <p:tags r:id="rId2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5" userDrawn="1">
          <p15:clr>
            <a:srgbClr val="A4A3A4"/>
          </p15:clr>
        </p15:guide>
        <p15:guide id="2" pos="395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AA5500"/>
    <a:srgbClr val="66FF66"/>
    <a:srgbClr val="66FF33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20" d="100"/>
          <a:sy n="120" d="100"/>
        </p:scale>
        <p:origin x="514" y="67"/>
      </p:cViewPr>
      <p:guideLst>
        <p:guide orient="horz" pos="2225"/>
        <p:guide pos="39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39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379413" y="685800"/>
            <a:ext cx="6099175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第二级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第三级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第四级</a:t>
            </a:r>
            <a:endParaRPr lang="zh-CN" altLang="en-US" smtClean="0"/>
          </a:p>
          <a:p>
            <a:pPr>
              <a:defRPr/>
            </a:pPr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buFont typeface="Arial" panose="020B0604020202020204" pitchFamily="34" charset="0"/>
              <a:buNone/>
              <a:defRPr sz="1200"/>
            </a:lvl1pPr>
          </a:lstStyle>
          <a:p>
            <a:pPr>
              <a:defRPr/>
            </a:pPr>
            <a:endParaRPr lang="zh-CN" altLang="zh-CN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8B23A044-4FB7-42A8-963C-A1DC19AE4035}" type="datetime1">
              <a:rPr lang="zh-CN" altLang="en-US"/>
            </a:fld>
            <a:endParaRPr lang="zh-CN" altLang="en-US" sz="12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22C8440-6A44-4042-B683-65AB25C1BFCC}" type="slidenum">
              <a:rPr lang="zh-CN" altLang="en-US"/>
            </a:fld>
            <a:endParaRPr lang="zh-CN" altLang="en-US" sz="120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/>
          </p:nvPr>
        </p:nvSpPr>
        <p:spPr>
          <a:xfrm>
            <a:off x="662016" y="3931500"/>
            <a:ext cx="5296132" cy="3216682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5588" y="1122363"/>
            <a:ext cx="914876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5588" y="3602038"/>
            <a:ext cx="914876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2195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2195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5375" y="1825625"/>
            <a:ext cx="5184775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6096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6096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5375" y="1681163"/>
            <a:ext cx="5186363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5375" y="2505075"/>
            <a:ext cx="5186363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5412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6363" y="987425"/>
            <a:ext cx="6175375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5412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195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2195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9663" y="365125"/>
            <a:ext cx="2630487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9063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6F6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直接连接符 7"/>
          <p:cNvSpPr>
            <a:spLocks noChangeShapeType="1"/>
          </p:cNvSpPr>
          <p:nvPr/>
        </p:nvSpPr>
        <p:spPr bwMode="auto">
          <a:xfrm>
            <a:off x="6557963" y="6740525"/>
            <a:ext cx="5637212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7" name="直接连接符 8"/>
          <p:cNvSpPr>
            <a:spLocks noChangeShapeType="1"/>
          </p:cNvSpPr>
          <p:nvPr/>
        </p:nvSpPr>
        <p:spPr bwMode="auto">
          <a:xfrm>
            <a:off x="0" y="6740525"/>
            <a:ext cx="5637213" cy="1588"/>
          </a:xfrm>
          <a:prstGeom prst="line">
            <a:avLst/>
          </a:prstGeom>
          <a:noFill/>
          <a:ln w="22479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8" name="TextBox 15"/>
          <p:cNvSpPr>
            <a:spLocks noChangeArrowheads="1"/>
          </p:cNvSpPr>
          <p:nvPr/>
        </p:nvSpPr>
        <p:spPr bwMode="auto">
          <a:xfrm>
            <a:off x="5695950" y="6488113"/>
            <a:ext cx="792163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fld id="{929913C5-467F-4262-8E10-4784E1F23762}" type="slidenum"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</a:fld>
            <a:r>
              <a:rPr lang="zh-CN" altLang="en-US" smtClean="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 </a:t>
            </a:r>
            <a:endParaRPr lang="zh-CN" altLang="en-US" b="1" smtClean="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1029" name="直接连接符 10"/>
          <p:cNvSpPr>
            <a:spLocks noChangeShapeType="1"/>
          </p:cNvSpPr>
          <p:nvPr/>
        </p:nvSpPr>
        <p:spPr bwMode="auto">
          <a:xfrm>
            <a:off x="0" y="333375"/>
            <a:ext cx="12196763" cy="0"/>
          </a:xfrm>
          <a:prstGeom prst="line">
            <a:avLst/>
          </a:prstGeom>
          <a:noFill/>
          <a:ln w="152400">
            <a:solidFill>
              <a:srgbClr val="C8C8C8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030" name="组合 11"/>
          <p:cNvGrpSpPr/>
          <p:nvPr/>
        </p:nvGrpSpPr>
        <p:grpSpPr bwMode="auto">
          <a:xfrm rot="-5400000">
            <a:off x="10190163" y="-101600"/>
            <a:ext cx="1463675" cy="1666875"/>
            <a:chOff x="0" y="0"/>
            <a:chExt cx="2260994" cy="1512168"/>
          </a:xfrm>
        </p:grpSpPr>
        <p:sp>
          <p:nvSpPr>
            <p:cNvPr id="1031" name="燕尾形 12"/>
            <p:cNvSpPr>
              <a:spLocks noChangeArrowheads="1"/>
            </p:cNvSpPr>
            <p:nvPr/>
          </p:nvSpPr>
          <p:spPr bwMode="auto">
            <a:xfrm>
              <a:off x="4905" y="0"/>
              <a:ext cx="674374" cy="1512168"/>
            </a:xfrm>
            <a:prstGeom prst="chevron">
              <a:avLst>
                <a:gd name="adj" fmla="val 34773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2" name="燕尾形 13"/>
            <p:cNvSpPr>
              <a:spLocks noChangeArrowheads="1"/>
            </p:cNvSpPr>
            <p:nvPr/>
          </p:nvSpPr>
          <p:spPr bwMode="auto">
            <a:xfrm>
              <a:off x="201087" y="0"/>
              <a:ext cx="792083" cy="1512168"/>
            </a:xfrm>
            <a:prstGeom prst="chevron">
              <a:avLst>
                <a:gd name="adj" fmla="val 5000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  <p:sp>
          <p:nvSpPr>
            <p:cNvPr id="1033" name="五边形 14"/>
            <p:cNvSpPr>
              <a:spLocks noChangeArrowheads="1"/>
            </p:cNvSpPr>
            <p:nvPr/>
          </p:nvSpPr>
          <p:spPr bwMode="auto">
            <a:xfrm>
              <a:off x="340866" y="0"/>
              <a:ext cx="1925034" cy="1512168"/>
            </a:xfrm>
            <a:prstGeom prst="homePlate">
              <a:avLst>
                <a:gd name="adj" fmla="val 0"/>
              </a:avLst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zh-CN" smtClean="0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notesSlide" Target="../notesSlides/notesSlide2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tags" Target="../tags/tag21.xml"/><Relationship Id="rId1" Type="http://schemas.openxmlformats.org/officeDocument/2006/relationships/tags" Target="../tags/tag2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" Type="http://schemas.openxmlformats.org/officeDocument/2006/relationships/tags" Target="../tags/tag22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0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tags" Target="../tags/tag34.xml"/><Relationship Id="rId1" Type="http://schemas.openxmlformats.org/officeDocument/2006/relationships/tags" Target="../tags/tag3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36.xml"/><Relationship Id="rId1" Type="http://schemas.openxmlformats.org/officeDocument/2006/relationships/tags" Target="../tags/tag35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38.xml"/><Relationship Id="rId1" Type="http://schemas.openxmlformats.org/officeDocument/2006/relationships/tags" Target="../tags/tag37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矩形 1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3075" name="Picture 3" descr="F:\品牌VI\无锡职院\资源库LOGO\2uqt7gw81r.jpg2uqt7gw81r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9225" y="328613"/>
            <a:ext cx="8331200" cy="6027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6" name="Picture 4" descr="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4367213"/>
            <a:ext cx="12196762" cy="2506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TextBox 7"/>
          <p:cNvSpPr>
            <a:spLocks noChangeArrowheads="1"/>
          </p:cNvSpPr>
          <p:nvPr/>
        </p:nvSpPr>
        <p:spPr bwMode="auto">
          <a:xfrm>
            <a:off x="409575" y="376238"/>
            <a:ext cx="2665413" cy="334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en-US" sz="1600">
                <a:solidFill>
                  <a:schemeClr val="bg1"/>
                </a:solidFill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  <a:sym typeface="Arial Unicode MS" panose="020B0604020202020204" pitchFamily="34" charset="-122"/>
              </a:rPr>
              <a:t>无锡职业技术学院内部资料</a:t>
            </a:r>
            <a:endParaRPr lang="zh-CN" altLang="en-US" sz="1600">
              <a:solidFill>
                <a:schemeClr val="bg1"/>
              </a:solidFill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  <a:sym typeface="Arial Unicode MS" panose="020B0604020202020204" pitchFamily="34" charset="-122"/>
            </a:endParaRPr>
          </a:p>
        </p:txBody>
      </p:sp>
      <p:sp>
        <p:nvSpPr>
          <p:cNvPr id="3078" name="TextBox 15"/>
          <p:cNvSpPr>
            <a:spLocks noChangeArrowheads="1"/>
          </p:cNvSpPr>
          <p:nvPr/>
        </p:nvSpPr>
        <p:spPr bwMode="auto">
          <a:xfrm>
            <a:off x="5045075" y="1403350"/>
            <a:ext cx="662432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buFont typeface="Arial" panose="020B0604020202020204" pitchFamily="34" charset="0"/>
              <a:buNone/>
            </a:pPr>
            <a:r>
              <a:rPr lang="en-US" altLang="zh-CN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JAVA</a:t>
            </a:r>
            <a:r>
              <a:rPr lang="zh-CN" altLang="en-US" sz="44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经典繁仿黑" pitchFamily="1" charset="-122"/>
              </a:rPr>
              <a:t>程序设计项目教程</a:t>
            </a:r>
            <a:endParaRPr lang="zh-CN" altLang="en-US" sz="44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经典繁仿黑" pitchFamily="1" charset="-122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2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03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06" name="任意多边形 10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 flipV="1">
            <a:off x="0" y="2590800"/>
            <a:ext cx="12199938" cy="1630363"/>
          </a:xfrm>
          <a:custGeom>
            <a:avLst/>
            <a:gdLst>
              <a:gd name="T0" fmla="*/ 0 w 10521680"/>
              <a:gd name="T1" fmla="*/ 0 h 1828800"/>
              <a:gd name="T2" fmla="*/ 7670639 w 10521680"/>
              <a:gd name="T3" fmla="*/ 0 h 1828800"/>
              <a:gd name="T4" fmla="*/ 8437771 w 10521680"/>
              <a:gd name="T5" fmla="*/ 1295748 h 1828800"/>
              <a:gd name="T6" fmla="*/ 16402222 w 10521680"/>
              <a:gd name="T7" fmla="*/ 1295748 h 1828800"/>
              <a:gd name="T8" fmla="*/ 0 60000 65536"/>
              <a:gd name="T9" fmla="*/ 0 60000 65536"/>
              <a:gd name="T10" fmla="*/ 0 60000 65536"/>
              <a:gd name="T11" fmla="*/ 0 60000 65536"/>
              <a:gd name="T12" fmla="*/ 0 w 10521680"/>
              <a:gd name="T13" fmla="*/ 0 h 1828800"/>
              <a:gd name="T14" fmla="*/ 10521680 w 10521680"/>
              <a:gd name="T15" fmla="*/ 1828800 h 18288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0521680" h="1828800">
                <a:moveTo>
                  <a:pt x="0" y="0"/>
                </a:moveTo>
                <a:lnTo>
                  <a:pt x="4920553" y="0"/>
                </a:lnTo>
                <a:lnTo>
                  <a:pt x="5412652" y="1828800"/>
                </a:lnTo>
                <a:lnTo>
                  <a:pt x="10521680" y="1828800"/>
                </a:lnTo>
              </a:path>
            </a:pathLst>
          </a:custGeom>
          <a:noFill/>
          <a:ln w="57150" cap="flat" cmpd="sng">
            <a:solidFill>
              <a:srgbClr val="3B79CE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4107" name="组合 11"/>
          <p:cNvGrpSpPr/>
          <p:nvPr>
            <p:custDataLst>
              <p:tags r:id="rId2"/>
            </p:custDataLst>
          </p:nvPr>
        </p:nvGrpSpPr>
        <p:grpSpPr bwMode="auto">
          <a:xfrm>
            <a:off x="1085850" y="3875088"/>
            <a:ext cx="692150" cy="692150"/>
            <a:chOff x="0" y="0"/>
            <a:chExt cx="692150" cy="69215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08" name="TextBox 8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408940" y="3162300"/>
            <a:ext cx="212852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24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24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</p:txBody>
      </p:sp>
      <p:sp>
        <p:nvSpPr>
          <p:cNvPr id="4109" name="TextBox 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2406015" y="3162300"/>
            <a:ext cx="290703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4110" name="TextBox 16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8114983" y="2997200"/>
            <a:ext cx="2173287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2400" b="1">
                <a:solidFill>
                  <a:srgbClr val="5F5E5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任务实现</a:t>
            </a:r>
            <a:endParaRPr lang="zh-CN" altLang="zh-CN" sz="2400" b="1">
              <a:solidFill>
                <a:srgbClr val="5F5E5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4112" name="组合 18"/>
          <p:cNvGrpSpPr/>
          <p:nvPr>
            <p:custDataLst>
              <p:tags r:id="rId8"/>
            </p:custDataLst>
          </p:nvPr>
        </p:nvGrpSpPr>
        <p:grpSpPr bwMode="auto">
          <a:xfrm>
            <a:off x="3452813" y="3875088"/>
            <a:ext cx="692150" cy="692150"/>
            <a:chOff x="0" y="0"/>
            <a:chExt cx="692150" cy="692150"/>
          </a:xfrm>
        </p:grpSpPr>
        <p:sp>
          <p:nvSpPr>
            <p:cNvPr id="4120" name="椭圆 19"/>
            <p:cNvSpPr>
              <a:spLocks noChangeArrowheads="1"/>
            </p:cNvSpPr>
            <p:nvPr>
              <p:custDataLst>
                <p:tags r:id="rId9"/>
              </p:custDataLst>
            </p:nvPr>
          </p:nvSpPr>
          <p:spPr bwMode="auto">
            <a:xfrm>
              <a:off x="0" y="0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1" name="椭圆 20"/>
            <p:cNvSpPr>
              <a:spLocks noChangeArrowheads="1"/>
            </p:cNvSpPr>
            <p:nvPr>
              <p:custDataLst>
                <p:tags r:id="rId10"/>
              </p:custDataLst>
            </p:nvPr>
          </p:nvSpPr>
          <p:spPr bwMode="auto">
            <a:xfrm>
              <a:off x="76200" y="76200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grpSp>
        <p:nvGrpSpPr>
          <p:cNvPr id="4113" name="组合 21"/>
          <p:cNvGrpSpPr/>
          <p:nvPr>
            <p:custDataLst>
              <p:tags r:id="rId11"/>
            </p:custDataLst>
          </p:nvPr>
        </p:nvGrpSpPr>
        <p:grpSpPr bwMode="auto">
          <a:xfrm>
            <a:off x="9190673" y="2204720"/>
            <a:ext cx="692150" cy="692150"/>
            <a:chOff x="1499235" y="-40005"/>
            <a:chExt cx="692150" cy="692150"/>
          </a:xfrm>
        </p:grpSpPr>
        <p:sp>
          <p:nvSpPr>
            <p:cNvPr id="4118" name="椭圆 22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1499235" y="-40005"/>
              <a:ext cx="692150" cy="69215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19" name="椭圆 23"/>
            <p:cNvSpPr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575435" y="32385"/>
              <a:ext cx="539750" cy="5397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3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4115" name="Text Box 2"/>
          <p:cNvSpPr>
            <a:spLocks noChangeArrowheads="1"/>
          </p:cNvSpPr>
          <p:nvPr/>
        </p:nvSpPr>
        <p:spPr bwMode="auto">
          <a:xfrm>
            <a:off x="5378450" y="3070225"/>
            <a:ext cx="1296988" cy="647700"/>
          </a:xfrm>
          <a:prstGeom prst="rect">
            <a:avLst/>
          </a:prstGeom>
          <a:solidFill>
            <a:srgbClr val="3B79C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 sz="36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目录</a:t>
            </a:r>
            <a:endParaRPr lang="zh-CN" altLang="zh-CN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模块一  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任务描述</a:t>
            </a: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10735" y="3429000"/>
            <a:ext cx="724154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Instant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类中的方法从系统中获取当前的时刻。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LocalData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类中的方法获取当前的年份、月份和获取的当天为本月的第几天。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667375" y="4797425"/>
            <a:ext cx="5594350" cy="5067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-1101090" y="-9906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en-US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..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82870" cy="807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模块二</a:t>
            </a:r>
            <a:r>
              <a:rPr lang="en-US" altLang="zh-CN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知识链接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marL="571500" indent="-571500" algn="ctr" eaLnBrk="1" hangingPunct="1">
              <a:buFont typeface="Arial" panose="020B0604020202020204" pitchFamily="34" charset="0"/>
              <a:buChar char="•"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矩形 2"/>
          <p:cNvSpPr>
            <a:spLocks noChangeArrowheads="1"/>
          </p:cNvSpPr>
          <p:nvPr/>
        </p:nvSpPr>
        <p:spPr bwMode="auto">
          <a:xfrm>
            <a:off x="6605588" y="360521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Instant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4" name="矩形 2"/>
          <p:cNvSpPr>
            <a:spLocks noChangeArrowheads="1"/>
          </p:cNvSpPr>
          <p:nvPr/>
        </p:nvSpPr>
        <p:spPr bwMode="auto">
          <a:xfrm>
            <a:off x="6605588" y="4003993"/>
            <a:ext cx="3598862" cy="5067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285750" indent="-28575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rAng="0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  <p:animEffect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 bldLvl="0" autoUpdateAnimBg="0"/>
      <p:bldP spid="2" grpId="1"/>
      <p:bldP spid="4" grpId="0" bldLvl="0" autoUpdateAnimBg="0"/>
      <p:bldP spid="4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Instant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2277110"/>
            <a:ext cx="10284460" cy="194945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Instant 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代表的是某个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瞬间的时间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。其内部由两个部分组成，第一部分保存的是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标准Java计算时代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（就是1970年1月1日开始）到现在的秒数，第二部分保存的是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纳秒数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sz="2400" b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Instant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7726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207770" y="2132965"/>
          <a:ext cx="10153650" cy="128587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11880"/>
                <a:gridCol w="6541770"/>
              </a:tblGrid>
              <a:tr h="468630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altLang="en-US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方法声明</a:t>
                      </a:r>
                      <a:endParaRPr lang="zh-CN" altLang="en-US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now()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从系统时钟获取当前瞬间的时间。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719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now(Clock clock)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从指定时钟获取当前时刻。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207770" y="3429000"/>
          <a:ext cx="10153650" cy="3402330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3611880"/>
                <a:gridCol w="6541770"/>
              </a:tblGrid>
              <a:tr h="45720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ofEpochSecond(long epochSecond)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使用从自标准Java计算时代开始的秒数获取一个Instant的实例。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3370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ofEpochMilli(long epochMilli)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从1970-01-01T00:00:00Z的纪元中使用毫秒获取Instant的实例。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2545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getEpochSecond()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从1970-01-01T00:00:00Z的Java时代获取秒数。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178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getNano()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用于从第二秒开始在此瞬间表示的时间轴中返回纳秒数。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67119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parse(CharSequence text)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从一个时间文本字符串（如2007-12-03T10:15:30.00Z）获取一个Instant的实例。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46799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from(TemporalAccessor tenporal)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zh-CN" sz="1600" b="0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/>
                        </a:rPr>
                        <a:t>从时间对象获取一个Instant的实例。</a:t>
                      </a:r>
                      <a:endParaRPr lang="zh-CN" sz="1600" b="0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1059815" y="1487805"/>
            <a:ext cx="10284460" cy="6737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Instant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类的常用方法：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12522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04902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56945" y="1990090"/>
            <a:ext cx="10284460" cy="2829560"/>
          </a:xfrm>
          <a:prstGeom prst="rect">
            <a:avLst/>
          </a:prstGeom>
        </p:spPr>
        <p:txBody>
          <a:bodyPr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400">
                <a:latin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LocalDate类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表示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不带时区的日期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，它所表示的日期包括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年份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月份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两部分。LocalDate类不能代表时间线上的即时信息，只是</a:t>
            </a:r>
            <a:r>
              <a:rPr sz="240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描述日期</a:t>
            </a:r>
            <a:r>
              <a:rPr sz="240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。LocalDate类提供了两个获取日期对象的方法now()和of(int year, int month, int dayOfMonth)，具体如下所示。</a:t>
            </a:r>
            <a:endParaRPr lang="zh-CN" altLang="en-US" sz="2400"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31160" y="4438650"/>
            <a:ext cx="6490335" cy="1626870"/>
            <a:chOff x="4488" y="5672"/>
            <a:chExt cx="10221" cy="2562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8" y="5672"/>
              <a:ext cx="10221" cy="2562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5366" y="6029"/>
              <a:ext cx="8788" cy="2062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fontAlgn="auto">
                <a:lnSpc>
                  <a:spcPct val="110000"/>
                </a:lnSpc>
              </a:pP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//按指定日期创建LocalDate对象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fontAlgn="auto">
                <a:lnSpc>
                  <a:spcPct val="110000"/>
                </a:lnSpc>
              </a:pP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 LocalDate date = LocalDate.of(2020, 12, 12);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fontAlgn="auto">
                <a:lnSpc>
                  <a:spcPct val="110000"/>
                </a:lnSpc>
              </a:pP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//从默认时区的系统时钟获取当前日期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fontAlgn="auto">
                <a:lnSpc>
                  <a:spcPct val="110000"/>
                </a:lnSpc>
              </a:pPr>
              <a:r>
                <a:rPr lang="en-US" altLang="zh-CN" sz="1800" dirty="0">
                  <a:solidFill>
                    <a:srgbClr val="59595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LocalDate now1 = LocalDate.now();</a:t>
              </a:r>
              <a:endParaRPr lang="en-US" altLang="zh-CN" sz="1800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7726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graphicFrame>
        <p:nvGraphicFramePr>
          <p:cNvPr id="15" name="表格 1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455092" y="2343944"/>
          <a:ext cx="9208135" cy="368490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getYear()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获取年份字段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getMonth()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使用Month枚举获取月份字段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getMonthValue()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获取当前日期的月份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133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getDayOfMonth()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获取当月第几天字段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format(DateTimeFormatter formatter)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使用指定的格式化程序格式化此日期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isBefore(ChronoLocalDate other)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检查此日期是否在指定日期之前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1059815" y="1559560"/>
            <a:ext cx="10284460" cy="6737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类的常用方法：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83820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76200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9815" y="1272540"/>
            <a:ext cx="10284460" cy="6737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类的常用方法：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98602" y="1985169"/>
          <a:ext cx="9208135" cy="441642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isAfter(ChronoLocalDate other)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检查此日期是否在指定日期之后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isEqual(ChronoLocalDate other)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检查此日期是否等于指定的日期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isLeapYear()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根据ISO培训日历系统规则，检查年份是否是闰年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133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parse(CharSequence text)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从一个文本字获取一个 LocalDate的实例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parse(CharSequence text, DateTimeFormatter formatter)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使用特定格式格式化 LocalDate从文本字符串获取的 LocalDate实例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plusYears(long yearsToAdd)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增加指定年份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plusMonths(long monthsToAdd)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增加指定月份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05346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2600" dirty="0">
                <a:solidFill>
                  <a:srgbClr val="1369B2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类</a:t>
            </a:r>
            <a:endParaRPr lang="zh-CN" altLang="en-US" sz="2600" dirty="0">
              <a:solidFill>
                <a:srgbClr val="1369B2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97726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3" name="TextBox 4"/>
          <p:cNvSpPr>
            <a:spLocks noChangeArrowheads="1"/>
          </p:cNvSpPr>
          <p:nvPr/>
        </p:nvSpPr>
        <p:spPr bwMode="auto">
          <a:xfrm>
            <a:off x="10133013" y="188913"/>
            <a:ext cx="1625600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模块二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知识链接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9815" y="1559560"/>
            <a:ext cx="10284460" cy="673735"/>
          </a:xfrm>
          <a:prstGeom prst="rect">
            <a:avLst/>
          </a:prstGeom>
        </p:spPr>
        <p:txBody>
          <a:bodyPr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类的常用方法：</a:t>
            </a:r>
            <a:endParaRPr lang="zh-CN" altLang="en-US" sz="200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1598602" y="2200434"/>
          <a:ext cx="9208135" cy="4204335"/>
        </p:xfrm>
        <a:graphic>
          <a:graphicData uri="http://schemas.openxmlformats.org/drawingml/2006/table">
            <a:tbl>
              <a:tblPr>
                <a:tableStyleId>{7DF18680-E054-41AD-8BC1-D1AEF772440D}</a:tableStyleId>
              </a:tblPr>
              <a:tblGrid>
                <a:gridCol w="4051935"/>
                <a:gridCol w="5156200"/>
              </a:tblGrid>
              <a:tr h="520065"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方法声明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267970" algn="ctr">
                        <a:spcAft>
                          <a:spcPts val="0"/>
                        </a:spcAft>
                      </a:pPr>
                      <a:r>
                        <a:rPr lang="zh-CN" sz="1600" b="1" kern="100" dirty="0">
                          <a:solidFill>
                            <a:srgbClr val="595959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功能描述</a:t>
                      </a:r>
                      <a:endParaRPr lang="zh-CN" sz="1600" b="1" kern="100" dirty="0">
                        <a:solidFill>
                          <a:srgbClr val="595959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plusDays(long daysToAdd)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增加指定日数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19430">
                <a:tc>
                  <a:txBody>
                    <a:bodyPr/>
                    <a:p>
                      <a:pPr algn="l">
                        <a:lnSpc>
                          <a:spcPct val="15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minusYears(long yearsToSubtract)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减少指定年份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6324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minusMonths(long monthsToSubtract)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减少指定月份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alt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minusDays(long daysToSubtract)</a:t>
                      </a:r>
                      <a:endParaRPr lang="en-US" alt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减少指定日数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133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withYear(int year)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指定年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withMonth(int month)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指定月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  <a:tr h="520065"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宋体" panose="02010600030101010101" pitchFamily="2" charset="-122"/>
                        </a:rPr>
                        <a:t>withDayOfYear(int dayOfYear)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p>
                      <a:pPr indent="0" fontAlgn="auto">
                        <a:lnSpc>
                          <a:spcPct val="150000"/>
                        </a:lnSpc>
                        <a:buNone/>
                      </a:pPr>
                      <a:r>
                        <a:rPr lang="en-US" sz="1600" b="0">
                          <a:solidFill>
                            <a:srgbClr val="595959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指定日</a:t>
                      </a:r>
                      <a:endParaRPr lang="en-US" sz="1600" b="0">
                        <a:solidFill>
                          <a:srgbClr val="595959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8580" marR="68580" marT="0" marB="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矩形 2"/>
          <p:cNvSpPr>
            <a:spLocks noChangeArrowheads="1"/>
          </p:cNvSpPr>
          <p:nvPr/>
        </p:nvSpPr>
        <p:spPr bwMode="auto">
          <a:xfrm>
            <a:off x="0" y="0"/>
            <a:ext cx="12199938" cy="6858000"/>
          </a:xfrm>
          <a:prstGeom prst="rect">
            <a:avLst/>
          </a:prstGeom>
          <a:solidFill>
            <a:srgbClr val="F6F6F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zh-CN">
                <a:solidFill>
                  <a:srgbClr val="FFFFFF"/>
                </a:solidFill>
                <a:latin typeface="宋体" panose="02010600030101010101" pitchFamily="2" charset="-122"/>
                <a:sym typeface="宋体" panose="02010600030101010101" pitchFamily="2" charset="-122"/>
              </a:rPr>
              <a:t>，</a:t>
            </a: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3" name="直接连接符 3"/>
          <p:cNvSpPr>
            <a:spLocks noChangeShapeType="1"/>
          </p:cNvSpPr>
          <p:nvPr/>
        </p:nvSpPr>
        <p:spPr bwMode="auto">
          <a:xfrm>
            <a:off x="0" y="3429000"/>
            <a:ext cx="12199938" cy="0"/>
          </a:xfrm>
          <a:prstGeom prst="line">
            <a:avLst/>
          </a:prstGeom>
          <a:noFill/>
          <a:ln w="57150">
            <a:solidFill>
              <a:srgbClr val="3B79CE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4" name="椭圆 4"/>
          <p:cNvSpPr>
            <a:spLocks noChangeArrowheads="1"/>
          </p:cNvSpPr>
          <p:nvPr/>
        </p:nvSpPr>
        <p:spPr bwMode="auto">
          <a:xfrm>
            <a:off x="1417638" y="1809750"/>
            <a:ext cx="3240087" cy="32385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Impact" panose="020B0806030902050204" pitchFamily="34" charset="0"/>
              <a:sym typeface="Impact" panose="020B0806030902050204" pitchFamily="34" charset="0"/>
            </a:endParaRPr>
          </a:p>
        </p:txBody>
      </p:sp>
      <p:sp>
        <p:nvSpPr>
          <p:cNvPr id="5125" name="矩形 6"/>
          <p:cNvSpPr>
            <a:spLocks noChangeArrowheads="1"/>
          </p:cNvSpPr>
          <p:nvPr/>
        </p:nvSpPr>
        <p:spPr bwMode="auto">
          <a:xfrm>
            <a:off x="11501438" y="6257925"/>
            <a:ext cx="696912" cy="441325"/>
          </a:xfrm>
          <a:prstGeom prst="rect">
            <a:avLst/>
          </a:prstGeom>
          <a:solidFill>
            <a:srgbClr val="3F95D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26" name="TextBox 15"/>
          <p:cNvSpPr>
            <a:spLocks noChangeArrowheads="1"/>
          </p:cNvSpPr>
          <p:nvPr/>
        </p:nvSpPr>
        <p:spPr bwMode="auto">
          <a:xfrm>
            <a:off x="11726863" y="6308725"/>
            <a:ext cx="4714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Arial" panose="020B0604020202020204" pitchFamily="34" charset="0"/>
              <a:buNone/>
            </a:pPr>
            <a:r>
              <a:rPr lang="zh-CN" altLang="zh-CN" sz="1600">
                <a:solidFill>
                  <a:schemeClr val="bg1"/>
                </a:solidFill>
                <a:latin typeface="Calibri" panose="020F0502020204030204" pitchFamily="34" charset="0"/>
                <a:sym typeface="宋体" panose="02010600030101010101" pitchFamily="2" charset="-122"/>
              </a:rPr>
              <a:t>* </a:t>
            </a:r>
            <a:endParaRPr lang="zh-CN" altLang="zh-CN" sz="16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5132" name="燕尾形 1"/>
          <p:cNvSpPr>
            <a:spLocks noChangeArrowheads="1"/>
          </p:cNvSpPr>
          <p:nvPr/>
        </p:nvSpPr>
        <p:spPr bwMode="auto">
          <a:xfrm>
            <a:off x="11857038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3" name="燕尾形 22"/>
          <p:cNvSpPr>
            <a:spLocks noChangeArrowheads="1"/>
          </p:cNvSpPr>
          <p:nvPr/>
        </p:nvSpPr>
        <p:spPr bwMode="auto">
          <a:xfrm>
            <a:off x="11969750" y="3536950"/>
            <a:ext cx="107950" cy="288925"/>
          </a:xfrm>
          <a:prstGeom prst="chevron">
            <a:avLst>
              <a:gd name="adj" fmla="val 50000"/>
            </a:avLst>
          </a:prstGeom>
          <a:solidFill>
            <a:srgbClr val="BFBFB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4" name="椭圆 1"/>
          <p:cNvSpPr>
            <a:spLocks noChangeArrowheads="1"/>
          </p:cNvSpPr>
          <p:nvPr/>
        </p:nvSpPr>
        <p:spPr bwMode="auto">
          <a:xfrm>
            <a:off x="1597025" y="1989138"/>
            <a:ext cx="2881313" cy="2879725"/>
          </a:xfrm>
          <a:prstGeom prst="ellipse">
            <a:avLst/>
          </a:prstGeom>
          <a:blipFill dpi="0" rotWithShape="1">
            <a:blip r:embed="rId1"/>
            <a:srcRect/>
            <a:stretch>
              <a:fillRect/>
            </a:stretch>
          </a:blipFill>
          <a:ln w="57150">
            <a:solidFill>
              <a:srgbClr val="3B79CE"/>
            </a:solidFill>
            <a:rou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5137" name="TextBox 8"/>
          <p:cNvSpPr>
            <a:spLocks noChangeArrowheads="1"/>
          </p:cNvSpPr>
          <p:nvPr/>
        </p:nvSpPr>
        <p:spPr bwMode="auto">
          <a:xfrm>
            <a:off x="5092700" y="2708275"/>
            <a:ext cx="5111750" cy="7200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r>
              <a:rPr lang="zh-CN" altLang="en-US" sz="3600" b="1" dirty="0" smtClean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模块三  任务</a:t>
            </a:r>
            <a:r>
              <a:rPr lang="zh-CN" altLang="zh-CN" sz="3600" b="1">
                <a:solidFill>
                  <a:srgbClr val="595959"/>
                </a:solidFill>
                <a:latin typeface="专业字体设计服务/WWW.ZTSGC.COM/" charset="-122"/>
                <a:ea typeface="微软雅黑" panose="020B0503020204020204" pitchFamily="34" charset="-122"/>
                <a:sym typeface="专业字体设计服务/WWW.ZTSGC.COM/" charset="-122"/>
              </a:rPr>
              <a:t>实现</a:t>
            </a:r>
            <a:endParaRPr lang="zh-CN" altLang="zh-CN" sz="3600" b="1">
              <a:solidFill>
                <a:srgbClr val="595959"/>
              </a:solidFill>
              <a:latin typeface="专业字体设计服务/WWW.ZTSGC.COM/" charset="-122"/>
              <a:ea typeface="微软雅黑" panose="020B0503020204020204" pitchFamily="34" charset="-122"/>
              <a:sym typeface="专业字体设计服务/WWW.ZTSGC.COM/" charset="-122"/>
            </a:endParaRPr>
          </a:p>
          <a:p>
            <a:pPr algn="ctr" eaLnBrk="1" hangingPunct="1">
              <a:buFont typeface="Arial" panose="020B0604020202020204" pitchFamily="34" charset="0"/>
              <a:buNone/>
            </a:pPr>
            <a:endParaRPr lang="zh-CN" altLang="en-US" sz="3600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436745" y="3429000"/>
            <a:ext cx="7569835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Instant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类中的方法从系统中获取当前的时刻。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子任务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使用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LocalData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类中的方法获取当前的年份、月份和获取的当</a:t>
            </a:r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	 </a:t>
            </a:r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天为本月的第几天。</a:t>
            </a:r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>
                                      <p:cBhvr>
                                        <p:cTn id="7" dur="500"/>
                                        <p:tgtEl>
                                          <p:spTgt spid="5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3" presetClass="path" presetSubtype="0" ac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87919 -4.81481E-6 L -3.14501E-6 -4.81481E-6 " pathEditMode="relative" rAng="0" ptsTypes="AA">
                                      <p:cBhvr>
                                        <p:cTn id="9" dur="500" fill="hold"/>
                                        <p:tgtEl>
                                          <p:spTgt spid="51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96000" y="0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 -0.02552 0.75279  0.0908 0.66613  C  0.20747 0.57948  0.21649 0.50394  0.23177 0.40825  C 0.24705 0.31256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7" grpId="0" bldLvl="0" autoUpdateAnimBg="0"/>
      <p:bldP spid="5137" grpId="1" bldLvl="0" autoUpdateAnimBg="0"/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766445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1-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18590" y="1377950"/>
            <a:ext cx="10271125" cy="570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90245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418590" y="1919605"/>
            <a:ext cx="964755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java.time.Instant;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Example19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  Instant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类的时间戳类从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1970-01-01 00:00:00 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截止到当前时间的毫秒值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Instant now = Instant.now();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从系统获取的当前时刻为：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"+now);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1-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7" name="图片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00" y="2957830"/>
            <a:ext cx="7223125" cy="1421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69469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</a:rPr>
              <a:t>-</a:t>
            </a:r>
            <a:r>
              <a:rPr lang="zh-CN" altLang="en-US" sz="2600" b="1">
                <a:solidFill>
                  <a:schemeClr val="accent1">
                    <a:lumMod val="75000"/>
                  </a:schemeClr>
                </a:solidFill>
              </a:rPr>
              <a:t>代码实现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1449705"/>
            <a:ext cx="10271125" cy="6089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结合任务描述和知识链接中相关知识点可以得到</a:t>
            </a:r>
            <a:r>
              <a:rPr lang="zh-CN" altLang="en-US" sz="2000">
                <a:latin typeface="+mn-ea"/>
                <a:ea typeface="+mn-ea"/>
                <a:cs typeface="+mn-ea"/>
                <a:sym typeface="+mn-ea"/>
              </a:rPr>
              <a:t>如下代码。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61849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1</a:t>
              </a: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94080" y="1919605"/>
            <a:ext cx="10833100" cy="47078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import java.time.LocalDate;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public class Example20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public static void main(String[] args) {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//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获取日期时分秒</a:t>
            </a:r>
            <a:endParaRPr lang="zh-CN" altLang="en-US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LocalDate now = LocalDate.now();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LocalDate of = LocalDate.of(2015, 12, 12);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LocalDate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实例获取当前的年份是：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"+now.getYear());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LocalDate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实例获取当前的月份是：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+now.getMonthValue());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      System.out.println("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从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LocalDate</a:t>
            </a:r>
            <a:r>
              <a:rPr lang="zh-CN" altLang="en-US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实例获取当天为本月的第几天：</a:t>
            </a: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" +now.getDayOfMonth());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charset="0"/>
                <a:ea typeface="+mj-ea"/>
                <a:cs typeface="Times New Roman" panose="02020603050405020304" charset="0"/>
              </a:rPr>
              <a:t>  } }</a:t>
            </a:r>
            <a:endParaRPr lang="en-US" altLang="zh-CN" sz="2000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46835" y="1555750"/>
            <a:ext cx="3228340" cy="4292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子任务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2</a:t>
            </a:r>
            <a:r>
              <a:rPr lang="en-US" altLang="zh-CN" sz="2600" b="1">
                <a:solidFill>
                  <a:schemeClr val="accent1">
                    <a:lumMod val="75000"/>
                  </a:schemeClr>
                </a:solidFill>
                <a:sym typeface="+mn-ea"/>
              </a:rPr>
              <a:t>-</a:t>
            </a:r>
            <a:r>
              <a:rPr lang="zh-CN" sz="2600" b="1">
                <a:solidFill>
                  <a:schemeClr val="accent1">
                    <a:lumMod val="75000"/>
                  </a:schemeClr>
                </a:solidFill>
              </a:rPr>
              <a:t>运行结果</a:t>
            </a:r>
            <a:endParaRPr lang="zh-CN" sz="2600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46835" y="2095500"/>
            <a:ext cx="10271125" cy="123888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zh-CN" sz="2000">
                <a:latin typeface="+mn-ea"/>
                <a:ea typeface="+mn-ea"/>
                <a:cs typeface="+mn-ea"/>
                <a:sym typeface="+mn-ea"/>
              </a:rPr>
              <a:t>代码</a:t>
            </a:r>
            <a:r>
              <a:rPr sz="2000">
                <a:latin typeface="+mn-ea"/>
                <a:ea typeface="+mn-ea"/>
                <a:cs typeface="+mn-ea"/>
                <a:sym typeface="+mn-ea"/>
              </a:rPr>
              <a:t>运行结果如图所示:</a:t>
            </a:r>
            <a:endParaRPr sz="2000">
              <a:latin typeface="+mn-ea"/>
              <a:ea typeface="+mn-ea"/>
              <a:cs typeface="+mn-ea"/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478155" y="1479550"/>
            <a:ext cx="692150" cy="692150"/>
            <a:chOff x="1710" y="6103"/>
            <a:chExt cx="1090" cy="1090"/>
          </a:xfrm>
        </p:grpSpPr>
        <p:sp>
          <p:nvSpPr>
            <p:cNvPr id="4122" name="椭圆 12"/>
            <p:cNvSpPr>
              <a:spLocks noChangeArrowheads="1"/>
            </p:cNvSpPr>
            <p:nvPr>
              <p:custDataLst>
                <p:tags r:id="rId1"/>
              </p:custDataLst>
            </p:nvPr>
          </p:nvSpPr>
          <p:spPr bwMode="auto">
            <a:xfrm>
              <a:off x="1710" y="6103"/>
              <a:ext cx="1090" cy="1090"/>
            </a:xfrm>
            <a:prstGeom prst="ellipse">
              <a:avLst/>
            </a:prstGeom>
            <a:solidFill>
              <a:schemeClr val="bg1"/>
            </a:solidFill>
            <a:ln w="6350">
              <a:solidFill>
                <a:srgbClr val="3B79CE"/>
              </a:solidFill>
              <a:round/>
            </a:ln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  <p:sp>
          <p:nvSpPr>
            <p:cNvPr id="4123" name="椭圆 13"/>
            <p:cNvSpPr>
              <a:spLocks noChangeArrowheads="1"/>
            </p:cNvSpPr>
            <p:nvPr>
              <p:custDataLst>
                <p:tags r:id="rId2"/>
              </p:custDataLst>
            </p:nvPr>
          </p:nvSpPr>
          <p:spPr bwMode="auto">
            <a:xfrm>
              <a:off x="1830" y="6223"/>
              <a:ext cx="850" cy="850"/>
            </a:xfrm>
            <a:prstGeom prst="ellipse">
              <a:avLst/>
            </a:prstGeom>
            <a:solidFill>
              <a:srgbClr val="3B79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>
                  <a:solidFill>
                    <a:srgbClr val="FFFFFF"/>
                  </a:solidFill>
                  <a:latin typeface="Impact" panose="020B0806030902050204" pitchFamily="34" charset="0"/>
                  <a:sym typeface="Impact" panose="020B0806030902050204" pitchFamily="34" charset="0"/>
                </a:rPr>
                <a:t>2</a:t>
              </a:r>
              <a:endParaRPr lang="en-US" altLang="zh-CN">
                <a:solidFill>
                  <a:srgbClr val="FFFFFF"/>
                </a:solidFill>
                <a:latin typeface="Impact" panose="020B0806030902050204" pitchFamily="34" charset="0"/>
                <a:sym typeface="Impact" panose="020B0806030902050204" pitchFamily="34" charset="0"/>
              </a:endParaRPr>
            </a:p>
          </p:txBody>
        </p:sp>
      </p:grpSp>
      <p:sp>
        <p:nvSpPr>
          <p:cNvPr id="5" name="TextBox 4"/>
          <p:cNvSpPr>
            <a:spLocks noChangeArrowheads="1"/>
          </p:cNvSpPr>
          <p:nvPr/>
        </p:nvSpPr>
        <p:spPr bwMode="auto">
          <a:xfrm>
            <a:off x="10133330" y="189230"/>
            <a:ext cx="1707515" cy="8375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ts val="400"/>
              </a:spcBef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en-US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模块三</a:t>
            </a:r>
            <a:r>
              <a:rPr lang="zh-CN" altLang="zh-CN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微软雅黑" panose="020B0503020204020204" pitchFamily="34" charset="-122"/>
              </a:rPr>
              <a:t> </a:t>
            </a:r>
            <a:endParaRPr lang="zh-CN" altLang="zh-CN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微软雅黑" panose="020B0503020204020204" pitchFamily="34" charset="-122"/>
            </a:endParaRPr>
          </a:p>
          <a:p>
            <a:pPr eaLnBrk="1" hangingPunct="1">
              <a:spcAft>
                <a:spcPts val="300"/>
              </a:spcAft>
              <a:buFont typeface="Arial" panose="020B0604020202020204" pitchFamily="34" charset="0"/>
              <a:buNone/>
            </a:pPr>
            <a:r>
              <a:rPr lang="zh-CN" altLang="zh-CN" sz="2800" b="1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专业字体设计服务/WWW.ZTSGC.COM/" charset="-122"/>
              </a:rPr>
              <a:t>任务实现</a:t>
            </a:r>
            <a:endParaRPr lang="zh-CN" altLang="zh-CN" sz="2800" b="1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华康俪金黑W8(P)" pitchFamily="2" charset="-122"/>
            </a:endParaRPr>
          </a:p>
        </p:txBody>
      </p:sp>
      <p:pic>
        <p:nvPicPr>
          <p:cNvPr id="48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1100" y="2814955"/>
            <a:ext cx="5689600" cy="21062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矩形 1"/>
          <p:cNvSpPr>
            <a:spLocks noChangeArrowheads="1"/>
          </p:cNvSpPr>
          <p:nvPr/>
        </p:nvSpPr>
        <p:spPr bwMode="auto">
          <a:xfrm>
            <a:off x="0" y="0"/>
            <a:ext cx="12198350" cy="68580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Arial" panose="020B0604020202020204" pitchFamily="34" charset="0"/>
              <a:buNone/>
            </a:pPr>
            <a:endParaRPr lang="zh-CN" altLang="zh-CN">
              <a:solidFill>
                <a:srgbClr val="FFFFFF"/>
              </a:solidFill>
              <a:latin typeface="宋体" panose="02010600030101010101" pitchFamily="2" charset="-122"/>
              <a:sym typeface="宋体" panose="02010600030101010101" pitchFamily="2" charset="-122"/>
            </a:endParaRPr>
          </a:p>
        </p:txBody>
      </p:sp>
      <p:pic>
        <p:nvPicPr>
          <p:cNvPr id="7171" name="Picture 4" descr="0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05038"/>
            <a:ext cx="12198350" cy="2292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8" descr="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938" y="4797425"/>
            <a:ext cx="1679575" cy="129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文本框 1"/>
          <p:cNvSpPr txBox="1">
            <a:spLocks noChangeArrowheads="1"/>
          </p:cNvSpPr>
          <p:nvPr/>
        </p:nvSpPr>
        <p:spPr bwMode="auto">
          <a:xfrm>
            <a:off x="4732338" y="3016250"/>
            <a:ext cx="22367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感谢关注</a:t>
            </a:r>
            <a:endParaRPr lang="zh-CN" altLang="en-US" sz="400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>
    <p:fade/>
  </p:transition>
</p:sld>
</file>

<file path=ppt/tags/tag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4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5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6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7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8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9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0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1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2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3.xml><?xml version="1.0" encoding="utf-8"?>
<p:tagLst xmlns:p="http://schemas.openxmlformats.org/presentationml/2006/main">
  <p:tag name="KSO_WM_DIAGRAM_VIRTUALLY_FRAME" val="{&quot;height&quot;:186.02503937007873,&quot;left&quot;:0,&quot;top&quot;:173.6,&quot;width&quot;:960.6250393700788}"/>
</p:tagLst>
</file>

<file path=ppt/tags/tag1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18.xml><?xml version="1.0" encoding="utf-8"?>
<p:tagLst xmlns:p="http://schemas.openxmlformats.org/presentationml/2006/main">
  <p:tag name="KSO_WM_UNIT_TABLE_BEAUTIFY" val="smartTable{65333c65-cd36-44db-a490-d5c5dd53261d}"/>
  <p:tag name="TABLE_ENDDRAG_ORIGIN_RECT" val="799*373"/>
  <p:tag name="TABLE_ENDDRAG_RECT" val="92*115*799*373"/>
</p:tagLst>
</file>

<file path=ppt/tags/tag19.xml><?xml version="1.0" encoding="utf-8"?>
<p:tagLst xmlns:p="http://schemas.openxmlformats.org/presentationml/2006/main">
  <p:tag name="KSO_WM_UNIT_TABLE_BEAUTIFY" val="smartTable{1cb8f45b-d117-40bc-b133-f37bbd95581f}"/>
  <p:tag name="TABLE_ENDDRAG_ORIGIN_RECT" val="799*373"/>
  <p:tag name="TABLE_ENDDRAG_RECT" val="92*115*799*373"/>
</p:tagLst>
</file>

<file path=ppt/tags/tag20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4.xml><?xml version="1.0" encoding="utf-8"?>
<p:tagLst xmlns:p="http://schemas.openxmlformats.org/presentationml/2006/main">
  <p:tag name="KSO_WM_UNIT_TABLE_BEAUTIFY" val="smartTable{2ebb729e-9066-4581-8d79-1c5f52724f8e}"/>
  <p:tag name="TABLE_ENDDRAG_ORIGIN_RECT" val="725*356"/>
  <p:tag name="TABLE_ENDDRAG_RECT" val="149*124*725*356"/>
</p:tagLst>
</file>

<file path=ppt/tags/tag2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7.xml><?xml version="1.0" encoding="utf-8"?>
<p:tagLst xmlns:p="http://schemas.openxmlformats.org/presentationml/2006/main">
  <p:tag name="KSO_WM_UNIT_TABLE_BEAUTIFY" val="smartTable{e33e9f5d-38e6-41e7-a54c-b74f22f68351}"/>
  <p:tag name="TABLE_ENDDRAG_ORIGIN_RECT" val="725*356"/>
  <p:tag name="TABLE_ENDDRAG_RECT" val="149*124*725*356"/>
</p:tagLst>
</file>

<file path=ppt/tags/tag2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29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0.xml><?xml version="1.0" encoding="utf-8"?>
<p:tagLst xmlns:p="http://schemas.openxmlformats.org/presentationml/2006/main">
  <p:tag name="KSO_WM_UNIT_TABLE_BEAUTIFY" val="smartTable{4c561065-c78a-4a06-84dd-bdd9cb29251d}"/>
  <p:tag name="TABLE_ENDDRAG_ORIGIN_RECT" val="725*356"/>
  <p:tag name="TABLE_ENDDRAG_RECT" val="149*124*725*356"/>
</p:tagLst>
</file>

<file path=ppt/tags/tag31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2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3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4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5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6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7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8.xml><?xml version="1.0" encoding="utf-8"?>
<p:tagLst xmlns:p="http://schemas.openxmlformats.org/presentationml/2006/main">
  <p:tag name="KSO_WM_DIAGRAM_VIRTUALLY_FRAME" val="{&quot;height&quot;:185.62503937007872,&quot;left&quot;:0,&quot;top&quot;:174,&quot;width&quot;:960.6250393700788}"/>
</p:tagLst>
</file>

<file path=ppt/tags/tag39.xml><?xml version="1.0" encoding="utf-8"?>
<p:tagLst xmlns:p="http://schemas.openxmlformats.org/presentationml/2006/main">
  <p:tag name="COMMONDATA" val="eyJoZGlkIjoiZjNjMmJiYWQ1NjYxMzU5Y2Q4YWViZjliZTZhYjA5ODEifQ=="/>
  <p:tag name="commondata" val="eyJoZGlkIjoiNjVkZWMxOGJhY2FhZmUwNmY0MTcyMjU1MWFkZGYzMDcifQ=="/>
</p:tagLst>
</file>

<file path=ppt/theme/theme1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主题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alt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2743</Words>
  <Application>WPS 演示</Application>
  <PresentationFormat>自定义</PresentationFormat>
  <Paragraphs>298</Paragraphs>
  <Slides>16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7" baseType="lpstr">
      <vt:lpstr>Arial</vt:lpstr>
      <vt:lpstr>宋体</vt:lpstr>
      <vt:lpstr>Wingdings</vt:lpstr>
      <vt:lpstr>Arial Unicode MS</vt:lpstr>
      <vt:lpstr>Calibri</vt:lpstr>
      <vt:lpstr>微软雅黑</vt:lpstr>
      <vt:lpstr>经典繁仿黑</vt:lpstr>
      <vt:lpstr>Impact</vt:lpstr>
      <vt:lpstr>专业字体设计服务/WWW.ZTSGC.COM/</vt:lpstr>
      <vt:lpstr>华康俪金黑W8(P)</vt:lpstr>
      <vt:lpstr>Times New Roman</vt:lpstr>
      <vt:lpstr>Times New Roman</vt:lpstr>
      <vt:lpstr>Arial Unicode MS</vt:lpstr>
      <vt:lpstr>等线</vt:lpstr>
      <vt:lpstr>黑体</vt:lpstr>
      <vt:lpstr>Wonder Arial</vt:lpstr>
      <vt:lpstr>汉仪雅酷黑简</vt:lpstr>
      <vt:lpstr>方正公文小标宋</vt:lpstr>
      <vt:lpstr>汉仪尚巍手书W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吴静</cp:lastModifiedBy>
  <cp:revision>555</cp:revision>
  <dcterms:created xsi:type="dcterms:W3CDTF">2015-03-26T06:11:00Z</dcterms:created>
  <dcterms:modified xsi:type="dcterms:W3CDTF">2025-08-15T08:10:38Z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  <property fmtid="{D5CDD505-2E9C-101B-9397-08002B2CF9AE}" pid="3" name="ICV">
    <vt:lpwstr>36441CDB86B14B22A52822F25B9E50FD_13</vt:lpwstr>
  </property>
</Properties>
</file>